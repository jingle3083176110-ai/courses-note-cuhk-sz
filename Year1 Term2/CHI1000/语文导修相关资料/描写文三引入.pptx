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706" r:id="rId2"/>
    <p:sldId id="803" r:id="rId3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FD49C9-EF3E-EF30-8369-53BC606D0C1F}" name="劢杰 郑" initials="劢郑" userId="3859640d66698d4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9B0"/>
    <a:srgbClr val="C6C7C8"/>
    <a:srgbClr val="9C908A"/>
    <a:srgbClr val="C86247"/>
    <a:srgbClr val="80574F"/>
    <a:srgbClr val="CFB1B1"/>
    <a:srgbClr val="8F012F"/>
    <a:srgbClr val="3F7F62"/>
    <a:srgbClr val="8F0101"/>
    <a:srgbClr val="D9E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72466" autoAdjust="0"/>
  </p:normalViewPr>
  <p:slideViewPr>
    <p:cSldViewPr snapToGrid="0">
      <p:cViewPr varScale="1">
        <p:scale>
          <a:sx n="90" d="100"/>
          <a:sy n="90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8/10/relationships/authors" Target="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2026/4/15</a:t>
            </a:fld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‹#›</a:t>
            </a:fld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FD325-D868-ADE8-9129-0EFBBEEB2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5AA1F8-B47B-C341-CC30-7B423EA731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47439-AD31-3B6F-6516-457313FE4A4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汪曾祺有言：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“四方食事，不过一碗人间烟火。”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饮食作为最日常的生命体验，历来是中国文人观照自我、体察世情、寄托情志的重要载体。林语堂亦说：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“只要有一只茶壶，中国人到哪儿都是快乐的。”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一茶一饭之间，藏着民族的文化基因与文人的精神旨归。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现代散文史上，周作人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喝茶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、林语堂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饮食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、钱钟书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吃饭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、梁实秋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雅舍谈吃・蟹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家以饮食为书写对象，却各立境界、旨趣迥然：周作人以茶求闲，归于冲淡隐逸；林语堂以食立论，构建贯通中西的生活哲学；钱钟书以饭讽世，解构名实错位的社会世相；梁实秋以蟹寄怀，承载故园记忆与烟火温情。同是 “谈吃”，四家或审美静观、或文化思辨、或社会批判、或怀旧忆往，于寻常滋味中呈现出迥异的文心风骨与精神向度。本文拟以文本比较为路径，探析四位作家饮食书写的内涵差异、创作目的与文化意蕴，揭示现代文人饮食散文的多元审美形态。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67645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EB6CB6C7-D275-4881-A36D-FFFB3EC569E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未标题-2-05"/>
          <p:cNvPicPr>
            <a:picLocks noChangeAspect="1"/>
          </p:cNvPicPr>
          <p:nvPr/>
        </p:nvPicPr>
        <p:blipFill>
          <a:blip r:embed="rId4"/>
          <a:srcRect r="2984"/>
          <a:stretch>
            <a:fillRect/>
          </a:stretch>
        </p:blipFill>
        <p:spPr>
          <a:xfrm>
            <a:off x="8606155" y="97790"/>
            <a:ext cx="3585845" cy="2039620"/>
          </a:xfrm>
          <a:prstGeom prst="rect">
            <a:avLst/>
          </a:prstGeom>
        </p:spPr>
      </p:pic>
      <p:pic>
        <p:nvPicPr>
          <p:cNvPr id="17" name="图片 16" descr="未标题-2-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225165" cy="3126740"/>
          </a:xfrm>
          <a:prstGeom prst="rect">
            <a:avLst/>
          </a:prstGeom>
        </p:spPr>
      </p:pic>
      <p:pic>
        <p:nvPicPr>
          <p:cNvPr id="41" name="图片 40" descr="船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85" y="5522595"/>
            <a:ext cx="2500630" cy="1192530"/>
          </a:xfrm>
          <a:prstGeom prst="rect">
            <a:avLst/>
          </a:prstGeom>
        </p:spPr>
      </p:pic>
      <p:pic>
        <p:nvPicPr>
          <p:cNvPr id="37" name="图片 36" descr="燕子"/>
          <p:cNvPicPr>
            <a:picLocks noChangeAspect="1"/>
          </p:cNvPicPr>
          <p:nvPr/>
        </p:nvPicPr>
        <p:blipFill>
          <a:blip r:embed="rId7">
            <a:lum bright="24000" contrast="6000"/>
          </a:blip>
          <a:srcRect r="82385"/>
          <a:stretch>
            <a:fillRect/>
          </a:stretch>
        </p:blipFill>
        <p:spPr>
          <a:xfrm>
            <a:off x="5302250" y="939800"/>
            <a:ext cx="1588135" cy="854075"/>
          </a:xfrm>
          <a:prstGeom prst="rect">
            <a:avLst/>
          </a:prstGeom>
        </p:spPr>
      </p:pic>
      <p:pic>
        <p:nvPicPr>
          <p:cNvPr id="36" name="图片 35" descr="燕子"/>
          <p:cNvPicPr>
            <a:picLocks noChangeAspect="1"/>
          </p:cNvPicPr>
          <p:nvPr/>
        </p:nvPicPr>
        <p:blipFill>
          <a:blip r:embed="rId7">
            <a:lum bright="24000" contrast="6000"/>
          </a:blip>
          <a:srcRect l="82703"/>
          <a:stretch>
            <a:fillRect/>
          </a:stretch>
        </p:blipFill>
        <p:spPr>
          <a:xfrm>
            <a:off x="686435" y="4183380"/>
            <a:ext cx="1454150" cy="79629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C39F73B-D541-86AC-EB62-4C5C6A6B7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4003" y="1793875"/>
            <a:ext cx="5343994" cy="2138400"/>
          </a:xfrm>
        </p:spPr>
        <p:txBody>
          <a:bodyPr>
            <a:normAutofit/>
          </a:bodyPr>
          <a:lstStyle/>
          <a:p>
            <a:r>
              <a:rPr lang="zh-CN" altLang="en-US" sz="5400" b="1" dirty="0">
                <a:latin typeface="+mj-lt"/>
                <a:cs typeface="Al Nile" pitchFamily="2" charset="-78"/>
              </a:rPr>
              <a:t>味外之旨</a:t>
            </a:r>
            <a:br>
              <a:rPr lang="en-US" altLang="zh-CN" sz="3400" dirty="0"/>
            </a:br>
            <a:br>
              <a:rPr lang="en-US" altLang="zh-CN" sz="3400" dirty="0"/>
            </a:br>
            <a:r>
              <a:rPr lang="zh-CN" altLang="en-US" sz="2800" dirty="0"/>
              <a:t>现代散文饮食题材的意蕴建构</a:t>
            </a:r>
            <a:endParaRPr lang="en-CN" sz="3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75522-BD33-C276-1250-BEBAA38FA844}"/>
              </a:ext>
            </a:extLst>
          </p:cNvPr>
          <p:cNvSpPr txBox="1"/>
          <p:nvPr/>
        </p:nvSpPr>
        <p:spPr>
          <a:xfrm>
            <a:off x="4849505" y="418338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描写文</a:t>
            </a:r>
            <a:r>
              <a:rPr lang="zh-CN" altLang="en-US" dirty="0"/>
              <a:t>（三）导修报告</a:t>
            </a:r>
            <a:endParaRPr lang="en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C0322-3CB6-917B-4FF8-008000D3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5F67250-FEF4-D510-F69A-3EAAD17B163F}"/>
              </a:ext>
            </a:extLst>
          </p:cNvPr>
          <p:cNvSpPr/>
          <p:nvPr/>
        </p:nvSpPr>
        <p:spPr>
          <a:xfrm>
            <a:off x="211137" y="410845"/>
            <a:ext cx="11769725" cy="6418580"/>
          </a:xfrm>
          <a:prstGeom prst="rect">
            <a:avLst/>
          </a:prstGeom>
          <a:solidFill>
            <a:srgbClr val="FFFFFD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pic>
        <p:nvPicPr>
          <p:cNvPr id="3" name="图片 2" descr="未标题-2-04">
            <a:extLst>
              <a:ext uri="{FF2B5EF4-FFF2-40B4-BE49-F238E27FC236}">
                <a16:creationId xmlns:a16="http://schemas.microsoft.com/office/drawing/2014/main" id="{95503503-BFCB-3154-2414-23662172B0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832"/>
          <a:stretch>
            <a:fillRect/>
          </a:stretch>
        </p:blipFill>
        <p:spPr>
          <a:xfrm flipH="1">
            <a:off x="0" y="-3175"/>
            <a:ext cx="3739515" cy="2141220"/>
          </a:xfrm>
          <a:prstGeom prst="rect">
            <a:avLst/>
          </a:prstGeom>
        </p:spPr>
      </p:pic>
      <p:pic>
        <p:nvPicPr>
          <p:cNvPr id="34" name="图片 33" descr="未标题-2-05">
            <a:extLst>
              <a:ext uri="{FF2B5EF4-FFF2-40B4-BE49-F238E27FC236}">
                <a16:creationId xmlns:a16="http://schemas.microsoft.com/office/drawing/2014/main" id="{DBDBD397-ED21-BC7D-E848-2CFB729412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984"/>
          <a:stretch>
            <a:fillRect/>
          </a:stretch>
        </p:blipFill>
        <p:spPr>
          <a:xfrm>
            <a:off x="8606155" y="97790"/>
            <a:ext cx="3585845" cy="20396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3572C9-66F6-AAFE-394B-2DE609FDE5B4}"/>
              </a:ext>
            </a:extLst>
          </p:cNvPr>
          <p:cNvSpPr txBox="1"/>
          <p:nvPr/>
        </p:nvSpPr>
        <p:spPr>
          <a:xfrm>
            <a:off x="3678366" y="1329590"/>
            <a:ext cx="4688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“四方食事，不过一碗人间烟火”</a:t>
            </a:r>
            <a:endParaRPr lang="en-US" altLang="zh-CN" sz="2000" dirty="0"/>
          </a:p>
          <a:p>
            <a:pPr algn="r"/>
            <a:r>
              <a:rPr lang="en-US" altLang="zh-CN" sz="2000" dirty="0"/>
              <a:t>——</a:t>
            </a:r>
            <a:r>
              <a:rPr lang="zh-CN" altLang="en-US" sz="2000" dirty="0"/>
              <a:t>汪曾祺</a:t>
            </a:r>
            <a:endParaRPr lang="en-C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10617-CA6F-A257-3897-D7B2BBE7EB83}"/>
              </a:ext>
            </a:extLst>
          </p:cNvPr>
          <p:cNvSpPr txBox="1"/>
          <p:nvPr/>
        </p:nvSpPr>
        <p:spPr>
          <a:xfrm>
            <a:off x="3083771" y="5044591"/>
            <a:ext cx="6367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“四只要有一只茶壶，中国人到哪儿都是快乐的。”</a:t>
            </a:r>
            <a:endParaRPr lang="en-US" altLang="zh-CN" sz="2000" dirty="0"/>
          </a:p>
          <a:p>
            <a:pPr algn="r"/>
            <a:r>
              <a:rPr lang="en-US" altLang="zh-CN" sz="2000" dirty="0"/>
              <a:t>——</a:t>
            </a:r>
            <a:r>
              <a:rPr lang="zh-CN" altLang="en-US" sz="2000" dirty="0"/>
              <a:t>林语堂</a:t>
            </a:r>
            <a:endParaRPr lang="en-C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08F4D-A458-FBAB-A592-E7B33D2307CB}"/>
              </a:ext>
            </a:extLst>
          </p:cNvPr>
          <p:cNvSpPr txBox="1"/>
          <p:nvPr/>
        </p:nvSpPr>
        <p:spPr>
          <a:xfrm>
            <a:off x="5553233" y="2963714"/>
            <a:ext cx="976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b="1" dirty="0"/>
              <a:t>饮食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54DED-3FC3-8339-3C50-30E2D0B58E39}"/>
              </a:ext>
            </a:extLst>
          </p:cNvPr>
          <p:cNvSpPr txBox="1"/>
          <p:nvPr/>
        </p:nvSpPr>
        <p:spPr>
          <a:xfrm>
            <a:off x="4123588" y="3044279"/>
            <a:ext cx="1307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/>
              <a:t>精神寄托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CCBDE-8B08-6939-ABBE-BF2E3CF5FA9F}"/>
              </a:ext>
            </a:extLst>
          </p:cNvPr>
          <p:cNvSpPr txBox="1"/>
          <p:nvPr/>
        </p:nvSpPr>
        <p:spPr>
          <a:xfrm>
            <a:off x="6652081" y="3044279"/>
            <a:ext cx="15001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文化基因</a:t>
            </a:r>
            <a:endParaRPr lang="en-CN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1E087-26D6-62C7-8363-BC879BD4DFD2}"/>
              </a:ext>
            </a:extLst>
          </p:cNvPr>
          <p:cNvSpPr txBox="1"/>
          <p:nvPr/>
        </p:nvSpPr>
        <p:spPr>
          <a:xfrm>
            <a:off x="1636116" y="2259983"/>
            <a:ext cx="2185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喝茶</a:t>
            </a:r>
            <a:r>
              <a:rPr lang="en-US" altLang="zh-CN" dirty="0"/>
              <a:t>》-</a:t>
            </a:r>
            <a:r>
              <a:rPr lang="zh-CN" altLang="en-US" dirty="0"/>
              <a:t>周作人</a:t>
            </a:r>
            <a:endParaRPr lang="en-CN" dirty="0"/>
          </a:p>
          <a:p>
            <a:r>
              <a:rPr lang="en-CN" dirty="0"/>
              <a:t>个人的精神追求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1BB5AD-C6A5-DA4A-5334-3B510EA6B8DC}"/>
              </a:ext>
            </a:extLst>
          </p:cNvPr>
          <p:cNvSpPr txBox="1"/>
          <p:nvPr/>
        </p:nvSpPr>
        <p:spPr>
          <a:xfrm>
            <a:off x="1309267" y="3699481"/>
            <a:ext cx="2814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雅舍谈吃・蟹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</a:rPr>
              <a:t>》-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梁实秋</a:t>
            </a:r>
            <a:endParaRPr lang="en-CN" dirty="0"/>
          </a:p>
          <a:p>
            <a:r>
              <a:rPr lang="en-CN" dirty="0"/>
              <a:t>承载故园记忆与烟火温情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2F308F-C532-2FC9-29CC-4797AB0A579E}"/>
              </a:ext>
            </a:extLst>
          </p:cNvPr>
          <p:cNvSpPr txBox="1"/>
          <p:nvPr/>
        </p:nvSpPr>
        <p:spPr>
          <a:xfrm>
            <a:off x="8369899" y="2270125"/>
            <a:ext cx="2595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吃饭</a:t>
            </a:r>
            <a:r>
              <a:rPr lang="en-US" altLang="zh-CN" dirty="0"/>
              <a:t>》</a:t>
            </a:r>
            <a:r>
              <a:rPr lang="zh-CN" altLang="en-US" dirty="0"/>
              <a:t>钱钟书</a:t>
            </a:r>
            <a:endParaRPr lang="en-CN" dirty="0"/>
          </a:p>
          <a:p>
            <a:r>
              <a:rPr lang="en-CN" dirty="0"/>
              <a:t>以饭讽世</a:t>
            </a:r>
            <a:r>
              <a:rPr lang="zh-CN" altLang="en-US" dirty="0"/>
              <a:t>，结构现实</a:t>
            </a:r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1E1B1E-3486-5AFE-D255-87559DB7FDBF}"/>
              </a:ext>
            </a:extLst>
          </p:cNvPr>
          <p:cNvSpPr txBox="1"/>
          <p:nvPr/>
        </p:nvSpPr>
        <p:spPr>
          <a:xfrm>
            <a:off x="8369899" y="3637796"/>
            <a:ext cx="2595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饮食</a:t>
            </a:r>
            <a:r>
              <a:rPr lang="en-US" altLang="zh-CN" dirty="0"/>
              <a:t>》</a:t>
            </a:r>
            <a:r>
              <a:rPr lang="zh-CN" altLang="en-US" dirty="0"/>
              <a:t>林语堂</a:t>
            </a:r>
            <a:endParaRPr lang="en-CN" dirty="0"/>
          </a:p>
          <a:p>
            <a:r>
              <a:rPr lang="en-CN" dirty="0"/>
              <a:t>以食立论</a:t>
            </a:r>
            <a:r>
              <a:rPr lang="zh-CN" altLang="en-US" dirty="0"/>
              <a:t>，</a:t>
            </a:r>
            <a:r>
              <a:rPr lang="en-CN" dirty="0"/>
              <a:t>贯穿东西</a:t>
            </a:r>
          </a:p>
        </p:txBody>
      </p:sp>
    </p:spTree>
    <p:extLst>
      <p:ext uri="{BB962C8B-B14F-4D97-AF65-F5344CB8AC3E}">
        <p14:creationId xmlns:p14="http://schemas.microsoft.com/office/powerpoint/2010/main" val="302043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VhNGU4Y2M4YjA3Mzk3MTQ5M2MxNWM4NWFjMzljYWEifQ=="/>
  <p:tag name="KSO_WPP_MARK_KEY" val="12d5b617-1277-42d9-be2b-07f4da6fa13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云峰静龙行书"/>
        <a:font script="Hebr" typeface="云峰静龙行书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云峰静龙行书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云峰静龙行书"/>
        <a:font script="Hebr" typeface="云峰静龙行书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云峰静龙行书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云峰静龙行书"/>
        <a:font script="Hebr" typeface="云峰静龙行书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云峰静龙行书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4249</TotalTime>
  <Words>351</Words>
  <Application>Microsoft Macintosh PowerPoint</Application>
  <PresentationFormat>Widescreen</PresentationFormat>
  <Paragraphs>19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宋体</vt:lpstr>
      <vt:lpstr>Arial</vt:lpstr>
      <vt:lpstr>Office 主题</vt:lpstr>
      <vt:lpstr>味外之旨  现代散文饮食题材的意蕴建构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CF</dc:creator>
  <cp:lastModifiedBy>Francis Lu</cp:lastModifiedBy>
  <cp:revision>92</cp:revision>
  <dcterms:created xsi:type="dcterms:W3CDTF">2021-06-18T02:23:00Z</dcterms:created>
  <dcterms:modified xsi:type="dcterms:W3CDTF">2026-04-15T13:20:28Z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021BCD6E281746DC90D530977EE7B654</vt:lpwstr>
  </property>
  <property fmtid="{D5CDD505-2E9C-101B-9397-08002B2CF9AE}" pid="3" name="KSOProductBuildVer">
    <vt:lpwstr>2052-12.1.0.19770</vt:lpwstr>
  </property>
</Properties>
</file>