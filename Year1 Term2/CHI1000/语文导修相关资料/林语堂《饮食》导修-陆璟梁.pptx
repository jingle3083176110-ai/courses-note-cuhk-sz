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9" r:id="rId10"/>
    <p:sldId id="263" r:id="rId11"/>
    <p:sldId id="270" r:id="rId12"/>
    <p:sldId id="262" r:id="rId13"/>
    <p:sldId id="267" r:id="rId14"/>
    <p:sldId id="268" r:id="rId1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1"/>
    <p:restoredTop sz="86233"/>
  </p:normalViewPr>
  <p:slideViewPr>
    <p:cSldViewPr snapToGrid="0">
      <p:cViewPr varScale="1">
        <p:scale>
          <a:sx n="109" d="100"/>
          <a:sy n="109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35BF3-0D7D-3B42-A5F9-67F054199A4A}" type="datetimeFigureOut">
              <a:rPr lang="en-CN" smtClean="0"/>
              <a:t>2026/4/15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181FE-C24D-BC4E-992E-BE97A62014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500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分析林语堂人生中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3807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5701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就像老师常常说的</a:t>
            </a:r>
            <a:r>
              <a:rPr lang="zh-CN" altLang="en-US" dirty="0"/>
              <a:t>，</a:t>
            </a:r>
            <a:r>
              <a:rPr lang="zh-CN" altLang="en-CN" dirty="0"/>
              <a:t>分析</a:t>
            </a:r>
            <a:r>
              <a:rPr lang="zh-CN" altLang="en-US" dirty="0"/>
              <a:t>好文本，不能只聚焦文字的内容，还要将文章放于时代之中去考察，我认为对于这篇文章来说这一点极其重要。如果只是读这篇文章， 你会感觉作者在讲述很多跟吃有关的东西，行文看起来却非常混乱，然而如果将其放置于写作的时代背景中，结合作者的写作目的，我们就能很快发现这篇文章的分析锚点。换而言之，是为中国文化自证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9217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破除这种偏见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3872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化解严肃，不板着脸说教</a:t>
            </a:r>
            <a:endParaRPr lang="en-US" altLang="zh-CN" dirty="0"/>
          </a:p>
          <a:p>
            <a:r>
              <a:rPr lang="zh-CN" altLang="en-US" dirty="0"/>
              <a:t>用夸张对比，一本正经地开玩笑，把吃抬到最高，幽默又一针见血。</a:t>
            </a:r>
            <a:endParaRPr lang="en-US" altLang="zh-CN" dirty="0"/>
          </a:p>
          <a:p>
            <a:r>
              <a:rPr lang="zh-CN" altLang="en-US" dirty="0"/>
              <a:t>把中国人琢磨美食，比作英国人琢磨彩票，幽默对比，轻松有趣。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80709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回望林语堂生平</a:t>
            </a:r>
            <a:r>
              <a:rPr lang="zh-CN" altLang="en-US" dirty="0"/>
              <a:t>，</a:t>
            </a:r>
            <a:r>
              <a:rPr lang="en-CN" dirty="0"/>
              <a:t>我们可以看到</a:t>
            </a:r>
            <a:r>
              <a:rPr lang="zh-CN" altLang="en-US" dirty="0"/>
              <a:t>，他的求学与成长阶段都在外国度过，成年之后才回到祖国。对于一个成长于西方，汲取知识于西方，充分了解西方的中国作家来说，主张“全盘欧化”是顺利成长的事情。但是我们可以从他</a:t>
            </a:r>
            <a:r>
              <a:rPr lang="en-US" altLang="zh-CN" dirty="0"/>
              <a:t>《</a:t>
            </a:r>
            <a:r>
              <a:rPr lang="zh-CN" altLang="en-US" dirty="0"/>
              <a:t>饮食</a:t>
            </a:r>
            <a:r>
              <a:rPr lang="en-US" altLang="zh-CN" dirty="0"/>
              <a:t>》</a:t>
            </a:r>
            <a:r>
              <a:rPr lang="zh-CN" altLang="en-US" dirty="0"/>
              <a:t>，乃至</a:t>
            </a:r>
            <a:r>
              <a:rPr lang="en-US" altLang="zh-CN" dirty="0"/>
              <a:t>《</a:t>
            </a:r>
            <a:r>
              <a:rPr lang="zh-CN" altLang="en-US" dirty="0"/>
              <a:t>吾国于吾民</a:t>
            </a:r>
            <a:r>
              <a:rPr lang="en-US" altLang="zh-CN" dirty="0"/>
              <a:t>》</a:t>
            </a:r>
            <a:r>
              <a:rPr lang="zh-CN" altLang="en-US" dirty="0"/>
              <a:t>这本书中窥见，希望能够东西兼通，站在第三视角的立场，纯客观地评判两种不同的文化。他最终仍旧将中国文化视为他的心灵归宿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4394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3360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34582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8402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45186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1824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3300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2369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23092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46838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95743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4592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2417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4/15/26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64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 spd="slow">
    <p:wipe/>
  </p:transition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6C43D-5BDD-75ED-B86B-7A1B4F828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4003" y="1299088"/>
            <a:ext cx="5343994" cy="2138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3600" b="1" dirty="0"/>
              <a:t>饮食之间的文化省思</a:t>
            </a:r>
            <a:br>
              <a:rPr lang="en-US" altLang="zh-CN" sz="3400" dirty="0"/>
            </a:br>
            <a:br>
              <a:rPr lang="en-US" altLang="zh-CN" sz="3400" dirty="0"/>
            </a:br>
            <a:r>
              <a:rPr lang="en-US" altLang="zh-CN" sz="2800" dirty="0"/>
              <a:t>——</a:t>
            </a:r>
            <a:r>
              <a:rPr lang="zh-CN" altLang="en-US" sz="2800" dirty="0"/>
              <a:t>林语堂</a:t>
            </a:r>
            <a:r>
              <a:rPr lang="en-US" altLang="zh-CN" sz="2800" dirty="0"/>
              <a:t>《</a:t>
            </a:r>
            <a:r>
              <a:rPr lang="zh-CN" altLang="en-US" sz="2800" dirty="0"/>
              <a:t>饮食</a:t>
            </a:r>
            <a:r>
              <a:rPr lang="en-US" altLang="zh-CN" sz="2800" dirty="0"/>
              <a:t>》</a:t>
            </a:r>
            <a:r>
              <a:rPr lang="zh-CN" altLang="en-US" sz="2800" dirty="0"/>
              <a:t>中的中西态度</a:t>
            </a:r>
            <a:endParaRPr lang="en-CN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60830-3B92-1FAB-3559-AF553DC96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7600" y="4113213"/>
            <a:ext cx="4636800" cy="1655762"/>
          </a:xfrm>
        </p:spPr>
        <p:txBody>
          <a:bodyPr>
            <a:normAutofit/>
          </a:bodyPr>
          <a:lstStyle/>
          <a:p>
            <a:r>
              <a:rPr lang="en-CN" sz="2000" dirty="0"/>
              <a:t>报告人</a:t>
            </a:r>
            <a:r>
              <a:rPr lang="zh-CN" altLang="en-US" sz="2000" dirty="0"/>
              <a:t>：陆璟梁</a:t>
            </a:r>
            <a:endParaRPr lang="en-US" altLang="zh-CN" sz="20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578809-4F8C-4A9B-A59D-0D7BDA6B1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6DADE07-3826-4857-9180-7DB77BCCE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55" name="Freeform 64">
                <a:extLst>
                  <a:ext uri="{FF2B5EF4-FFF2-40B4-BE49-F238E27FC236}">
                    <a16:creationId xmlns:a16="http://schemas.microsoft.com/office/drawing/2014/main" id="{5C21CC9E-9E93-47EE-B6BE-DAF0D163FF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81">
                <a:extLst>
                  <a:ext uri="{FF2B5EF4-FFF2-40B4-BE49-F238E27FC236}">
                    <a16:creationId xmlns:a16="http://schemas.microsoft.com/office/drawing/2014/main" id="{F98634D8-7CA3-4C66-8CD8-4D6F24833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61">
                <a:extLst>
                  <a:ext uri="{FF2B5EF4-FFF2-40B4-BE49-F238E27FC236}">
                    <a16:creationId xmlns:a16="http://schemas.microsoft.com/office/drawing/2014/main" id="{579AC1E2-C2CF-4BA7-82B4-C8CCC73056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78">
                <a:extLst>
                  <a:ext uri="{FF2B5EF4-FFF2-40B4-BE49-F238E27FC236}">
                    <a16:creationId xmlns:a16="http://schemas.microsoft.com/office/drawing/2014/main" id="{FD089815-EEDF-4A19-B1A5-CD51F7D646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84">
                <a:extLst>
                  <a:ext uri="{FF2B5EF4-FFF2-40B4-BE49-F238E27FC236}">
                    <a16:creationId xmlns:a16="http://schemas.microsoft.com/office/drawing/2014/main" id="{3913B299-F5CE-4C72-A020-2AFCFFDB7C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87">
                <a:extLst>
                  <a:ext uri="{FF2B5EF4-FFF2-40B4-BE49-F238E27FC236}">
                    <a16:creationId xmlns:a16="http://schemas.microsoft.com/office/drawing/2014/main" id="{38067600-ABBC-4D8F-B242-026D39DB95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F1082FE-D7C7-430A-B6DF-041CD1FBF5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59">
                <a:extLst>
                  <a:ext uri="{FF2B5EF4-FFF2-40B4-BE49-F238E27FC236}">
                    <a16:creationId xmlns:a16="http://schemas.microsoft.com/office/drawing/2014/main" id="{D20DF48A-C1E5-483E-B21B-EDC96EC75D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BE0F4360-2529-43AE-8AD9-1B7B3F903C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4" name="Freeform 65">
                <a:extLst>
                  <a:ext uri="{FF2B5EF4-FFF2-40B4-BE49-F238E27FC236}">
                    <a16:creationId xmlns:a16="http://schemas.microsoft.com/office/drawing/2014/main" id="{B1B8DE27-1A2A-48A2-A329-B0F4201A74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79">
                <a:extLst>
                  <a:ext uri="{FF2B5EF4-FFF2-40B4-BE49-F238E27FC236}">
                    <a16:creationId xmlns:a16="http://schemas.microsoft.com/office/drawing/2014/main" id="{9BD6F64A-2862-4703-A7E6-6D3295621F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82">
                <a:extLst>
                  <a:ext uri="{FF2B5EF4-FFF2-40B4-BE49-F238E27FC236}">
                    <a16:creationId xmlns:a16="http://schemas.microsoft.com/office/drawing/2014/main" id="{DA103B72-E0CF-45F0-A7D0-21ECD0175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85">
                <a:extLst>
                  <a:ext uri="{FF2B5EF4-FFF2-40B4-BE49-F238E27FC236}">
                    <a16:creationId xmlns:a16="http://schemas.microsoft.com/office/drawing/2014/main" id="{12BF02EE-B84D-4508-86AE-720FFD081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88">
                <a:extLst>
                  <a:ext uri="{FF2B5EF4-FFF2-40B4-BE49-F238E27FC236}">
                    <a16:creationId xmlns:a16="http://schemas.microsoft.com/office/drawing/2014/main" id="{63DEFA47-924F-47EC-8A1A-E8D4E1D286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8E9EAB0-A7D4-43A2-BE0E-0285979BC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70" name="Line 63">
                  <a:extLst>
                    <a:ext uri="{FF2B5EF4-FFF2-40B4-BE49-F238E27FC236}">
                      <a16:creationId xmlns:a16="http://schemas.microsoft.com/office/drawing/2014/main" id="{0918A230-E769-4D1D-BAD9-E5835E2C8D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66">
                  <a:extLst>
                    <a:ext uri="{FF2B5EF4-FFF2-40B4-BE49-F238E27FC236}">
                      <a16:creationId xmlns:a16="http://schemas.microsoft.com/office/drawing/2014/main" id="{8387A7CE-102C-40EE-9CF5-025C3DD8D49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Line 67">
                  <a:extLst>
                    <a:ext uri="{FF2B5EF4-FFF2-40B4-BE49-F238E27FC236}">
                      <a16:creationId xmlns:a16="http://schemas.microsoft.com/office/drawing/2014/main" id="{04D252BC-127A-412D-BC8A-003132AE7C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Line 80">
                  <a:extLst>
                    <a:ext uri="{FF2B5EF4-FFF2-40B4-BE49-F238E27FC236}">
                      <a16:creationId xmlns:a16="http://schemas.microsoft.com/office/drawing/2014/main" id="{DBF98D9E-95AE-499D-90A5-B46B881160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Line 83">
                  <a:extLst>
                    <a:ext uri="{FF2B5EF4-FFF2-40B4-BE49-F238E27FC236}">
                      <a16:creationId xmlns:a16="http://schemas.microsoft.com/office/drawing/2014/main" id="{DF93481C-D4B8-49D1-8DB5-0DDFD0A975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Line 86">
                  <a:extLst>
                    <a:ext uri="{FF2B5EF4-FFF2-40B4-BE49-F238E27FC236}">
                      <a16:creationId xmlns:a16="http://schemas.microsoft.com/office/drawing/2014/main" id="{E08AF258-8D62-4B36-9315-8652E31710E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Line 89">
                  <a:extLst>
                    <a:ext uri="{FF2B5EF4-FFF2-40B4-BE49-F238E27FC236}">
                      <a16:creationId xmlns:a16="http://schemas.microsoft.com/office/drawing/2014/main" id="{DCAC5381-7C87-4FB1-922C-72424F35D4F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3D131BB-56BB-4799-9DE1-95E397FA6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BD75D3A2-6328-49F4-A5C7-BDBEBE871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B386BFB-69FD-4CED-89B4-6E45CD3340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E0292B6-9C83-4545-9DB9-6D216C6491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Rectangle 30">
                  <a:extLst>
                    <a:ext uri="{FF2B5EF4-FFF2-40B4-BE49-F238E27FC236}">
                      <a16:creationId xmlns:a16="http://schemas.microsoft.com/office/drawing/2014/main" id="{218E320A-887F-4DBF-8CCC-A0E849F364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30">
                  <a:extLst>
                    <a:ext uri="{FF2B5EF4-FFF2-40B4-BE49-F238E27FC236}">
                      <a16:creationId xmlns:a16="http://schemas.microsoft.com/office/drawing/2014/main" id="{70456DE9-EFE8-480B-904C-C4E4521BA8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FAC87AC-6F0D-41C3-A96D-583587DBD2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BBBB3529-7770-48BD-9A2D-61CB322B48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4D2F05B-BBCD-4783-BDE0-43D73C2675E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C54BFAD-42ED-48A4-AA55-3BE394C44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FB341D07-45D8-4F3A-B413-FD2B278A24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44" name="Freeform 68">
                  <a:extLst>
                    <a:ext uri="{FF2B5EF4-FFF2-40B4-BE49-F238E27FC236}">
                      <a16:creationId xmlns:a16="http://schemas.microsoft.com/office/drawing/2014/main" id="{872DAC2D-6CA9-4BA0-9831-D9BCA4630F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69">
                  <a:extLst>
                    <a:ext uri="{FF2B5EF4-FFF2-40B4-BE49-F238E27FC236}">
                      <a16:creationId xmlns:a16="http://schemas.microsoft.com/office/drawing/2014/main" id="{79883F04-2F99-488F-B3C5-0B29E181A19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70">
                  <a:extLst>
                    <a:ext uri="{FF2B5EF4-FFF2-40B4-BE49-F238E27FC236}">
                      <a16:creationId xmlns:a16="http://schemas.microsoft.com/office/drawing/2014/main" id="{588E0A03-E6DB-4D96-82A1-39AAB99850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032D250-40F2-4BE1-9E51-51D6124316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41" name="Freeform 68">
                  <a:extLst>
                    <a:ext uri="{FF2B5EF4-FFF2-40B4-BE49-F238E27FC236}">
                      <a16:creationId xmlns:a16="http://schemas.microsoft.com/office/drawing/2014/main" id="{CFF6B335-FCBC-4111-B6E0-010A0CCF6A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69">
                  <a:extLst>
                    <a:ext uri="{FF2B5EF4-FFF2-40B4-BE49-F238E27FC236}">
                      <a16:creationId xmlns:a16="http://schemas.microsoft.com/office/drawing/2014/main" id="{F3A4A21F-DBFE-4F02-A66E-C6F0ECB698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Line 70">
                  <a:extLst>
                    <a:ext uri="{FF2B5EF4-FFF2-40B4-BE49-F238E27FC236}">
                      <a16:creationId xmlns:a16="http://schemas.microsoft.com/office/drawing/2014/main" id="{3A5E5CE1-528A-4B41-A739-BFE450F1F9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88FC08C-C419-4B3F-B3C4-074AE7045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69E4645-4CFC-4C14-9639-295E67859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75D1D75-29EC-4168-9B74-DD31796A3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100" name="Freeform 64">
                <a:extLst>
                  <a:ext uri="{FF2B5EF4-FFF2-40B4-BE49-F238E27FC236}">
                    <a16:creationId xmlns:a16="http://schemas.microsoft.com/office/drawing/2014/main" id="{5C244629-4F62-4555-8576-76E450C712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81">
                <a:extLst>
                  <a:ext uri="{FF2B5EF4-FFF2-40B4-BE49-F238E27FC236}">
                    <a16:creationId xmlns:a16="http://schemas.microsoft.com/office/drawing/2014/main" id="{33FE7FD6-ED0C-4A85-BB37-50D5DEFE5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61">
                <a:extLst>
                  <a:ext uri="{FF2B5EF4-FFF2-40B4-BE49-F238E27FC236}">
                    <a16:creationId xmlns:a16="http://schemas.microsoft.com/office/drawing/2014/main" id="{E321CBA3-94D7-498A-AA58-32E5E21DAA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78">
                <a:extLst>
                  <a:ext uri="{FF2B5EF4-FFF2-40B4-BE49-F238E27FC236}">
                    <a16:creationId xmlns:a16="http://schemas.microsoft.com/office/drawing/2014/main" id="{A483E481-9A4F-433D-83BF-BE219AE92A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84">
                <a:extLst>
                  <a:ext uri="{FF2B5EF4-FFF2-40B4-BE49-F238E27FC236}">
                    <a16:creationId xmlns:a16="http://schemas.microsoft.com/office/drawing/2014/main" id="{3BD25EE3-866C-4F95-87D6-3539B174A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87">
                <a:extLst>
                  <a:ext uri="{FF2B5EF4-FFF2-40B4-BE49-F238E27FC236}">
                    <a16:creationId xmlns:a16="http://schemas.microsoft.com/office/drawing/2014/main" id="{7C4C4F76-8DA9-47EA-94F9-1D400388FA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60">
                <a:extLst>
                  <a:ext uri="{FF2B5EF4-FFF2-40B4-BE49-F238E27FC236}">
                    <a16:creationId xmlns:a16="http://schemas.microsoft.com/office/drawing/2014/main" id="{025FE981-874E-47FE-81B8-F025D2BF9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59">
                <a:extLst>
                  <a:ext uri="{FF2B5EF4-FFF2-40B4-BE49-F238E27FC236}">
                    <a16:creationId xmlns:a16="http://schemas.microsoft.com/office/drawing/2014/main" id="{5680B73A-298E-4BDA-AB07-ACC8314E4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62">
                <a:extLst>
                  <a:ext uri="{FF2B5EF4-FFF2-40B4-BE49-F238E27FC236}">
                    <a16:creationId xmlns:a16="http://schemas.microsoft.com/office/drawing/2014/main" id="{01AFB333-D097-4235-A165-C9D3CDC2FE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9" name="Freeform 65">
                <a:extLst>
                  <a:ext uri="{FF2B5EF4-FFF2-40B4-BE49-F238E27FC236}">
                    <a16:creationId xmlns:a16="http://schemas.microsoft.com/office/drawing/2014/main" id="{66C11AEB-D3F2-45AA-9C41-CA142A02E7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79">
                <a:extLst>
                  <a:ext uri="{FF2B5EF4-FFF2-40B4-BE49-F238E27FC236}">
                    <a16:creationId xmlns:a16="http://schemas.microsoft.com/office/drawing/2014/main" id="{2EAA79E5-B4EE-4477-A9D7-38234A19D4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2">
                <a:extLst>
                  <a:ext uri="{FF2B5EF4-FFF2-40B4-BE49-F238E27FC236}">
                    <a16:creationId xmlns:a16="http://schemas.microsoft.com/office/drawing/2014/main" id="{A2EB3CA6-CF43-44E7-A82B-C86FF6A75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85">
                <a:extLst>
                  <a:ext uri="{FF2B5EF4-FFF2-40B4-BE49-F238E27FC236}">
                    <a16:creationId xmlns:a16="http://schemas.microsoft.com/office/drawing/2014/main" id="{635B3B6D-8A83-4CF1-AE24-D872BCE07C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88">
                <a:extLst>
                  <a:ext uri="{FF2B5EF4-FFF2-40B4-BE49-F238E27FC236}">
                    <a16:creationId xmlns:a16="http://schemas.microsoft.com/office/drawing/2014/main" id="{67274B73-EB7F-4885-8375-DCC193DE84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B0EE02B4-8ECF-4636-B55D-11A3869E6E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115" name="Line 63">
                  <a:extLst>
                    <a:ext uri="{FF2B5EF4-FFF2-40B4-BE49-F238E27FC236}">
                      <a16:creationId xmlns:a16="http://schemas.microsoft.com/office/drawing/2014/main" id="{97860271-66A3-4C76-9A50-EF7ADA1D95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Line 66">
                  <a:extLst>
                    <a:ext uri="{FF2B5EF4-FFF2-40B4-BE49-F238E27FC236}">
                      <a16:creationId xmlns:a16="http://schemas.microsoft.com/office/drawing/2014/main" id="{CD0262E2-572E-453D-8FE4-46EDF0C75C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Line 67">
                  <a:extLst>
                    <a:ext uri="{FF2B5EF4-FFF2-40B4-BE49-F238E27FC236}">
                      <a16:creationId xmlns:a16="http://schemas.microsoft.com/office/drawing/2014/main" id="{504EAB1B-BE08-49A3-91E4-2F59777FF8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Line 80">
                  <a:extLst>
                    <a:ext uri="{FF2B5EF4-FFF2-40B4-BE49-F238E27FC236}">
                      <a16:creationId xmlns:a16="http://schemas.microsoft.com/office/drawing/2014/main" id="{1BA1BFEB-5D6B-4011-8814-75FDF39A8CE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Line 83">
                  <a:extLst>
                    <a:ext uri="{FF2B5EF4-FFF2-40B4-BE49-F238E27FC236}">
                      <a16:creationId xmlns:a16="http://schemas.microsoft.com/office/drawing/2014/main" id="{58D635F3-CD70-43D2-9FAE-690BB6A8C0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Line 86">
                  <a:extLst>
                    <a:ext uri="{FF2B5EF4-FFF2-40B4-BE49-F238E27FC236}">
                      <a16:creationId xmlns:a16="http://schemas.microsoft.com/office/drawing/2014/main" id="{7D4A71ED-4313-45E2-9078-0A2179F609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Line 89">
                  <a:extLst>
                    <a:ext uri="{FF2B5EF4-FFF2-40B4-BE49-F238E27FC236}">
                      <a16:creationId xmlns:a16="http://schemas.microsoft.com/office/drawing/2014/main" id="{F71A8BF4-8580-4405-93CC-68682C9EFB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03EA70C-259E-4844-83FD-A8152374D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2D8DEFBA-3794-41DB-BA53-A168E4B02E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F74D1351-C939-4ABA-A2D0-F13C1F3BF5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D672A249-195A-4DAD-984C-AC6C894A6FD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Rectangle 30">
                  <a:extLst>
                    <a:ext uri="{FF2B5EF4-FFF2-40B4-BE49-F238E27FC236}">
                      <a16:creationId xmlns:a16="http://schemas.microsoft.com/office/drawing/2014/main" id="{B2751033-92CC-43C5-B09D-BEAC921297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30">
                  <a:extLst>
                    <a:ext uri="{FF2B5EF4-FFF2-40B4-BE49-F238E27FC236}">
                      <a16:creationId xmlns:a16="http://schemas.microsoft.com/office/drawing/2014/main" id="{810A9024-F6AE-46E1-AF5B-23C1BAF52A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6148CDE3-7E34-46A7-A2A1-B2418BA6CD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DFB487FA-CAC6-469F-8D07-227D88323A7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64B6721C-6379-4342-B632-2288DDDD12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8C06E09-320E-44ED-8B43-2BB2CE74A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2F42D42C-CE47-479C-A563-298CD9035F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89" name="Freeform 68">
                  <a:extLst>
                    <a:ext uri="{FF2B5EF4-FFF2-40B4-BE49-F238E27FC236}">
                      <a16:creationId xmlns:a16="http://schemas.microsoft.com/office/drawing/2014/main" id="{65202664-9154-4377-8C3E-9BA25B78A4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Freeform 69">
                  <a:extLst>
                    <a:ext uri="{FF2B5EF4-FFF2-40B4-BE49-F238E27FC236}">
                      <a16:creationId xmlns:a16="http://schemas.microsoft.com/office/drawing/2014/main" id="{F0361EFD-383F-40DA-936A-1EC55BBA67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70">
                  <a:extLst>
                    <a:ext uri="{FF2B5EF4-FFF2-40B4-BE49-F238E27FC236}">
                      <a16:creationId xmlns:a16="http://schemas.microsoft.com/office/drawing/2014/main" id="{0899FE39-C088-493A-A9ED-9C70D9427F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04A185DA-EED5-4241-BCE2-7DFF9775B9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86" name="Freeform 68">
                  <a:extLst>
                    <a:ext uri="{FF2B5EF4-FFF2-40B4-BE49-F238E27FC236}">
                      <a16:creationId xmlns:a16="http://schemas.microsoft.com/office/drawing/2014/main" id="{1D1D1F03-0895-4603-B54A-30778D288D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Freeform 69">
                  <a:extLst>
                    <a:ext uri="{FF2B5EF4-FFF2-40B4-BE49-F238E27FC236}">
                      <a16:creationId xmlns:a16="http://schemas.microsoft.com/office/drawing/2014/main" id="{4205B00F-0C22-4C32-B408-130BD2BCA2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Line 70">
                  <a:extLst>
                    <a:ext uri="{FF2B5EF4-FFF2-40B4-BE49-F238E27FC236}">
                      <a16:creationId xmlns:a16="http://schemas.microsoft.com/office/drawing/2014/main" id="{0307197D-6DFE-4C69-95F1-42678413BA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344664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2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1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EE229A-FA2F-41CD-AB19-7E8FA9B69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384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66BD917-8B7F-425F-B73C-5B9A2F1C1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4C72CC-3287-4EDF-A57D-E1F0AD683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99" name="Freeform 68">
                <a:extLst>
                  <a:ext uri="{FF2B5EF4-FFF2-40B4-BE49-F238E27FC236}">
                    <a16:creationId xmlns:a16="http://schemas.microsoft.com/office/drawing/2014/main" id="{2A9B0F2D-3FFF-4D93-9A7A-812FB602F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69">
                <a:extLst>
                  <a:ext uri="{FF2B5EF4-FFF2-40B4-BE49-F238E27FC236}">
                    <a16:creationId xmlns:a16="http://schemas.microsoft.com/office/drawing/2014/main" id="{B96FC66E-0621-4815-9244-D756867A7A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Line 70">
                <a:extLst>
                  <a:ext uri="{FF2B5EF4-FFF2-40B4-BE49-F238E27FC236}">
                    <a16:creationId xmlns:a16="http://schemas.microsoft.com/office/drawing/2014/main" id="{FA020CDD-FD6F-43B3-8B87-E31C302D1B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47927-3FB8-4B6D-9992-4E8BB8903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092DE4C-C5DD-4C69-80DE-F8BD1F0B1F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DFF83553-C793-4661-A49B-922CE46CA9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77" name="Freeform 64">
                  <a:extLst>
                    <a:ext uri="{FF2B5EF4-FFF2-40B4-BE49-F238E27FC236}">
                      <a16:creationId xmlns:a16="http://schemas.microsoft.com/office/drawing/2014/main" id="{924DBACD-2114-4819-A01E-87BDCA62B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81">
                  <a:extLst>
                    <a:ext uri="{FF2B5EF4-FFF2-40B4-BE49-F238E27FC236}">
                      <a16:creationId xmlns:a16="http://schemas.microsoft.com/office/drawing/2014/main" id="{29FF7900-6032-4A35-A6AF-891A933782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Freeform 61">
                  <a:extLst>
                    <a:ext uri="{FF2B5EF4-FFF2-40B4-BE49-F238E27FC236}">
                      <a16:creationId xmlns:a16="http://schemas.microsoft.com/office/drawing/2014/main" id="{0E08BBF3-0BFC-4458-9838-93545E28CE2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78">
                  <a:extLst>
                    <a:ext uri="{FF2B5EF4-FFF2-40B4-BE49-F238E27FC236}">
                      <a16:creationId xmlns:a16="http://schemas.microsoft.com/office/drawing/2014/main" id="{DC2D4DC4-ACA4-4251-A77D-A58ABD456B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Freeform 84">
                  <a:extLst>
                    <a:ext uri="{FF2B5EF4-FFF2-40B4-BE49-F238E27FC236}">
                      <a16:creationId xmlns:a16="http://schemas.microsoft.com/office/drawing/2014/main" id="{09B7856E-CC05-4335-A617-B601943292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Freeform 87">
                  <a:extLst>
                    <a:ext uri="{FF2B5EF4-FFF2-40B4-BE49-F238E27FC236}">
                      <a16:creationId xmlns:a16="http://schemas.microsoft.com/office/drawing/2014/main" id="{BC215FAF-2D33-4D60-989B-9E017CF279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" name="Freeform 60">
                  <a:extLst>
                    <a:ext uri="{FF2B5EF4-FFF2-40B4-BE49-F238E27FC236}">
                      <a16:creationId xmlns:a16="http://schemas.microsoft.com/office/drawing/2014/main" id="{A55D1A71-807C-477F-A88F-BB0E243D77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Freeform 59">
                  <a:extLst>
                    <a:ext uri="{FF2B5EF4-FFF2-40B4-BE49-F238E27FC236}">
                      <a16:creationId xmlns:a16="http://schemas.microsoft.com/office/drawing/2014/main" id="{08814367-F877-41A9-8F6A-0D3CAC48597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" name="Freeform 62">
                  <a:extLst>
                    <a:ext uri="{FF2B5EF4-FFF2-40B4-BE49-F238E27FC236}">
                      <a16:creationId xmlns:a16="http://schemas.microsoft.com/office/drawing/2014/main" id="{2A539D58-C945-4140-AD5B-DACF71CEC9C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86" name="Freeform 65">
                  <a:extLst>
                    <a:ext uri="{FF2B5EF4-FFF2-40B4-BE49-F238E27FC236}">
                      <a16:creationId xmlns:a16="http://schemas.microsoft.com/office/drawing/2014/main" id="{3A20A265-4FF6-4A23-9A1E-D04F9C7811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Freeform 79">
                  <a:extLst>
                    <a:ext uri="{FF2B5EF4-FFF2-40B4-BE49-F238E27FC236}">
                      <a16:creationId xmlns:a16="http://schemas.microsoft.com/office/drawing/2014/main" id="{45FE365D-6736-4169-9E46-DD55298BC3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Freeform 82">
                  <a:extLst>
                    <a:ext uri="{FF2B5EF4-FFF2-40B4-BE49-F238E27FC236}">
                      <a16:creationId xmlns:a16="http://schemas.microsoft.com/office/drawing/2014/main" id="{29F690C3-E72D-47BB-8448-38F6E45E5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" name="Freeform 85">
                  <a:extLst>
                    <a:ext uri="{FF2B5EF4-FFF2-40B4-BE49-F238E27FC236}">
                      <a16:creationId xmlns:a16="http://schemas.microsoft.com/office/drawing/2014/main" id="{729D46B8-9295-4913-BAE9-D375DA5962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Freeform 88">
                  <a:extLst>
                    <a:ext uri="{FF2B5EF4-FFF2-40B4-BE49-F238E27FC236}">
                      <a16:creationId xmlns:a16="http://schemas.microsoft.com/office/drawing/2014/main" id="{7FF29692-0B42-410A-BB97-50E22AE6E3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170F708-1C0D-45CC-BB3B-CE7718D202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92" name="Line 63">
                    <a:extLst>
                      <a:ext uri="{FF2B5EF4-FFF2-40B4-BE49-F238E27FC236}">
                        <a16:creationId xmlns:a16="http://schemas.microsoft.com/office/drawing/2014/main" id="{E4D5CCB7-71C2-4141-AAC1-8C489185081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3" name="Line 66">
                    <a:extLst>
                      <a:ext uri="{FF2B5EF4-FFF2-40B4-BE49-F238E27FC236}">
                        <a16:creationId xmlns:a16="http://schemas.microsoft.com/office/drawing/2014/main" id="{BC88EE53-8F3B-4267-930B-7A4DF756DBD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4" name="Line 67">
                    <a:extLst>
                      <a:ext uri="{FF2B5EF4-FFF2-40B4-BE49-F238E27FC236}">
                        <a16:creationId xmlns:a16="http://schemas.microsoft.com/office/drawing/2014/main" id="{CB171FA2-05DD-4B42-9478-70E013825FF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5" name="Line 80">
                    <a:extLst>
                      <a:ext uri="{FF2B5EF4-FFF2-40B4-BE49-F238E27FC236}">
                        <a16:creationId xmlns:a16="http://schemas.microsoft.com/office/drawing/2014/main" id="{F84CA3A0-5EF3-4799-BBDE-C81C2EDD023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6" name="Line 83">
                    <a:extLst>
                      <a:ext uri="{FF2B5EF4-FFF2-40B4-BE49-F238E27FC236}">
                        <a16:creationId xmlns:a16="http://schemas.microsoft.com/office/drawing/2014/main" id="{9D3F467B-8B5C-441D-9F3E-27F421D0FDE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7" name="Line 86">
                    <a:extLst>
                      <a:ext uri="{FF2B5EF4-FFF2-40B4-BE49-F238E27FC236}">
                        <a16:creationId xmlns:a16="http://schemas.microsoft.com/office/drawing/2014/main" id="{8DF30EB2-1A4B-4622-8E7D-E8FD8886E6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8" name="Line 89">
                    <a:extLst>
                      <a:ext uri="{FF2B5EF4-FFF2-40B4-BE49-F238E27FC236}">
                        <a16:creationId xmlns:a16="http://schemas.microsoft.com/office/drawing/2014/main" id="{59207A7B-FA76-4FF5-B247-19F2398975C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30F84B68-B94E-48F0-87F6-DA95042CA7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A222C305-8AEA-4983-B95D-00218593EE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1C3A0F56-2A49-46DF-B3FB-5AEA983D7F6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59D313A3-28C6-4D61-A212-7754FEA805E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Rectangle 30">
                    <a:extLst>
                      <a:ext uri="{FF2B5EF4-FFF2-40B4-BE49-F238E27FC236}">
                        <a16:creationId xmlns:a16="http://schemas.microsoft.com/office/drawing/2014/main" id="{314B544D-6595-4864-B430-79C42457742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Rectangle 30">
                    <a:extLst>
                      <a:ext uri="{FF2B5EF4-FFF2-40B4-BE49-F238E27FC236}">
                        <a16:creationId xmlns:a16="http://schemas.microsoft.com/office/drawing/2014/main" id="{11F3A939-ABBF-4A36-8322-B72F6A47AFB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99692CEB-3FAF-468E-A27C-E42F60401C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1D40DB70-1ACF-4C8D-8B36-0C9D3115DCA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2" name="Freeform: Shape 71">
                    <a:extLst>
                      <a:ext uri="{FF2B5EF4-FFF2-40B4-BE49-F238E27FC236}">
                        <a16:creationId xmlns:a16="http://schemas.microsoft.com/office/drawing/2014/main" id="{F5FBC09C-5F59-480C-9A8C-11A3EE795D3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E9681612-1581-4537-8097-E028E7782E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116A1B85-D145-4A7F-A00E-79709D0751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67" name="Freeform 68">
                    <a:extLst>
                      <a:ext uri="{FF2B5EF4-FFF2-40B4-BE49-F238E27FC236}">
                        <a16:creationId xmlns:a16="http://schemas.microsoft.com/office/drawing/2014/main" id="{84052C8A-43EC-498E-AE60-1930E31D05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8" name="Freeform 69">
                    <a:extLst>
                      <a:ext uri="{FF2B5EF4-FFF2-40B4-BE49-F238E27FC236}">
                        <a16:creationId xmlns:a16="http://schemas.microsoft.com/office/drawing/2014/main" id="{327A1A7F-34EE-4D6D-86A1-CFA2D8047C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8BFA2E1B-8873-41CB-AACF-BF4AA72D0A0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305D61D-1F7B-468B-B22D-756BD8B39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CA164DE-364C-4533-A48B-6AD03F93E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CABE0CA-D9C4-4166-A06F-72798EE0F8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39" name="Freeform 64">
                  <a:extLst>
                    <a:ext uri="{FF2B5EF4-FFF2-40B4-BE49-F238E27FC236}">
                      <a16:creationId xmlns:a16="http://schemas.microsoft.com/office/drawing/2014/main" id="{FD4AE979-A3A5-4896-9167-58331E9F333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81">
                  <a:extLst>
                    <a:ext uri="{FF2B5EF4-FFF2-40B4-BE49-F238E27FC236}">
                      <a16:creationId xmlns:a16="http://schemas.microsoft.com/office/drawing/2014/main" id="{C3EA2F9B-FF54-4D75-9E72-D8C3FF8A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61">
                  <a:extLst>
                    <a:ext uri="{FF2B5EF4-FFF2-40B4-BE49-F238E27FC236}">
                      <a16:creationId xmlns:a16="http://schemas.microsoft.com/office/drawing/2014/main" id="{3E739E1E-9B88-4F74-ACCF-7A3D5F42C7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78">
                  <a:extLst>
                    <a:ext uri="{FF2B5EF4-FFF2-40B4-BE49-F238E27FC236}">
                      <a16:creationId xmlns:a16="http://schemas.microsoft.com/office/drawing/2014/main" id="{C95A50CD-4933-416A-8EC3-8AA950FF96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Freeform 84">
                  <a:extLst>
                    <a:ext uri="{FF2B5EF4-FFF2-40B4-BE49-F238E27FC236}">
                      <a16:creationId xmlns:a16="http://schemas.microsoft.com/office/drawing/2014/main" id="{7D5D4051-1B0A-43CA-B7EE-BFF40C969A1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Freeform 87">
                  <a:extLst>
                    <a:ext uri="{FF2B5EF4-FFF2-40B4-BE49-F238E27FC236}">
                      <a16:creationId xmlns:a16="http://schemas.microsoft.com/office/drawing/2014/main" id="{3CE88CA7-EA3A-4515-AD08-E02CF0485F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60">
                  <a:extLst>
                    <a:ext uri="{FF2B5EF4-FFF2-40B4-BE49-F238E27FC236}">
                      <a16:creationId xmlns:a16="http://schemas.microsoft.com/office/drawing/2014/main" id="{DEB69F11-DFF9-4AC4-939D-5782BBEB143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Freeform 59">
                  <a:extLst>
                    <a:ext uri="{FF2B5EF4-FFF2-40B4-BE49-F238E27FC236}">
                      <a16:creationId xmlns:a16="http://schemas.microsoft.com/office/drawing/2014/main" id="{9A829015-6F16-456C-B004-E395E3C277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Freeform 62">
                  <a:extLst>
                    <a:ext uri="{FF2B5EF4-FFF2-40B4-BE49-F238E27FC236}">
                      <a16:creationId xmlns:a16="http://schemas.microsoft.com/office/drawing/2014/main" id="{6BB5F676-52A5-463F-ABDB-117CE6F551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8" name="Freeform 65">
                  <a:extLst>
                    <a:ext uri="{FF2B5EF4-FFF2-40B4-BE49-F238E27FC236}">
                      <a16:creationId xmlns:a16="http://schemas.microsoft.com/office/drawing/2014/main" id="{254854F4-0AE1-4CC2-956C-77BC06990A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Freeform 79">
                  <a:extLst>
                    <a:ext uri="{FF2B5EF4-FFF2-40B4-BE49-F238E27FC236}">
                      <a16:creationId xmlns:a16="http://schemas.microsoft.com/office/drawing/2014/main" id="{72EF9889-1774-4870-A5BC-52D8F573FD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Freeform 82">
                  <a:extLst>
                    <a:ext uri="{FF2B5EF4-FFF2-40B4-BE49-F238E27FC236}">
                      <a16:creationId xmlns:a16="http://schemas.microsoft.com/office/drawing/2014/main" id="{DE1F5210-C1E4-4EDA-AC04-E38447F9766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Freeform 85">
                  <a:extLst>
                    <a:ext uri="{FF2B5EF4-FFF2-40B4-BE49-F238E27FC236}">
                      <a16:creationId xmlns:a16="http://schemas.microsoft.com/office/drawing/2014/main" id="{8152C98A-CE21-4378-A0EB-5272528115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Freeform 88">
                  <a:extLst>
                    <a:ext uri="{FF2B5EF4-FFF2-40B4-BE49-F238E27FC236}">
                      <a16:creationId xmlns:a16="http://schemas.microsoft.com/office/drawing/2014/main" id="{E659A8F0-1ED7-46B5-A986-74F07706DF2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2409EF36-A502-42BA-BE4F-BBFEDCD18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54" name="Line 63">
                    <a:extLst>
                      <a:ext uri="{FF2B5EF4-FFF2-40B4-BE49-F238E27FC236}">
                        <a16:creationId xmlns:a16="http://schemas.microsoft.com/office/drawing/2014/main" id="{E92326DA-61A7-4A1C-A30F-7C969B03FD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Line 66">
                    <a:extLst>
                      <a:ext uri="{FF2B5EF4-FFF2-40B4-BE49-F238E27FC236}">
                        <a16:creationId xmlns:a16="http://schemas.microsoft.com/office/drawing/2014/main" id="{E11DCAB1-25FB-48ED-9A0B-7E31B60AE17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Line 67">
                    <a:extLst>
                      <a:ext uri="{FF2B5EF4-FFF2-40B4-BE49-F238E27FC236}">
                        <a16:creationId xmlns:a16="http://schemas.microsoft.com/office/drawing/2014/main" id="{BDA0E16F-4608-4B8F-A17C-0B500303DA9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7" name="Line 80">
                    <a:extLst>
                      <a:ext uri="{FF2B5EF4-FFF2-40B4-BE49-F238E27FC236}">
                        <a16:creationId xmlns:a16="http://schemas.microsoft.com/office/drawing/2014/main" id="{77047461-2949-43ED-98E1-5A46637251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8" name="Line 83">
                    <a:extLst>
                      <a:ext uri="{FF2B5EF4-FFF2-40B4-BE49-F238E27FC236}">
                        <a16:creationId xmlns:a16="http://schemas.microsoft.com/office/drawing/2014/main" id="{2490CA91-C594-4BDE-8249-480200F23E7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9" name="Line 86">
                    <a:extLst>
                      <a:ext uri="{FF2B5EF4-FFF2-40B4-BE49-F238E27FC236}">
                        <a16:creationId xmlns:a16="http://schemas.microsoft.com/office/drawing/2014/main" id="{EA92857C-64B2-46F9-BC4E-5878F9136E2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0" name="Line 89">
                    <a:extLst>
                      <a:ext uri="{FF2B5EF4-FFF2-40B4-BE49-F238E27FC236}">
                        <a16:creationId xmlns:a16="http://schemas.microsoft.com/office/drawing/2014/main" id="{AD133C94-0686-4CBE-8EC3-34B8F76F96A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01D5FF8-F86F-40F9-9208-48E9BB3EC1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E6E3AA6-E417-4E76-A02E-4970D2BEA59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B78E883-5EEF-4DF4-A4D1-7C910CF2CAC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AC945DAA-42C0-45A6-B5DD-24D4E7D076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Rectangle 30">
                    <a:extLst>
                      <a:ext uri="{FF2B5EF4-FFF2-40B4-BE49-F238E27FC236}">
                        <a16:creationId xmlns:a16="http://schemas.microsoft.com/office/drawing/2014/main" id="{0DA3C4D3-BF4A-43AB-8AFC-203BF587A6C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Rectangle 30">
                    <a:extLst>
                      <a:ext uri="{FF2B5EF4-FFF2-40B4-BE49-F238E27FC236}">
                        <a16:creationId xmlns:a16="http://schemas.microsoft.com/office/drawing/2014/main" id="{BA346689-3809-4740-8891-9AD3B85A41F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15D5A034-CB12-49F9-A41B-4F1757731D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633172F1-01FC-49F8-8D5E-CBEA19726DA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FB5EA827-893B-4DCF-8836-32C1756345D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D49D9E2-BE50-4567-BA95-83F6EFA473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CF729F1A-130E-4ADE-B98A-8D0260A8EC9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9" name="Freeform 68">
                    <a:extLst>
                      <a:ext uri="{FF2B5EF4-FFF2-40B4-BE49-F238E27FC236}">
                        <a16:creationId xmlns:a16="http://schemas.microsoft.com/office/drawing/2014/main" id="{5757A3CA-DDEC-4558-B22D-B56F2004118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69">
                    <a:extLst>
                      <a:ext uri="{FF2B5EF4-FFF2-40B4-BE49-F238E27FC236}">
                        <a16:creationId xmlns:a16="http://schemas.microsoft.com/office/drawing/2014/main" id="{AA432366-A82D-4FFD-9F9E-A3E06B88522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7440143C-9547-420D-B6F9-E8E30D46E2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9953B4-237F-299B-AFA6-AECE8988A4E3}"/>
              </a:ext>
            </a:extLst>
          </p:cNvPr>
          <p:cNvSpPr txBox="1"/>
          <p:nvPr/>
        </p:nvSpPr>
        <p:spPr>
          <a:xfrm>
            <a:off x="643485" y="2743020"/>
            <a:ext cx="388600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latin typeface="Apple Braille" pitchFamily="2" charset="0"/>
              </a:rPr>
              <a:t>二</a:t>
            </a:r>
            <a:r>
              <a:rPr lang="zh-CN" altLang="en-US" sz="2000" b="1" dirty="0">
                <a:latin typeface="Apple Braille" pitchFamily="2" charset="0"/>
              </a:rPr>
              <a:t>、写作背景：</a:t>
            </a:r>
            <a:endParaRPr lang="en-US" altLang="zh-CN" sz="2000" b="1" dirty="0">
              <a:latin typeface="Apple Braille" pitchFamily="2" charset="0"/>
            </a:endParaRPr>
          </a:p>
          <a:p>
            <a:r>
              <a:rPr lang="en-US" altLang="zh-CN" dirty="0">
                <a:latin typeface="Apple Braille" pitchFamily="2" charset="0"/>
              </a:rPr>
              <a:t>《</a:t>
            </a:r>
            <a:r>
              <a:rPr lang="zh-CN" altLang="en-US" dirty="0">
                <a:latin typeface="Apple Braille" pitchFamily="2" charset="0"/>
              </a:rPr>
              <a:t>饮食</a:t>
            </a:r>
            <a:r>
              <a:rPr lang="en-US" altLang="zh-CN" dirty="0">
                <a:latin typeface="Apple Braille" pitchFamily="2" charset="0"/>
              </a:rPr>
              <a:t>》</a:t>
            </a:r>
            <a:r>
              <a:rPr lang="zh-CN" altLang="en-US" dirty="0">
                <a:latin typeface="Apple Braille" pitchFamily="2" charset="0"/>
              </a:rPr>
              <a:t>一文的时代语境和创作旨归</a:t>
            </a:r>
            <a:endParaRPr lang="en-CN" dirty="0">
              <a:latin typeface="Apple Braille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13C6C8-F42B-9C88-EBF2-0733414452FC}"/>
              </a:ext>
            </a:extLst>
          </p:cNvPr>
          <p:cNvSpPr txBox="1"/>
          <p:nvPr/>
        </p:nvSpPr>
        <p:spPr>
          <a:xfrm>
            <a:off x="643485" y="1820335"/>
            <a:ext cx="500649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2000" b="1" dirty="0">
                <a:latin typeface="Apple Braille" pitchFamily="2" charset="0"/>
              </a:rPr>
              <a:t>一</a:t>
            </a:r>
            <a:r>
              <a:rPr lang="zh-CN" altLang="en-US" sz="2000" b="1" dirty="0">
                <a:latin typeface="Apple Braille" pitchFamily="2" charset="0"/>
              </a:rPr>
              <a:t>、作者介绍：</a:t>
            </a:r>
            <a:endParaRPr lang="en-US" altLang="zh-CN" sz="2000" b="1" dirty="0">
              <a:latin typeface="Apple Braille" pitchFamily="2" charset="0"/>
            </a:endParaRPr>
          </a:p>
          <a:p>
            <a:r>
              <a:rPr lang="zh-CN" altLang="en-US" dirty="0">
                <a:latin typeface="Apple Braille" pitchFamily="2" charset="0"/>
              </a:rPr>
              <a:t>作者自评：“两脚踏东西文化，一心评宇宙文章”</a:t>
            </a:r>
            <a:endParaRPr lang="en-CN" dirty="0">
              <a:latin typeface="Apple Braille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860E1A-E657-1784-56C7-83E38FBAD80F}"/>
              </a:ext>
            </a:extLst>
          </p:cNvPr>
          <p:cNvSpPr txBox="1"/>
          <p:nvPr/>
        </p:nvSpPr>
        <p:spPr>
          <a:xfrm>
            <a:off x="643485" y="3767751"/>
            <a:ext cx="572464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2000" b="1" dirty="0">
                <a:latin typeface="Apple Braille" pitchFamily="2" charset="0"/>
              </a:rPr>
              <a:t>三</a:t>
            </a:r>
            <a:r>
              <a:rPr lang="zh-CN" altLang="en-US" sz="2000" b="1" dirty="0">
                <a:latin typeface="Apple Braille" pitchFamily="2" charset="0"/>
              </a:rPr>
              <a:t>、文本分析</a:t>
            </a:r>
            <a:r>
              <a:rPr lang="en-US" altLang="zh-CN" sz="2000" b="1" dirty="0">
                <a:latin typeface="Apple Braille" pitchFamily="2" charset="0"/>
              </a:rPr>
              <a:t>:</a:t>
            </a:r>
          </a:p>
          <a:p>
            <a:r>
              <a:rPr lang="zh-CN" altLang="en-US" dirty="0">
                <a:latin typeface="Apple Braille" pitchFamily="2" charset="0"/>
              </a:rPr>
              <a:t>剖析</a:t>
            </a:r>
            <a:r>
              <a:rPr lang="en-US" altLang="zh-CN" dirty="0">
                <a:latin typeface="Apple Braille" pitchFamily="2" charset="0"/>
              </a:rPr>
              <a:t>《</a:t>
            </a:r>
            <a:r>
              <a:rPr lang="zh-CN" altLang="en-US" dirty="0">
                <a:latin typeface="Apple Braille" pitchFamily="2" charset="0"/>
              </a:rPr>
              <a:t>饮食</a:t>
            </a:r>
            <a:r>
              <a:rPr lang="en-US" altLang="zh-CN" dirty="0">
                <a:latin typeface="Apple Braille" pitchFamily="2" charset="0"/>
              </a:rPr>
              <a:t>》</a:t>
            </a:r>
            <a:r>
              <a:rPr lang="zh-CN" altLang="en-US" dirty="0">
                <a:latin typeface="Apple Braille" pitchFamily="2" charset="0"/>
              </a:rPr>
              <a:t>文本中的写作手法，体悟作者的行文艺术</a:t>
            </a:r>
            <a:endParaRPr lang="en-CN" dirty="0">
              <a:latin typeface="Apple Brail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E069C-7EF2-B329-7CB6-D0DD8E0867CA}"/>
              </a:ext>
            </a:extLst>
          </p:cNvPr>
          <p:cNvSpPr txBox="1"/>
          <p:nvPr/>
        </p:nvSpPr>
        <p:spPr>
          <a:xfrm>
            <a:off x="612239" y="4914491"/>
            <a:ext cx="203132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latin typeface="Apple Braille" pitchFamily="2" charset="0"/>
              </a:rPr>
              <a:t>四</a:t>
            </a:r>
            <a:r>
              <a:rPr lang="zh-CN" altLang="en-US" sz="2000" b="1" dirty="0">
                <a:latin typeface="Apple Braille" pitchFamily="2" charset="0"/>
              </a:rPr>
              <a:t>、总结</a:t>
            </a:r>
            <a:r>
              <a:rPr lang="en-US" altLang="zh-CN" sz="2000" b="1" dirty="0">
                <a:latin typeface="Apple Braille" pitchFamily="2" charset="0"/>
              </a:rPr>
              <a:t>:</a:t>
            </a:r>
          </a:p>
          <a:p>
            <a:r>
              <a:rPr lang="zh-CN" altLang="en-US" dirty="0">
                <a:latin typeface="Apple Braille" pitchFamily="2" charset="0"/>
              </a:rPr>
              <a:t>林语堂的中西态度</a:t>
            </a:r>
            <a:endParaRPr lang="en-CN" dirty="0">
              <a:latin typeface="Apple Braille" pitchFamily="2" charset="0"/>
            </a:endParaRPr>
          </a:p>
        </p:txBody>
      </p:sp>
      <p:sp>
        <p:nvSpPr>
          <p:cNvPr id="103" name="Title 102">
            <a:extLst>
              <a:ext uri="{FF2B5EF4-FFF2-40B4-BE49-F238E27FC236}">
                <a16:creationId xmlns:a16="http://schemas.microsoft.com/office/drawing/2014/main" id="{DB6BD68D-B2E2-E49D-00AD-5BF33BFF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86" y="897650"/>
            <a:ext cx="1216541" cy="694650"/>
          </a:xfrm>
        </p:spPr>
        <p:txBody>
          <a:bodyPr>
            <a:normAutofit/>
          </a:bodyPr>
          <a:lstStyle/>
          <a:p>
            <a:r>
              <a:rPr lang="en-CN" sz="3600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2181836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E52EEF-CD68-3D89-5A63-121DCCA6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53" y="1290327"/>
            <a:ext cx="3813049" cy="46929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8C4396-CA53-ACED-9966-3242611E3059}"/>
              </a:ext>
            </a:extLst>
          </p:cNvPr>
          <p:cNvSpPr txBox="1"/>
          <p:nvPr/>
        </p:nvSpPr>
        <p:spPr>
          <a:xfrm>
            <a:off x="5145645" y="354805"/>
            <a:ext cx="636890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pple Braille" pitchFamily="2" charset="0"/>
              </a:rPr>
              <a:t>林语堂（</a:t>
            </a:r>
            <a:r>
              <a:rPr lang="en-US" altLang="zh-CN" dirty="0">
                <a:latin typeface="Apple Braille" pitchFamily="2" charset="0"/>
              </a:rPr>
              <a:t>1895</a:t>
            </a:r>
            <a:r>
              <a:rPr lang="zh-CN" altLang="en-US" dirty="0">
                <a:latin typeface="Apple Braille" pitchFamily="2" charset="0"/>
              </a:rPr>
              <a:t>年</a:t>
            </a:r>
            <a:r>
              <a:rPr lang="en-US" altLang="zh-CN" dirty="0">
                <a:latin typeface="Apple Braille" pitchFamily="2" charset="0"/>
              </a:rPr>
              <a:t>10</a:t>
            </a:r>
            <a:r>
              <a:rPr lang="zh-CN" altLang="en-US" dirty="0">
                <a:latin typeface="Apple Braille" pitchFamily="2" charset="0"/>
              </a:rPr>
              <a:t>月</a:t>
            </a:r>
            <a:r>
              <a:rPr lang="en-US" altLang="zh-CN" dirty="0">
                <a:latin typeface="Apple Braille" pitchFamily="2" charset="0"/>
              </a:rPr>
              <a:t>10</a:t>
            </a:r>
            <a:r>
              <a:rPr lang="zh-CN" altLang="en-US" dirty="0">
                <a:latin typeface="Apple Braille" pitchFamily="2" charset="0"/>
              </a:rPr>
              <a:t>日</a:t>
            </a:r>
            <a:r>
              <a:rPr lang="en-US" altLang="zh-CN" dirty="0">
                <a:latin typeface="Apple Braille" pitchFamily="2" charset="0"/>
              </a:rPr>
              <a:t>-1976</a:t>
            </a:r>
            <a:r>
              <a:rPr lang="zh-CN" altLang="en-US" dirty="0">
                <a:latin typeface="Apple Braille" pitchFamily="2" charset="0"/>
              </a:rPr>
              <a:t>年</a:t>
            </a:r>
            <a:r>
              <a:rPr lang="en-US" altLang="zh-CN" dirty="0">
                <a:latin typeface="Apple Braille" pitchFamily="2" charset="0"/>
              </a:rPr>
              <a:t>3</a:t>
            </a:r>
            <a:r>
              <a:rPr lang="zh-CN" altLang="en-US" dirty="0">
                <a:latin typeface="Apple Braille" pitchFamily="2" charset="0"/>
              </a:rPr>
              <a:t>月</a:t>
            </a:r>
            <a:r>
              <a:rPr lang="en-US" altLang="zh-CN" dirty="0">
                <a:latin typeface="Apple Braille" pitchFamily="2" charset="0"/>
              </a:rPr>
              <a:t>26</a:t>
            </a:r>
            <a:r>
              <a:rPr lang="zh-CN" altLang="en-US" dirty="0">
                <a:latin typeface="Apple Braille" pitchFamily="2" charset="0"/>
              </a:rPr>
              <a:t>日）福建龙溪人，中国现代著名作家、学者、翻译家、语言学家</a:t>
            </a:r>
            <a:endParaRPr lang="en-US" altLang="zh-CN" dirty="0">
              <a:latin typeface="Apple Braille" pitchFamily="2" charset="0"/>
            </a:endParaRPr>
          </a:p>
          <a:p>
            <a:endParaRPr lang="en-US" altLang="zh-CN" dirty="0">
              <a:latin typeface="Apple Braille" pitchFamily="2" charset="0"/>
            </a:endParaRPr>
          </a:p>
          <a:p>
            <a:r>
              <a:rPr lang="en-US" altLang="zh-CN" dirty="0">
                <a:latin typeface="Apple Braille" pitchFamily="2" charset="0"/>
              </a:rPr>
              <a:t>1895</a:t>
            </a:r>
            <a:r>
              <a:rPr lang="zh-CN" altLang="en-US" dirty="0">
                <a:latin typeface="Apple Braille" pitchFamily="2" charset="0"/>
              </a:rPr>
              <a:t>年，林语堂出生于福建龙溪一个基督教家庭，</a:t>
            </a:r>
            <a:r>
              <a:rPr lang="en-US" altLang="zh-CN" dirty="0">
                <a:latin typeface="Apple Braille" pitchFamily="2" charset="0"/>
              </a:rPr>
              <a:t>10</a:t>
            </a:r>
            <a:r>
              <a:rPr lang="zh-CN" altLang="en-US" dirty="0">
                <a:latin typeface="Apple Braille" pitchFamily="2" charset="0"/>
              </a:rPr>
              <a:t>岁就读厦门教会学校，</a:t>
            </a:r>
            <a:r>
              <a:rPr lang="en-US" altLang="zh-CN" dirty="0">
                <a:latin typeface="Apple Braille" pitchFamily="2" charset="0"/>
              </a:rPr>
              <a:t>13</a:t>
            </a:r>
            <a:r>
              <a:rPr lang="zh-CN" altLang="en-US" dirty="0">
                <a:latin typeface="Apple Braille" pitchFamily="2" charset="0"/>
              </a:rPr>
              <a:t>岁入厦门寻源书院读中学。</a:t>
            </a:r>
            <a:endParaRPr lang="en-US" altLang="zh-CN" dirty="0">
              <a:latin typeface="Apple Braille" pitchFamily="2" charset="0"/>
            </a:endParaRPr>
          </a:p>
          <a:p>
            <a:endParaRPr lang="en-US" altLang="zh-CN" dirty="0">
              <a:latin typeface="Apple Braille" pitchFamily="2" charset="0"/>
            </a:endParaRPr>
          </a:p>
          <a:p>
            <a:r>
              <a:rPr lang="en-US" altLang="zh-CN" dirty="0">
                <a:latin typeface="Apple Braille" pitchFamily="2" charset="0"/>
              </a:rPr>
              <a:t>1912</a:t>
            </a:r>
            <a:r>
              <a:rPr lang="zh-CN" altLang="en-US" dirty="0">
                <a:latin typeface="Apple Braille" pitchFamily="2" charset="0"/>
              </a:rPr>
              <a:t>年，</a:t>
            </a:r>
            <a:r>
              <a:rPr lang="en-US" altLang="zh-CN" dirty="0">
                <a:latin typeface="Apple Braille" pitchFamily="2" charset="0"/>
              </a:rPr>
              <a:t>17</a:t>
            </a:r>
            <a:r>
              <a:rPr lang="zh-CN" altLang="en-US" dirty="0">
                <a:latin typeface="Apple Braille" pitchFamily="2" charset="0"/>
              </a:rPr>
              <a:t>岁的林语堂前往上海圣约翰大学学习，留学美国、德国，获哈佛大学文学硕士，莱比锡大学语言学博士。</a:t>
            </a:r>
            <a:endParaRPr lang="en-US" altLang="zh-CN" dirty="0">
              <a:latin typeface="Apple Braille" pitchFamily="2" charset="0"/>
            </a:endParaRPr>
          </a:p>
          <a:p>
            <a:endParaRPr lang="en-US" altLang="zh-CN" dirty="0">
              <a:latin typeface="Apple Braille" pitchFamily="2" charset="0"/>
            </a:endParaRPr>
          </a:p>
          <a:p>
            <a:r>
              <a:rPr lang="en-US" altLang="zh-CN" dirty="0">
                <a:latin typeface="Apple Braille" pitchFamily="2" charset="0"/>
              </a:rPr>
              <a:t>1923</a:t>
            </a:r>
            <a:r>
              <a:rPr lang="zh-CN" altLang="en-US" dirty="0">
                <a:latin typeface="Apple Braille" pitchFamily="2" charset="0"/>
              </a:rPr>
              <a:t>年获博士学位后回国，任北京大学教授、北京女子师范大学教务长和英文系主任。</a:t>
            </a:r>
            <a:endParaRPr lang="en-US" altLang="zh-CN" dirty="0">
              <a:latin typeface="Apple Braille" pitchFamily="2" charset="0"/>
            </a:endParaRPr>
          </a:p>
          <a:p>
            <a:endParaRPr lang="en-US" dirty="0">
              <a:latin typeface="Apple Braille" pitchFamily="2" charset="0"/>
            </a:endParaRPr>
          </a:p>
          <a:p>
            <a:r>
              <a:rPr lang="en-US" altLang="zh-CN" dirty="0">
                <a:latin typeface="Apple Braille" pitchFamily="2" charset="0"/>
              </a:rPr>
              <a:t>1932</a:t>
            </a:r>
            <a:r>
              <a:rPr lang="zh-CN" altLang="en-US" dirty="0">
                <a:latin typeface="Apple Braille" pitchFamily="2" charset="0"/>
              </a:rPr>
              <a:t>年至</a:t>
            </a:r>
            <a:r>
              <a:rPr lang="en-US" altLang="zh-CN" dirty="0">
                <a:latin typeface="Apple Braille" pitchFamily="2" charset="0"/>
              </a:rPr>
              <a:t>1935</a:t>
            </a:r>
            <a:r>
              <a:rPr lang="zh-CN" altLang="en-US" dirty="0">
                <a:latin typeface="Apple Braille" pitchFamily="2" charset="0"/>
              </a:rPr>
              <a:t>年，先后创办</a:t>
            </a:r>
            <a:r>
              <a:rPr lang="en-US" altLang="zh-CN" dirty="0">
                <a:latin typeface="Apple Braille" pitchFamily="2" charset="0"/>
              </a:rPr>
              <a:t>《</a:t>
            </a:r>
            <a:r>
              <a:rPr lang="zh-CN" altLang="en-US" dirty="0">
                <a:latin typeface="Apple Braille" pitchFamily="2" charset="0"/>
              </a:rPr>
              <a:t>论语</a:t>
            </a:r>
            <a:r>
              <a:rPr lang="en-US" altLang="zh-CN" dirty="0">
                <a:latin typeface="Apple Braille" pitchFamily="2" charset="0"/>
              </a:rPr>
              <a:t>》《</a:t>
            </a:r>
            <a:r>
              <a:rPr lang="zh-CN" altLang="en-US" dirty="0">
                <a:latin typeface="Apple Braille" pitchFamily="2" charset="0"/>
              </a:rPr>
              <a:t>人间世</a:t>
            </a:r>
            <a:r>
              <a:rPr lang="en-US" altLang="zh-CN" dirty="0">
                <a:latin typeface="Apple Braille" pitchFamily="2" charset="0"/>
              </a:rPr>
              <a:t>》《</a:t>
            </a:r>
            <a:r>
              <a:rPr lang="zh-CN" altLang="en-US" dirty="0">
                <a:latin typeface="Apple Braille" pitchFamily="2" charset="0"/>
              </a:rPr>
              <a:t>宇宙风</a:t>
            </a:r>
            <a:r>
              <a:rPr lang="en-US" altLang="zh-CN" dirty="0">
                <a:latin typeface="Apple Braille" pitchFamily="2" charset="0"/>
              </a:rPr>
              <a:t>》</a:t>
            </a:r>
            <a:r>
              <a:rPr lang="zh-CN" altLang="en-US" dirty="0">
                <a:latin typeface="Apple Braille" pitchFamily="2" charset="0"/>
              </a:rPr>
              <a:t>等刊物。</a:t>
            </a:r>
            <a:endParaRPr lang="en-US" altLang="zh-CN" dirty="0">
              <a:latin typeface="Apple Braille" pitchFamily="2" charset="0"/>
            </a:endParaRPr>
          </a:p>
          <a:p>
            <a:endParaRPr lang="en-US" dirty="0">
              <a:latin typeface="Apple Braille" pitchFamily="2" charset="0"/>
            </a:endParaRPr>
          </a:p>
          <a:p>
            <a:r>
              <a:rPr lang="en-US" altLang="zh-CN" dirty="0">
                <a:latin typeface="Apple Braille" pitchFamily="2" charset="0"/>
              </a:rPr>
              <a:t>1935</a:t>
            </a:r>
            <a:r>
              <a:rPr lang="zh-CN" altLang="en-US" dirty="0">
                <a:latin typeface="Apple Braille" pitchFamily="2" charset="0"/>
              </a:rPr>
              <a:t>年后，创作</a:t>
            </a:r>
            <a:r>
              <a:rPr lang="en-US" altLang="zh-CN" dirty="0">
                <a:latin typeface="Apple Braille" pitchFamily="2" charset="0"/>
              </a:rPr>
              <a:t>《</a:t>
            </a:r>
            <a:r>
              <a:rPr lang="zh-CN" altLang="en-US" dirty="0">
                <a:latin typeface="Apple Braille" pitchFamily="2" charset="0"/>
              </a:rPr>
              <a:t>吾国与吾民</a:t>
            </a:r>
            <a:r>
              <a:rPr lang="en-US" altLang="zh-CN" dirty="0">
                <a:latin typeface="Apple Braille" pitchFamily="2" charset="0"/>
              </a:rPr>
              <a:t>》《</a:t>
            </a:r>
            <a:r>
              <a:rPr lang="zh-CN" altLang="en-US" dirty="0">
                <a:latin typeface="Apple Braille" pitchFamily="2" charset="0"/>
              </a:rPr>
              <a:t>风声鹤唳</a:t>
            </a:r>
            <a:r>
              <a:rPr lang="en-US" altLang="zh-CN" dirty="0">
                <a:latin typeface="Apple Braille" pitchFamily="2" charset="0"/>
              </a:rPr>
              <a:t>》《</a:t>
            </a:r>
            <a:r>
              <a:rPr lang="zh-CN" altLang="en-US" dirty="0">
                <a:latin typeface="Apple Braille" pitchFamily="2" charset="0"/>
              </a:rPr>
              <a:t>京华烟云</a:t>
            </a:r>
            <a:r>
              <a:rPr lang="en-US" altLang="zh-CN" dirty="0">
                <a:latin typeface="Apple Braille" pitchFamily="2" charset="0"/>
              </a:rPr>
              <a:t>》</a:t>
            </a:r>
            <a:r>
              <a:rPr lang="zh-CN" altLang="en-US" dirty="0">
                <a:latin typeface="Apple Braille" pitchFamily="2" charset="0"/>
              </a:rPr>
              <a:t>等文化著作和长篇小说。</a:t>
            </a:r>
            <a:endParaRPr lang="en-US" altLang="zh-CN" dirty="0">
              <a:latin typeface="Apple Braille" pitchFamily="2" charset="0"/>
            </a:endParaRPr>
          </a:p>
          <a:p>
            <a:endParaRPr lang="en-US" dirty="0">
              <a:latin typeface="Apple Braille" pitchFamily="2" charset="0"/>
            </a:endParaRPr>
          </a:p>
          <a:p>
            <a:r>
              <a:rPr lang="en-US" altLang="zh-CN" dirty="0">
                <a:latin typeface="Apple Braille" pitchFamily="2" charset="0"/>
              </a:rPr>
              <a:t>1966</a:t>
            </a:r>
            <a:r>
              <a:rPr lang="zh-CN" altLang="en-US" dirty="0">
                <a:latin typeface="Apple Braille" pitchFamily="2" charset="0"/>
              </a:rPr>
              <a:t>年定居台湾，</a:t>
            </a:r>
            <a:r>
              <a:rPr lang="en-US" altLang="zh-CN" dirty="0">
                <a:latin typeface="Apple Braille" pitchFamily="2" charset="0"/>
              </a:rPr>
              <a:t>1967</a:t>
            </a:r>
            <a:r>
              <a:rPr lang="zh-CN" altLang="en-US" dirty="0">
                <a:latin typeface="Apple Braille" pitchFamily="2" charset="0"/>
              </a:rPr>
              <a:t>年受聘为香港中文大学研究教授，主持编撰</a:t>
            </a:r>
            <a:r>
              <a:rPr lang="en-US" altLang="zh-CN" dirty="0">
                <a:latin typeface="Apple Braille" pitchFamily="2" charset="0"/>
              </a:rPr>
              <a:t>《</a:t>
            </a:r>
            <a:r>
              <a:rPr lang="zh-CN" altLang="en-US" dirty="0">
                <a:latin typeface="Apple Braille" pitchFamily="2" charset="0"/>
              </a:rPr>
              <a:t>林语堂当代汉英词典</a:t>
            </a:r>
            <a:r>
              <a:rPr lang="en-US" altLang="zh-CN" dirty="0">
                <a:latin typeface="Apple Braille" pitchFamily="2" charset="0"/>
              </a:rPr>
              <a:t>》</a:t>
            </a:r>
          </a:p>
          <a:p>
            <a:endParaRPr lang="en-US" altLang="zh-CN" dirty="0">
              <a:latin typeface="Apple Braille" pitchFamily="2" charset="0"/>
            </a:endParaRPr>
          </a:p>
          <a:p>
            <a:r>
              <a:rPr lang="en-CN" dirty="0">
                <a:latin typeface="Apple Braille" pitchFamily="2" charset="0"/>
              </a:rPr>
              <a:t>1976</a:t>
            </a:r>
            <a:r>
              <a:rPr lang="zh-CN" altLang="en-US" dirty="0">
                <a:latin typeface="Apple Braille" pitchFamily="2" charset="0"/>
              </a:rPr>
              <a:t>年</a:t>
            </a:r>
            <a:r>
              <a:rPr lang="en-US" altLang="zh-CN" dirty="0">
                <a:latin typeface="Apple Braille" pitchFamily="2" charset="0"/>
              </a:rPr>
              <a:t>3</a:t>
            </a:r>
            <a:r>
              <a:rPr lang="zh-CN" altLang="en-US" dirty="0">
                <a:latin typeface="Apple Braille" pitchFamily="2" charset="0"/>
              </a:rPr>
              <a:t>月</a:t>
            </a:r>
            <a:r>
              <a:rPr lang="en-US" altLang="zh-CN" dirty="0">
                <a:latin typeface="Apple Braille" pitchFamily="2" charset="0"/>
              </a:rPr>
              <a:t>26</a:t>
            </a:r>
            <a:r>
              <a:rPr lang="zh-CN" altLang="en-US" dirty="0">
                <a:latin typeface="Apple Braille" pitchFamily="2" charset="0"/>
              </a:rPr>
              <a:t>日在中国香港逝世，享年</a:t>
            </a:r>
            <a:r>
              <a:rPr lang="en-US" altLang="zh-CN" dirty="0">
                <a:latin typeface="Apple Braille" pitchFamily="2" charset="0"/>
              </a:rPr>
              <a:t>82</a:t>
            </a:r>
            <a:r>
              <a:rPr lang="zh-CN" altLang="en-US" dirty="0">
                <a:latin typeface="Apple Braille" pitchFamily="2" charset="0"/>
              </a:rPr>
              <a:t>岁。</a:t>
            </a:r>
            <a:endParaRPr lang="en-CN" dirty="0">
              <a:latin typeface="Apple Braill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95C82-19ED-A92E-0ECC-DE42BFE4374A}"/>
              </a:ext>
            </a:extLst>
          </p:cNvPr>
          <p:cNvSpPr txBox="1"/>
          <p:nvPr/>
        </p:nvSpPr>
        <p:spPr>
          <a:xfrm>
            <a:off x="677453" y="354805"/>
            <a:ext cx="38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800" b="1" dirty="0">
                <a:latin typeface="Apple Braille" pitchFamily="2" charset="0"/>
              </a:rPr>
              <a:t>一</a:t>
            </a:r>
            <a:r>
              <a:rPr lang="zh-CN" altLang="en-US" sz="2800" b="1" dirty="0">
                <a:latin typeface="Apple Braille" pitchFamily="2" charset="0"/>
              </a:rPr>
              <a:t>、作者介绍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6587-189C-5A90-0E94-01BEF45B44AB}"/>
              </a:ext>
            </a:extLst>
          </p:cNvPr>
          <p:cNvSpPr/>
          <p:nvPr/>
        </p:nvSpPr>
        <p:spPr>
          <a:xfrm>
            <a:off x="4982775" y="1135625"/>
            <a:ext cx="6694642" cy="153383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A8C2A-F80A-272D-5C33-7E72AF64A9AF}"/>
              </a:ext>
            </a:extLst>
          </p:cNvPr>
          <p:cNvSpPr/>
          <p:nvPr/>
        </p:nvSpPr>
        <p:spPr>
          <a:xfrm>
            <a:off x="4982775" y="2824157"/>
            <a:ext cx="6694642" cy="36790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4622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AA23E-33B0-1994-B1CD-1E9077B71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093" y="3844796"/>
            <a:ext cx="3619580" cy="2163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66CD3A-BC9D-03FA-35A0-41F316D2AF2C}"/>
              </a:ext>
            </a:extLst>
          </p:cNvPr>
          <p:cNvSpPr txBox="1"/>
          <p:nvPr/>
        </p:nvSpPr>
        <p:spPr>
          <a:xfrm>
            <a:off x="4807519" y="1043435"/>
            <a:ext cx="652678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pple Braille" pitchFamily="2" charset="0"/>
              </a:rPr>
              <a:t>       </a:t>
            </a:r>
            <a:r>
              <a:rPr lang="zh-CN" altLang="en-US" sz="2000" dirty="0">
                <a:latin typeface="Apple Braille" pitchFamily="2" charset="0"/>
              </a:rPr>
              <a:t>林语堂在详尽探索中西方哲学思想后，于晚年皈依基督教，其哲学探索历程记载于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信仰之旅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一书，他尝自提一副对联曰：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pPr algn="ctr"/>
            <a:r>
              <a:rPr lang="zh-CN" altLang="en-US" sz="2400" b="1" dirty="0">
                <a:latin typeface="Apple Braille" pitchFamily="2" charset="0"/>
              </a:rPr>
              <a:t>“两脚踏</a:t>
            </a:r>
            <a:r>
              <a:rPr lang="zh-CN" altLang="en-US" sz="2400" b="1" u="sng" dirty="0">
                <a:latin typeface="Apple Braille" pitchFamily="2" charset="0"/>
              </a:rPr>
              <a:t>东西文化</a:t>
            </a:r>
            <a:r>
              <a:rPr lang="zh-CN" altLang="en-US" sz="2400" b="1" dirty="0">
                <a:latin typeface="Apple Braille" pitchFamily="2" charset="0"/>
              </a:rPr>
              <a:t>，一心评宇宙文章”。</a:t>
            </a:r>
          </a:p>
          <a:p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10C79-DB9D-C0BC-24BA-5CC3B0287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845"/>
          <a:stretch>
            <a:fillRect/>
          </a:stretch>
        </p:blipFill>
        <p:spPr>
          <a:xfrm>
            <a:off x="525378" y="351599"/>
            <a:ext cx="3463818" cy="3353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AA9208-B337-E472-35CA-339F8874AB0E}"/>
              </a:ext>
            </a:extLst>
          </p:cNvPr>
          <p:cNvSpPr txBox="1"/>
          <p:nvPr/>
        </p:nvSpPr>
        <p:spPr>
          <a:xfrm>
            <a:off x="9037469" y="607600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陈平原教授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EF8F6B-FBF7-9AD8-E59B-5EB3A90E15A5}"/>
              </a:ext>
            </a:extLst>
          </p:cNvPr>
          <p:cNvSpPr txBox="1"/>
          <p:nvPr/>
        </p:nvSpPr>
        <p:spPr>
          <a:xfrm>
            <a:off x="886691" y="4383238"/>
            <a:ext cx="6705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陈平原教授曾在文章中提到</a:t>
            </a:r>
            <a:r>
              <a:rPr lang="zh-CN" altLang="en-US" sz="2000" dirty="0">
                <a:latin typeface="Apple Braille" pitchFamily="2" charset="0"/>
              </a:rPr>
              <a:t>：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“在中国现代作家中，大概没有人比林语堂更</a:t>
            </a:r>
            <a:r>
              <a:rPr lang="zh-CN" altLang="en-US" sz="2000" b="1" u="sng" dirty="0">
                <a:latin typeface="Apple Braille" pitchFamily="2" charset="0"/>
              </a:rPr>
              <a:t>西洋化</a:t>
            </a:r>
            <a:r>
              <a:rPr lang="zh-CN" altLang="en-US" sz="2000" dirty="0">
                <a:latin typeface="Apple Braille" pitchFamily="2" charset="0"/>
              </a:rPr>
              <a:t>，也没有人比林语堂更</a:t>
            </a:r>
            <a:r>
              <a:rPr lang="zh-CN" altLang="en-US" sz="2000" b="1" u="sng" dirty="0">
                <a:latin typeface="Apple Braille" pitchFamily="2" charset="0"/>
              </a:rPr>
              <a:t>东方化</a:t>
            </a:r>
            <a:r>
              <a:rPr lang="zh-CN" altLang="en-US" sz="2000" dirty="0">
                <a:latin typeface="Apple Braille" pitchFamily="2" charset="0"/>
              </a:rPr>
              <a:t>。”</a:t>
            </a:r>
          </a:p>
          <a:p>
            <a:endParaRPr lang="en-US" altLang="zh-CN" dirty="0"/>
          </a:p>
          <a:p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16613754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6F60D0-471C-EE18-7235-C9D4CF6AFBE7}"/>
              </a:ext>
            </a:extLst>
          </p:cNvPr>
          <p:cNvSpPr txBox="1"/>
          <p:nvPr/>
        </p:nvSpPr>
        <p:spPr>
          <a:xfrm>
            <a:off x="677453" y="354805"/>
            <a:ext cx="38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二、写作背景</a:t>
            </a:r>
            <a:endParaRPr lang="en-US" altLang="zh-CN" sz="2800" b="1" dirty="0">
              <a:latin typeface="Apple Braille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401DB-48C5-187F-BC6D-B0C161FF0C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85" t="1009" r="12771" b="-1009"/>
          <a:stretch>
            <a:fillRect/>
          </a:stretch>
        </p:blipFill>
        <p:spPr>
          <a:xfrm>
            <a:off x="479620" y="1302326"/>
            <a:ext cx="3749065" cy="4962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041EB6-6C25-9597-DFF9-1F2394BF8647}"/>
              </a:ext>
            </a:extLst>
          </p:cNvPr>
          <p:cNvSpPr txBox="1"/>
          <p:nvPr/>
        </p:nvSpPr>
        <p:spPr>
          <a:xfrm>
            <a:off x="4736607" y="458956"/>
            <a:ext cx="697577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     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饮食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收录于林语堂先生的散文集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吾国与吾民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的第九章</a:t>
            </a:r>
            <a:r>
              <a:rPr lang="en-US" altLang="zh-CN" sz="2000" dirty="0">
                <a:latin typeface="Apple Braille" pitchFamily="2" charset="0"/>
              </a:rPr>
              <a:t>-</a:t>
            </a:r>
            <a:r>
              <a:rPr lang="zh-CN" altLang="en-US" sz="2000" dirty="0">
                <a:latin typeface="Apple Braille" pitchFamily="2" charset="0"/>
              </a:rPr>
              <a:t>生活的艺术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饮食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写于</a:t>
            </a:r>
            <a:r>
              <a:rPr lang="en-US" altLang="zh-CN" sz="2000" dirty="0">
                <a:latin typeface="Apple Braille" pitchFamily="2" charset="0"/>
              </a:rPr>
              <a:t>1934 </a:t>
            </a:r>
            <a:r>
              <a:rPr lang="zh-CN" altLang="en-US" sz="2000" dirty="0">
                <a:latin typeface="Apple Braille" pitchFamily="2" charset="0"/>
              </a:rPr>
              <a:t>年，彼时中国正处于内忧外患交织的至暗时刻：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饥荒常态化：如 </a:t>
            </a:r>
            <a:r>
              <a:rPr lang="en-US" altLang="zh-CN" sz="2000" dirty="0">
                <a:latin typeface="Apple Braille" pitchFamily="2" charset="0"/>
              </a:rPr>
              <a:t>1936 </a:t>
            </a:r>
            <a:r>
              <a:rPr lang="zh-CN" altLang="en-US" sz="2000" dirty="0">
                <a:latin typeface="Apple Braille" pitchFamily="2" charset="0"/>
              </a:rPr>
              <a:t>年川甘大饥荒，</a:t>
            </a:r>
            <a:r>
              <a:rPr lang="en-US" altLang="zh-CN" sz="2000" dirty="0">
                <a:latin typeface="Apple Braille" pitchFamily="2" charset="0"/>
              </a:rPr>
              <a:t>3700 </a:t>
            </a:r>
            <a:r>
              <a:rPr lang="zh-CN" altLang="en-US" sz="2000" dirty="0">
                <a:latin typeface="Apple Braille" pitchFamily="2" charset="0"/>
              </a:rPr>
              <a:t>万人受灾，人均赈款仅 </a:t>
            </a:r>
            <a:r>
              <a:rPr lang="en-US" altLang="zh-CN" sz="2000" dirty="0">
                <a:latin typeface="Apple Braille" pitchFamily="2" charset="0"/>
              </a:rPr>
              <a:t>4 </a:t>
            </a:r>
            <a:r>
              <a:rPr lang="zh-CN" altLang="en-US" sz="2000" dirty="0">
                <a:latin typeface="Apple Braille" pitchFamily="2" charset="0"/>
              </a:rPr>
              <a:t>分钱</a:t>
            </a:r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战乱与动荡：“九一八” 事变后东北沦陷，华北局势危在旦夕，</a:t>
            </a:r>
            <a:r>
              <a:rPr lang="en-US" altLang="zh-CN" sz="2000" dirty="0">
                <a:latin typeface="Apple Braille" pitchFamily="2" charset="0"/>
              </a:rPr>
              <a:t>1935 </a:t>
            </a:r>
            <a:r>
              <a:rPr lang="zh-CN" altLang="en-US" sz="2000" dirty="0">
                <a:latin typeface="Apple Braille" pitchFamily="2" charset="0"/>
              </a:rPr>
              <a:t>年 “一二・九” 运动爆发</a:t>
            </a:r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国内正经历东西文化论战，一方面提倡 “全盘西化”，一方面固守传统，文化认同撕裂。</a:t>
            </a:r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西方对中国的偏见：西方媒体与流行文化中，中国形象多为 “黄祸”、愚昧、落后。美国普通民众对中国的了解极度匮乏，甚至认为中国人 “什么都吃” 是野蛮的象征。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  在赛珍珠的建议下，林语堂于</a:t>
            </a:r>
            <a:r>
              <a:rPr lang="en-US" altLang="zh-CN" sz="2000" dirty="0">
                <a:latin typeface="Apple Braille" pitchFamily="2" charset="0"/>
              </a:rPr>
              <a:t>1935</a:t>
            </a:r>
            <a:r>
              <a:rPr lang="zh-CN" altLang="en-US" sz="2000" dirty="0">
                <a:latin typeface="Apple Braille" pitchFamily="2" charset="0"/>
              </a:rPr>
              <a:t>年出版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吾国与吾民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，其旨在越过语言的隔膜，较为系统地向西方宣传中国和中国文化。</a:t>
            </a:r>
            <a:endParaRPr lang="en-US" altLang="zh-CN" sz="2000" dirty="0">
              <a:latin typeface="Apple Brail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3813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F8893B3-E0E4-ED7D-E577-AA85B2BDBA22}"/>
              </a:ext>
            </a:extLst>
          </p:cNvPr>
          <p:cNvSpPr txBox="1"/>
          <p:nvPr/>
        </p:nvSpPr>
        <p:spPr>
          <a:xfrm>
            <a:off x="677453" y="354805"/>
            <a:ext cx="5000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三、文本分析：文章主干内容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7F201-43F3-6EBE-F00D-3CC2966625ED}"/>
              </a:ext>
            </a:extLst>
          </p:cNvPr>
          <p:cNvSpPr txBox="1"/>
          <p:nvPr/>
        </p:nvSpPr>
        <p:spPr>
          <a:xfrm>
            <a:off x="1211633" y="2843168"/>
            <a:ext cx="1012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时代背景</a:t>
            </a:r>
            <a:r>
              <a:rPr lang="zh-CN" altLang="en-US" sz="2000" dirty="0">
                <a:latin typeface="Apple Braille" pitchFamily="2" charset="0"/>
              </a:rPr>
              <a:t>（前提）：在西方人的视角里，中国人是“贪吃”的，而西方人视“贪吃”为野蛮。</a:t>
            </a:r>
            <a:endParaRPr lang="en-CN" sz="2000" dirty="0">
              <a:latin typeface="Apple Braille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A42356-E579-BE78-09BC-37D6F3DFF0DD}"/>
              </a:ext>
            </a:extLst>
          </p:cNvPr>
          <p:cNvSpPr txBox="1"/>
          <p:nvPr/>
        </p:nvSpPr>
        <p:spPr>
          <a:xfrm>
            <a:off x="1917058" y="3540377"/>
            <a:ext cx="8109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写作目的</a:t>
            </a:r>
            <a:r>
              <a:rPr lang="zh-CN" altLang="en-US" sz="2000" dirty="0">
                <a:latin typeface="Apple Braille" pitchFamily="2" charset="0"/>
              </a:rPr>
              <a:t>：越过语言的隔膜，较为系统地向西方宣传中国和中国文化</a:t>
            </a:r>
            <a:r>
              <a:rPr lang="zh-CN" altLang="en-US" dirty="0">
                <a:latin typeface="Apple Braille" pitchFamily="2" charset="0"/>
              </a:rPr>
              <a:t>。</a:t>
            </a:r>
            <a:endParaRPr lang="en-CN" dirty="0">
              <a:latin typeface="Apple Braille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BA095-9709-FAF4-FA36-A571E1B87433}"/>
              </a:ext>
            </a:extLst>
          </p:cNvPr>
          <p:cNvSpPr txBox="1"/>
          <p:nvPr/>
        </p:nvSpPr>
        <p:spPr>
          <a:xfrm>
            <a:off x="1238034" y="5194340"/>
            <a:ext cx="3791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、驳斥与自证（段落</a:t>
            </a:r>
            <a:r>
              <a:rPr lang="en-US" altLang="zh-CN" sz="2000" dirty="0"/>
              <a:t>1-</a:t>
            </a:r>
            <a:r>
              <a:rPr lang="zh-CN" altLang="en-US" sz="2000" dirty="0"/>
              <a:t>段落</a:t>
            </a:r>
            <a:r>
              <a:rPr lang="en-US" altLang="zh-CN" sz="2000" dirty="0"/>
              <a:t>8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B44AF9-5470-BFF7-968C-4E907E8AFD33}"/>
              </a:ext>
            </a:extLst>
          </p:cNvPr>
          <p:cNvSpPr txBox="1"/>
          <p:nvPr/>
        </p:nvSpPr>
        <p:spPr>
          <a:xfrm>
            <a:off x="6914572" y="5194340"/>
            <a:ext cx="3940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</a:t>
            </a:r>
            <a:r>
              <a:rPr lang="zh-CN" altLang="en-US" sz="2000" dirty="0"/>
              <a:t>、宣传与自省（段落</a:t>
            </a:r>
            <a:r>
              <a:rPr lang="en-US" altLang="zh-CN" sz="2000" dirty="0"/>
              <a:t>9-</a:t>
            </a:r>
            <a:r>
              <a:rPr lang="zh-CN" altLang="en-US" sz="2000" dirty="0"/>
              <a:t>段落</a:t>
            </a:r>
            <a:r>
              <a:rPr lang="en-US" altLang="zh-CN" sz="2000" dirty="0"/>
              <a:t>11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DD71E4C4-9109-A3A0-5A11-7C29C21EA274}"/>
              </a:ext>
            </a:extLst>
          </p:cNvPr>
          <p:cNvCxnSpPr>
            <a:stCxn id="9" idx="1"/>
            <a:endCxn id="11" idx="0"/>
          </p:cNvCxnSpPr>
          <p:nvPr/>
        </p:nvCxnSpPr>
        <p:spPr>
          <a:xfrm rot="10800000" flipH="1" flipV="1">
            <a:off x="1211632" y="3043222"/>
            <a:ext cx="1922113" cy="2151117"/>
          </a:xfrm>
          <a:prstGeom prst="curvedConnector4">
            <a:avLst>
              <a:gd name="adj1" fmla="val -11893"/>
              <a:gd name="adj2" fmla="val 5465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E9E229B8-01D3-09B1-CCE1-94EE4FAA46D1}"/>
              </a:ext>
            </a:extLst>
          </p:cNvPr>
          <p:cNvCxnSpPr>
            <a:cxnSpLocks/>
            <a:stCxn id="10" idx="3"/>
            <a:endCxn id="12" idx="0"/>
          </p:cNvCxnSpPr>
          <p:nvPr/>
        </p:nvCxnSpPr>
        <p:spPr>
          <a:xfrm flipH="1">
            <a:off x="8884823" y="3740432"/>
            <a:ext cx="1142147" cy="1453908"/>
          </a:xfrm>
          <a:prstGeom prst="curvedConnector4">
            <a:avLst>
              <a:gd name="adj1" fmla="val -20015"/>
              <a:gd name="adj2" fmla="val 5688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4190CB8-2FDF-8B2B-7933-AD3909F1180F}"/>
              </a:ext>
            </a:extLst>
          </p:cNvPr>
          <p:cNvSpPr txBox="1"/>
          <p:nvPr/>
        </p:nvSpPr>
        <p:spPr>
          <a:xfrm>
            <a:off x="5105985" y="158931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b="1" dirty="0"/>
              <a:t>美食</a:t>
            </a:r>
            <a:r>
              <a:rPr lang="zh-CN" altLang="en-US" sz="2800" b="1" dirty="0"/>
              <a:t>散文？</a:t>
            </a:r>
            <a:endParaRPr lang="en-CN" sz="2800" b="1" dirty="0"/>
          </a:p>
        </p:txBody>
      </p:sp>
    </p:spTree>
    <p:extLst>
      <p:ext uri="{BB962C8B-B14F-4D97-AF65-F5344CB8AC3E}">
        <p14:creationId xmlns:p14="http://schemas.microsoft.com/office/powerpoint/2010/main" val="26774751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8D820D-B267-511E-8375-ED940A6CEECE}"/>
              </a:ext>
            </a:extLst>
          </p:cNvPr>
          <p:cNvSpPr txBox="1"/>
          <p:nvPr/>
        </p:nvSpPr>
        <p:spPr>
          <a:xfrm>
            <a:off x="914399" y="1029774"/>
            <a:ext cx="6500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CN" dirty="0"/>
              <a:t>饮食的选择没有绝对的</a:t>
            </a:r>
            <a:r>
              <a:rPr lang="zh-CN" altLang="en-US" dirty="0"/>
              <a:t>“优劣”，只有文化的差异和现实情况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4511B-AE47-5265-F55D-2D272F9A9594}"/>
              </a:ext>
            </a:extLst>
          </p:cNvPr>
          <p:cNvSpPr txBox="1"/>
          <p:nvPr/>
        </p:nvSpPr>
        <p:spPr>
          <a:xfrm>
            <a:off x="474915" y="348229"/>
            <a:ext cx="4575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、驳斥与自证（段落</a:t>
            </a:r>
            <a:r>
              <a:rPr lang="en-US" altLang="zh-CN" sz="2400" b="1" dirty="0"/>
              <a:t>1-</a:t>
            </a:r>
            <a:r>
              <a:rPr lang="zh-CN" altLang="en-US" sz="2400" b="1" dirty="0"/>
              <a:t>段落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）</a:t>
            </a:r>
            <a:endParaRPr lang="en-US" altLang="zh-C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AF49C-48E0-CA75-5E96-A194E6C11434}"/>
              </a:ext>
            </a:extLst>
          </p:cNvPr>
          <p:cNvSpPr txBox="1"/>
          <p:nvPr/>
        </p:nvSpPr>
        <p:spPr>
          <a:xfrm>
            <a:off x="1526104" y="1618705"/>
            <a:ext cx="943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西方例子</a:t>
            </a:r>
            <a:r>
              <a:rPr lang="zh-CN" altLang="en-US" dirty="0"/>
              <a:t>：</a:t>
            </a:r>
            <a:r>
              <a:rPr lang="en-CN" dirty="0"/>
              <a:t>欧洲</a:t>
            </a:r>
            <a:r>
              <a:rPr lang="en-US" altLang="zh-CN" dirty="0"/>
              <a:t>-</a:t>
            </a:r>
            <a:r>
              <a:rPr lang="zh-CN" altLang="en-US" dirty="0"/>
              <a:t>淡菜类 </a:t>
            </a:r>
            <a:r>
              <a:rPr lang="en-US" altLang="zh-CN" dirty="0"/>
              <a:t>vs</a:t>
            </a:r>
            <a:r>
              <a:rPr lang="zh-CN" altLang="en-US" dirty="0"/>
              <a:t> 美洲</a:t>
            </a:r>
            <a:r>
              <a:rPr lang="en-US" altLang="zh-CN" dirty="0"/>
              <a:t>-</a:t>
            </a:r>
            <a:r>
              <a:rPr lang="zh-CN" altLang="en-US" dirty="0"/>
              <a:t>软壳蛤类  ；  英格兰和波士顿高价出售鲽鱼 </a:t>
            </a:r>
            <a:r>
              <a:rPr lang="en-US" altLang="zh-CN" dirty="0"/>
              <a:t>vs</a:t>
            </a:r>
            <a:r>
              <a:rPr lang="zh-CN" altLang="en-US" dirty="0"/>
              <a:t> 纽芬兰不吃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05C22-70F4-A1A1-0DAE-2F0B98064679}"/>
              </a:ext>
            </a:extLst>
          </p:cNvPr>
          <p:cNvSpPr txBox="1"/>
          <p:nvPr/>
        </p:nvSpPr>
        <p:spPr>
          <a:xfrm>
            <a:off x="1526104" y="2207636"/>
            <a:ext cx="762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西方不应以日常饮食标准来批判，</a:t>
            </a:r>
            <a:r>
              <a:rPr lang="en-CN" dirty="0"/>
              <a:t> 中国人因饥荒的环境而慌不择食</a:t>
            </a:r>
            <a:r>
              <a:rPr lang="zh-CN" altLang="en-US" dirty="0"/>
              <a:t>的行为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D2D72-2A57-01E8-77CB-A1938A75AF9D}"/>
              </a:ext>
            </a:extLst>
          </p:cNvPr>
          <p:cNvSpPr txBox="1"/>
          <p:nvPr/>
        </p:nvSpPr>
        <p:spPr>
          <a:xfrm>
            <a:off x="914399" y="2868599"/>
            <a:ext cx="28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CN" dirty="0"/>
              <a:t>中国</a:t>
            </a:r>
            <a:r>
              <a:rPr lang="zh-CN" altLang="en-US" dirty="0"/>
              <a:t>人对待饮食的郑重</a:t>
            </a:r>
            <a:endParaRPr lang="en-US" altLang="zh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A2DB5F-6AB6-E8CF-4AB1-310B5E9B22AF}"/>
              </a:ext>
            </a:extLst>
          </p:cNvPr>
          <p:cNvSpPr txBox="1"/>
          <p:nvPr/>
        </p:nvSpPr>
        <p:spPr>
          <a:xfrm>
            <a:off x="1526105" y="3529562"/>
            <a:ext cx="832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中法对待美食的</a:t>
            </a:r>
            <a:r>
              <a:rPr lang="zh-CN" altLang="en-US" dirty="0"/>
              <a:t>“热烈”</a:t>
            </a:r>
            <a:r>
              <a:rPr lang="en-US" altLang="zh-CN" dirty="0"/>
              <a:t>——</a:t>
            </a:r>
            <a:r>
              <a:rPr lang="zh-CN" altLang="en-US" dirty="0"/>
              <a:t>以饮食为人生乐趣  </a:t>
            </a:r>
            <a:r>
              <a:rPr lang="en-US" altLang="zh-CN" dirty="0"/>
              <a:t>vs</a:t>
            </a:r>
            <a:r>
              <a:rPr lang="zh-CN" altLang="en-US" dirty="0"/>
              <a:t>  英国“歉疚”地吃</a:t>
            </a:r>
            <a:r>
              <a:rPr lang="en-US" altLang="zh-CN" dirty="0"/>
              <a:t>——</a:t>
            </a:r>
            <a:r>
              <a:rPr lang="zh-CN" altLang="en-US" dirty="0"/>
              <a:t>视饮食为负担</a:t>
            </a:r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7FDEB-A7DA-F46D-87CD-0A4D5EFAC8C2}"/>
              </a:ext>
            </a:extLst>
          </p:cNvPr>
          <p:cNvSpPr txBox="1"/>
          <p:nvPr/>
        </p:nvSpPr>
        <p:spPr>
          <a:xfrm>
            <a:off x="1526105" y="4190525"/>
            <a:ext cx="996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饮食语言的差异</a:t>
            </a:r>
            <a:r>
              <a:rPr lang="zh-CN" altLang="en-US" dirty="0"/>
              <a:t>：“烹饪”</a:t>
            </a:r>
            <a:r>
              <a:rPr lang="en-US" altLang="zh-CN" dirty="0"/>
              <a:t>vs</a:t>
            </a:r>
            <a:r>
              <a:rPr lang="zh-CN" altLang="en-US" dirty="0"/>
              <a:t>“烧” ；“厨师” </a:t>
            </a:r>
            <a:r>
              <a:rPr lang="en-US" altLang="zh-CN" dirty="0"/>
              <a:t>vs</a:t>
            </a:r>
            <a:r>
              <a:rPr lang="zh-CN" altLang="en-US" dirty="0"/>
              <a:t> “火夫； ”菜单“ </a:t>
            </a:r>
            <a:r>
              <a:rPr lang="en-US" altLang="zh-CN" dirty="0"/>
              <a:t>vs</a:t>
            </a:r>
            <a:r>
              <a:rPr lang="zh-CN" altLang="en-US" dirty="0"/>
              <a:t> ”盘碟“ ；”美味品评家” </a:t>
            </a:r>
            <a:r>
              <a:rPr lang="en-US" altLang="zh-CN" dirty="0"/>
              <a:t>vs</a:t>
            </a:r>
            <a:r>
              <a:rPr lang="zh-CN" altLang="en-US" dirty="0"/>
              <a:t> “贪吃星”</a:t>
            </a:r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19AFC-8883-F459-1C6C-DA92A15B00A0}"/>
              </a:ext>
            </a:extLst>
          </p:cNvPr>
          <p:cNvSpPr txBox="1"/>
          <p:nvPr/>
        </p:nvSpPr>
        <p:spPr>
          <a:xfrm>
            <a:off x="941388" y="4851488"/>
            <a:ext cx="332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en-CN" dirty="0"/>
              <a:t>中国</a:t>
            </a:r>
            <a:r>
              <a:rPr lang="zh-CN" altLang="en-US" dirty="0"/>
              <a:t>人独有的美食精神内涵</a:t>
            </a:r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60B52E-E4B2-DD93-6170-88E0E984C034}"/>
              </a:ext>
            </a:extLst>
          </p:cNvPr>
          <p:cNvSpPr txBox="1"/>
          <p:nvPr/>
        </p:nvSpPr>
        <p:spPr>
          <a:xfrm>
            <a:off x="1544087" y="5512451"/>
            <a:ext cx="738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中国文化中美食与文人名士的深度绑定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外国名人对美食文化的漠视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D1006-800C-FB04-3506-B75C78F3F22B}"/>
              </a:ext>
            </a:extLst>
          </p:cNvPr>
          <p:cNvSpPr txBox="1"/>
          <p:nvPr/>
        </p:nvSpPr>
        <p:spPr>
          <a:xfrm>
            <a:off x="1544087" y="6127633"/>
            <a:ext cx="7600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中国人视饮食为故乡的精神锚点 </a:t>
            </a:r>
            <a:r>
              <a:rPr lang="en-US" altLang="zh-CN" dirty="0"/>
              <a:t>vs</a:t>
            </a:r>
            <a:r>
              <a:rPr lang="zh-CN" altLang="en-US" dirty="0"/>
              <a:t> 西方人不承认饮食带来的依恋乡井之思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078214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0FB42-5CFE-53CB-BB08-0122294D69A8}"/>
              </a:ext>
            </a:extLst>
          </p:cNvPr>
          <p:cNvSpPr txBox="1"/>
          <p:nvPr/>
        </p:nvSpPr>
        <p:spPr>
          <a:xfrm>
            <a:off x="319706" y="279693"/>
            <a:ext cx="477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、宣传与自省（段落</a:t>
            </a:r>
            <a:r>
              <a:rPr lang="en-US" altLang="zh-CN" sz="2400" b="1" dirty="0"/>
              <a:t>9-</a:t>
            </a:r>
            <a:r>
              <a:rPr lang="zh-CN" altLang="en-US" sz="2400" b="1" dirty="0"/>
              <a:t>段落</a:t>
            </a:r>
            <a:r>
              <a:rPr lang="en-US" altLang="zh-CN" sz="2400" b="1" dirty="0"/>
              <a:t>11</a:t>
            </a:r>
            <a:r>
              <a:rPr lang="zh-CN" altLang="en-US" sz="2400" b="1" dirty="0"/>
              <a:t>）</a:t>
            </a:r>
            <a:endParaRPr lang="en-US" altLang="zh-C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6B026-CBCD-7594-A402-AEACD0996384}"/>
              </a:ext>
            </a:extLst>
          </p:cNvPr>
          <p:cNvSpPr txBox="1"/>
          <p:nvPr/>
        </p:nvSpPr>
        <p:spPr>
          <a:xfrm>
            <a:off x="914399" y="1029774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）介绍</a:t>
            </a:r>
            <a:r>
              <a:rPr lang="zh-CN" altLang="en-CN" dirty="0"/>
              <a:t>中国</a:t>
            </a:r>
            <a:r>
              <a:rPr lang="zh-CN" altLang="en-US" dirty="0"/>
              <a:t>的烹饪技法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53898-2CB1-42BC-7E51-8A4BEDCF40C4}"/>
              </a:ext>
            </a:extLst>
          </p:cNvPr>
          <p:cNvSpPr txBox="1"/>
          <p:nvPr/>
        </p:nvSpPr>
        <p:spPr>
          <a:xfrm>
            <a:off x="1731844" y="174714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重视感官体验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9E1C6-29A8-372B-1151-B76FDE5F5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825" y="985334"/>
            <a:ext cx="6785114" cy="11047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65176E-7EE1-10DE-F60F-AD5F9E294C42}"/>
              </a:ext>
            </a:extLst>
          </p:cNvPr>
          <p:cNvSpPr txBox="1"/>
          <p:nvPr/>
        </p:nvSpPr>
        <p:spPr>
          <a:xfrm>
            <a:off x="1731844" y="263368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追求滋味调和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A4CF55-CEF0-E12F-2727-AAC80623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825" y="2395584"/>
            <a:ext cx="7772400" cy="845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5E699B-603B-D874-4B9A-8A2855082106}"/>
              </a:ext>
            </a:extLst>
          </p:cNvPr>
          <p:cNvSpPr txBox="1"/>
          <p:nvPr/>
        </p:nvSpPr>
        <p:spPr>
          <a:xfrm>
            <a:off x="914399" y="3485653"/>
            <a:ext cx="355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）对中国饮食中铺张浪费的自省</a:t>
            </a: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CBEAD-E4C8-8C1D-CBF4-843A73FB69CC}"/>
              </a:ext>
            </a:extLst>
          </p:cNvPr>
          <p:cNvSpPr txBox="1"/>
          <p:nvPr/>
        </p:nvSpPr>
        <p:spPr>
          <a:xfrm>
            <a:off x="893685" y="4551071"/>
            <a:ext cx="332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）由饮食文化延伸至饮茶文化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F373C-64CE-7538-9BE7-FA7EB0A5FA15}"/>
              </a:ext>
            </a:extLst>
          </p:cNvPr>
          <p:cNvSpPr txBox="1"/>
          <p:nvPr/>
        </p:nvSpPr>
        <p:spPr>
          <a:xfrm>
            <a:off x="1731844" y="4018362"/>
            <a:ext cx="7303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并非全面认同中国人的饮食观念</a:t>
            </a:r>
            <a:r>
              <a:rPr lang="zh-CN" altLang="en-US" dirty="0"/>
              <a:t>，指出无节制、过量、铺张浪费的一面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CEB43-B571-3AC8-A179-47E0481AAD75}"/>
              </a:ext>
            </a:extLst>
          </p:cNvPr>
          <p:cNvSpPr txBox="1"/>
          <p:nvPr/>
        </p:nvSpPr>
        <p:spPr>
          <a:xfrm>
            <a:off x="1731844" y="5083780"/>
            <a:ext cx="22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中国的茶</a:t>
            </a:r>
            <a:r>
              <a:rPr lang="zh-CN" altLang="en-US" dirty="0"/>
              <a:t>～欧洲的酒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08F4B-3129-2E09-D5CA-9F7DE30A7A00}"/>
              </a:ext>
            </a:extLst>
          </p:cNvPr>
          <p:cNvSpPr txBox="1"/>
          <p:nvPr/>
        </p:nvSpPr>
        <p:spPr>
          <a:xfrm>
            <a:off x="914399" y="5643560"/>
            <a:ext cx="28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CN" dirty="0"/>
              <a:t>对饮茶文化没落的叹息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9C874-FA68-31CF-0225-5A9EFB983EBC}"/>
              </a:ext>
            </a:extLst>
          </p:cNvPr>
          <p:cNvSpPr txBox="1"/>
          <p:nvPr/>
        </p:nvSpPr>
        <p:spPr>
          <a:xfrm>
            <a:off x="1731844" y="620897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中国火车头等坐用李普顿茶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197175-2692-3358-2387-3D9A3DBB340D}"/>
              </a:ext>
            </a:extLst>
          </p:cNvPr>
          <p:cNvSpPr txBox="1"/>
          <p:nvPr/>
        </p:nvSpPr>
        <p:spPr>
          <a:xfrm>
            <a:off x="5197177" y="6201816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中国富豪用外国茶款待希望体验中国茶的外国来宾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0F1343-8F13-3EF7-A24B-E1563D7F1759}"/>
              </a:ext>
            </a:extLst>
          </p:cNvPr>
          <p:cNvCxnSpPr>
            <a:cxnSpLocks/>
          </p:cNvCxnSpPr>
          <p:nvPr/>
        </p:nvCxnSpPr>
        <p:spPr>
          <a:xfrm>
            <a:off x="8332838" y="1707333"/>
            <a:ext cx="18988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9EC0EC-1DC3-057B-21FA-5AA750595C77}"/>
              </a:ext>
            </a:extLst>
          </p:cNvPr>
          <p:cNvCxnSpPr>
            <a:cxnSpLocks/>
          </p:cNvCxnSpPr>
          <p:nvPr/>
        </p:nvCxnSpPr>
        <p:spPr>
          <a:xfrm>
            <a:off x="8332838" y="2090053"/>
            <a:ext cx="9255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325BEE-DBEF-0365-EF1C-A526B829CFF5}"/>
              </a:ext>
            </a:extLst>
          </p:cNvPr>
          <p:cNvCxnSpPr>
            <a:cxnSpLocks/>
          </p:cNvCxnSpPr>
          <p:nvPr/>
        </p:nvCxnSpPr>
        <p:spPr>
          <a:xfrm>
            <a:off x="6511637" y="2825480"/>
            <a:ext cx="13735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7019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10" grpId="0"/>
      <p:bldP spid="11" grpId="0"/>
      <p:bldP spid="12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C4B93-E8A9-EF75-A311-7AAD20AE4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709" y="496427"/>
            <a:ext cx="7772400" cy="1171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7D8E0-DA5A-B1CD-3C12-C66AC74BCA9D}"/>
              </a:ext>
            </a:extLst>
          </p:cNvPr>
          <p:cNvSpPr txBox="1"/>
          <p:nvPr/>
        </p:nvSpPr>
        <p:spPr>
          <a:xfrm>
            <a:off x="986589" y="2513893"/>
            <a:ext cx="10015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西方流行的偏见</a:t>
            </a:r>
            <a:r>
              <a:rPr lang="zh-CN" altLang="en-US" sz="2000" dirty="0">
                <a:latin typeface="Apple Braille" pitchFamily="2" charset="0"/>
              </a:rPr>
              <a:t>：中国文明是虚无缥缈的“精神文明”；西方文明是实实在在的“物质文明</a:t>
            </a:r>
            <a:endParaRPr lang="en-CN" sz="2000" dirty="0">
              <a:latin typeface="Apple Braill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C8202-1E7F-CAC0-E850-6BCCC7BC144A}"/>
              </a:ext>
            </a:extLst>
          </p:cNvPr>
          <p:cNvSpPr txBox="1"/>
          <p:nvPr/>
        </p:nvSpPr>
        <p:spPr>
          <a:xfrm>
            <a:off x="986589" y="1985211"/>
            <a:ext cx="4259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西方对中国人的误解</a:t>
            </a:r>
            <a:r>
              <a:rPr lang="zh-CN" altLang="en-US" sz="2000" dirty="0">
                <a:latin typeface="Apple Braille" pitchFamily="2" charset="0"/>
              </a:rPr>
              <a:t>：“贪吃”；野蛮</a:t>
            </a:r>
            <a:endParaRPr lang="en-CN" sz="2000" dirty="0">
              <a:latin typeface="Apple Braille" pitchFamily="2" charset="0"/>
            </a:endParaRPr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DBFAFDF2-1EE2-9DE0-6EA9-F5351947FFFC}"/>
              </a:ext>
            </a:extLst>
          </p:cNvPr>
          <p:cNvSpPr/>
          <p:nvPr/>
        </p:nvSpPr>
        <p:spPr>
          <a:xfrm>
            <a:off x="1020941" y="1757303"/>
            <a:ext cx="1004322" cy="135307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37B39F6A-A6EA-6BFD-046F-434FE5DCBF85}"/>
              </a:ext>
            </a:extLst>
          </p:cNvPr>
          <p:cNvSpPr/>
          <p:nvPr/>
        </p:nvSpPr>
        <p:spPr>
          <a:xfrm>
            <a:off x="1287379" y="3239273"/>
            <a:ext cx="144379" cy="175661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0DFD2-9E1E-76A2-5613-E961132B2FB5}"/>
              </a:ext>
            </a:extLst>
          </p:cNvPr>
          <p:cNvSpPr txBox="1"/>
          <p:nvPr/>
        </p:nvSpPr>
        <p:spPr>
          <a:xfrm>
            <a:off x="1792539" y="322714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中西文化的比较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4F7B4-5BDC-DBD5-CE89-4174EE31C097}"/>
              </a:ext>
            </a:extLst>
          </p:cNvPr>
          <p:cNvSpPr txBox="1"/>
          <p:nvPr/>
        </p:nvSpPr>
        <p:spPr>
          <a:xfrm>
            <a:off x="1806859" y="3916351"/>
            <a:ext cx="1699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“</a:t>
            </a:r>
            <a:r>
              <a:rPr lang="en-CN" sz="2000" dirty="0">
                <a:latin typeface="Apple Braille" pitchFamily="2" charset="0"/>
              </a:rPr>
              <a:t>饮食</a:t>
            </a:r>
            <a:r>
              <a:rPr lang="zh-CN" altLang="en-US" sz="2000" dirty="0">
                <a:latin typeface="Apple Braille" pitchFamily="2" charset="0"/>
              </a:rPr>
              <a:t>”</a:t>
            </a:r>
            <a:r>
              <a:rPr lang="en-CN" sz="2000" dirty="0">
                <a:latin typeface="Apple Braille" pitchFamily="2" charset="0"/>
              </a:rPr>
              <a:t>的</a:t>
            </a:r>
            <a:r>
              <a:rPr lang="en-CN" sz="2000" b="1" u="sng" dirty="0">
                <a:latin typeface="Apple Braille" pitchFamily="2" charset="0"/>
              </a:rPr>
              <a:t>偏好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9F6CB-A33E-47E0-778E-1C75FC78C550}"/>
              </a:ext>
            </a:extLst>
          </p:cNvPr>
          <p:cNvSpPr txBox="1"/>
          <p:nvPr/>
        </p:nvSpPr>
        <p:spPr>
          <a:xfrm>
            <a:off x="3854044" y="3916351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“</a:t>
            </a:r>
            <a:r>
              <a:rPr lang="en-CN" sz="2000" dirty="0">
                <a:latin typeface="Apple Braille" pitchFamily="2" charset="0"/>
              </a:rPr>
              <a:t>饮食</a:t>
            </a:r>
            <a:r>
              <a:rPr lang="zh-CN" altLang="en-US" sz="2000" dirty="0">
                <a:latin typeface="Apple Braille" pitchFamily="2" charset="0"/>
              </a:rPr>
              <a:t>”</a:t>
            </a:r>
            <a:r>
              <a:rPr lang="en-CN" sz="2000" dirty="0">
                <a:latin typeface="Apple Braille" pitchFamily="2" charset="0"/>
              </a:rPr>
              <a:t>的</a:t>
            </a:r>
            <a:r>
              <a:rPr lang="en-CN" sz="2000" b="1" u="sng" dirty="0">
                <a:latin typeface="Apple Braille" pitchFamily="2" charset="0"/>
              </a:rPr>
              <a:t>态度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87300-3305-BD8D-A32C-CE09A6BD4483}"/>
              </a:ext>
            </a:extLst>
          </p:cNvPr>
          <p:cNvSpPr txBox="1"/>
          <p:nvPr/>
        </p:nvSpPr>
        <p:spPr>
          <a:xfrm>
            <a:off x="5867836" y="3897796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“</a:t>
            </a:r>
            <a:r>
              <a:rPr lang="en-CN" sz="2000" dirty="0">
                <a:latin typeface="Apple Braille" pitchFamily="2" charset="0"/>
              </a:rPr>
              <a:t>饮食</a:t>
            </a:r>
            <a:r>
              <a:rPr lang="zh-CN" altLang="en-US" sz="2000" dirty="0">
                <a:latin typeface="Apple Braille" pitchFamily="2" charset="0"/>
              </a:rPr>
              <a:t>”</a:t>
            </a:r>
            <a:r>
              <a:rPr lang="en-CN" sz="2000" dirty="0">
                <a:latin typeface="Apple Braille" pitchFamily="2" charset="0"/>
              </a:rPr>
              <a:t>的</a:t>
            </a:r>
            <a:r>
              <a:rPr lang="en-CN" sz="2000" b="1" u="sng" dirty="0">
                <a:latin typeface="Apple Braille" pitchFamily="2" charset="0"/>
              </a:rPr>
              <a:t>技巧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282027-4E64-363C-FBBE-9D04EB4225F1}"/>
              </a:ext>
            </a:extLst>
          </p:cNvPr>
          <p:cNvSpPr txBox="1"/>
          <p:nvPr/>
        </p:nvSpPr>
        <p:spPr>
          <a:xfrm>
            <a:off x="7881628" y="3883229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“</a:t>
            </a:r>
            <a:r>
              <a:rPr lang="en-CN" sz="2000" dirty="0">
                <a:latin typeface="Apple Braille" pitchFamily="2" charset="0"/>
              </a:rPr>
              <a:t>饮食</a:t>
            </a:r>
            <a:r>
              <a:rPr lang="zh-CN" altLang="en-US" sz="2000" dirty="0">
                <a:latin typeface="Apple Braille" pitchFamily="2" charset="0"/>
              </a:rPr>
              <a:t>”</a:t>
            </a:r>
            <a:r>
              <a:rPr lang="en-CN" sz="2000" dirty="0">
                <a:latin typeface="Apple Braille" pitchFamily="2" charset="0"/>
              </a:rPr>
              <a:t>的</a:t>
            </a:r>
            <a:r>
              <a:rPr lang="en-CN" sz="2000" b="1" u="sng" dirty="0">
                <a:latin typeface="Apple Braille" pitchFamily="2" charset="0"/>
              </a:rPr>
              <a:t>内涵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D8FE4-C9F4-3386-0315-702B806588DB}"/>
              </a:ext>
            </a:extLst>
          </p:cNvPr>
          <p:cNvSpPr txBox="1"/>
          <p:nvPr/>
        </p:nvSpPr>
        <p:spPr>
          <a:xfrm>
            <a:off x="1806859" y="4572352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介绍</a:t>
            </a:r>
            <a:r>
              <a:rPr lang="zh-CN" altLang="en-US" sz="2000" dirty="0">
                <a:latin typeface="Apple Braille" pitchFamily="2" charset="0"/>
              </a:rPr>
              <a:t>、展示中国人的饮食文化</a:t>
            </a:r>
            <a:endParaRPr lang="en-CN" sz="2000" dirty="0">
              <a:latin typeface="Apple Braille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A26FB-6241-E8FF-7D01-BBDBA75A4072}"/>
              </a:ext>
            </a:extLst>
          </p:cNvPr>
          <p:cNvSpPr txBox="1"/>
          <p:nvPr/>
        </p:nvSpPr>
        <p:spPr>
          <a:xfrm>
            <a:off x="187000" y="5318809"/>
            <a:ext cx="1185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从饮食这一角度切入</a:t>
            </a:r>
            <a:r>
              <a:rPr lang="zh-CN" altLang="en-US" sz="2000" dirty="0">
                <a:latin typeface="Apple Braille" pitchFamily="2" charset="0"/>
              </a:rPr>
              <a:t>，向世界展示一种中国式的独特生活美学，证明了中国文明并非空洞的“精神文明”，而是</a:t>
            </a:r>
            <a:r>
              <a:rPr lang="zh-CN" altLang="en-US" sz="2000" b="1" u="sng" dirty="0">
                <a:latin typeface="Apple Braille" pitchFamily="2" charset="0"/>
              </a:rPr>
              <a:t>实实在在的，充满生命力与烟火气</a:t>
            </a:r>
            <a:r>
              <a:rPr lang="zh-CN" altLang="en-US" sz="2000" dirty="0">
                <a:latin typeface="Apple Braille" pitchFamily="2" charset="0"/>
              </a:rPr>
              <a:t>的文明。</a:t>
            </a:r>
            <a:endParaRPr lang="en-US" altLang="zh-CN" sz="2000" dirty="0">
              <a:latin typeface="Apple Braill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7DB2A7-E982-CC51-2B43-4FDE19297CC6}"/>
              </a:ext>
            </a:extLst>
          </p:cNvPr>
          <p:cNvSpPr txBox="1"/>
          <p:nvPr/>
        </p:nvSpPr>
        <p:spPr>
          <a:xfrm>
            <a:off x="8477573" y="75631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234703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8C39D9-A5B5-58F8-1523-9263F0DFE063}"/>
              </a:ext>
            </a:extLst>
          </p:cNvPr>
          <p:cNvSpPr txBox="1"/>
          <p:nvPr/>
        </p:nvSpPr>
        <p:spPr>
          <a:xfrm>
            <a:off x="6938659" y="4878602"/>
            <a:ext cx="4988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“几乎每个命题，林语堂都能从东、西方找到理论依 据。可能片面，也可能谬误，但跟创作实践的密切联系，使这些只言片语残章断简获得某种生命力。”</a:t>
            </a:r>
            <a:endParaRPr lang="en-US" altLang="zh-CN" sz="2000" dirty="0">
              <a:latin typeface="Apple Braille" pitchFamily="2" charset="0"/>
            </a:endParaRPr>
          </a:p>
          <a:p>
            <a:pPr algn="r"/>
            <a:r>
              <a:rPr lang="en-US" altLang="zh-CN" sz="2000" dirty="0">
                <a:latin typeface="Apple Braille" pitchFamily="2" charset="0"/>
              </a:rPr>
              <a:t>——</a:t>
            </a:r>
            <a:r>
              <a:rPr lang="zh-CN" altLang="en-US" sz="2000" dirty="0">
                <a:latin typeface="Apple Braille" pitchFamily="2" charset="0"/>
              </a:rPr>
              <a:t>陈平原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4EA19-F7A2-EB7A-B265-54900C92896E}"/>
              </a:ext>
            </a:extLst>
          </p:cNvPr>
          <p:cNvSpPr txBox="1"/>
          <p:nvPr/>
        </p:nvSpPr>
        <p:spPr>
          <a:xfrm>
            <a:off x="677453" y="354805"/>
            <a:ext cx="6373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三、文本赏析：艺术手法</a:t>
            </a:r>
            <a:r>
              <a:rPr lang="en-US" altLang="zh-CN" sz="2800" b="1" dirty="0">
                <a:latin typeface="Apple Braille" pitchFamily="2" charset="0"/>
              </a:rPr>
              <a:t>—</a:t>
            </a:r>
            <a:r>
              <a:rPr lang="zh-CN" altLang="en-US" sz="2800" b="1" dirty="0">
                <a:latin typeface="Apple Braille" pitchFamily="2" charset="0"/>
              </a:rPr>
              <a:t>中西对比</a:t>
            </a:r>
            <a:endParaRPr lang="en-US" altLang="zh-CN" sz="2800" b="1" dirty="0">
              <a:latin typeface="Apple Braille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37A8A-3E6C-F095-5005-332216A6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86" y="985747"/>
            <a:ext cx="6059893" cy="5566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8E3A61-8C3F-A7DB-FA63-014F10388F7A}"/>
              </a:ext>
            </a:extLst>
          </p:cNvPr>
          <p:cNvSpPr txBox="1"/>
          <p:nvPr/>
        </p:nvSpPr>
        <p:spPr>
          <a:xfrm>
            <a:off x="7076457" y="10503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中国人热烈地吃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11CC79-45D1-B443-A1A4-CA8CAE104C6A}"/>
              </a:ext>
            </a:extLst>
          </p:cNvPr>
          <p:cNvSpPr txBox="1"/>
          <p:nvPr/>
        </p:nvSpPr>
        <p:spPr>
          <a:xfrm>
            <a:off x="9751698" y="10503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英国人歉疚地吃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5DF81-60D9-CAB7-7A16-B80D432A420E}"/>
              </a:ext>
            </a:extLst>
          </p:cNvPr>
          <p:cNvSpPr txBox="1"/>
          <p:nvPr/>
        </p:nvSpPr>
        <p:spPr>
          <a:xfrm>
            <a:off x="6709265" y="162703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热爱美食，视烹调为艺术</a:t>
            </a:r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31FAB-0FDD-C114-FCE8-D9D72B0BFEFD}"/>
              </a:ext>
            </a:extLst>
          </p:cNvPr>
          <p:cNvSpPr txBox="1"/>
          <p:nvPr/>
        </p:nvSpPr>
        <p:spPr>
          <a:xfrm>
            <a:off x="9496348" y="161006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功利、克制，仅为生存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AF8662-5295-7FDF-5C1D-50567F742ABC}"/>
              </a:ext>
            </a:extLst>
          </p:cNvPr>
          <p:cNvSpPr txBox="1"/>
          <p:nvPr/>
        </p:nvSpPr>
        <p:spPr>
          <a:xfrm>
            <a:off x="8092884" y="225780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i="1" dirty="0"/>
              <a:t>饮食语言中用词的对比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5410BF-5D49-1058-1B1C-942066138D15}"/>
              </a:ext>
            </a:extLst>
          </p:cNvPr>
          <p:cNvSpPr txBox="1"/>
          <p:nvPr/>
        </p:nvSpPr>
        <p:spPr>
          <a:xfrm>
            <a:off x="8387898" y="61641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i="1" dirty="0"/>
              <a:t>饮食态度的对比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DDBAD1-5F4D-8FE8-FAEF-B5804B27F64A}"/>
              </a:ext>
            </a:extLst>
          </p:cNvPr>
          <p:cNvSpPr txBox="1"/>
          <p:nvPr/>
        </p:nvSpPr>
        <p:spPr>
          <a:xfrm>
            <a:off x="7157233" y="2831673"/>
            <a:ext cx="4551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“烹饪”</a:t>
            </a:r>
            <a:r>
              <a:rPr lang="en-US" altLang="zh-CN" dirty="0"/>
              <a:t>vs</a:t>
            </a:r>
            <a:r>
              <a:rPr lang="zh-CN" altLang="en-US" dirty="0"/>
              <a:t>“烧” “厨师” </a:t>
            </a:r>
            <a:r>
              <a:rPr lang="en-US" altLang="zh-CN" dirty="0"/>
              <a:t>vs</a:t>
            </a:r>
            <a:r>
              <a:rPr lang="zh-CN" altLang="en-US" dirty="0"/>
              <a:t> “火夫 </a:t>
            </a:r>
            <a:endParaRPr lang="en-US" altLang="zh-CN" dirty="0"/>
          </a:p>
          <a:p>
            <a:pPr algn="ctr"/>
            <a:r>
              <a:rPr lang="zh-CN" altLang="en-US" dirty="0"/>
              <a:t>”菜单“ </a:t>
            </a:r>
            <a:r>
              <a:rPr lang="en-US" altLang="zh-CN" dirty="0"/>
              <a:t>vs</a:t>
            </a:r>
            <a:r>
              <a:rPr lang="zh-CN" altLang="en-US" dirty="0"/>
              <a:t> ”盘碟“ ”美味品评家” </a:t>
            </a:r>
            <a:r>
              <a:rPr lang="en-US" altLang="zh-CN" dirty="0"/>
              <a:t>vs</a:t>
            </a:r>
            <a:r>
              <a:rPr lang="zh-CN" altLang="en-US" dirty="0"/>
              <a:t> “贪吃星”</a:t>
            </a:r>
            <a:endParaRPr lang="en-CN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83A8B6B-746C-1F62-6BB2-9CBCA9F99B29}"/>
              </a:ext>
            </a:extLst>
          </p:cNvPr>
          <p:cNvSpPr/>
          <p:nvPr/>
        </p:nvSpPr>
        <p:spPr>
          <a:xfrm rot="5400000">
            <a:off x="9169842" y="3658039"/>
            <a:ext cx="339073" cy="3880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0FDD6B-249B-E2A7-B03F-A68243A914B2}"/>
              </a:ext>
            </a:extLst>
          </p:cNvPr>
          <p:cNvSpPr txBox="1"/>
          <p:nvPr/>
        </p:nvSpPr>
        <p:spPr>
          <a:xfrm>
            <a:off x="8071176" y="422614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中国人对待饮食的郑重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67F89A-D27F-DC3B-09B4-647244587BC1}"/>
              </a:ext>
            </a:extLst>
          </p:cNvPr>
          <p:cNvCxnSpPr/>
          <p:nvPr/>
        </p:nvCxnSpPr>
        <p:spPr>
          <a:xfrm>
            <a:off x="4943959" y="1610067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DCAB25-2D0C-BFA7-B497-C9A6028C62EA}"/>
              </a:ext>
            </a:extLst>
          </p:cNvPr>
          <p:cNvCxnSpPr>
            <a:cxnSpLocks/>
          </p:cNvCxnSpPr>
          <p:nvPr/>
        </p:nvCxnSpPr>
        <p:spPr>
          <a:xfrm>
            <a:off x="1498059" y="1913476"/>
            <a:ext cx="9987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5C9A93-7BF4-EC0C-0B79-92B0007BA555}"/>
              </a:ext>
            </a:extLst>
          </p:cNvPr>
          <p:cNvCxnSpPr>
            <a:cxnSpLocks/>
          </p:cNvCxnSpPr>
          <p:nvPr/>
        </p:nvCxnSpPr>
        <p:spPr>
          <a:xfrm flipV="1">
            <a:off x="5115814" y="1913476"/>
            <a:ext cx="1265531" cy="50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712B15F-8094-AD0D-0159-389AE8513171}"/>
              </a:ext>
            </a:extLst>
          </p:cNvPr>
          <p:cNvCxnSpPr>
            <a:cxnSpLocks/>
          </p:cNvCxnSpPr>
          <p:nvPr/>
        </p:nvCxnSpPr>
        <p:spPr>
          <a:xfrm>
            <a:off x="566271" y="2203455"/>
            <a:ext cx="17489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4725A2-3223-D78E-8F14-836ACD830A7F}"/>
              </a:ext>
            </a:extLst>
          </p:cNvPr>
          <p:cNvCxnSpPr>
            <a:cxnSpLocks/>
          </p:cNvCxnSpPr>
          <p:nvPr/>
        </p:nvCxnSpPr>
        <p:spPr>
          <a:xfrm>
            <a:off x="4586575" y="3142934"/>
            <a:ext cx="6603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26920D-6A99-5785-7640-98F2EDEEF3C5}"/>
              </a:ext>
            </a:extLst>
          </p:cNvPr>
          <p:cNvCxnSpPr/>
          <p:nvPr/>
        </p:nvCxnSpPr>
        <p:spPr>
          <a:xfrm>
            <a:off x="1176002" y="3429000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6A5C4FF-03B0-F91A-0C30-3D7D76834094}"/>
              </a:ext>
            </a:extLst>
          </p:cNvPr>
          <p:cNvCxnSpPr>
            <a:cxnSpLocks/>
          </p:cNvCxnSpPr>
          <p:nvPr/>
        </p:nvCxnSpPr>
        <p:spPr>
          <a:xfrm>
            <a:off x="3953359" y="3466100"/>
            <a:ext cx="11624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51ACCE-FA0D-AC32-3134-81EEEA21363D}"/>
              </a:ext>
            </a:extLst>
          </p:cNvPr>
          <p:cNvCxnSpPr>
            <a:cxnSpLocks/>
          </p:cNvCxnSpPr>
          <p:nvPr/>
        </p:nvCxnSpPr>
        <p:spPr>
          <a:xfrm>
            <a:off x="566271" y="3756847"/>
            <a:ext cx="6097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771CB9-EC9E-1DC1-2474-270BA7146441}"/>
              </a:ext>
            </a:extLst>
          </p:cNvPr>
          <p:cNvCxnSpPr>
            <a:cxnSpLocks/>
          </p:cNvCxnSpPr>
          <p:nvPr/>
        </p:nvCxnSpPr>
        <p:spPr>
          <a:xfrm>
            <a:off x="2601686" y="3768751"/>
            <a:ext cx="5349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624D13-AD10-953B-99D8-3B531F9D10E3}"/>
              </a:ext>
            </a:extLst>
          </p:cNvPr>
          <p:cNvCxnSpPr/>
          <p:nvPr/>
        </p:nvCxnSpPr>
        <p:spPr>
          <a:xfrm>
            <a:off x="5249681" y="3778618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B20ABA-187B-316E-E69E-2EE7258DC869}"/>
              </a:ext>
            </a:extLst>
          </p:cNvPr>
          <p:cNvCxnSpPr>
            <a:cxnSpLocks/>
          </p:cNvCxnSpPr>
          <p:nvPr/>
        </p:nvCxnSpPr>
        <p:spPr>
          <a:xfrm>
            <a:off x="1153123" y="4042364"/>
            <a:ext cx="1162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D03513-E934-9C44-C4C1-4C116B5C0A5B}"/>
              </a:ext>
            </a:extLst>
          </p:cNvPr>
          <p:cNvCxnSpPr/>
          <p:nvPr/>
        </p:nvCxnSpPr>
        <p:spPr>
          <a:xfrm>
            <a:off x="5466473" y="4074002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7984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DAA9F9-9F6B-A76D-6C56-EDDE8E1AEAF4}"/>
              </a:ext>
            </a:extLst>
          </p:cNvPr>
          <p:cNvSpPr txBox="1"/>
          <p:nvPr/>
        </p:nvSpPr>
        <p:spPr>
          <a:xfrm>
            <a:off x="677453" y="354805"/>
            <a:ext cx="6373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三、文本赏析：语言特点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767FB5-27F2-F067-0937-77E501853851}"/>
              </a:ext>
            </a:extLst>
          </p:cNvPr>
          <p:cNvSpPr txBox="1"/>
          <p:nvPr/>
        </p:nvSpPr>
        <p:spPr>
          <a:xfrm>
            <a:off x="886326" y="1222014"/>
            <a:ext cx="10419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“抓住东西文化比较这么一个大题目，从日常生活的零星小事的观察分析入手，把握中外国民性与文化精神的异同，并用</a:t>
            </a:r>
            <a:r>
              <a:rPr lang="zh-CN" altLang="en-US" b="1" u="sng" dirty="0"/>
              <a:t>潇洒空灵的散文笔调</a:t>
            </a:r>
            <a:r>
              <a:rPr lang="zh-CN" altLang="en-US" dirty="0"/>
              <a:t>表述出来。既有独特的见解，又能深入浅出，入情入理。”</a:t>
            </a:r>
            <a:endParaRPr lang="en-US" altLang="zh-CN" dirty="0"/>
          </a:p>
          <a:p>
            <a:pPr algn="r"/>
            <a:r>
              <a:rPr lang="en-US" altLang="zh-CN" dirty="0"/>
              <a:t>——</a:t>
            </a:r>
            <a:r>
              <a:rPr lang="zh-CN" altLang="en-US" dirty="0"/>
              <a:t>陈平原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A2192-8566-1836-0800-30A2D9894579}"/>
              </a:ext>
            </a:extLst>
          </p:cNvPr>
          <p:cNvSpPr txBox="1"/>
          <p:nvPr/>
        </p:nvSpPr>
        <p:spPr>
          <a:xfrm>
            <a:off x="1350252" y="2489334"/>
            <a:ext cx="9721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“倘遇可与谈者，写起文章，也如</a:t>
            </a:r>
            <a:r>
              <a:rPr lang="zh-CN" altLang="en-US" b="1" u="sng" dirty="0"/>
              <a:t>与密友相逢</a:t>
            </a:r>
            <a:r>
              <a:rPr lang="zh-CN" altLang="en-US" dirty="0"/>
              <a:t>，促膝谈心，如行云流水道来。”</a:t>
            </a:r>
            <a:endParaRPr lang="en-US" altLang="zh-CN" dirty="0"/>
          </a:p>
          <a:p>
            <a:pPr algn="r"/>
            <a:r>
              <a:rPr lang="en-US" altLang="zh-CN" dirty="0"/>
              <a:t>——</a:t>
            </a:r>
            <a:r>
              <a:rPr lang="zh-CN" altLang="en-US" dirty="0"/>
              <a:t>林语堂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5E77B-01CD-A96E-EFDC-31DDD4CA9317}"/>
              </a:ext>
            </a:extLst>
          </p:cNvPr>
          <p:cNvSpPr txBox="1"/>
          <p:nvPr/>
        </p:nvSpPr>
        <p:spPr>
          <a:xfrm>
            <a:off x="7924619" y="4710748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Apple Braille" pitchFamily="2" charset="0"/>
              </a:rPr>
              <a:t>闲适冲淡、幽默自然</a:t>
            </a:r>
            <a:endParaRPr lang="en-CN" sz="2400" b="1" dirty="0">
              <a:latin typeface="Apple Brail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54B90-9707-0A35-4354-6A1C33113F94}"/>
              </a:ext>
            </a:extLst>
          </p:cNvPr>
          <p:cNvSpPr txBox="1"/>
          <p:nvPr/>
        </p:nvSpPr>
        <p:spPr>
          <a:xfrm>
            <a:off x="7719435" y="4128071"/>
            <a:ext cx="3586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Apple Braille" pitchFamily="2" charset="0"/>
              </a:rPr>
              <a:t>“把读者引为知己”的风格</a:t>
            </a:r>
            <a:endParaRPr lang="en-CN" sz="2400" b="1" dirty="0">
              <a:latin typeface="Apple Braille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CBAF6B-48A6-05B6-65B2-AA26AA88E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53" y="3493860"/>
            <a:ext cx="6570913" cy="8395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089491-7B4C-AEF1-7E1F-214735C634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18"/>
          <a:stretch>
            <a:fillRect/>
          </a:stretch>
        </p:blipFill>
        <p:spPr>
          <a:xfrm>
            <a:off x="862606" y="4692870"/>
            <a:ext cx="6385760" cy="131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465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9E486FC-A6B8-8C24-CE5B-2201C79EC9A8}"/>
              </a:ext>
            </a:extLst>
          </p:cNvPr>
          <p:cNvSpPr txBox="1"/>
          <p:nvPr/>
        </p:nvSpPr>
        <p:spPr>
          <a:xfrm>
            <a:off x="1468218" y="1259168"/>
            <a:ext cx="925556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“</a:t>
            </a:r>
            <a:r>
              <a:rPr lang="zh-CN" altLang="en-US" sz="2000" b="1" dirty="0">
                <a:latin typeface="Apple Braille" pitchFamily="2" charset="0"/>
              </a:rPr>
              <a:t>林语堂是用有教养的西洋绅士的眼光来观察、理解、选择中国文化的</a:t>
            </a:r>
            <a:r>
              <a:rPr lang="zh-CN" altLang="en-US" dirty="0"/>
              <a:t>。”</a:t>
            </a:r>
            <a:endParaRPr lang="en-US" altLang="zh-CN" dirty="0"/>
          </a:p>
          <a:p>
            <a:pPr algn="r"/>
            <a:r>
              <a:rPr lang="en-US" altLang="zh-CN" dirty="0"/>
              <a:t>——</a:t>
            </a:r>
            <a:r>
              <a:rPr lang="zh-CN" altLang="en-US" dirty="0"/>
              <a:t>陈平原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A5FB7-150D-1A2F-41F1-5C3EF3A96FA5}"/>
              </a:ext>
            </a:extLst>
          </p:cNvPr>
          <p:cNvSpPr txBox="1"/>
          <p:nvPr/>
        </p:nvSpPr>
        <p:spPr>
          <a:xfrm>
            <a:off x="732430" y="5032829"/>
            <a:ext cx="1072713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“</a:t>
            </a:r>
            <a:r>
              <a:rPr lang="zh-CN" altLang="en-US" sz="2000" b="1" dirty="0">
                <a:latin typeface="Apple Braille" pitchFamily="2" charset="0"/>
              </a:rPr>
              <a:t>他发掘出了西方文化的优美与荣华，但他还是要回到东方。</a:t>
            </a:r>
            <a:r>
              <a:rPr lang="en-US" altLang="zh-CN" sz="2000" b="1" dirty="0">
                <a:latin typeface="Apple Braille" pitchFamily="2" charset="0"/>
              </a:rPr>
              <a:t>······</a:t>
            </a:r>
            <a:r>
              <a:rPr lang="zh-CN" altLang="en-US" sz="2000" b="1" dirty="0">
                <a:latin typeface="Apple Braille" pitchFamily="2" charset="0"/>
              </a:rPr>
              <a:t>盖套在中国式长袍和平底鞋里，他的灵魂得到了休息了</a:t>
            </a:r>
            <a:r>
              <a:rPr lang="zh-CN" altLang="en-US" dirty="0"/>
              <a:t>”</a:t>
            </a:r>
            <a:endParaRPr lang="en-US" altLang="zh-CN" dirty="0"/>
          </a:p>
          <a:p>
            <a:pPr algn="r"/>
            <a:r>
              <a:rPr lang="en-US" altLang="zh-CN" dirty="0"/>
              <a:t>——</a:t>
            </a:r>
            <a:r>
              <a:rPr lang="zh-CN" altLang="en-US" dirty="0"/>
              <a:t>林语堂</a:t>
            </a:r>
            <a:r>
              <a:rPr lang="en-US" altLang="zh-CN" dirty="0"/>
              <a:t>《</a:t>
            </a:r>
            <a:r>
              <a:rPr lang="zh-CN" altLang="en-US" dirty="0"/>
              <a:t>吾国与吾民</a:t>
            </a:r>
            <a:r>
              <a:rPr lang="en-US" altLang="zh-CN" dirty="0"/>
              <a:t>》</a:t>
            </a:r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6D529-16C3-1A48-D06A-0B4E8672F146}"/>
              </a:ext>
            </a:extLst>
          </p:cNvPr>
          <p:cNvSpPr txBox="1"/>
          <p:nvPr/>
        </p:nvSpPr>
        <p:spPr>
          <a:xfrm>
            <a:off x="377585" y="347597"/>
            <a:ext cx="51861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四、总结：</a:t>
            </a:r>
            <a:r>
              <a:rPr lang="en-CN" sz="2800" b="1" dirty="0">
                <a:latin typeface="Apple Braille" pitchFamily="2" charset="0"/>
              </a:rPr>
              <a:t>林语堂的中西态度</a:t>
            </a:r>
            <a:endParaRPr lang="en-US" altLang="zh-CN" sz="2800" b="1" dirty="0">
              <a:latin typeface="Apple Braille" pitchFamily="2" charset="0"/>
            </a:endParaRPr>
          </a:p>
          <a:p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DD380-7130-1FB7-37B2-474B94B80E98}"/>
              </a:ext>
            </a:extLst>
          </p:cNvPr>
          <p:cNvSpPr txBox="1"/>
          <p:nvPr/>
        </p:nvSpPr>
        <p:spPr>
          <a:xfrm>
            <a:off x="732430" y="2844101"/>
            <a:ext cx="1045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饮食</a:t>
            </a:r>
            <a:r>
              <a:rPr lang="en-US" altLang="zh-CN" dirty="0"/>
              <a:t>》</a:t>
            </a:r>
            <a:r>
              <a:rPr lang="zh-CN" altLang="en-US" dirty="0"/>
              <a:t>以中国生活美学（饮食）为根基，借西方视角反观与阐释中国文化，以一种更容易被西方理解的方式向西方展示了中国的文化。</a:t>
            </a: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2466B-9076-95A3-020F-44491929A8B0}"/>
              </a:ext>
            </a:extLst>
          </p:cNvPr>
          <p:cNvSpPr txBox="1"/>
          <p:nvPr/>
        </p:nvSpPr>
        <p:spPr>
          <a:xfrm>
            <a:off x="810160" y="3786450"/>
            <a:ext cx="10299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他长期用英文写作</a:t>
            </a:r>
            <a:r>
              <a:rPr lang="en-US" altLang="zh-CN" dirty="0"/>
              <a:t>《</a:t>
            </a:r>
            <a:r>
              <a:rPr lang="zh-CN" altLang="en-US" dirty="0"/>
              <a:t>吾国与吾民</a:t>
            </a:r>
            <a:r>
              <a:rPr lang="en-US" altLang="zh-CN" dirty="0"/>
              <a:t>》</a:t>
            </a:r>
            <a:r>
              <a:rPr lang="zh-CN" altLang="en-US" dirty="0"/>
              <a:t>的目的：</a:t>
            </a:r>
            <a:r>
              <a:rPr lang="zh-CN" altLang="en-US" b="1" dirty="0"/>
              <a:t>消除西方对中国的误解，让世界看见一个真实、有温度、有生活智慧的中国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C3D87-677C-EC70-0FA7-18688853CCB9}"/>
              </a:ext>
            </a:extLst>
          </p:cNvPr>
          <p:cNvSpPr txBox="1"/>
          <p:nvPr/>
        </p:nvSpPr>
        <p:spPr>
          <a:xfrm>
            <a:off x="810160" y="2178751"/>
            <a:ext cx="872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东西兼通，站在第三视角的立场，纯客观地评判两种不同的文化，追求文化平等互鉴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815355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FCD67-0B9F-64BD-A2B3-E4EE0FDF526E}"/>
              </a:ext>
            </a:extLst>
          </p:cNvPr>
          <p:cNvSpPr txBox="1"/>
          <p:nvPr/>
        </p:nvSpPr>
        <p:spPr>
          <a:xfrm>
            <a:off x="377585" y="347597"/>
            <a:ext cx="5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五、问题探讨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69D643C-FCCA-6A87-DA32-4689382DA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85" y="1207306"/>
            <a:ext cx="117668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ple Braille" pitchFamily="2" charset="0"/>
              </a:rPr>
              <a:t>问题一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ple Braille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ple Braille" pitchFamily="2" charset="0"/>
              </a:rPr>
              <a:t>      在我们对林语堂先生的作品的分析中有提到，他非常善于将文章“ 化板重为轻松，变铺张为亲切”。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ple Braille" pitchFamily="2" charset="0"/>
              </a:rPr>
              <a:t>      然而陈平原教授却指出 “轻松的笔调，既是林语堂的长处，也是林语堂的短处。在一个并不轻松的时代，过分追求轻松的笔调，未免有点不合时宜。” 请结合时代背景和林语堂先生的生平，谈谈你对这一观点的看法。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84EA1-DB21-F4AE-08CA-D4DC6316FB89}"/>
              </a:ext>
            </a:extLst>
          </p:cNvPr>
          <p:cNvSpPr txBox="1"/>
          <p:nvPr/>
        </p:nvSpPr>
        <p:spPr>
          <a:xfrm>
            <a:off x="377585" y="3628103"/>
            <a:ext cx="117668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>
                <a:latin typeface="Apple Braille" pitchFamily="2" charset="0"/>
              </a:rPr>
              <a:t>问题二</a:t>
            </a:r>
          </a:p>
          <a:p>
            <a:endParaRPr lang="en-CN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  </a:t>
            </a:r>
            <a:r>
              <a:rPr lang="en-CN" sz="2000" dirty="0">
                <a:latin typeface="Apple Braille" pitchFamily="2" charset="0"/>
              </a:rPr>
              <a:t>林语堂</a:t>
            </a:r>
            <a:r>
              <a:rPr lang="en-US" altLang="zh-CN" sz="2000" dirty="0">
                <a:latin typeface="Apple Braille" pitchFamily="2" charset="0"/>
              </a:rPr>
              <a:t>1923</a:t>
            </a:r>
            <a:r>
              <a:rPr lang="zh-CN" altLang="en-US" sz="2000" dirty="0">
                <a:latin typeface="Apple Braille" pitchFamily="2" charset="0"/>
              </a:rPr>
              <a:t>年回国时，曾自信地认为“对于我们自己的文明之欣赏和批评能有客观的，局外观察的态度“。你认为，对于一种文化的理解，能真正做到”纯客观”吗？请结合林语堂的中西观念，谈谈你的理解。</a:t>
            </a:r>
            <a:endParaRPr lang="en-CN" sz="2000" dirty="0">
              <a:latin typeface="Apple Brail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4753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44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6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C9757E9E-CCD5-49A5-A016-FC1831731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781FF6F-5DEF-409F-A063-79558272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3168" y="602681"/>
            <a:ext cx="3615648" cy="5932335"/>
            <a:chOff x="402434" y="602681"/>
            <a:chExt cx="3615648" cy="5932335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4A341EC-5CF3-4B87-BAC5-B44C2A265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710054" y="399231"/>
              <a:ext cx="317159" cy="932400"/>
              <a:chOff x="6376988" y="280988"/>
              <a:chExt cx="633413" cy="1862138"/>
            </a:xfrm>
          </p:grpSpPr>
          <p:sp>
            <p:nvSpPr>
              <p:cNvPr id="77" name="Freeform 68">
                <a:extLst>
                  <a:ext uri="{FF2B5EF4-FFF2-40B4-BE49-F238E27FC236}">
                    <a16:creationId xmlns:a16="http://schemas.microsoft.com/office/drawing/2014/main" id="{395C89A6-4089-43C1-88F7-C89EAAB5A0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69">
                <a:extLst>
                  <a:ext uri="{FF2B5EF4-FFF2-40B4-BE49-F238E27FC236}">
                    <a16:creationId xmlns:a16="http://schemas.microsoft.com/office/drawing/2014/main" id="{B6C04A07-DB49-4407-A323-BFFAAAAA40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70">
                <a:extLst>
                  <a:ext uri="{FF2B5EF4-FFF2-40B4-BE49-F238E27FC236}">
                    <a16:creationId xmlns:a16="http://schemas.microsoft.com/office/drawing/2014/main" id="{59A51CDF-9F3E-4400-A6E3-AF309DF9C9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E04776-E965-42A8-AB14-90BD8B646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333586" y="83943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71644CC-C24B-48BC-8EE3-D72786B68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1732866" y="390058"/>
              <a:ext cx="1785984" cy="2211229"/>
              <a:chOff x="3125006" y="3171595"/>
              <a:chExt cx="1785984" cy="2211229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ADDDB28D-DEEE-460F-98F5-0E2EC1F599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1397A7CF-F6A8-48D5-98AF-B68FC71E0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F863A81-6184-41EB-94AF-C6096CD64A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Rectangle 30">
                  <a:extLst>
                    <a:ext uri="{FF2B5EF4-FFF2-40B4-BE49-F238E27FC236}">
                      <a16:creationId xmlns:a16="http://schemas.microsoft.com/office/drawing/2014/main" id="{EF436F3D-9653-4DF8-832B-580539C563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 30">
                  <a:extLst>
                    <a:ext uri="{FF2B5EF4-FFF2-40B4-BE49-F238E27FC236}">
                      <a16:creationId xmlns:a16="http://schemas.microsoft.com/office/drawing/2014/main" id="{0154A205-573A-4A5C-A3DF-B4DC24A2FF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2543A46-110B-4E4B-92BD-F8B8E21CD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45471145-1F29-4FC3-8B75-277BD8E228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79DA4A81-8892-4F1C-9311-7AEAE2C8D5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401AA-847D-4D5A-9199-3B368AD88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0000" y="2480400"/>
              <a:ext cx="2457450" cy="3838575"/>
              <a:chOff x="587376" y="280988"/>
              <a:chExt cx="2457450" cy="3838575"/>
            </a:xfrm>
          </p:grpSpPr>
          <p:sp>
            <p:nvSpPr>
              <p:cNvPr id="47" name="Freeform 64">
                <a:extLst>
                  <a:ext uri="{FF2B5EF4-FFF2-40B4-BE49-F238E27FC236}">
                    <a16:creationId xmlns:a16="http://schemas.microsoft.com/office/drawing/2014/main" id="{BCD66427-9375-44C7-B176-87D1E5D901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81">
                <a:extLst>
                  <a:ext uri="{FF2B5EF4-FFF2-40B4-BE49-F238E27FC236}">
                    <a16:creationId xmlns:a16="http://schemas.microsoft.com/office/drawing/2014/main" id="{DBDB153C-43F9-4C36-8330-E06BE08B3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61">
                <a:extLst>
                  <a:ext uri="{FF2B5EF4-FFF2-40B4-BE49-F238E27FC236}">
                    <a16:creationId xmlns:a16="http://schemas.microsoft.com/office/drawing/2014/main" id="{DBD793DD-531D-4E1E-B992-5E5891F60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78">
                <a:extLst>
                  <a:ext uri="{FF2B5EF4-FFF2-40B4-BE49-F238E27FC236}">
                    <a16:creationId xmlns:a16="http://schemas.microsoft.com/office/drawing/2014/main" id="{CEFB136B-DC35-4F4A-83C4-01135B4EF8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9FB85D2A-279F-4702-B280-612D11B547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87">
                <a:extLst>
                  <a:ext uri="{FF2B5EF4-FFF2-40B4-BE49-F238E27FC236}">
                    <a16:creationId xmlns:a16="http://schemas.microsoft.com/office/drawing/2014/main" id="{63C22ADC-4205-46D4-93EB-9549805136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60">
                <a:extLst>
                  <a:ext uri="{FF2B5EF4-FFF2-40B4-BE49-F238E27FC236}">
                    <a16:creationId xmlns:a16="http://schemas.microsoft.com/office/drawing/2014/main" id="{B2FA1D0B-0861-4557-88CC-99D3B909F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Freeform 59">
                <a:extLst>
                  <a:ext uri="{FF2B5EF4-FFF2-40B4-BE49-F238E27FC236}">
                    <a16:creationId xmlns:a16="http://schemas.microsoft.com/office/drawing/2014/main" id="{4D751BD9-53BA-45A5-81A1-AACC0A176C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62">
                <a:extLst>
                  <a:ext uri="{FF2B5EF4-FFF2-40B4-BE49-F238E27FC236}">
                    <a16:creationId xmlns:a16="http://schemas.microsoft.com/office/drawing/2014/main" id="{1FDA24E2-9B8A-4508-833C-3E2C2894C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6" name="Freeform 65">
                <a:extLst>
                  <a:ext uri="{FF2B5EF4-FFF2-40B4-BE49-F238E27FC236}">
                    <a16:creationId xmlns:a16="http://schemas.microsoft.com/office/drawing/2014/main" id="{D2CCA503-DC38-4E11-B299-7DB76F5FA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79">
                <a:extLst>
                  <a:ext uri="{FF2B5EF4-FFF2-40B4-BE49-F238E27FC236}">
                    <a16:creationId xmlns:a16="http://schemas.microsoft.com/office/drawing/2014/main" id="{D21F0F68-198F-481C-9DF7-93EB338D67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82">
                <a:extLst>
                  <a:ext uri="{FF2B5EF4-FFF2-40B4-BE49-F238E27FC236}">
                    <a16:creationId xmlns:a16="http://schemas.microsoft.com/office/drawing/2014/main" id="{A0B2B8C2-FDD5-497A-9CFD-2981549022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85">
                <a:extLst>
                  <a:ext uri="{FF2B5EF4-FFF2-40B4-BE49-F238E27FC236}">
                    <a16:creationId xmlns:a16="http://schemas.microsoft.com/office/drawing/2014/main" id="{C9A20254-ABE1-475B-9CA8-97E7369F4E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88">
                <a:extLst>
                  <a:ext uri="{FF2B5EF4-FFF2-40B4-BE49-F238E27FC236}">
                    <a16:creationId xmlns:a16="http://schemas.microsoft.com/office/drawing/2014/main" id="{23E12738-13DA-4FBC-9E2B-569CE1605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A8F1C84D-36A7-432E-8525-755B1F33F7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62" name="Line 63">
                  <a:extLst>
                    <a:ext uri="{FF2B5EF4-FFF2-40B4-BE49-F238E27FC236}">
                      <a16:creationId xmlns:a16="http://schemas.microsoft.com/office/drawing/2014/main" id="{D43B981D-1875-4E2D-B4B5-431D2CE842E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66">
                  <a:extLst>
                    <a:ext uri="{FF2B5EF4-FFF2-40B4-BE49-F238E27FC236}">
                      <a16:creationId xmlns:a16="http://schemas.microsoft.com/office/drawing/2014/main" id="{07489979-9C7D-4844-B0BB-74A5CDBCDA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Line 67">
                  <a:extLst>
                    <a:ext uri="{FF2B5EF4-FFF2-40B4-BE49-F238E27FC236}">
                      <a16:creationId xmlns:a16="http://schemas.microsoft.com/office/drawing/2014/main" id="{A778F9B4-BB14-484F-A573-172579C39CF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Line 80">
                  <a:extLst>
                    <a:ext uri="{FF2B5EF4-FFF2-40B4-BE49-F238E27FC236}">
                      <a16:creationId xmlns:a16="http://schemas.microsoft.com/office/drawing/2014/main" id="{26AC9EC4-C293-47D1-AA7B-DE4475793A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83">
                  <a:extLst>
                    <a:ext uri="{FF2B5EF4-FFF2-40B4-BE49-F238E27FC236}">
                      <a16:creationId xmlns:a16="http://schemas.microsoft.com/office/drawing/2014/main" id="{BACE1CFF-F0A6-4D1D-AC73-0D9D9A5971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Line 86">
                  <a:extLst>
                    <a:ext uri="{FF2B5EF4-FFF2-40B4-BE49-F238E27FC236}">
                      <a16:creationId xmlns:a16="http://schemas.microsoft.com/office/drawing/2014/main" id="{20D155F1-00FF-4612-BB74-15FEDECA9C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Line 89">
                  <a:extLst>
                    <a:ext uri="{FF2B5EF4-FFF2-40B4-BE49-F238E27FC236}">
                      <a16:creationId xmlns:a16="http://schemas.microsoft.com/office/drawing/2014/main" id="{C076FA74-5BAE-496C-8F4F-3F5B4F290E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9AC60A04-8CF1-45F0-A385-1EBAD71D7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742320" y="577888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A41600F8-1DCA-4819-8C06-BAA0C569A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2305927" y="2362458"/>
              <a:ext cx="641183" cy="1069728"/>
              <a:chOff x="6484112" y="2967038"/>
              <a:chExt cx="641183" cy="1069728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9AA2C22-184F-48CD-AE38-7835B029D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44" name="Freeform 68">
                  <a:extLst>
                    <a:ext uri="{FF2B5EF4-FFF2-40B4-BE49-F238E27FC236}">
                      <a16:creationId xmlns:a16="http://schemas.microsoft.com/office/drawing/2014/main" id="{2BE92945-1DB1-4026-BFF0-E56E756FC2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69">
                  <a:extLst>
                    <a:ext uri="{FF2B5EF4-FFF2-40B4-BE49-F238E27FC236}">
                      <a16:creationId xmlns:a16="http://schemas.microsoft.com/office/drawing/2014/main" id="{D969EC21-F259-4572-8C92-93CBAFD9CF9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70">
                  <a:extLst>
                    <a:ext uri="{FF2B5EF4-FFF2-40B4-BE49-F238E27FC236}">
                      <a16:creationId xmlns:a16="http://schemas.microsoft.com/office/drawing/2014/main" id="{ADE098B8-3E34-4B77-9834-950B20E8CE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838B054-D982-4E4A-810E-B5916C8BB8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41" name="Freeform 68">
                  <a:extLst>
                    <a:ext uri="{FF2B5EF4-FFF2-40B4-BE49-F238E27FC236}">
                      <a16:creationId xmlns:a16="http://schemas.microsoft.com/office/drawing/2014/main" id="{120EE44F-3465-4168-9CC6-960CDC23DC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69">
                  <a:extLst>
                    <a:ext uri="{FF2B5EF4-FFF2-40B4-BE49-F238E27FC236}">
                      <a16:creationId xmlns:a16="http://schemas.microsoft.com/office/drawing/2014/main" id="{1F16E21E-6FF7-4D92-B5AB-F1B210E8D4F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Line 70">
                  <a:extLst>
                    <a:ext uri="{FF2B5EF4-FFF2-40B4-BE49-F238E27FC236}">
                      <a16:creationId xmlns:a16="http://schemas.microsoft.com/office/drawing/2014/main" id="{E6D26AF0-8B26-4B76-B520-39507E6418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46550D95-D676-4064-9B82-6BE952009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384669" y="4915016"/>
              <a:ext cx="633413" cy="1620000"/>
              <a:chOff x="3384669" y="4915016"/>
              <a:chExt cx="633413" cy="162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3F10329-29C7-42E4-BA22-CD1201CEF7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>
                <a:off x="3384669" y="4946104"/>
                <a:ext cx="633413" cy="1419225"/>
                <a:chOff x="5959192" y="333389"/>
                <a:chExt cx="633413" cy="1419225"/>
              </a:xfrm>
            </p:grpSpPr>
            <p:sp>
              <p:nvSpPr>
                <p:cNvPr id="37" name="Freeform 68">
                  <a:extLst>
                    <a:ext uri="{FF2B5EF4-FFF2-40B4-BE49-F238E27FC236}">
                      <a16:creationId xmlns:a16="http://schemas.microsoft.com/office/drawing/2014/main" id="{39A5C44A-06A4-43BE-A666-08E17199C8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69">
                  <a:extLst>
                    <a:ext uri="{FF2B5EF4-FFF2-40B4-BE49-F238E27FC236}">
                      <a16:creationId xmlns:a16="http://schemas.microsoft.com/office/drawing/2014/main" id="{4FFD648A-4214-47DB-B980-6A315E2655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6" name="Line 70">
                <a:extLst>
                  <a:ext uri="{FF2B5EF4-FFF2-40B4-BE49-F238E27FC236}">
                    <a16:creationId xmlns:a16="http://schemas.microsoft.com/office/drawing/2014/main" id="{C810BE59-2768-4B0E-A3FD-A6784A2C8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8900000" flipV="1">
                <a:off x="3774042" y="4915016"/>
                <a:ext cx="0" cy="16200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11652DC8-2B9B-409D-8B87-E8D97CBF0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40013" y="1046180"/>
              <a:ext cx="903599" cy="2160000"/>
              <a:chOff x="9057947" y="3423463"/>
              <a:chExt cx="903599" cy="2160000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403350CC-3DBE-4071-8279-74DBDD4F9D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9057947" y="3432856"/>
                <a:ext cx="903599" cy="1872461"/>
                <a:chOff x="10538626" y="3165838"/>
                <a:chExt cx="936000" cy="1939601"/>
              </a:xfrm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38432FD0-1F86-419C-BE0D-605DEBE105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10538626" y="3183996"/>
                  <a:ext cx="453600" cy="1920288"/>
                </a:xfrm>
                <a:custGeom>
                  <a:avLst/>
                  <a:gdLst>
                    <a:gd name="connsiteX0" fmla="*/ 453600 w 453600"/>
                    <a:gd name="connsiteY0" fmla="*/ 0 h 1920288"/>
                    <a:gd name="connsiteX1" fmla="*/ 453600 w 453600"/>
                    <a:gd name="connsiteY1" fmla="*/ 1920288 h 1920288"/>
                    <a:gd name="connsiteX2" fmla="*/ 384059 w 453600"/>
                    <a:gd name="connsiteY2" fmla="*/ 1914152 h 1920288"/>
                    <a:gd name="connsiteX3" fmla="*/ 9354 w 453600"/>
                    <a:gd name="connsiteY3" fmla="*/ 1548700 h 1920288"/>
                    <a:gd name="connsiteX4" fmla="*/ 0 w 453600"/>
                    <a:gd name="connsiteY4" fmla="*/ 1455902 h 1920288"/>
                    <a:gd name="connsiteX5" fmla="*/ 146 w 453600"/>
                    <a:gd name="connsiteY5" fmla="*/ 1451885 h 1920288"/>
                    <a:gd name="connsiteX6" fmla="*/ 145 w 453600"/>
                    <a:gd name="connsiteY6" fmla="*/ 1451885 h 1920288"/>
                    <a:gd name="connsiteX7" fmla="*/ 7358 w 453600"/>
                    <a:gd name="connsiteY7" fmla="*/ 1253678 h 1920288"/>
                    <a:gd name="connsiteX8" fmla="*/ 424671 w 453600"/>
                    <a:gd name="connsiteY8" fmla="*/ 36480 h 1920288"/>
                    <a:gd name="connsiteX9" fmla="*/ 453600 w 453600"/>
                    <a:gd name="connsiteY9" fmla="*/ 0 h 192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53600" h="1920288">
                      <a:moveTo>
                        <a:pt x="453600" y="0"/>
                      </a:moveTo>
                      <a:lnTo>
                        <a:pt x="453600" y="1920288"/>
                      </a:lnTo>
                      <a:lnTo>
                        <a:pt x="384059" y="1914152"/>
                      </a:lnTo>
                      <a:cubicBezTo>
                        <a:pt x="196308" y="1880615"/>
                        <a:pt x="47443" y="1734834"/>
                        <a:pt x="9354" y="1548700"/>
                      </a:cubicBezTo>
                      <a:lnTo>
                        <a:pt x="0" y="1455902"/>
                      </a:lnTo>
                      <a:lnTo>
                        <a:pt x="146" y="1451885"/>
                      </a:lnTo>
                      <a:lnTo>
                        <a:pt x="145" y="1451885"/>
                      </a:lnTo>
                      <a:lnTo>
                        <a:pt x="7358" y="1253678"/>
                      </a:lnTo>
                      <a:cubicBezTo>
                        <a:pt x="42019" y="780132"/>
                        <a:pt x="195015" y="355125"/>
                        <a:pt x="424671" y="36480"/>
                      </a:cubicBezTo>
                      <a:lnTo>
                        <a:pt x="453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F4BCABC-4173-4006-9B50-22E0BE31D94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10992226" y="3165838"/>
                  <a:ext cx="482400" cy="1939601"/>
                </a:xfrm>
                <a:custGeom>
                  <a:avLst/>
                  <a:gdLst>
                    <a:gd name="connsiteX0" fmla="*/ 14399 w 482400"/>
                    <a:gd name="connsiteY0" fmla="*/ 0 h 1939601"/>
                    <a:gd name="connsiteX1" fmla="*/ 14399 w 482400"/>
                    <a:gd name="connsiteY1" fmla="*/ 689615 h 1939601"/>
                    <a:gd name="connsiteX2" fmla="*/ 14400 w 482400"/>
                    <a:gd name="connsiteY2" fmla="*/ 689615 h 1939601"/>
                    <a:gd name="connsiteX3" fmla="*/ 14401 w 482400"/>
                    <a:gd name="connsiteY3" fmla="*/ 689615 h 1939601"/>
                    <a:gd name="connsiteX4" fmla="*/ 14401 w 482400"/>
                    <a:gd name="connsiteY4" fmla="*/ 0 h 1939601"/>
                    <a:gd name="connsiteX5" fmla="*/ 57729 w 482400"/>
                    <a:gd name="connsiteY5" fmla="*/ 54638 h 1939601"/>
                    <a:gd name="connsiteX6" fmla="*/ 475042 w 482400"/>
                    <a:gd name="connsiteY6" fmla="*/ 1271836 h 1939601"/>
                    <a:gd name="connsiteX7" fmla="*/ 482255 w 482400"/>
                    <a:gd name="connsiteY7" fmla="*/ 1470043 h 1939601"/>
                    <a:gd name="connsiteX8" fmla="*/ 482254 w 482400"/>
                    <a:gd name="connsiteY8" fmla="*/ 1470043 h 1939601"/>
                    <a:gd name="connsiteX9" fmla="*/ 482400 w 482400"/>
                    <a:gd name="connsiteY9" fmla="*/ 1474060 h 1939601"/>
                    <a:gd name="connsiteX10" fmla="*/ 473046 w 482400"/>
                    <a:gd name="connsiteY10" fmla="*/ 1566858 h 1939601"/>
                    <a:gd name="connsiteX11" fmla="*/ 15706 w 482400"/>
                    <a:gd name="connsiteY11" fmla="*/ 1939601 h 1939601"/>
                    <a:gd name="connsiteX12" fmla="*/ 14400 w 482400"/>
                    <a:gd name="connsiteY12" fmla="*/ 1939469 h 1939601"/>
                    <a:gd name="connsiteX13" fmla="*/ 13094 w 482400"/>
                    <a:gd name="connsiteY13" fmla="*/ 1939601 h 1939601"/>
                    <a:gd name="connsiteX14" fmla="*/ 0 w 482400"/>
                    <a:gd name="connsiteY14" fmla="*/ 1938446 h 1939601"/>
                    <a:gd name="connsiteX15" fmla="*/ 0 w 482400"/>
                    <a:gd name="connsiteY15" fmla="*/ 18158 h 1939601"/>
                    <a:gd name="connsiteX16" fmla="*/ 14399 w 482400"/>
                    <a:gd name="connsiteY16" fmla="*/ 0 h 193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82400" h="1939601">
                      <a:moveTo>
                        <a:pt x="14399" y="0"/>
                      </a:moveTo>
                      <a:lnTo>
                        <a:pt x="14399" y="689615"/>
                      </a:lnTo>
                      <a:lnTo>
                        <a:pt x="14400" y="689615"/>
                      </a:lnTo>
                      <a:lnTo>
                        <a:pt x="14401" y="689615"/>
                      </a:lnTo>
                      <a:lnTo>
                        <a:pt x="14401" y="0"/>
                      </a:lnTo>
                      <a:lnTo>
                        <a:pt x="57729" y="54638"/>
                      </a:lnTo>
                      <a:cubicBezTo>
                        <a:pt x="287385" y="373283"/>
                        <a:pt x="440381" y="798290"/>
                        <a:pt x="475042" y="1271836"/>
                      </a:cubicBezTo>
                      <a:lnTo>
                        <a:pt x="482255" y="1470043"/>
                      </a:lnTo>
                      <a:lnTo>
                        <a:pt x="482254" y="1470043"/>
                      </a:lnTo>
                      <a:lnTo>
                        <a:pt x="482400" y="1474060"/>
                      </a:lnTo>
                      <a:lnTo>
                        <a:pt x="473046" y="1566858"/>
                      </a:lnTo>
                      <a:cubicBezTo>
                        <a:pt x="429516" y="1779582"/>
                        <a:pt x="241298" y="1939601"/>
                        <a:pt x="15706" y="1939601"/>
                      </a:cubicBezTo>
                      <a:lnTo>
                        <a:pt x="14400" y="1939469"/>
                      </a:lnTo>
                      <a:lnTo>
                        <a:pt x="13094" y="1939601"/>
                      </a:lnTo>
                      <a:lnTo>
                        <a:pt x="0" y="1938446"/>
                      </a:lnTo>
                      <a:lnTo>
                        <a:pt x="0" y="18158"/>
                      </a:lnTo>
                      <a:lnTo>
                        <a:pt x="1439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8E6DD52D-5C11-4364-A277-0BC6C05CAC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9210264" y="3423463"/>
                <a:ext cx="597126" cy="2160000"/>
                <a:chOff x="9210264" y="3423463"/>
                <a:chExt cx="597126" cy="2160000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2C9CE77-5338-4C9B-BCB7-1D6A7A2C726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9508827" y="3423463"/>
                  <a:ext cx="0" cy="216000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Rectangle 5">
                  <a:extLst>
                    <a:ext uri="{FF2B5EF4-FFF2-40B4-BE49-F238E27FC236}">
                      <a16:creationId xmlns:a16="http://schemas.microsoft.com/office/drawing/2014/main" id="{DD8C86C1-51BA-4CB2-918E-99A73E2EC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>
                  <a:off x="9210264" y="4162845"/>
                  <a:ext cx="597126" cy="597126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91440 w 1239398"/>
                    <a:gd name="connsiteY4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  <a:gd name="connsiteX3" fmla="*/ 91440 w 1239398"/>
                    <a:gd name="connsiteY3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5">
                  <a:extLst>
                    <a:ext uri="{FF2B5EF4-FFF2-40B4-BE49-F238E27FC236}">
                      <a16:creationId xmlns:a16="http://schemas.microsoft.com/office/drawing/2014/main" id="{713D5C9F-7DFE-4DDD-A89E-55BCBDFEC0D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>
                  <a:off x="9297710" y="3747070"/>
                  <a:ext cx="422234" cy="422234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91440 w 1239398"/>
                    <a:gd name="connsiteY4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  <a:gd name="connsiteX3" fmla="*/ 91440 w 1239398"/>
                    <a:gd name="connsiteY3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56ACE5F-BE95-4218-ADF7-6F1DEF6A9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01DF50F-B47F-405F-BDF3-73DAC01BB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73184" y="602681"/>
            <a:ext cx="3615648" cy="5932335"/>
            <a:chOff x="402434" y="602681"/>
            <a:chExt cx="3615648" cy="5932335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457533F-CAD7-46C2-9CB3-8505B2DFA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710054" y="399231"/>
              <a:ext cx="317159" cy="932400"/>
              <a:chOff x="6376988" y="280988"/>
              <a:chExt cx="633413" cy="1862138"/>
            </a:xfrm>
          </p:grpSpPr>
          <p:sp>
            <p:nvSpPr>
              <p:cNvPr id="141" name="Freeform 68">
                <a:extLst>
                  <a:ext uri="{FF2B5EF4-FFF2-40B4-BE49-F238E27FC236}">
                    <a16:creationId xmlns:a16="http://schemas.microsoft.com/office/drawing/2014/main" id="{66E9686F-CED0-475E-A28A-D8CDBCCDD1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69">
                <a:extLst>
                  <a:ext uri="{FF2B5EF4-FFF2-40B4-BE49-F238E27FC236}">
                    <a16:creationId xmlns:a16="http://schemas.microsoft.com/office/drawing/2014/main" id="{254AFE2B-C030-4DF5-B113-1A9ECB6A6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Line 70">
                <a:extLst>
                  <a:ext uri="{FF2B5EF4-FFF2-40B4-BE49-F238E27FC236}">
                    <a16:creationId xmlns:a16="http://schemas.microsoft.com/office/drawing/2014/main" id="{02E0618D-FC2B-49B2-B15F-0EA6139909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BC4DEAB-C1FD-4FA7-9417-3E053D540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333586" y="83943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7615B8B-540B-420B-87F1-5F51415E7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1732866" y="390058"/>
              <a:ext cx="1785984" cy="2211229"/>
              <a:chOff x="3125006" y="3171595"/>
              <a:chExt cx="1785984" cy="2211229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82E16796-0833-4B54-AED9-A3611C9BD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F1E2155D-D771-4139-BC04-B5F026AEBB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746D84B4-B9EF-417C-A565-F9B86978EC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9" name="Rectangle 30">
                  <a:extLst>
                    <a:ext uri="{FF2B5EF4-FFF2-40B4-BE49-F238E27FC236}">
                      <a16:creationId xmlns:a16="http://schemas.microsoft.com/office/drawing/2014/main" id="{66FFC568-D3F5-4FA6-B28A-516DE623F5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30">
                  <a:extLst>
                    <a:ext uri="{FF2B5EF4-FFF2-40B4-BE49-F238E27FC236}">
                      <a16:creationId xmlns:a16="http://schemas.microsoft.com/office/drawing/2014/main" id="{2C3FB912-25F7-4822-B327-DA1E9B335B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4FC8FB21-D7E1-4978-AD20-5E68B4C58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51BBD3DF-C644-4E9C-A11C-B6336B8890E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0B53158D-9F0C-4064-B804-2C1F8AEBEA0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9D93B3C-5026-425E-9179-CBB944A909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0000" y="2480400"/>
              <a:ext cx="2457450" cy="3838575"/>
              <a:chOff x="587376" y="280988"/>
              <a:chExt cx="2457450" cy="3838575"/>
            </a:xfrm>
          </p:grpSpPr>
          <p:sp>
            <p:nvSpPr>
              <p:cNvPr id="111" name="Freeform 64">
                <a:extLst>
                  <a:ext uri="{FF2B5EF4-FFF2-40B4-BE49-F238E27FC236}">
                    <a16:creationId xmlns:a16="http://schemas.microsoft.com/office/drawing/2014/main" id="{5C84A49A-BD66-4BEA-A06B-2FA89468BB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81">
                <a:extLst>
                  <a:ext uri="{FF2B5EF4-FFF2-40B4-BE49-F238E27FC236}">
                    <a16:creationId xmlns:a16="http://schemas.microsoft.com/office/drawing/2014/main" id="{EB8895A6-E32C-4B09-B9E0-314C000A28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61">
                <a:extLst>
                  <a:ext uri="{FF2B5EF4-FFF2-40B4-BE49-F238E27FC236}">
                    <a16:creationId xmlns:a16="http://schemas.microsoft.com/office/drawing/2014/main" id="{6ABA4FEE-5223-4565-9B11-5E7CD13236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78">
                <a:extLst>
                  <a:ext uri="{FF2B5EF4-FFF2-40B4-BE49-F238E27FC236}">
                    <a16:creationId xmlns:a16="http://schemas.microsoft.com/office/drawing/2014/main" id="{38C78FAF-A05E-4962-8571-B6C83FB4EF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84">
                <a:extLst>
                  <a:ext uri="{FF2B5EF4-FFF2-40B4-BE49-F238E27FC236}">
                    <a16:creationId xmlns:a16="http://schemas.microsoft.com/office/drawing/2014/main" id="{B94F41EA-CB57-4E1D-9C7F-6E482F0EB6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87">
                <a:extLst>
                  <a:ext uri="{FF2B5EF4-FFF2-40B4-BE49-F238E27FC236}">
                    <a16:creationId xmlns:a16="http://schemas.microsoft.com/office/drawing/2014/main" id="{36E5C22C-6491-4028-8C8F-2BBA91B692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60">
                <a:extLst>
                  <a:ext uri="{FF2B5EF4-FFF2-40B4-BE49-F238E27FC236}">
                    <a16:creationId xmlns:a16="http://schemas.microsoft.com/office/drawing/2014/main" id="{C68EAD32-DAD2-4E24-A17D-9EF57C0FA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59">
                <a:extLst>
                  <a:ext uri="{FF2B5EF4-FFF2-40B4-BE49-F238E27FC236}">
                    <a16:creationId xmlns:a16="http://schemas.microsoft.com/office/drawing/2014/main" id="{0C6E1ABE-BB08-4327-9CDD-11A5D0130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62">
                <a:extLst>
                  <a:ext uri="{FF2B5EF4-FFF2-40B4-BE49-F238E27FC236}">
                    <a16:creationId xmlns:a16="http://schemas.microsoft.com/office/drawing/2014/main" id="{88D096DA-BFC9-44D7-8441-490FA2D40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0" name="Freeform 65">
                <a:extLst>
                  <a:ext uri="{FF2B5EF4-FFF2-40B4-BE49-F238E27FC236}">
                    <a16:creationId xmlns:a16="http://schemas.microsoft.com/office/drawing/2014/main" id="{152CB9CF-F70A-46B0-AB37-7922D326BD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79">
                <a:extLst>
                  <a:ext uri="{FF2B5EF4-FFF2-40B4-BE49-F238E27FC236}">
                    <a16:creationId xmlns:a16="http://schemas.microsoft.com/office/drawing/2014/main" id="{28240976-82E5-4A37-8E2B-A07CCFD13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82">
                <a:extLst>
                  <a:ext uri="{FF2B5EF4-FFF2-40B4-BE49-F238E27FC236}">
                    <a16:creationId xmlns:a16="http://schemas.microsoft.com/office/drawing/2014/main" id="{0C25B6B7-4317-4482-A474-2830FA6E5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85">
                <a:extLst>
                  <a:ext uri="{FF2B5EF4-FFF2-40B4-BE49-F238E27FC236}">
                    <a16:creationId xmlns:a16="http://schemas.microsoft.com/office/drawing/2014/main" id="{5C0EDF04-E84E-457D-A5F9-7746545AB2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88">
                <a:extLst>
                  <a:ext uri="{FF2B5EF4-FFF2-40B4-BE49-F238E27FC236}">
                    <a16:creationId xmlns:a16="http://schemas.microsoft.com/office/drawing/2014/main" id="{566313AB-A9AB-4B84-8C23-50E7259171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2F31BFB5-317D-4135-930A-240F7A56EA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126" name="Line 63">
                  <a:extLst>
                    <a:ext uri="{FF2B5EF4-FFF2-40B4-BE49-F238E27FC236}">
                      <a16:creationId xmlns:a16="http://schemas.microsoft.com/office/drawing/2014/main" id="{9102C0AC-7FF7-4F4B-B7C1-C8CE4846A1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Line 66">
                  <a:extLst>
                    <a:ext uri="{FF2B5EF4-FFF2-40B4-BE49-F238E27FC236}">
                      <a16:creationId xmlns:a16="http://schemas.microsoft.com/office/drawing/2014/main" id="{64BAC77C-E14F-4FA8-9D0A-55B646EEA46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Line 67">
                  <a:extLst>
                    <a:ext uri="{FF2B5EF4-FFF2-40B4-BE49-F238E27FC236}">
                      <a16:creationId xmlns:a16="http://schemas.microsoft.com/office/drawing/2014/main" id="{0B88DC73-9AC3-42F8-8C9E-94EE9B61AE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Line 80">
                  <a:extLst>
                    <a:ext uri="{FF2B5EF4-FFF2-40B4-BE49-F238E27FC236}">
                      <a16:creationId xmlns:a16="http://schemas.microsoft.com/office/drawing/2014/main" id="{26BBA2D9-E4D0-424E-9825-61A9B3C0A37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Line 83">
                  <a:extLst>
                    <a:ext uri="{FF2B5EF4-FFF2-40B4-BE49-F238E27FC236}">
                      <a16:creationId xmlns:a16="http://schemas.microsoft.com/office/drawing/2014/main" id="{F6D4FA39-E0CC-4991-83D0-606E03CF1D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Line 86">
                  <a:extLst>
                    <a:ext uri="{FF2B5EF4-FFF2-40B4-BE49-F238E27FC236}">
                      <a16:creationId xmlns:a16="http://schemas.microsoft.com/office/drawing/2014/main" id="{3819BE2B-7D47-443C-B1DF-2EA57679D17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Line 89">
                  <a:extLst>
                    <a:ext uri="{FF2B5EF4-FFF2-40B4-BE49-F238E27FC236}">
                      <a16:creationId xmlns:a16="http://schemas.microsoft.com/office/drawing/2014/main" id="{86B1E78E-D338-4BAE-9FB1-1A9118AD3D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EC68A1A-796C-4F5F-8F41-01247292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742320" y="577888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72E52F1-29AD-47C2-904E-60B72D4A9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2305927" y="2362458"/>
              <a:ext cx="641183" cy="1069728"/>
              <a:chOff x="6484112" y="2967038"/>
              <a:chExt cx="641183" cy="1069728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B3F829B9-B86F-47B0-A187-2202CCB86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08" name="Freeform 68">
                  <a:extLst>
                    <a:ext uri="{FF2B5EF4-FFF2-40B4-BE49-F238E27FC236}">
                      <a16:creationId xmlns:a16="http://schemas.microsoft.com/office/drawing/2014/main" id="{ED1B3641-1CFF-46F3-873A-3B6AA5D79E5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" name="Freeform 69">
                  <a:extLst>
                    <a:ext uri="{FF2B5EF4-FFF2-40B4-BE49-F238E27FC236}">
                      <a16:creationId xmlns:a16="http://schemas.microsoft.com/office/drawing/2014/main" id="{2C8E8742-B905-4C81-9553-19C64E8F3F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Line 70">
                  <a:extLst>
                    <a:ext uri="{FF2B5EF4-FFF2-40B4-BE49-F238E27FC236}">
                      <a16:creationId xmlns:a16="http://schemas.microsoft.com/office/drawing/2014/main" id="{E10BE229-40F6-4A15-9282-BD78053FB5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543B3E07-5E30-43C1-9169-90E713C27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05" name="Freeform 68">
                  <a:extLst>
                    <a:ext uri="{FF2B5EF4-FFF2-40B4-BE49-F238E27FC236}">
                      <a16:creationId xmlns:a16="http://schemas.microsoft.com/office/drawing/2014/main" id="{03FCAAE2-5982-4748-8355-1245B74523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Freeform 69">
                  <a:extLst>
                    <a:ext uri="{FF2B5EF4-FFF2-40B4-BE49-F238E27FC236}">
                      <a16:creationId xmlns:a16="http://schemas.microsoft.com/office/drawing/2014/main" id="{3B21621D-2AAA-4224-B85E-F14F1587A1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Line 70">
                  <a:extLst>
                    <a:ext uri="{FF2B5EF4-FFF2-40B4-BE49-F238E27FC236}">
                      <a16:creationId xmlns:a16="http://schemas.microsoft.com/office/drawing/2014/main" id="{B69DCE92-933C-4180-9ECE-C159FF0ED2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774B519-16FD-45D1-81B3-F10B796BD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384669" y="4915016"/>
              <a:ext cx="633413" cy="1620000"/>
              <a:chOff x="3384669" y="4915016"/>
              <a:chExt cx="633413" cy="1620000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1718837-BAB1-4751-8766-2CD3B3094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>
                <a:off x="3384669" y="4946104"/>
                <a:ext cx="633413" cy="1419225"/>
                <a:chOff x="5959192" y="333389"/>
                <a:chExt cx="633413" cy="1419225"/>
              </a:xfrm>
            </p:grpSpPr>
            <p:sp>
              <p:nvSpPr>
                <p:cNvPr id="101" name="Freeform 68">
                  <a:extLst>
                    <a:ext uri="{FF2B5EF4-FFF2-40B4-BE49-F238E27FC236}">
                      <a16:creationId xmlns:a16="http://schemas.microsoft.com/office/drawing/2014/main" id="{85774601-5D43-405D-B593-93550F4C57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Freeform 69">
                  <a:extLst>
                    <a:ext uri="{FF2B5EF4-FFF2-40B4-BE49-F238E27FC236}">
                      <a16:creationId xmlns:a16="http://schemas.microsoft.com/office/drawing/2014/main" id="{3E1DA161-17EA-4A32-A428-C2368EBACB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0" name="Line 70">
                <a:extLst>
                  <a:ext uri="{FF2B5EF4-FFF2-40B4-BE49-F238E27FC236}">
                    <a16:creationId xmlns:a16="http://schemas.microsoft.com/office/drawing/2014/main" id="{C5270C31-E701-47DC-BAC5-DE71245539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8900000" flipV="1">
                <a:off x="3774042" y="4915016"/>
                <a:ext cx="0" cy="16200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B78A593-AB03-4D7B-8996-22F603566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40013" y="1046180"/>
              <a:ext cx="903599" cy="2160000"/>
              <a:chOff x="9057947" y="3423463"/>
              <a:chExt cx="903599" cy="2160000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C4C08476-8891-498B-95DD-3D4BB02B4E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9057947" y="3432856"/>
                <a:ext cx="903599" cy="1872461"/>
                <a:chOff x="10538626" y="3165838"/>
                <a:chExt cx="936000" cy="1939601"/>
              </a:xfrm>
            </p:grpSpPr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C9C077B4-3B4E-4043-BAF4-65306ADBE2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10538626" y="3183996"/>
                  <a:ext cx="453600" cy="1920288"/>
                </a:xfrm>
                <a:custGeom>
                  <a:avLst/>
                  <a:gdLst>
                    <a:gd name="connsiteX0" fmla="*/ 453600 w 453600"/>
                    <a:gd name="connsiteY0" fmla="*/ 0 h 1920288"/>
                    <a:gd name="connsiteX1" fmla="*/ 453600 w 453600"/>
                    <a:gd name="connsiteY1" fmla="*/ 1920288 h 1920288"/>
                    <a:gd name="connsiteX2" fmla="*/ 384059 w 453600"/>
                    <a:gd name="connsiteY2" fmla="*/ 1914152 h 1920288"/>
                    <a:gd name="connsiteX3" fmla="*/ 9354 w 453600"/>
                    <a:gd name="connsiteY3" fmla="*/ 1548700 h 1920288"/>
                    <a:gd name="connsiteX4" fmla="*/ 0 w 453600"/>
                    <a:gd name="connsiteY4" fmla="*/ 1455902 h 1920288"/>
                    <a:gd name="connsiteX5" fmla="*/ 146 w 453600"/>
                    <a:gd name="connsiteY5" fmla="*/ 1451885 h 1920288"/>
                    <a:gd name="connsiteX6" fmla="*/ 145 w 453600"/>
                    <a:gd name="connsiteY6" fmla="*/ 1451885 h 1920288"/>
                    <a:gd name="connsiteX7" fmla="*/ 7358 w 453600"/>
                    <a:gd name="connsiteY7" fmla="*/ 1253678 h 1920288"/>
                    <a:gd name="connsiteX8" fmla="*/ 424671 w 453600"/>
                    <a:gd name="connsiteY8" fmla="*/ 36480 h 1920288"/>
                    <a:gd name="connsiteX9" fmla="*/ 453600 w 453600"/>
                    <a:gd name="connsiteY9" fmla="*/ 0 h 192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53600" h="1920288">
                      <a:moveTo>
                        <a:pt x="453600" y="0"/>
                      </a:moveTo>
                      <a:lnTo>
                        <a:pt x="453600" y="1920288"/>
                      </a:lnTo>
                      <a:lnTo>
                        <a:pt x="384059" y="1914152"/>
                      </a:lnTo>
                      <a:cubicBezTo>
                        <a:pt x="196308" y="1880615"/>
                        <a:pt x="47443" y="1734834"/>
                        <a:pt x="9354" y="1548700"/>
                      </a:cubicBezTo>
                      <a:lnTo>
                        <a:pt x="0" y="1455902"/>
                      </a:lnTo>
                      <a:lnTo>
                        <a:pt x="146" y="1451885"/>
                      </a:lnTo>
                      <a:lnTo>
                        <a:pt x="145" y="1451885"/>
                      </a:lnTo>
                      <a:lnTo>
                        <a:pt x="7358" y="1253678"/>
                      </a:lnTo>
                      <a:cubicBezTo>
                        <a:pt x="42019" y="780132"/>
                        <a:pt x="195015" y="355125"/>
                        <a:pt x="424671" y="36480"/>
                      </a:cubicBezTo>
                      <a:lnTo>
                        <a:pt x="453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0CCC2DDE-715C-4561-A70C-60428A65CA0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10992226" y="3165838"/>
                  <a:ext cx="482400" cy="1939601"/>
                </a:xfrm>
                <a:custGeom>
                  <a:avLst/>
                  <a:gdLst>
                    <a:gd name="connsiteX0" fmla="*/ 14399 w 482400"/>
                    <a:gd name="connsiteY0" fmla="*/ 0 h 1939601"/>
                    <a:gd name="connsiteX1" fmla="*/ 14399 w 482400"/>
                    <a:gd name="connsiteY1" fmla="*/ 689615 h 1939601"/>
                    <a:gd name="connsiteX2" fmla="*/ 14400 w 482400"/>
                    <a:gd name="connsiteY2" fmla="*/ 689615 h 1939601"/>
                    <a:gd name="connsiteX3" fmla="*/ 14401 w 482400"/>
                    <a:gd name="connsiteY3" fmla="*/ 689615 h 1939601"/>
                    <a:gd name="connsiteX4" fmla="*/ 14401 w 482400"/>
                    <a:gd name="connsiteY4" fmla="*/ 0 h 1939601"/>
                    <a:gd name="connsiteX5" fmla="*/ 57729 w 482400"/>
                    <a:gd name="connsiteY5" fmla="*/ 54638 h 1939601"/>
                    <a:gd name="connsiteX6" fmla="*/ 475042 w 482400"/>
                    <a:gd name="connsiteY6" fmla="*/ 1271836 h 1939601"/>
                    <a:gd name="connsiteX7" fmla="*/ 482255 w 482400"/>
                    <a:gd name="connsiteY7" fmla="*/ 1470043 h 1939601"/>
                    <a:gd name="connsiteX8" fmla="*/ 482254 w 482400"/>
                    <a:gd name="connsiteY8" fmla="*/ 1470043 h 1939601"/>
                    <a:gd name="connsiteX9" fmla="*/ 482400 w 482400"/>
                    <a:gd name="connsiteY9" fmla="*/ 1474060 h 1939601"/>
                    <a:gd name="connsiteX10" fmla="*/ 473046 w 482400"/>
                    <a:gd name="connsiteY10" fmla="*/ 1566858 h 1939601"/>
                    <a:gd name="connsiteX11" fmla="*/ 15706 w 482400"/>
                    <a:gd name="connsiteY11" fmla="*/ 1939601 h 1939601"/>
                    <a:gd name="connsiteX12" fmla="*/ 14400 w 482400"/>
                    <a:gd name="connsiteY12" fmla="*/ 1939469 h 1939601"/>
                    <a:gd name="connsiteX13" fmla="*/ 13094 w 482400"/>
                    <a:gd name="connsiteY13" fmla="*/ 1939601 h 1939601"/>
                    <a:gd name="connsiteX14" fmla="*/ 0 w 482400"/>
                    <a:gd name="connsiteY14" fmla="*/ 1938446 h 1939601"/>
                    <a:gd name="connsiteX15" fmla="*/ 0 w 482400"/>
                    <a:gd name="connsiteY15" fmla="*/ 18158 h 1939601"/>
                    <a:gd name="connsiteX16" fmla="*/ 14399 w 482400"/>
                    <a:gd name="connsiteY16" fmla="*/ 0 h 193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82400" h="1939601">
                      <a:moveTo>
                        <a:pt x="14399" y="0"/>
                      </a:moveTo>
                      <a:lnTo>
                        <a:pt x="14399" y="689615"/>
                      </a:lnTo>
                      <a:lnTo>
                        <a:pt x="14400" y="689615"/>
                      </a:lnTo>
                      <a:lnTo>
                        <a:pt x="14401" y="689615"/>
                      </a:lnTo>
                      <a:lnTo>
                        <a:pt x="14401" y="0"/>
                      </a:lnTo>
                      <a:lnTo>
                        <a:pt x="57729" y="54638"/>
                      </a:lnTo>
                      <a:cubicBezTo>
                        <a:pt x="287385" y="373283"/>
                        <a:pt x="440381" y="798290"/>
                        <a:pt x="475042" y="1271836"/>
                      </a:cubicBezTo>
                      <a:lnTo>
                        <a:pt x="482255" y="1470043"/>
                      </a:lnTo>
                      <a:lnTo>
                        <a:pt x="482254" y="1470043"/>
                      </a:lnTo>
                      <a:lnTo>
                        <a:pt x="482400" y="1474060"/>
                      </a:lnTo>
                      <a:lnTo>
                        <a:pt x="473046" y="1566858"/>
                      </a:lnTo>
                      <a:cubicBezTo>
                        <a:pt x="429516" y="1779582"/>
                        <a:pt x="241298" y="1939601"/>
                        <a:pt x="15706" y="1939601"/>
                      </a:cubicBezTo>
                      <a:lnTo>
                        <a:pt x="14400" y="1939469"/>
                      </a:lnTo>
                      <a:lnTo>
                        <a:pt x="13094" y="1939601"/>
                      </a:lnTo>
                      <a:lnTo>
                        <a:pt x="0" y="1938446"/>
                      </a:lnTo>
                      <a:lnTo>
                        <a:pt x="0" y="18158"/>
                      </a:lnTo>
                      <a:lnTo>
                        <a:pt x="1439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E49FC98-B2F5-43E4-A679-8E5570FB84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9210264" y="3423463"/>
                <a:ext cx="597126" cy="2160000"/>
                <a:chOff x="9210264" y="3423463"/>
                <a:chExt cx="597126" cy="2160000"/>
              </a:xfrm>
            </p:grpSpPr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AA01852B-2060-4247-9EE9-0E6754450B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9508827" y="3423463"/>
                  <a:ext cx="0" cy="216000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Rectangle 5">
                  <a:extLst>
                    <a:ext uri="{FF2B5EF4-FFF2-40B4-BE49-F238E27FC236}">
                      <a16:creationId xmlns:a16="http://schemas.microsoft.com/office/drawing/2014/main" id="{13822ECB-A528-476C-B4CB-4A3F54A829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>
                  <a:off x="9210264" y="4162845"/>
                  <a:ext cx="597126" cy="597126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91440 w 1239398"/>
                    <a:gd name="connsiteY4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  <a:gd name="connsiteX3" fmla="*/ 91440 w 1239398"/>
                    <a:gd name="connsiteY3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5">
                  <a:extLst>
                    <a:ext uri="{FF2B5EF4-FFF2-40B4-BE49-F238E27FC236}">
                      <a16:creationId xmlns:a16="http://schemas.microsoft.com/office/drawing/2014/main" id="{FCD6DA27-598F-4F38-A652-5C6F6F2B94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>
                  <a:off x="9297710" y="3747070"/>
                  <a:ext cx="422234" cy="422234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91440 w 1239398"/>
                    <a:gd name="connsiteY4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  <a:gd name="connsiteX3" fmla="*/ 91440 w 1239398"/>
                    <a:gd name="connsiteY3" fmla="*/ 91440 h 1239398"/>
                    <a:gd name="connsiteX0" fmla="*/ 1239398 w 1239398"/>
                    <a:gd name="connsiteY0" fmla="*/ 0 h 1239398"/>
                    <a:gd name="connsiteX1" fmla="*/ 1239398 w 1239398"/>
                    <a:gd name="connsiteY1" fmla="*/ 1239398 h 1239398"/>
                    <a:gd name="connsiteX2" fmla="*/ 0 w 1239398"/>
                    <a:gd name="connsiteY2" fmla="*/ 1239398 h 1239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F3C0C9C-4AA5-5318-F6DC-6865CCFDB56D}"/>
              </a:ext>
            </a:extLst>
          </p:cNvPr>
          <p:cNvSpPr txBox="1"/>
          <p:nvPr/>
        </p:nvSpPr>
        <p:spPr>
          <a:xfrm>
            <a:off x="4974539" y="2735339"/>
            <a:ext cx="2242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4000" b="1" dirty="0">
                <a:latin typeface="Apple Braille" pitchFamily="2" charset="0"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207442845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1022</TotalTime>
  <Words>1805</Words>
  <Application>Microsoft Macintosh PowerPoint</Application>
  <PresentationFormat>Widescreen</PresentationFormat>
  <Paragraphs>131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Apple Braille</vt:lpstr>
      <vt:lpstr>Aptos</vt:lpstr>
      <vt:lpstr>Arial</vt:lpstr>
      <vt:lpstr>Avenir Next LT Pro</vt:lpstr>
      <vt:lpstr>Goudy Old Style</vt:lpstr>
      <vt:lpstr>Wingdings</vt:lpstr>
      <vt:lpstr>FrostyVTI</vt:lpstr>
      <vt:lpstr>饮食之间的文化省思  ——林语堂《饮食》中的中西态度</vt:lpstr>
      <vt:lpstr>目录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Lu</dc:creator>
  <cp:lastModifiedBy>Francis Lu</cp:lastModifiedBy>
  <cp:revision>23</cp:revision>
  <dcterms:created xsi:type="dcterms:W3CDTF">2026-04-11T12:29:15Z</dcterms:created>
  <dcterms:modified xsi:type="dcterms:W3CDTF">2026-04-15T12:56:38Z</dcterms:modified>
</cp:coreProperties>
</file>