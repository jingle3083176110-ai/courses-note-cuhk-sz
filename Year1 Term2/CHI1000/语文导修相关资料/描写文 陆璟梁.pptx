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9"/>
  </p:notesMasterIdLst>
  <p:handoutMasterIdLst>
    <p:handoutMasterId r:id="rId20"/>
  </p:handoutMasterIdLst>
  <p:sldIdLst>
    <p:sldId id="706" r:id="rId3"/>
    <p:sldId id="803" r:id="rId4"/>
    <p:sldId id="805" r:id="rId5"/>
    <p:sldId id="806" r:id="rId6"/>
    <p:sldId id="807" r:id="rId7"/>
    <p:sldId id="808" r:id="rId8"/>
    <p:sldId id="809" r:id="rId9"/>
    <p:sldId id="810" r:id="rId10"/>
    <p:sldId id="811" r:id="rId11"/>
    <p:sldId id="812" r:id="rId12"/>
    <p:sldId id="813" r:id="rId13"/>
    <p:sldId id="814" r:id="rId14"/>
    <p:sldId id="815" r:id="rId15"/>
    <p:sldId id="816" r:id="rId16"/>
    <p:sldId id="817" r:id="rId17"/>
    <p:sldId id="818" r:id="rId18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FD49C9-EF3E-EF30-8369-53BC606D0C1F}" name="劢杰 郑" initials="劢郑" userId="3859640d66698d4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9B0"/>
    <a:srgbClr val="C6C7C8"/>
    <a:srgbClr val="9C908A"/>
    <a:srgbClr val="C86247"/>
    <a:srgbClr val="80574F"/>
    <a:srgbClr val="CFB1B1"/>
    <a:srgbClr val="8F012F"/>
    <a:srgbClr val="3F7F62"/>
    <a:srgbClr val="8F0101"/>
    <a:srgbClr val="D9E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55" autoAdjust="0"/>
    <p:restoredTop sz="72657" autoAdjust="0"/>
  </p:normalViewPr>
  <p:slideViewPr>
    <p:cSldViewPr snapToGrid="0">
      <p:cViewPr varScale="1">
        <p:scale>
          <a:sx n="97" d="100"/>
          <a:sy n="97" d="100"/>
        </p:scale>
        <p:origin x="1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8/10/relationships/authors" Target="authors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2026/4/20</a:t>
            </a:fld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‹#›</a:t>
            </a:fld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851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873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736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181FE-C24D-BC4E-992E-BE97A620140C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B6C7-D275-4881-A36D-FFFB3EC569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/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/>
              <p:cNvSpPr/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" name="Freeform 69"/>
              <p:cNvSpPr/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10" name="Line 70"/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/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/>
              <p:cNvSpPr/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5" name="Freeform 69"/>
              <p:cNvSpPr/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" name="Line 70"/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/>
              <p:cNvSpPr/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" name="Freeform 69"/>
              <p:cNvSpPr/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" name="Line 70"/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/>
          <p:cNvCxnSpPr/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EB6CB6C7-D275-4881-A36D-FFFB3EC569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fld id="{AD538402-A79E-41B2-AC23-A53AE7D8C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wipe/>
  </p:transition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45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135" indent="-360045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135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225" indent="-360045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未标题-2-05"/>
          <p:cNvPicPr>
            <a:picLocks noChangeAspect="1"/>
          </p:cNvPicPr>
          <p:nvPr/>
        </p:nvPicPr>
        <p:blipFill>
          <a:blip r:embed="rId4"/>
          <a:srcRect r="2984"/>
          <a:stretch>
            <a:fillRect/>
          </a:stretch>
        </p:blipFill>
        <p:spPr>
          <a:xfrm>
            <a:off x="8606155" y="97790"/>
            <a:ext cx="3585845" cy="2039620"/>
          </a:xfrm>
          <a:prstGeom prst="rect">
            <a:avLst/>
          </a:prstGeom>
        </p:spPr>
      </p:pic>
      <p:pic>
        <p:nvPicPr>
          <p:cNvPr id="17" name="图片 16" descr="未标题-2-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225165" cy="3126740"/>
          </a:xfrm>
          <a:prstGeom prst="rect">
            <a:avLst/>
          </a:prstGeom>
        </p:spPr>
      </p:pic>
      <p:pic>
        <p:nvPicPr>
          <p:cNvPr id="41" name="图片 40" descr="船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85" y="5522595"/>
            <a:ext cx="2500630" cy="1192530"/>
          </a:xfrm>
          <a:prstGeom prst="rect">
            <a:avLst/>
          </a:prstGeom>
        </p:spPr>
      </p:pic>
      <p:pic>
        <p:nvPicPr>
          <p:cNvPr id="37" name="图片 36" descr="燕子"/>
          <p:cNvPicPr>
            <a:picLocks noChangeAspect="1"/>
          </p:cNvPicPr>
          <p:nvPr/>
        </p:nvPicPr>
        <p:blipFill>
          <a:blip r:embed="rId7">
            <a:lum bright="24000" contrast="6000"/>
          </a:blip>
          <a:srcRect r="82385"/>
          <a:stretch>
            <a:fillRect/>
          </a:stretch>
        </p:blipFill>
        <p:spPr>
          <a:xfrm>
            <a:off x="5302250" y="939800"/>
            <a:ext cx="1588135" cy="854075"/>
          </a:xfrm>
          <a:prstGeom prst="rect">
            <a:avLst/>
          </a:prstGeom>
        </p:spPr>
      </p:pic>
      <p:pic>
        <p:nvPicPr>
          <p:cNvPr id="36" name="图片 35" descr="燕子"/>
          <p:cNvPicPr>
            <a:picLocks noChangeAspect="1"/>
          </p:cNvPicPr>
          <p:nvPr/>
        </p:nvPicPr>
        <p:blipFill>
          <a:blip r:embed="rId7">
            <a:lum bright="24000" contrast="6000"/>
          </a:blip>
          <a:srcRect l="82703"/>
          <a:stretch>
            <a:fillRect/>
          </a:stretch>
        </p:blipFill>
        <p:spPr>
          <a:xfrm>
            <a:off x="686435" y="4183380"/>
            <a:ext cx="1454150" cy="79629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424003" y="1793875"/>
            <a:ext cx="5343994" cy="2138400"/>
          </a:xfrm>
        </p:spPr>
        <p:txBody>
          <a:bodyPr>
            <a:normAutofit/>
          </a:bodyPr>
          <a:lstStyle/>
          <a:p>
            <a:r>
              <a:rPr lang="zh-CN" altLang="en-US" sz="5400" b="1" dirty="0">
                <a:latin typeface="+mj-lt"/>
                <a:cs typeface="Al Nile" pitchFamily="2" charset="-78"/>
              </a:rPr>
              <a:t>味外之旨</a:t>
            </a:r>
            <a:br>
              <a:rPr lang="en-US" altLang="zh-CN" sz="3400" dirty="0"/>
            </a:br>
            <a:br>
              <a:rPr lang="en-US" altLang="zh-CN" sz="3400" dirty="0"/>
            </a:br>
            <a:r>
              <a:rPr lang="zh-CN" altLang="en-US" sz="2800" dirty="0"/>
              <a:t>现代散文饮食题材的精神意蕴</a:t>
            </a:r>
            <a:endParaRPr lang="en-US" sz="3400" dirty="0"/>
          </a:p>
        </p:txBody>
      </p:sp>
      <p:sp>
        <p:nvSpPr>
          <p:cNvPr id="6" name="TextBox 5"/>
          <p:cNvSpPr txBox="1"/>
          <p:nvPr/>
        </p:nvSpPr>
        <p:spPr>
          <a:xfrm>
            <a:off x="4849505" y="418338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描写文</a:t>
            </a:r>
            <a:r>
              <a:rPr lang="zh-CN" altLang="en-US" dirty="0"/>
              <a:t>（三）导修报告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11137" y="410845"/>
            <a:ext cx="11769725" cy="6418580"/>
          </a:xfrm>
          <a:prstGeom prst="rect">
            <a:avLst/>
          </a:prstGeom>
          <a:solidFill>
            <a:srgbClr val="FFFFFD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pic>
        <p:nvPicPr>
          <p:cNvPr id="3" name="图片 2" descr="未标题-2-04"/>
          <p:cNvPicPr>
            <a:picLocks noChangeAspect="1"/>
          </p:cNvPicPr>
          <p:nvPr/>
        </p:nvPicPr>
        <p:blipFill>
          <a:blip r:embed="rId4"/>
          <a:srcRect r="6832"/>
          <a:stretch>
            <a:fillRect/>
          </a:stretch>
        </p:blipFill>
        <p:spPr>
          <a:xfrm flipH="1">
            <a:off x="0" y="-3175"/>
            <a:ext cx="3739515" cy="2141220"/>
          </a:xfrm>
          <a:prstGeom prst="rect">
            <a:avLst/>
          </a:prstGeom>
        </p:spPr>
      </p:pic>
      <p:pic>
        <p:nvPicPr>
          <p:cNvPr id="34" name="图片 33" descr="未标题-2-05"/>
          <p:cNvPicPr>
            <a:picLocks noChangeAspect="1"/>
          </p:cNvPicPr>
          <p:nvPr/>
        </p:nvPicPr>
        <p:blipFill>
          <a:blip r:embed="rId5"/>
          <a:srcRect r="2984"/>
          <a:stretch>
            <a:fillRect/>
          </a:stretch>
        </p:blipFill>
        <p:spPr>
          <a:xfrm>
            <a:off x="8606155" y="97790"/>
            <a:ext cx="3585845" cy="20396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63310" y="1271781"/>
            <a:ext cx="4688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“四方食事，不过一碗人间烟火”</a:t>
            </a:r>
            <a:endParaRPr lang="en-US" altLang="zh-CN" sz="2400" dirty="0"/>
          </a:p>
          <a:p>
            <a:pPr algn="r"/>
            <a:r>
              <a:rPr lang="en-US" altLang="zh-CN" sz="2400" dirty="0"/>
              <a:t>——</a:t>
            </a:r>
            <a:r>
              <a:rPr lang="zh-CN" altLang="en-US" sz="2400" dirty="0"/>
              <a:t>汪曾祺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729108" y="5067225"/>
            <a:ext cx="6961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“四只要有一只茶壶，中国人到哪儿都是快乐的。”</a:t>
            </a:r>
            <a:endParaRPr lang="en-US" altLang="zh-CN" sz="2400" dirty="0"/>
          </a:p>
          <a:p>
            <a:pPr algn="r"/>
            <a:r>
              <a:rPr lang="en-US" altLang="zh-CN" sz="2400" dirty="0"/>
              <a:t>——</a:t>
            </a:r>
            <a:r>
              <a:rPr lang="zh-CN" altLang="en-US" sz="2400" dirty="0"/>
              <a:t>林语堂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539920" y="2925920"/>
            <a:ext cx="1098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饮食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4637" y="3021548"/>
            <a:ext cx="1608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精神寄托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2081" y="3044279"/>
            <a:ext cx="1500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文化基因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636115" y="2248523"/>
            <a:ext cx="2185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《</a:t>
            </a:r>
            <a:r>
              <a:rPr lang="zh-CN" altLang="en-US" sz="2000" dirty="0"/>
              <a:t>喝茶</a:t>
            </a:r>
            <a:r>
              <a:rPr lang="en-US" altLang="zh-CN" sz="2000" dirty="0"/>
              <a:t>》-</a:t>
            </a:r>
            <a:r>
              <a:rPr lang="zh-CN" altLang="en-US" sz="2000" dirty="0"/>
              <a:t>周作人</a:t>
            </a:r>
            <a:endParaRPr lang="en-US" sz="2000" dirty="0"/>
          </a:p>
          <a:p>
            <a:r>
              <a:rPr lang="en-US" sz="2000" dirty="0"/>
              <a:t>个人的精神追求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913" y="3644625"/>
            <a:ext cx="32097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lang="zh-CN" altLang="en-US" sz="2000" dirty="0">
                <a:latin typeface="宋体" panose="02010600030101010101" pitchFamily="2" charset="-122"/>
                <a:cs typeface="宋体" panose="02010600030101010101" pitchFamily="2" charset="-122"/>
              </a:rPr>
              <a:t>雅舍谈吃・蟹</a:t>
            </a:r>
            <a:r>
              <a:rPr lang="en-US" altLang="zh-CN" sz="2000" dirty="0">
                <a:latin typeface="宋体" panose="02010600030101010101" pitchFamily="2" charset="-122"/>
                <a:cs typeface="宋体" panose="02010600030101010101" pitchFamily="2" charset="-122"/>
              </a:rPr>
              <a:t>》-</a:t>
            </a:r>
            <a:r>
              <a:rPr lang="zh-CN" altLang="en-US" sz="2000" dirty="0">
                <a:latin typeface="宋体" panose="02010600030101010101" pitchFamily="2" charset="-122"/>
                <a:cs typeface="宋体" panose="02010600030101010101" pitchFamily="2" charset="-122"/>
              </a:rPr>
              <a:t>梁实秋</a:t>
            </a:r>
            <a:endParaRPr lang="en-US" sz="2000" dirty="0"/>
          </a:p>
          <a:p>
            <a:r>
              <a:rPr lang="en-US" sz="2000" dirty="0"/>
              <a:t>承载故园记忆与烟火温情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2268" y="2242852"/>
            <a:ext cx="2595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《</a:t>
            </a:r>
            <a:r>
              <a:rPr lang="zh-CN" altLang="en-US" sz="2000" dirty="0"/>
              <a:t>吃饭</a:t>
            </a:r>
            <a:r>
              <a:rPr lang="en-US" altLang="zh-CN" sz="2000" dirty="0"/>
              <a:t>》</a:t>
            </a:r>
            <a:r>
              <a:rPr lang="zh-CN" altLang="en-US" sz="2000" dirty="0"/>
              <a:t>钱钟书</a:t>
            </a:r>
            <a:endParaRPr lang="en-US" sz="2000" dirty="0"/>
          </a:p>
          <a:p>
            <a:r>
              <a:rPr lang="en-US" sz="2000" dirty="0" err="1"/>
              <a:t>以饭讽世</a:t>
            </a:r>
            <a:r>
              <a:rPr lang="zh-CN" altLang="en-US" sz="2000" dirty="0"/>
              <a:t>，解构现实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8247365" y="3615474"/>
            <a:ext cx="2595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《</a:t>
            </a:r>
            <a:r>
              <a:rPr lang="zh-CN" altLang="en-US" sz="2000" dirty="0"/>
              <a:t>饮食</a:t>
            </a:r>
            <a:r>
              <a:rPr lang="en-US" altLang="zh-CN" sz="2000" dirty="0"/>
              <a:t>》</a:t>
            </a:r>
            <a:r>
              <a:rPr lang="zh-CN" altLang="en-US" sz="2000" dirty="0"/>
              <a:t>林语堂</a:t>
            </a:r>
            <a:endParaRPr lang="en-US" sz="2000" dirty="0"/>
          </a:p>
          <a:p>
            <a:r>
              <a:rPr lang="en-US" sz="2000" dirty="0"/>
              <a:t>以食立论</a:t>
            </a:r>
            <a:r>
              <a:rPr lang="zh-CN" altLang="en-US" sz="2000" dirty="0"/>
              <a:t>，</a:t>
            </a:r>
            <a:r>
              <a:rPr lang="en-US" sz="2000" dirty="0"/>
              <a:t>贯穿东西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4003" y="1299088"/>
            <a:ext cx="5343994" cy="2138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3600" b="1" dirty="0"/>
              <a:t>饮食之间的文化省思</a:t>
            </a:r>
            <a:br>
              <a:rPr lang="en-US" altLang="zh-CN" sz="3400" dirty="0"/>
            </a:br>
            <a:br>
              <a:rPr lang="en-US" altLang="zh-CN" sz="3400" dirty="0"/>
            </a:br>
            <a:r>
              <a:rPr lang="en-US" altLang="zh-CN" sz="2800" dirty="0"/>
              <a:t>——</a:t>
            </a:r>
            <a:r>
              <a:rPr lang="zh-CN" altLang="en-US" sz="2800" dirty="0"/>
              <a:t>林语堂</a:t>
            </a:r>
            <a:r>
              <a:rPr lang="en-US" altLang="zh-CN" sz="2800" dirty="0"/>
              <a:t>《</a:t>
            </a:r>
            <a:r>
              <a:rPr lang="zh-CN" altLang="en-US" sz="2800" dirty="0"/>
              <a:t>饮食</a:t>
            </a:r>
            <a:r>
              <a:rPr lang="en-US" altLang="zh-CN" sz="2800" dirty="0"/>
              <a:t>》</a:t>
            </a:r>
            <a:r>
              <a:rPr lang="zh-CN" altLang="en-US" sz="2800" dirty="0"/>
              <a:t>中的中西态度</a:t>
            </a:r>
            <a:endParaRPr lang="en-US" sz="3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7600" y="4113213"/>
            <a:ext cx="4636800" cy="1655762"/>
          </a:xfrm>
        </p:spPr>
        <p:txBody>
          <a:bodyPr>
            <a:normAutofit/>
          </a:bodyPr>
          <a:lstStyle/>
          <a:p>
            <a:r>
              <a:rPr lang="en-US" sz="2000" dirty="0"/>
              <a:t>报告人</a:t>
            </a:r>
            <a:r>
              <a:rPr lang="zh-CN" altLang="en-US" sz="2000" dirty="0"/>
              <a:t>：陆璟梁</a:t>
            </a:r>
            <a:endParaRPr lang="en-US" altLang="zh-CN" sz="2000" dirty="0"/>
          </a:p>
        </p:txBody>
      </p:sp>
      <p:grpSp>
        <p:nvGrpSpPr>
          <p:cNvPr id="35" name="Group 34"/>
          <p:cNvGrpSpPr>
            <a:grpSpLocks noGrp="1" noUngrp="1" noRot="1" noChangeAspect="1" noMove="1" noResize="1"/>
          </p:cNvGrpSpPr>
          <p:nvPr/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36" name="Group 35"/>
            <p:cNvGrpSpPr/>
            <p:nvPr/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55" name="Freeform 64"/>
              <p:cNvSpPr/>
              <p:nvPr/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" name="Freeform 81"/>
              <p:cNvSpPr/>
              <p:nvPr/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" name="Freeform 61"/>
              <p:cNvSpPr/>
              <p:nvPr/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" name="Freeform 78"/>
              <p:cNvSpPr/>
              <p:nvPr/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" name="Freeform 84"/>
              <p:cNvSpPr/>
              <p:nvPr/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" name="Freeform 87"/>
              <p:cNvSpPr/>
              <p:nvPr/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" name="Freeform 60"/>
              <p:cNvSpPr/>
              <p:nvPr/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" name="Freeform 59"/>
              <p:cNvSpPr/>
              <p:nvPr/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" name="Freeform 62"/>
              <p:cNvSpPr/>
              <p:nvPr/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/>
              </a:p>
            </p:txBody>
          </p:sp>
          <p:sp>
            <p:nvSpPr>
              <p:cNvPr id="64" name="Freeform 65"/>
              <p:cNvSpPr/>
              <p:nvPr/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" name="Freeform 79"/>
              <p:cNvSpPr/>
              <p:nvPr/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" name="Freeform 82"/>
              <p:cNvSpPr/>
              <p:nvPr/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" name="Freeform 85"/>
              <p:cNvSpPr/>
              <p:nvPr/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" name="Freeform 88"/>
              <p:cNvSpPr/>
              <p:nvPr/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grpSp>
            <p:nvGrpSpPr>
              <p:cNvPr id="69" name="Group 68"/>
              <p:cNvGrpSpPr/>
              <p:nvPr/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70" name="Line 63"/>
                <p:cNvSpPr>
                  <a:spLocks noChangeShapeType="1"/>
                </p:cNvSpPr>
                <p:nvPr/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1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2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3" name="Line 80"/>
                <p:cNvSpPr>
                  <a:spLocks noChangeShapeType="1"/>
                </p:cNvSpPr>
                <p:nvPr/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4" name="Line 83"/>
                <p:cNvSpPr>
                  <a:spLocks noChangeShapeType="1"/>
                </p:cNvSpPr>
                <p:nvPr/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5" name="Line 86"/>
                <p:cNvSpPr>
                  <a:spLocks noChangeShapeType="1"/>
                </p:cNvSpPr>
                <p:nvPr/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6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7" name="Group 36"/>
            <p:cNvGrpSpPr/>
            <p:nvPr/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47" name="Group 46"/>
              <p:cNvGrpSpPr/>
              <p:nvPr/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51" name="Straight Connector 50"/>
                <p:cNvCxnSpPr/>
                <p:nvPr/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Rectangle 30"/>
                <p:cNvSpPr/>
                <p:nvPr/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-1" fmla="*/ 1302493 w 1393933"/>
                    <a:gd name="connsiteY0-2" fmla="*/ 1302493 h 1393933"/>
                    <a:gd name="connsiteX1-3" fmla="*/ 0 w 1393933"/>
                    <a:gd name="connsiteY1-4" fmla="*/ 1302493 h 1393933"/>
                    <a:gd name="connsiteX2-5" fmla="*/ 0 w 1393933"/>
                    <a:gd name="connsiteY2-6" fmla="*/ 0 h 1393933"/>
                    <a:gd name="connsiteX3-7" fmla="*/ 1302493 w 1393933"/>
                    <a:gd name="connsiteY3-8" fmla="*/ 0 h 1393933"/>
                    <a:gd name="connsiteX4-9" fmla="*/ 1393933 w 1393933"/>
                    <a:gd name="connsiteY4-10" fmla="*/ 1393933 h 1393933"/>
                    <a:gd name="connsiteX0-11" fmla="*/ 0 w 1393933"/>
                    <a:gd name="connsiteY0-12" fmla="*/ 1302493 h 1393933"/>
                    <a:gd name="connsiteX1-13" fmla="*/ 0 w 1393933"/>
                    <a:gd name="connsiteY1-14" fmla="*/ 0 h 1393933"/>
                    <a:gd name="connsiteX2-15" fmla="*/ 1302493 w 1393933"/>
                    <a:gd name="connsiteY2-16" fmla="*/ 0 h 1393933"/>
                    <a:gd name="connsiteX3-17" fmla="*/ 1393933 w 1393933"/>
                    <a:gd name="connsiteY3-18" fmla="*/ 1393933 h 1393933"/>
                    <a:gd name="connsiteX0-19" fmla="*/ 0 w 1302493"/>
                    <a:gd name="connsiteY0-20" fmla="*/ 1302493 h 1302493"/>
                    <a:gd name="connsiteX1-21" fmla="*/ 0 w 1302493"/>
                    <a:gd name="connsiteY1-22" fmla="*/ 0 h 1302493"/>
                    <a:gd name="connsiteX2-23" fmla="*/ 1302493 w 1302493"/>
                    <a:gd name="connsiteY2-24" fmla="*/ 0 h 130249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30"/>
                <p:cNvSpPr/>
                <p:nvPr/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-1" fmla="*/ 1302493 w 1393933"/>
                    <a:gd name="connsiteY0-2" fmla="*/ 1302493 h 1393933"/>
                    <a:gd name="connsiteX1-3" fmla="*/ 0 w 1393933"/>
                    <a:gd name="connsiteY1-4" fmla="*/ 1302493 h 1393933"/>
                    <a:gd name="connsiteX2-5" fmla="*/ 0 w 1393933"/>
                    <a:gd name="connsiteY2-6" fmla="*/ 0 h 1393933"/>
                    <a:gd name="connsiteX3-7" fmla="*/ 1302493 w 1393933"/>
                    <a:gd name="connsiteY3-8" fmla="*/ 0 h 1393933"/>
                    <a:gd name="connsiteX4-9" fmla="*/ 1393933 w 1393933"/>
                    <a:gd name="connsiteY4-10" fmla="*/ 1393933 h 1393933"/>
                    <a:gd name="connsiteX0-11" fmla="*/ 0 w 1393933"/>
                    <a:gd name="connsiteY0-12" fmla="*/ 1302493 h 1393933"/>
                    <a:gd name="connsiteX1-13" fmla="*/ 0 w 1393933"/>
                    <a:gd name="connsiteY1-14" fmla="*/ 0 h 1393933"/>
                    <a:gd name="connsiteX2-15" fmla="*/ 1302493 w 1393933"/>
                    <a:gd name="connsiteY2-16" fmla="*/ 0 h 1393933"/>
                    <a:gd name="connsiteX3-17" fmla="*/ 1393933 w 1393933"/>
                    <a:gd name="connsiteY3-18" fmla="*/ 1393933 h 1393933"/>
                    <a:gd name="connsiteX0-19" fmla="*/ 0 w 1302493"/>
                    <a:gd name="connsiteY0-20" fmla="*/ 1302493 h 1302493"/>
                    <a:gd name="connsiteX1-21" fmla="*/ 0 w 1302493"/>
                    <a:gd name="connsiteY1-22" fmla="*/ 0 h 1302493"/>
                    <a:gd name="connsiteX2-23" fmla="*/ 1302493 w 1302493"/>
                    <a:gd name="connsiteY2-24" fmla="*/ 0 h 130249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8" name="Group 47"/>
              <p:cNvGrpSpPr/>
              <p:nvPr/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49" name="Freeform: Shape 48"/>
                <p:cNvSpPr/>
                <p:nvPr/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Freeform: Shape 49"/>
                <p:cNvSpPr/>
                <p:nvPr/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8" name="Group 37"/>
            <p:cNvGrpSpPr/>
            <p:nvPr/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44" name="Freeform 68"/>
                <p:cNvSpPr/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5" name="Freeform 69"/>
                <p:cNvSpPr/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6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grpSp>
            <p:nvGrpSpPr>
              <p:cNvPr id="40" name="Group 39"/>
              <p:cNvGrpSpPr/>
              <p:nvPr/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41" name="Freeform 68"/>
                <p:cNvSpPr/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2" name="Freeform 69"/>
                <p:cNvSpPr/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3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78" name="Straight Connector 77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/>
          <p:cNvGrpSpPr>
            <a:grpSpLocks noGrp="1" noUngrp="1" noRot="1" noChangeAspect="1" noMove="1" noResize="1"/>
          </p:cNvGrpSpPr>
          <p:nvPr/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81" name="Group 80"/>
            <p:cNvGrpSpPr/>
            <p:nvPr/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100" name="Freeform 64"/>
              <p:cNvSpPr/>
              <p:nvPr/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1" name="Freeform 81"/>
              <p:cNvSpPr/>
              <p:nvPr/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2" name="Freeform 61"/>
              <p:cNvSpPr/>
              <p:nvPr/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3" name="Freeform 78"/>
              <p:cNvSpPr/>
              <p:nvPr/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4" name="Freeform 84"/>
              <p:cNvSpPr/>
              <p:nvPr/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5" name="Freeform 87"/>
              <p:cNvSpPr/>
              <p:nvPr/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6" name="Freeform 60"/>
              <p:cNvSpPr/>
              <p:nvPr/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7" name="Freeform 59"/>
              <p:cNvSpPr/>
              <p:nvPr/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8" name="Freeform 62"/>
              <p:cNvSpPr/>
              <p:nvPr/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/>
              </a:p>
            </p:txBody>
          </p:sp>
          <p:sp>
            <p:nvSpPr>
              <p:cNvPr id="109" name="Freeform 65"/>
              <p:cNvSpPr/>
              <p:nvPr/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0" name="Freeform 79"/>
              <p:cNvSpPr/>
              <p:nvPr/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1" name="Freeform 82"/>
              <p:cNvSpPr/>
              <p:nvPr/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2" name="Freeform 85"/>
              <p:cNvSpPr/>
              <p:nvPr/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3" name="Freeform 88"/>
              <p:cNvSpPr/>
              <p:nvPr/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grpSp>
            <p:nvGrpSpPr>
              <p:cNvPr id="114" name="Group 113"/>
              <p:cNvGrpSpPr/>
              <p:nvPr/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115" name="Line 63"/>
                <p:cNvSpPr>
                  <a:spLocks noChangeShapeType="1"/>
                </p:cNvSpPr>
                <p:nvPr/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16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17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18" name="Line 80"/>
                <p:cNvSpPr>
                  <a:spLocks noChangeShapeType="1"/>
                </p:cNvSpPr>
                <p:nvPr/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19" name="Line 83"/>
                <p:cNvSpPr>
                  <a:spLocks noChangeShapeType="1"/>
                </p:cNvSpPr>
                <p:nvPr/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20" name="Line 86"/>
                <p:cNvSpPr>
                  <a:spLocks noChangeShapeType="1"/>
                </p:cNvSpPr>
                <p:nvPr/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21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2" name="Group 81"/>
            <p:cNvGrpSpPr/>
            <p:nvPr/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92" name="Group 91"/>
              <p:cNvGrpSpPr/>
              <p:nvPr/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96" name="Straight Connector 95"/>
                <p:cNvCxnSpPr/>
                <p:nvPr/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Rectangle 30"/>
                <p:cNvSpPr/>
                <p:nvPr/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-1" fmla="*/ 1302493 w 1393933"/>
                    <a:gd name="connsiteY0-2" fmla="*/ 1302493 h 1393933"/>
                    <a:gd name="connsiteX1-3" fmla="*/ 0 w 1393933"/>
                    <a:gd name="connsiteY1-4" fmla="*/ 1302493 h 1393933"/>
                    <a:gd name="connsiteX2-5" fmla="*/ 0 w 1393933"/>
                    <a:gd name="connsiteY2-6" fmla="*/ 0 h 1393933"/>
                    <a:gd name="connsiteX3-7" fmla="*/ 1302493 w 1393933"/>
                    <a:gd name="connsiteY3-8" fmla="*/ 0 h 1393933"/>
                    <a:gd name="connsiteX4-9" fmla="*/ 1393933 w 1393933"/>
                    <a:gd name="connsiteY4-10" fmla="*/ 1393933 h 1393933"/>
                    <a:gd name="connsiteX0-11" fmla="*/ 0 w 1393933"/>
                    <a:gd name="connsiteY0-12" fmla="*/ 1302493 h 1393933"/>
                    <a:gd name="connsiteX1-13" fmla="*/ 0 w 1393933"/>
                    <a:gd name="connsiteY1-14" fmla="*/ 0 h 1393933"/>
                    <a:gd name="connsiteX2-15" fmla="*/ 1302493 w 1393933"/>
                    <a:gd name="connsiteY2-16" fmla="*/ 0 h 1393933"/>
                    <a:gd name="connsiteX3-17" fmla="*/ 1393933 w 1393933"/>
                    <a:gd name="connsiteY3-18" fmla="*/ 1393933 h 1393933"/>
                    <a:gd name="connsiteX0-19" fmla="*/ 0 w 1302493"/>
                    <a:gd name="connsiteY0-20" fmla="*/ 1302493 h 1302493"/>
                    <a:gd name="connsiteX1-21" fmla="*/ 0 w 1302493"/>
                    <a:gd name="connsiteY1-22" fmla="*/ 0 h 1302493"/>
                    <a:gd name="connsiteX2-23" fmla="*/ 1302493 w 1302493"/>
                    <a:gd name="connsiteY2-24" fmla="*/ 0 h 130249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 30"/>
                <p:cNvSpPr/>
                <p:nvPr/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-1" fmla="*/ 1302493 w 1393933"/>
                    <a:gd name="connsiteY0-2" fmla="*/ 1302493 h 1393933"/>
                    <a:gd name="connsiteX1-3" fmla="*/ 0 w 1393933"/>
                    <a:gd name="connsiteY1-4" fmla="*/ 1302493 h 1393933"/>
                    <a:gd name="connsiteX2-5" fmla="*/ 0 w 1393933"/>
                    <a:gd name="connsiteY2-6" fmla="*/ 0 h 1393933"/>
                    <a:gd name="connsiteX3-7" fmla="*/ 1302493 w 1393933"/>
                    <a:gd name="connsiteY3-8" fmla="*/ 0 h 1393933"/>
                    <a:gd name="connsiteX4-9" fmla="*/ 1393933 w 1393933"/>
                    <a:gd name="connsiteY4-10" fmla="*/ 1393933 h 1393933"/>
                    <a:gd name="connsiteX0-11" fmla="*/ 0 w 1393933"/>
                    <a:gd name="connsiteY0-12" fmla="*/ 1302493 h 1393933"/>
                    <a:gd name="connsiteX1-13" fmla="*/ 0 w 1393933"/>
                    <a:gd name="connsiteY1-14" fmla="*/ 0 h 1393933"/>
                    <a:gd name="connsiteX2-15" fmla="*/ 1302493 w 1393933"/>
                    <a:gd name="connsiteY2-16" fmla="*/ 0 h 1393933"/>
                    <a:gd name="connsiteX3-17" fmla="*/ 1393933 w 1393933"/>
                    <a:gd name="connsiteY3-18" fmla="*/ 1393933 h 1393933"/>
                    <a:gd name="connsiteX0-19" fmla="*/ 0 w 1302493"/>
                    <a:gd name="connsiteY0-20" fmla="*/ 1302493 h 1302493"/>
                    <a:gd name="connsiteX1-21" fmla="*/ 0 w 1302493"/>
                    <a:gd name="connsiteY1-22" fmla="*/ 0 h 1302493"/>
                    <a:gd name="connsiteX2-23" fmla="*/ 1302493 w 1302493"/>
                    <a:gd name="connsiteY2-24" fmla="*/ 0 h 130249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94" name="Freeform: Shape 93"/>
                <p:cNvSpPr/>
                <p:nvPr/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5" name="Freeform: Shape 94"/>
                <p:cNvSpPr/>
                <p:nvPr/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83" name="Group 82"/>
            <p:cNvGrpSpPr/>
            <p:nvPr/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84" name="Group 83"/>
              <p:cNvGrpSpPr/>
              <p:nvPr/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89" name="Freeform 68"/>
                <p:cNvSpPr/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90" name="Freeform 69"/>
                <p:cNvSpPr/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91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grpSp>
            <p:nvGrpSpPr>
              <p:cNvPr id="85" name="Group 84"/>
              <p:cNvGrpSpPr/>
              <p:nvPr/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86" name="Freeform 68"/>
                <p:cNvSpPr/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7" name="Freeform 69"/>
                <p:cNvSpPr/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8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>
            <a:grpSpLocks noGrp="1" noUngrp="1" noRot="1" noChangeAspect="1" noMove="1" noResize="1"/>
          </p:cNvGrpSpPr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0" name="Group 9"/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2" name="Freeform 68"/>
              <p:cNvSpPr/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" name="Freeform 69"/>
              <p:cNvSpPr/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11" name="Line 70"/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 useBgFill="1"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3038400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>
            <a:grpSpLocks noGrp="1" noUngrp="1" noRot="1" noChangeAspect="1" noMove="1" noResize="1"/>
          </p:cNvGrpSpPr>
          <p:nvPr/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8" name="Group 7"/>
            <p:cNvGrpSpPr>
              <a:grpSpLocks noChangeAspect="1"/>
            </p:cNvGrpSpPr>
            <p:nvPr/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99" name="Freeform 68"/>
              <p:cNvSpPr/>
              <p:nvPr/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0" name="Freeform 69"/>
              <p:cNvSpPr/>
              <p:nvPr/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1" name="Line 70"/>
              <p:cNvSpPr>
                <a:spLocks noChangeShapeType="1"/>
              </p:cNvSpPr>
              <p:nvPr/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61" name="Oval 60"/>
              <p:cNvSpPr/>
              <p:nvPr/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2" name="Group 61"/>
              <p:cNvGrpSpPr/>
              <p:nvPr/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77" name="Freeform 64"/>
                <p:cNvSpPr/>
                <p:nvPr/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8" name="Freeform 81"/>
                <p:cNvSpPr/>
                <p:nvPr/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9" name="Freeform 61"/>
                <p:cNvSpPr/>
                <p:nvPr/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0" name="Freeform 78"/>
                <p:cNvSpPr/>
                <p:nvPr/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1" name="Freeform 84"/>
                <p:cNvSpPr/>
                <p:nvPr/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2" name="Freeform 87"/>
                <p:cNvSpPr/>
                <p:nvPr/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3" name="Freeform 60"/>
                <p:cNvSpPr/>
                <p:nvPr/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4" name="Freeform 59"/>
                <p:cNvSpPr/>
                <p:nvPr/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5" name="Freeform 62"/>
                <p:cNvSpPr/>
                <p:nvPr/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 dirty="0"/>
                </a:p>
              </p:txBody>
            </p:sp>
            <p:sp>
              <p:nvSpPr>
                <p:cNvPr id="86" name="Freeform 65"/>
                <p:cNvSpPr/>
                <p:nvPr/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7" name="Freeform 79"/>
                <p:cNvSpPr/>
                <p:nvPr/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8" name="Freeform 82"/>
                <p:cNvSpPr/>
                <p:nvPr/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89" name="Freeform 85"/>
                <p:cNvSpPr/>
                <p:nvPr/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90" name="Freeform 88"/>
                <p:cNvSpPr/>
                <p:nvPr/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grpSp>
              <p:nvGrpSpPr>
                <p:cNvPr id="91" name="Group 90"/>
                <p:cNvGrpSpPr/>
                <p:nvPr/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92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93" name="Line 6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94" name="Line 6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95" name="Line 80"/>
                  <p:cNvSpPr>
                    <a:spLocks noChangeShapeType="1"/>
                  </p:cNvSpPr>
                  <p:nvPr/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96" name="Line 8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97" name="Line 86"/>
                  <p:cNvSpPr>
                    <a:spLocks noChangeShapeType="1"/>
                  </p:cNvSpPr>
                  <p:nvPr/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98" name="Line 8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63" name="Group 62"/>
              <p:cNvGrpSpPr/>
              <p:nvPr/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69" name="Group 68"/>
                <p:cNvGrpSpPr/>
                <p:nvPr/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73" name="Straight Connector 72"/>
                  <p:cNvCxnSpPr/>
                  <p:nvPr/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/>
                  <p:cNvCxnSpPr/>
                  <p:nvPr/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" name="Rectangle 30"/>
                  <p:cNvSpPr/>
                  <p:nvPr/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-1" fmla="*/ 1302493 w 1393933"/>
                      <a:gd name="connsiteY0-2" fmla="*/ 1302493 h 1393933"/>
                      <a:gd name="connsiteX1-3" fmla="*/ 0 w 1393933"/>
                      <a:gd name="connsiteY1-4" fmla="*/ 1302493 h 1393933"/>
                      <a:gd name="connsiteX2-5" fmla="*/ 0 w 1393933"/>
                      <a:gd name="connsiteY2-6" fmla="*/ 0 h 1393933"/>
                      <a:gd name="connsiteX3-7" fmla="*/ 1302493 w 1393933"/>
                      <a:gd name="connsiteY3-8" fmla="*/ 0 h 1393933"/>
                      <a:gd name="connsiteX4-9" fmla="*/ 1393933 w 1393933"/>
                      <a:gd name="connsiteY4-10" fmla="*/ 1393933 h 1393933"/>
                      <a:gd name="connsiteX0-11" fmla="*/ 0 w 1393933"/>
                      <a:gd name="connsiteY0-12" fmla="*/ 1302493 h 1393933"/>
                      <a:gd name="connsiteX1-13" fmla="*/ 0 w 1393933"/>
                      <a:gd name="connsiteY1-14" fmla="*/ 0 h 1393933"/>
                      <a:gd name="connsiteX2-15" fmla="*/ 1302493 w 1393933"/>
                      <a:gd name="connsiteY2-16" fmla="*/ 0 h 1393933"/>
                      <a:gd name="connsiteX3-17" fmla="*/ 1393933 w 1393933"/>
                      <a:gd name="connsiteY3-18" fmla="*/ 1393933 h 1393933"/>
                      <a:gd name="connsiteX0-19" fmla="*/ 0 w 1302493"/>
                      <a:gd name="connsiteY0-20" fmla="*/ 1302493 h 1302493"/>
                      <a:gd name="connsiteX1-21" fmla="*/ 0 w 1302493"/>
                      <a:gd name="connsiteY1-22" fmla="*/ 0 h 1302493"/>
                      <a:gd name="connsiteX2-23" fmla="*/ 1302493 w 1302493"/>
                      <a:gd name="connsiteY2-24" fmla="*/ 0 h 1302493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" name="Rectangle 30"/>
                  <p:cNvSpPr/>
                  <p:nvPr/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-1" fmla="*/ 1302493 w 1393933"/>
                      <a:gd name="connsiteY0-2" fmla="*/ 1302493 h 1393933"/>
                      <a:gd name="connsiteX1-3" fmla="*/ 0 w 1393933"/>
                      <a:gd name="connsiteY1-4" fmla="*/ 1302493 h 1393933"/>
                      <a:gd name="connsiteX2-5" fmla="*/ 0 w 1393933"/>
                      <a:gd name="connsiteY2-6" fmla="*/ 0 h 1393933"/>
                      <a:gd name="connsiteX3-7" fmla="*/ 1302493 w 1393933"/>
                      <a:gd name="connsiteY3-8" fmla="*/ 0 h 1393933"/>
                      <a:gd name="connsiteX4-9" fmla="*/ 1393933 w 1393933"/>
                      <a:gd name="connsiteY4-10" fmla="*/ 1393933 h 1393933"/>
                      <a:gd name="connsiteX0-11" fmla="*/ 0 w 1393933"/>
                      <a:gd name="connsiteY0-12" fmla="*/ 1302493 h 1393933"/>
                      <a:gd name="connsiteX1-13" fmla="*/ 0 w 1393933"/>
                      <a:gd name="connsiteY1-14" fmla="*/ 0 h 1393933"/>
                      <a:gd name="connsiteX2-15" fmla="*/ 1302493 w 1393933"/>
                      <a:gd name="connsiteY2-16" fmla="*/ 0 h 1393933"/>
                      <a:gd name="connsiteX3-17" fmla="*/ 1393933 w 1393933"/>
                      <a:gd name="connsiteY3-18" fmla="*/ 1393933 h 1393933"/>
                      <a:gd name="connsiteX0-19" fmla="*/ 0 w 1302493"/>
                      <a:gd name="connsiteY0-20" fmla="*/ 1302493 h 1302493"/>
                      <a:gd name="connsiteX1-21" fmla="*/ 0 w 1302493"/>
                      <a:gd name="connsiteY1-22" fmla="*/ 0 h 1302493"/>
                      <a:gd name="connsiteX2-23" fmla="*/ 1302493 w 1302493"/>
                      <a:gd name="connsiteY2-24" fmla="*/ 0 h 1302493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0" name="Group 69"/>
                <p:cNvGrpSpPr/>
                <p:nvPr/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71" name="Freeform: Shape 70"/>
                  <p:cNvSpPr/>
                  <p:nvPr/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2" name="Freeform: Shape 71"/>
                  <p:cNvSpPr/>
                  <p:nvPr/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64" name="Group 63"/>
              <p:cNvGrpSpPr/>
              <p:nvPr/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65" name="Group 64"/>
                <p:cNvGrpSpPr/>
                <p:nvPr/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67" name="Freeform 68"/>
                  <p:cNvSpPr/>
                  <p:nvPr/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68" name="Freeform 69"/>
                  <p:cNvSpPr/>
                  <p:nvPr/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6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2" name="Group 21"/>
            <p:cNvGrpSpPr/>
            <p:nvPr/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23" name="Oval 22"/>
              <p:cNvSpPr/>
              <p:nvPr/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4" name="Group 23"/>
              <p:cNvGrpSpPr/>
              <p:nvPr/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39" name="Freeform 64"/>
                <p:cNvSpPr/>
                <p:nvPr/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0" name="Freeform 81"/>
                <p:cNvSpPr/>
                <p:nvPr/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1" name="Freeform 61"/>
                <p:cNvSpPr/>
                <p:nvPr/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2" name="Freeform 78"/>
                <p:cNvSpPr/>
                <p:nvPr/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3" name="Freeform 84"/>
                <p:cNvSpPr/>
                <p:nvPr/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4" name="Freeform 87"/>
                <p:cNvSpPr/>
                <p:nvPr/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5" name="Freeform 60"/>
                <p:cNvSpPr/>
                <p:nvPr/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6" name="Freeform 59"/>
                <p:cNvSpPr/>
                <p:nvPr/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7" name="Freeform 62"/>
                <p:cNvSpPr/>
                <p:nvPr/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 dirty="0"/>
                </a:p>
              </p:txBody>
            </p:sp>
            <p:sp>
              <p:nvSpPr>
                <p:cNvPr id="48" name="Freeform 65"/>
                <p:cNvSpPr/>
                <p:nvPr/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9" name="Freeform 79"/>
                <p:cNvSpPr/>
                <p:nvPr/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50" name="Freeform 82"/>
                <p:cNvSpPr/>
                <p:nvPr/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51" name="Freeform 85"/>
                <p:cNvSpPr/>
                <p:nvPr/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52" name="Freeform 88"/>
                <p:cNvSpPr/>
                <p:nvPr/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grpSp>
              <p:nvGrpSpPr>
                <p:cNvPr id="53" name="Group 52"/>
                <p:cNvGrpSpPr/>
                <p:nvPr/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54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55" name="Line 6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56" name="Line 6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57" name="Line 80"/>
                  <p:cNvSpPr>
                    <a:spLocks noChangeShapeType="1"/>
                  </p:cNvSpPr>
                  <p:nvPr/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58" name="Line 8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59" name="Line 86"/>
                  <p:cNvSpPr>
                    <a:spLocks noChangeShapeType="1"/>
                  </p:cNvSpPr>
                  <p:nvPr/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60" name="Line 8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5" name="Group 24"/>
              <p:cNvGrpSpPr/>
              <p:nvPr/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31" name="Group 30"/>
                <p:cNvGrpSpPr/>
                <p:nvPr/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35" name="Straight Connector 34"/>
                  <p:cNvCxnSpPr/>
                  <p:nvPr/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/>
                  <p:cNvCxnSpPr/>
                  <p:nvPr/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7" name="Rectangle 30"/>
                  <p:cNvSpPr/>
                  <p:nvPr/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-1" fmla="*/ 1302493 w 1393933"/>
                      <a:gd name="connsiteY0-2" fmla="*/ 1302493 h 1393933"/>
                      <a:gd name="connsiteX1-3" fmla="*/ 0 w 1393933"/>
                      <a:gd name="connsiteY1-4" fmla="*/ 1302493 h 1393933"/>
                      <a:gd name="connsiteX2-5" fmla="*/ 0 w 1393933"/>
                      <a:gd name="connsiteY2-6" fmla="*/ 0 h 1393933"/>
                      <a:gd name="connsiteX3-7" fmla="*/ 1302493 w 1393933"/>
                      <a:gd name="connsiteY3-8" fmla="*/ 0 h 1393933"/>
                      <a:gd name="connsiteX4-9" fmla="*/ 1393933 w 1393933"/>
                      <a:gd name="connsiteY4-10" fmla="*/ 1393933 h 1393933"/>
                      <a:gd name="connsiteX0-11" fmla="*/ 0 w 1393933"/>
                      <a:gd name="connsiteY0-12" fmla="*/ 1302493 h 1393933"/>
                      <a:gd name="connsiteX1-13" fmla="*/ 0 w 1393933"/>
                      <a:gd name="connsiteY1-14" fmla="*/ 0 h 1393933"/>
                      <a:gd name="connsiteX2-15" fmla="*/ 1302493 w 1393933"/>
                      <a:gd name="connsiteY2-16" fmla="*/ 0 h 1393933"/>
                      <a:gd name="connsiteX3-17" fmla="*/ 1393933 w 1393933"/>
                      <a:gd name="connsiteY3-18" fmla="*/ 1393933 h 1393933"/>
                      <a:gd name="connsiteX0-19" fmla="*/ 0 w 1302493"/>
                      <a:gd name="connsiteY0-20" fmla="*/ 1302493 h 1302493"/>
                      <a:gd name="connsiteX1-21" fmla="*/ 0 w 1302493"/>
                      <a:gd name="connsiteY1-22" fmla="*/ 0 h 1302493"/>
                      <a:gd name="connsiteX2-23" fmla="*/ 1302493 w 1302493"/>
                      <a:gd name="connsiteY2-24" fmla="*/ 0 h 1302493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Rectangle 30"/>
                  <p:cNvSpPr/>
                  <p:nvPr/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-1" fmla="*/ 1302493 w 1393933"/>
                      <a:gd name="connsiteY0-2" fmla="*/ 1302493 h 1393933"/>
                      <a:gd name="connsiteX1-3" fmla="*/ 0 w 1393933"/>
                      <a:gd name="connsiteY1-4" fmla="*/ 1302493 h 1393933"/>
                      <a:gd name="connsiteX2-5" fmla="*/ 0 w 1393933"/>
                      <a:gd name="connsiteY2-6" fmla="*/ 0 h 1393933"/>
                      <a:gd name="connsiteX3-7" fmla="*/ 1302493 w 1393933"/>
                      <a:gd name="connsiteY3-8" fmla="*/ 0 h 1393933"/>
                      <a:gd name="connsiteX4-9" fmla="*/ 1393933 w 1393933"/>
                      <a:gd name="connsiteY4-10" fmla="*/ 1393933 h 1393933"/>
                      <a:gd name="connsiteX0-11" fmla="*/ 0 w 1393933"/>
                      <a:gd name="connsiteY0-12" fmla="*/ 1302493 h 1393933"/>
                      <a:gd name="connsiteX1-13" fmla="*/ 0 w 1393933"/>
                      <a:gd name="connsiteY1-14" fmla="*/ 0 h 1393933"/>
                      <a:gd name="connsiteX2-15" fmla="*/ 1302493 w 1393933"/>
                      <a:gd name="connsiteY2-16" fmla="*/ 0 h 1393933"/>
                      <a:gd name="connsiteX3-17" fmla="*/ 1393933 w 1393933"/>
                      <a:gd name="connsiteY3-18" fmla="*/ 1393933 h 1393933"/>
                      <a:gd name="connsiteX0-19" fmla="*/ 0 w 1302493"/>
                      <a:gd name="connsiteY0-20" fmla="*/ 1302493 h 1302493"/>
                      <a:gd name="connsiteX1-21" fmla="*/ 0 w 1302493"/>
                      <a:gd name="connsiteY1-22" fmla="*/ 0 h 1302493"/>
                      <a:gd name="connsiteX2-23" fmla="*/ 1302493 w 1302493"/>
                      <a:gd name="connsiteY2-24" fmla="*/ 0 h 1302493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" name="Group 31"/>
                <p:cNvGrpSpPr/>
                <p:nvPr/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33" name="Freeform: Shape 32"/>
                  <p:cNvSpPr/>
                  <p:nvPr/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Freeform: Shape 33"/>
                  <p:cNvSpPr/>
                  <p:nvPr/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26" name="Group 25"/>
              <p:cNvGrpSpPr/>
              <p:nvPr/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27" name="Group 26"/>
                <p:cNvGrpSpPr/>
                <p:nvPr/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29" name="Freeform 68"/>
                  <p:cNvSpPr/>
                  <p:nvPr/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  <p:sp>
                <p:nvSpPr>
                  <p:cNvPr id="30" name="Freeform 69"/>
                  <p:cNvSpPr/>
                  <p:nvPr/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8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" name="TextBox 2"/>
          <p:cNvSpPr txBox="1"/>
          <p:nvPr/>
        </p:nvSpPr>
        <p:spPr>
          <a:xfrm>
            <a:off x="643485" y="2743020"/>
            <a:ext cx="42883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pple Braille" pitchFamily="2" charset="0"/>
              </a:rPr>
              <a:t>二</a:t>
            </a:r>
            <a:r>
              <a:rPr lang="zh-CN" altLang="en-US" sz="2400" b="1" dirty="0">
                <a:latin typeface="Apple Braille" pitchFamily="2" charset="0"/>
              </a:rPr>
              <a:t>、写作背景：</a:t>
            </a:r>
            <a:endParaRPr lang="en-US" altLang="zh-CN" sz="2400" b="1" dirty="0">
              <a:latin typeface="Apple Braille" pitchFamily="2" charset="0"/>
            </a:endParaRPr>
          </a:p>
          <a:p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饮食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一文的时代语境和创作旨归</a:t>
            </a:r>
            <a:endParaRPr lang="en-US" sz="2000" dirty="0">
              <a:latin typeface="Apple Braille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3485" y="1820335"/>
            <a:ext cx="55419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Apple Braille" pitchFamily="2" charset="0"/>
              </a:rPr>
              <a:t>一、作者介绍：</a:t>
            </a:r>
            <a:endParaRPr lang="en-US" altLang="zh-CN" sz="2400" b="1" dirty="0">
              <a:latin typeface="Apple Braille" pitchFamily="2" charset="0"/>
            </a:endParaRPr>
          </a:p>
          <a:p>
            <a:r>
              <a:rPr lang="zh-CN" altLang="en-US" sz="2000" dirty="0">
                <a:latin typeface="Apple Braille" pitchFamily="2" charset="0"/>
              </a:rPr>
              <a:t>作者自评：“两脚踏东西文化，一心评宇宙文章”</a:t>
            </a:r>
            <a:endParaRPr lang="en-US" sz="2000" dirty="0">
              <a:latin typeface="Apple Braille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3485" y="3767751"/>
            <a:ext cx="63401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Apple Braille" pitchFamily="2" charset="0"/>
              </a:rPr>
              <a:t>三、文本分析</a:t>
            </a:r>
            <a:r>
              <a:rPr lang="en-US" altLang="zh-CN" sz="2400" b="1" dirty="0">
                <a:latin typeface="Apple Braille" pitchFamily="2" charset="0"/>
              </a:rPr>
              <a:t>:</a:t>
            </a:r>
          </a:p>
          <a:p>
            <a:r>
              <a:rPr lang="zh-CN" altLang="en-US" sz="2000" dirty="0">
                <a:latin typeface="Apple Braille" pitchFamily="2" charset="0"/>
              </a:rPr>
              <a:t>剖析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饮食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文本中的写作手法，体悟作者的行文艺术</a:t>
            </a:r>
            <a:endParaRPr lang="en-US" sz="2000" dirty="0">
              <a:latin typeface="Apple Braille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239" y="4914491"/>
            <a:ext cx="22365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pple Braille" pitchFamily="2" charset="0"/>
              </a:rPr>
              <a:t>四</a:t>
            </a:r>
            <a:r>
              <a:rPr lang="zh-CN" altLang="en-US" sz="2400" b="1" dirty="0">
                <a:latin typeface="Apple Braille" pitchFamily="2" charset="0"/>
              </a:rPr>
              <a:t>、总结</a:t>
            </a:r>
            <a:r>
              <a:rPr lang="en-US" altLang="zh-CN" sz="2400" b="1" dirty="0">
                <a:latin typeface="Apple Braille" pitchFamily="2" charset="0"/>
              </a:rPr>
              <a:t>:</a:t>
            </a:r>
          </a:p>
          <a:p>
            <a:r>
              <a:rPr lang="zh-CN" altLang="en-US" sz="2000" dirty="0">
                <a:latin typeface="Apple Braille" pitchFamily="2" charset="0"/>
              </a:rPr>
              <a:t>林语堂的中西态度</a:t>
            </a:r>
            <a:endParaRPr lang="en-US" sz="2000" dirty="0">
              <a:latin typeface="Apple Braille" pitchFamily="2" charset="0"/>
            </a:endParaRPr>
          </a:p>
        </p:txBody>
      </p:sp>
      <p:sp>
        <p:nvSpPr>
          <p:cNvPr id="103" name="Title 102"/>
          <p:cNvSpPr>
            <a:spLocks noGrp="1"/>
          </p:cNvSpPr>
          <p:nvPr>
            <p:ph type="title"/>
          </p:nvPr>
        </p:nvSpPr>
        <p:spPr>
          <a:xfrm>
            <a:off x="643486" y="897650"/>
            <a:ext cx="1216541" cy="694650"/>
          </a:xfrm>
        </p:spPr>
        <p:txBody>
          <a:bodyPr>
            <a:normAutofit/>
          </a:bodyPr>
          <a:lstStyle/>
          <a:p>
            <a:r>
              <a:rPr lang="en-US" sz="3600" dirty="0"/>
              <a:t>目录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53" y="1290327"/>
            <a:ext cx="3813049" cy="46929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172150" y="617313"/>
            <a:ext cx="6368902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pple Braille" pitchFamily="2" charset="0"/>
              </a:rPr>
              <a:t>林语堂（</a:t>
            </a:r>
            <a:r>
              <a:rPr lang="en-US" altLang="zh-CN" sz="2000" dirty="0">
                <a:latin typeface="Apple Braille" pitchFamily="2" charset="0"/>
              </a:rPr>
              <a:t>1895</a:t>
            </a:r>
            <a:r>
              <a:rPr lang="zh-CN" altLang="en-US" sz="2000" dirty="0">
                <a:latin typeface="Apple Braille" pitchFamily="2" charset="0"/>
              </a:rPr>
              <a:t>年</a:t>
            </a:r>
            <a:r>
              <a:rPr lang="en-US" altLang="zh-CN" sz="2000" dirty="0">
                <a:latin typeface="Apple Braille" pitchFamily="2" charset="0"/>
              </a:rPr>
              <a:t>10</a:t>
            </a:r>
            <a:r>
              <a:rPr lang="zh-CN" altLang="en-US" sz="2000" dirty="0">
                <a:latin typeface="Apple Braille" pitchFamily="2" charset="0"/>
              </a:rPr>
              <a:t>月</a:t>
            </a:r>
            <a:r>
              <a:rPr lang="en-US" altLang="zh-CN" sz="2000" dirty="0">
                <a:latin typeface="Apple Braille" pitchFamily="2" charset="0"/>
              </a:rPr>
              <a:t>10</a:t>
            </a:r>
            <a:r>
              <a:rPr lang="zh-CN" altLang="en-US" sz="2000" dirty="0">
                <a:latin typeface="Apple Braille" pitchFamily="2" charset="0"/>
              </a:rPr>
              <a:t>日</a:t>
            </a:r>
            <a:r>
              <a:rPr lang="en-US" altLang="zh-CN" sz="2000" dirty="0">
                <a:latin typeface="Apple Braille" pitchFamily="2" charset="0"/>
              </a:rPr>
              <a:t>-1976</a:t>
            </a:r>
            <a:r>
              <a:rPr lang="zh-CN" altLang="en-US" sz="2000" dirty="0">
                <a:latin typeface="Apple Braille" pitchFamily="2" charset="0"/>
              </a:rPr>
              <a:t>年</a:t>
            </a:r>
            <a:r>
              <a:rPr lang="en-US" altLang="zh-CN" sz="2000" dirty="0">
                <a:latin typeface="Apple Braille" pitchFamily="2" charset="0"/>
              </a:rPr>
              <a:t>3</a:t>
            </a:r>
            <a:r>
              <a:rPr lang="zh-CN" altLang="en-US" sz="2000" dirty="0">
                <a:latin typeface="Apple Braille" pitchFamily="2" charset="0"/>
              </a:rPr>
              <a:t>月</a:t>
            </a:r>
            <a:r>
              <a:rPr lang="en-US" altLang="zh-CN" sz="2000" dirty="0">
                <a:latin typeface="Apple Braille" pitchFamily="2" charset="0"/>
              </a:rPr>
              <a:t>26</a:t>
            </a:r>
            <a:r>
              <a:rPr lang="zh-CN" altLang="en-US" sz="2000" dirty="0">
                <a:latin typeface="Apple Braille" pitchFamily="2" charset="0"/>
              </a:rPr>
              <a:t>日）福建龙溪人，中国现代著名作家、学者、翻译家、语言学家</a:t>
            </a:r>
            <a:endParaRPr lang="en-US" altLang="zh-CN" sz="2000" dirty="0">
              <a:latin typeface="Apple Braille" pitchFamily="2" charset="0"/>
            </a:endParaRPr>
          </a:p>
          <a:p>
            <a:endParaRPr lang="en-US" altLang="zh-CN" dirty="0">
              <a:latin typeface="Apple Braille" pitchFamily="2" charset="0"/>
            </a:endParaRPr>
          </a:p>
          <a:p>
            <a:r>
              <a:rPr lang="en-US" altLang="zh-CN" sz="2000" dirty="0">
                <a:latin typeface="Apple Braille" pitchFamily="2" charset="0"/>
              </a:rPr>
              <a:t>1895</a:t>
            </a:r>
            <a:r>
              <a:rPr lang="zh-CN" altLang="en-US" sz="2000" dirty="0">
                <a:latin typeface="Apple Braille" pitchFamily="2" charset="0"/>
              </a:rPr>
              <a:t>年，林语堂出生于福建龙溪一个基督教家庭，</a:t>
            </a:r>
            <a:r>
              <a:rPr lang="en-US" altLang="zh-CN" sz="2000" dirty="0">
                <a:latin typeface="Apple Braille" pitchFamily="2" charset="0"/>
              </a:rPr>
              <a:t>10</a:t>
            </a:r>
            <a:r>
              <a:rPr lang="zh-CN" altLang="en-US" sz="2000" dirty="0">
                <a:latin typeface="Apple Braille" pitchFamily="2" charset="0"/>
              </a:rPr>
              <a:t>岁就读厦门教会学校，</a:t>
            </a:r>
            <a:r>
              <a:rPr lang="en-US" altLang="zh-CN" sz="2000" dirty="0">
                <a:latin typeface="Apple Braille" pitchFamily="2" charset="0"/>
              </a:rPr>
              <a:t>13</a:t>
            </a:r>
            <a:r>
              <a:rPr lang="zh-CN" altLang="en-US" sz="2000" dirty="0">
                <a:latin typeface="Apple Braille" pitchFamily="2" charset="0"/>
              </a:rPr>
              <a:t>岁入厦门寻源书院读中学。</a:t>
            </a:r>
            <a:endParaRPr lang="en-US" altLang="zh-CN" sz="2000" dirty="0">
              <a:latin typeface="Apple Braille" pitchFamily="2" charset="0"/>
            </a:endParaRPr>
          </a:p>
          <a:p>
            <a:r>
              <a:rPr lang="en-US" altLang="zh-CN" sz="2000" dirty="0">
                <a:latin typeface="Apple Braille" pitchFamily="2" charset="0"/>
              </a:rPr>
              <a:t>1912</a:t>
            </a:r>
            <a:r>
              <a:rPr lang="zh-CN" altLang="en-US" sz="2000" dirty="0">
                <a:latin typeface="Apple Braille" pitchFamily="2" charset="0"/>
              </a:rPr>
              <a:t>年，</a:t>
            </a:r>
            <a:r>
              <a:rPr lang="en-US" altLang="zh-CN" sz="2000" dirty="0">
                <a:latin typeface="Apple Braille" pitchFamily="2" charset="0"/>
              </a:rPr>
              <a:t>17</a:t>
            </a:r>
            <a:r>
              <a:rPr lang="zh-CN" altLang="en-US" sz="2000" dirty="0">
                <a:latin typeface="Apple Braille" pitchFamily="2" charset="0"/>
              </a:rPr>
              <a:t>岁的林语堂前往上海圣约翰大学学习，留学美国、德国，获哈佛大学文学硕士，莱比锡大学语言学博士。</a:t>
            </a:r>
            <a:endParaRPr lang="en-US" altLang="zh-CN" sz="2000" dirty="0">
              <a:latin typeface="Apple Braille" pitchFamily="2" charset="0"/>
            </a:endParaRPr>
          </a:p>
          <a:p>
            <a:endParaRPr lang="en-US" altLang="zh-CN" sz="2000" dirty="0">
              <a:latin typeface="Apple Braille" pitchFamily="2" charset="0"/>
            </a:endParaRPr>
          </a:p>
          <a:p>
            <a:r>
              <a:rPr lang="en-US" altLang="zh-CN" sz="2000" dirty="0">
                <a:latin typeface="Apple Braille" pitchFamily="2" charset="0"/>
              </a:rPr>
              <a:t>1923</a:t>
            </a:r>
            <a:r>
              <a:rPr lang="zh-CN" altLang="en-US" sz="2000" dirty="0">
                <a:latin typeface="Apple Braille" pitchFamily="2" charset="0"/>
              </a:rPr>
              <a:t>年获博士学位后回国，任北京大学教授、北京女子师范大学教务长和英文系主任。</a:t>
            </a:r>
            <a:endParaRPr lang="en-US" sz="2000" dirty="0">
              <a:latin typeface="Apple Braille" pitchFamily="2" charset="0"/>
            </a:endParaRPr>
          </a:p>
          <a:p>
            <a:r>
              <a:rPr lang="en-US" altLang="zh-CN" sz="2000" dirty="0">
                <a:latin typeface="Apple Braille" pitchFamily="2" charset="0"/>
              </a:rPr>
              <a:t>1932</a:t>
            </a:r>
            <a:r>
              <a:rPr lang="zh-CN" altLang="en-US" sz="2000" dirty="0">
                <a:latin typeface="Apple Braille" pitchFamily="2" charset="0"/>
              </a:rPr>
              <a:t>年至</a:t>
            </a:r>
            <a:r>
              <a:rPr lang="en-US" altLang="zh-CN" sz="2000" dirty="0">
                <a:latin typeface="Apple Braille" pitchFamily="2" charset="0"/>
              </a:rPr>
              <a:t>1935</a:t>
            </a:r>
            <a:r>
              <a:rPr lang="zh-CN" altLang="en-US" sz="2000" dirty="0">
                <a:latin typeface="Apple Braille" pitchFamily="2" charset="0"/>
              </a:rPr>
              <a:t>年，先后创办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论语</a:t>
            </a:r>
            <a:r>
              <a:rPr lang="en-US" altLang="zh-CN" sz="2000" dirty="0">
                <a:latin typeface="Apple Braille" pitchFamily="2" charset="0"/>
              </a:rPr>
              <a:t>》《</a:t>
            </a:r>
            <a:r>
              <a:rPr lang="zh-CN" altLang="en-US" sz="2000" dirty="0">
                <a:latin typeface="Apple Braille" pitchFamily="2" charset="0"/>
              </a:rPr>
              <a:t>人间世</a:t>
            </a:r>
            <a:r>
              <a:rPr lang="en-US" altLang="zh-CN" sz="2000" dirty="0">
                <a:latin typeface="Apple Braille" pitchFamily="2" charset="0"/>
              </a:rPr>
              <a:t>》《</a:t>
            </a:r>
            <a:r>
              <a:rPr lang="zh-CN" altLang="en-US" sz="2000" dirty="0">
                <a:latin typeface="Apple Braille" pitchFamily="2" charset="0"/>
              </a:rPr>
              <a:t>宇宙风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等刊物。</a:t>
            </a:r>
            <a:endParaRPr lang="en-US" sz="2000" dirty="0">
              <a:latin typeface="Apple Braille" pitchFamily="2" charset="0"/>
            </a:endParaRPr>
          </a:p>
          <a:p>
            <a:r>
              <a:rPr lang="en-US" altLang="zh-CN" sz="2000" dirty="0">
                <a:latin typeface="Apple Braille" pitchFamily="2" charset="0"/>
              </a:rPr>
              <a:t>1935</a:t>
            </a:r>
            <a:r>
              <a:rPr lang="zh-CN" altLang="en-US" sz="2000" dirty="0">
                <a:latin typeface="Apple Braille" pitchFamily="2" charset="0"/>
              </a:rPr>
              <a:t>年后，创作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吾国与吾民</a:t>
            </a:r>
            <a:r>
              <a:rPr lang="en-US" altLang="zh-CN" sz="2000" dirty="0">
                <a:latin typeface="Apple Braille" pitchFamily="2" charset="0"/>
              </a:rPr>
              <a:t>》《</a:t>
            </a:r>
            <a:r>
              <a:rPr lang="zh-CN" altLang="en-US" sz="2000" dirty="0">
                <a:latin typeface="Apple Braille" pitchFamily="2" charset="0"/>
              </a:rPr>
              <a:t>风声鹤唳</a:t>
            </a:r>
            <a:r>
              <a:rPr lang="en-US" altLang="zh-CN" sz="2000" dirty="0">
                <a:latin typeface="Apple Braille" pitchFamily="2" charset="0"/>
              </a:rPr>
              <a:t>》《</a:t>
            </a:r>
            <a:r>
              <a:rPr lang="zh-CN" altLang="en-US" sz="2000" dirty="0">
                <a:latin typeface="Apple Braille" pitchFamily="2" charset="0"/>
              </a:rPr>
              <a:t>京华烟云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等文化著作和长篇小说。</a:t>
            </a:r>
            <a:endParaRPr lang="en-US" sz="2000" dirty="0">
              <a:latin typeface="Apple Braille" pitchFamily="2" charset="0"/>
            </a:endParaRPr>
          </a:p>
          <a:p>
            <a:r>
              <a:rPr lang="en-US" altLang="zh-CN" sz="2000" dirty="0">
                <a:latin typeface="Apple Braille" pitchFamily="2" charset="0"/>
              </a:rPr>
              <a:t>1966</a:t>
            </a:r>
            <a:r>
              <a:rPr lang="zh-CN" altLang="en-US" sz="2000" dirty="0">
                <a:latin typeface="Apple Braille" pitchFamily="2" charset="0"/>
              </a:rPr>
              <a:t>年定居台湾，</a:t>
            </a:r>
            <a:r>
              <a:rPr lang="en-US" altLang="zh-CN" sz="2000" dirty="0">
                <a:latin typeface="Apple Braille" pitchFamily="2" charset="0"/>
              </a:rPr>
              <a:t>1967</a:t>
            </a:r>
            <a:r>
              <a:rPr lang="zh-CN" altLang="en-US" sz="2000" dirty="0">
                <a:latin typeface="Apple Braille" pitchFamily="2" charset="0"/>
              </a:rPr>
              <a:t>年受聘为香港中文大学研究教授，主持编撰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林语堂当代汉英词典</a:t>
            </a:r>
            <a:r>
              <a:rPr lang="en-US" altLang="zh-CN" sz="2000" dirty="0">
                <a:latin typeface="Apple Braille" pitchFamily="2" charset="0"/>
              </a:rPr>
              <a:t>》</a:t>
            </a:r>
          </a:p>
          <a:p>
            <a:r>
              <a:rPr lang="en-US" sz="2000" dirty="0">
                <a:latin typeface="Apple Braille" pitchFamily="2" charset="0"/>
              </a:rPr>
              <a:t>1976</a:t>
            </a:r>
            <a:r>
              <a:rPr lang="zh-CN" altLang="en-US" sz="2000" dirty="0">
                <a:latin typeface="Apple Braille" pitchFamily="2" charset="0"/>
              </a:rPr>
              <a:t>年</a:t>
            </a:r>
            <a:r>
              <a:rPr lang="en-US" altLang="zh-CN" sz="2000" dirty="0">
                <a:latin typeface="Apple Braille" pitchFamily="2" charset="0"/>
              </a:rPr>
              <a:t>3</a:t>
            </a:r>
            <a:r>
              <a:rPr lang="zh-CN" altLang="en-US" sz="2000" dirty="0">
                <a:latin typeface="Apple Braille" pitchFamily="2" charset="0"/>
              </a:rPr>
              <a:t>月</a:t>
            </a:r>
            <a:r>
              <a:rPr lang="en-US" altLang="zh-CN" sz="2000" dirty="0">
                <a:latin typeface="Apple Braille" pitchFamily="2" charset="0"/>
              </a:rPr>
              <a:t>26</a:t>
            </a:r>
            <a:r>
              <a:rPr lang="zh-CN" altLang="en-US" sz="2000" dirty="0">
                <a:latin typeface="Apple Braille" pitchFamily="2" charset="0"/>
              </a:rPr>
              <a:t>日在中国香港逝世，享年</a:t>
            </a:r>
            <a:r>
              <a:rPr lang="en-US" altLang="zh-CN" sz="2000" dirty="0">
                <a:latin typeface="Apple Braille" pitchFamily="2" charset="0"/>
              </a:rPr>
              <a:t>82</a:t>
            </a:r>
            <a:r>
              <a:rPr lang="zh-CN" altLang="en-US" sz="2000" dirty="0">
                <a:latin typeface="Apple Braille" pitchFamily="2" charset="0"/>
              </a:rPr>
              <a:t>岁。</a:t>
            </a:r>
            <a:endParaRPr lang="en-US" sz="2000" dirty="0">
              <a:latin typeface="Apple Braille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7453" y="354805"/>
            <a:ext cx="3813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一、作者介绍</a:t>
            </a:r>
            <a:endParaRPr lang="en-US" altLang="zh-CN" sz="2800" b="1" dirty="0">
              <a:latin typeface="Apple Braille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09280" y="1462606"/>
            <a:ext cx="6694642" cy="166490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09280" y="3286541"/>
            <a:ext cx="6694642" cy="29323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bldLvl="0" animBg="1"/>
      <p:bldP spid="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093" y="3844796"/>
            <a:ext cx="3619580" cy="2163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7519" y="1043435"/>
            <a:ext cx="652678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pple Braille" pitchFamily="2" charset="0"/>
              </a:rPr>
              <a:t>       </a:t>
            </a:r>
            <a:r>
              <a:rPr lang="zh-CN" altLang="en-US" sz="2000" dirty="0">
                <a:latin typeface="Apple Braille" pitchFamily="2" charset="0"/>
              </a:rPr>
              <a:t>林语堂在详尽探索中西方哲学思想后，于晚年皈依基督教，其哲学探索历程记载于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信仰之旅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一书，他尝自提一副对联曰：</a:t>
            </a:r>
            <a:endParaRPr lang="en-US" altLang="zh-CN" sz="2000" dirty="0">
              <a:latin typeface="Apple Braille" pitchFamily="2" charset="0"/>
            </a:endParaRPr>
          </a:p>
          <a:p>
            <a:endParaRPr lang="en-US" altLang="zh-CN" sz="2000" dirty="0">
              <a:latin typeface="Apple Braille" pitchFamily="2" charset="0"/>
            </a:endParaRPr>
          </a:p>
          <a:p>
            <a:pPr algn="ctr"/>
            <a:r>
              <a:rPr lang="zh-CN" altLang="en-US" sz="2400" b="1" dirty="0">
                <a:latin typeface="Apple Braille" pitchFamily="2" charset="0"/>
              </a:rPr>
              <a:t>“两脚踏</a:t>
            </a:r>
            <a:r>
              <a:rPr lang="zh-CN" altLang="en-US" sz="2400" b="1" u="sng" dirty="0">
                <a:latin typeface="Apple Braille" pitchFamily="2" charset="0"/>
              </a:rPr>
              <a:t>东西文化</a:t>
            </a:r>
            <a:r>
              <a:rPr lang="zh-CN" altLang="en-US" sz="2400" b="1" dirty="0">
                <a:latin typeface="Apple Braille" pitchFamily="2" charset="0"/>
              </a:rPr>
              <a:t>，一心评宇宙文章”。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b="13845"/>
          <a:stretch>
            <a:fillRect/>
          </a:stretch>
        </p:blipFill>
        <p:spPr>
          <a:xfrm>
            <a:off x="525378" y="351599"/>
            <a:ext cx="3463818" cy="33534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37469" y="607600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陈平原教授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327" y="4260127"/>
            <a:ext cx="67056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ple Braille" pitchFamily="2" charset="0"/>
              </a:rPr>
              <a:t>陈平原教授曾在文章中提到</a:t>
            </a:r>
            <a:r>
              <a:rPr lang="zh-CN" altLang="en-US" sz="2000" dirty="0">
                <a:latin typeface="Apple Braille" pitchFamily="2" charset="0"/>
              </a:rPr>
              <a:t>：</a:t>
            </a:r>
            <a:endParaRPr lang="en-US" altLang="zh-CN" sz="2000" dirty="0">
              <a:latin typeface="Apple Braille" pitchFamily="2" charset="0"/>
            </a:endParaRPr>
          </a:p>
          <a:p>
            <a:endParaRPr lang="en-US" altLang="zh-CN" sz="2000" dirty="0">
              <a:latin typeface="Apple Braille" pitchFamily="2" charset="0"/>
            </a:endParaRPr>
          </a:p>
          <a:p>
            <a:r>
              <a:rPr lang="zh-CN" altLang="en-US" sz="2000" dirty="0">
                <a:latin typeface="Apple Braille" pitchFamily="2" charset="0"/>
              </a:rPr>
              <a:t>     </a:t>
            </a:r>
            <a:r>
              <a:rPr lang="zh-CN" altLang="en-US" sz="2400" dirty="0">
                <a:latin typeface="Apple Braille" pitchFamily="2" charset="0"/>
              </a:rPr>
              <a:t>“在中国现代作家中，大概没有人比林语堂更</a:t>
            </a:r>
            <a:r>
              <a:rPr lang="zh-CN" altLang="en-US" sz="2400" b="1" u="sng" dirty="0">
                <a:latin typeface="Apple Braille" pitchFamily="2" charset="0"/>
              </a:rPr>
              <a:t>西洋化</a:t>
            </a:r>
            <a:r>
              <a:rPr lang="zh-CN" altLang="en-US" sz="2400" dirty="0">
                <a:latin typeface="Apple Braille" pitchFamily="2" charset="0"/>
              </a:rPr>
              <a:t>，也没有人比林语堂更</a:t>
            </a:r>
            <a:r>
              <a:rPr lang="zh-CN" altLang="en-US" sz="2400" b="1" u="sng" dirty="0">
                <a:latin typeface="Apple Braille" pitchFamily="2" charset="0"/>
              </a:rPr>
              <a:t>东方化</a:t>
            </a:r>
            <a:r>
              <a:rPr lang="zh-CN" altLang="en-US" sz="2400" dirty="0">
                <a:latin typeface="Apple Braille" pitchFamily="2" charset="0"/>
              </a:rPr>
              <a:t>。”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7453" y="354805"/>
            <a:ext cx="3813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二、写作背景</a:t>
            </a:r>
            <a:endParaRPr lang="en-US" altLang="zh-CN" sz="2800" b="1" dirty="0">
              <a:latin typeface="Apple Braille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11685" t="1009" r="12771" b="-1009"/>
          <a:stretch>
            <a:fillRect/>
          </a:stretch>
        </p:blipFill>
        <p:spPr>
          <a:xfrm>
            <a:off x="479620" y="1302326"/>
            <a:ext cx="3749065" cy="49628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36607" y="458956"/>
            <a:ext cx="697577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pple Braille" pitchFamily="2" charset="0"/>
              </a:rPr>
              <a:t>     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饮食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收录于林语堂先生的散文集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吾国与吾民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的第九章</a:t>
            </a:r>
            <a:r>
              <a:rPr lang="en-US" altLang="zh-CN" sz="2000" dirty="0">
                <a:latin typeface="Apple Braille" pitchFamily="2" charset="0"/>
              </a:rPr>
              <a:t>-</a:t>
            </a:r>
            <a:r>
              <a:rPr lang="zh-CN" altLang="en-US" sz="2000" dirty="0">
                <a:latin typeface="Apple Braille" pitchFamily="2" charset="0"/>
              </a:rPr>
              <a:t>生活的艺术</a:t>
            </a:r>
            <a:endParaRPr lang="en-US" altLang="zh-CN" sz="2000" dirty="0">
              <a:latin typeface="Apple Braille" pitchFamily="2" charset="0"/>
            </a:endParaRPr>
          </a:p>
          <a:p>
            <a:endParaRPr lang="en-US" altLang="zh-CN" sz="2000" dirty="0">
              <a:latin typeface="Apple Braille" pitchFamily="2" charset="0"/>
            </a:endParaRPr>
          </a:p>
          <a:p>
            <a:r>
              <a:rPr lang="zh-CN" altLang="en-US" sz="2000" dirty="0">
                <a:latin typeface="Apple Braille" pitchFamily="2" charset="0"/>
              </a:rPr>
              <a:t>     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饮食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写于</a:t>
            </a:r>
            <a:r>
              <a:rPr lang="en-US" altLang="zh-CN" sz="2000" dirty="0">
                <a:latin typeface="Apple Braille" pitchFamily="2" charset="0"/>
              </a:rPr>
              <a:t>1934 </a:t>
            </a:r>
            <a:r>
              <a:rPr lang="zh-CN" altLang="en-US" sz="2000" dirty="0">
                <a:latin typeface="Apple Braille" pitchFamily="2" charset="0"/>
              </a:rPr>
              <a:t>年，彼时中国正处于内忧外患交织的至暗时刻：</a:t>
            </a:r>
            <a:endParaRPr lang="en-US" altLang="zh-CN" sz="2000" dirty="0">
              <a:latin typeface="Apple Braille" pitchFamily="2" charset="0"/>
            </a:endParaRPr>
          </a:p>
          <a:p>
            <a:endParaRPr lang="en-US" altLang="zh-CN" sz="2000" dirty="0">
              <a:latin typeface="Apple Braille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pple Braille" pitchFamily="2" charset="0"/>
              </a:rPr>
              <a:t>饥荒常态化：如 </a:t>
            </a:r>
            <a:r>
              <a:rPr lang="en-US" altLang="zh-CN" sz="2000" dirty="0">
                <a:latin typeface="Apple Braille" pitchFamily="2" charset="0"/>
              </a:rPr>
              <a:t>1936 </a:t>
            </a:r>
            <a:r>
              <a:rPr lang="zh-CN" altLang="en-US" sz="2000" dirty="0">
                <a:latin typeface="Apple Braille" pitchFamily="2" charset="0"/>
              </a:rPr>
              <a:t>年川甘大饥荒，</a:t>
            </a:r>
            <a:r>
              <a:rPr lang="en-US" altLang="zh-CN" sz="2000" dirty="0">
                <a:latin typeface="Apple Braille" pitchFamily="2" charset="0"/>
              </a:rPr>
              <a:t>3700 </a:t>
            </a:r>
            <a:r>
              <a:rPr lang="zh-CN" altLang="en-US" sz="2000" dirty="0">
                <a:latin typeface="Apple Braille" pitchFamily="2" charset="0"/>
              </a:rPr>
              <a:t>万人受灾，人均赈款仅 </a:t>
            </a:r>
            <a:r>
              <a:rPr lang="en-US" altLang="zh-CN" sz="2000" dirty="0">
                <a:latin typeface="Apple Braille" pitchFamily="2" charset="0"/>
              </a:rPr>
              <a:t>4 </a:t>
            </a:r>
            <a:r>
              <a:rPr lang="zh-CN" altLang="en-US" sz="2000" dirty="0">
                <a:latin typeface="Apple Braille" pitchFamily="2" charset="0"/>
              </a:rPr>
              <a:t>分钱</a:t>
            </a:r>
            <a:endParaRPr lang="en-US" altLang="zh-CN" sz="2000" dirty="0">
              <a:latin typeface="Apple Braille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pple Braille" pitchFamily="2" charset="0"/>
              </a:rPr>
              <a:t>战乱与动荡：“九一八” 事变后东北沦陷，华北局势危在旦夕，</a:t>
            </a:r>
            <a:r>
              <a:rPr lang="en-US" altLang="zh-CN" sz="2000" dirty="0">
                <a:latin typeface="Apple Braille" pitchFamily="2" charset="0"/>
              </a:rPr>
              <a:t>1935 </a:t>
            </a:r>
            <a:r>
              <a:rPr lang="zh-CN" altLang="en-US" sz="2000" dirty="0">
                <a:latin typeface="Apple Braille" pitchFamily="2" charset="0"/>
              </a:rPr>
              <a:t>年 “一二・九” 运动爆发</a:t>
            </a:r>
            <a:endParaRPr lang="en-US" altLang="zh-CN" sz="2000" dirty="0">
              <a:latin typeface="Apple Braille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pple Braille" pitchFamily="2" charset="0"/>
              </a:rPr>
              <a:t>国内正经历东西文化论战，一方面提倡 “全盘西化”，一方面固守传统，文化认同撕裂。</a:t>
            </a:r>
            <a:endParaRPr lang="en-US" altLang="zh-CN" sz="2000" dirty="0">
              <a:latin typeface="Apple Braille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pple Braille" pitchFamily="2" charset="0"/>
              </a:rPr>
              <a:t>西方对中国的偏见：西方媒体与流行文化中，中国形象多为 “黄祸”、愚昧、落后。美国普通民众对中国的了解极度匮乏，甚至认为中国人 “什么都吃” 是野蛮的象征。</a:t>
            </a:r>
            <a:endParaRPr lang="en-US" altLang="zh-CN" sz="2000" dirty="0">
              <a:latin typeface="Apple Braille" pitchFamily="2" charset="0"/>
            </a:endParaRPr>
          </a:p>
          <a:p>
            <a:endParaRPr lang="en-US" sz="2000" dirty="0">
              <a:latin typeface="Apple Braille" pitchFamily="2" charset="0"/>
            </a:endParaRPr>
          </a:p>
          <a:p>
            <a:r>
              <a:rPr lang="zh-CN" altLang="en-US" sz="2000" dirty="0">
                <a:latin typeface="Apple Braille" pitchFamily="2" charset="0"/>
              </a:rPr>
              <a:t>       在赛珍珠的建议下，林语堂于</a:t>
            </a:r>
            <a:r>
              <a:rPr lang="en-US" altLang="zh-CN" sz="2000" dirty="0">
                <a:latin typeface="Apple Braille" pitchFamily="2" charset="0"/>
              </a:rPr>
              <a:t>1935</a:t>
            </a:r>
            <a:r>
              <a:rPr lang="zh-CN" altLang="en-US" sz="2000" dirty="0">
                <a:latin typeface="Apple Braille" pitchFamily="2" charset="0"/>
              </a:rPr>
              <a:t>年出版</a:t>
            </a:r>
            <a:r>
              <a:rPr lang="en-US" altLang="zh-CN" sz="2000" dirty="0">
                <a:latin typeface="Apple Braille" pitchFamily="2" charset="0"/>
              </a:rPr>
              <a:t>《</a:t>
            </a:r>
            <a:r>
              <a:rPr lang="zh-CN" altLang="en-US" sz="2000" dirty="0">
                <a:latin typeface="Apple Braille" pitchFamily="2" charset="0"/>
              </a:rPr>
              <a:t>吾国与吾民</a:t>
            </a:r>
            <a:r>
              <a:rPr lang="en-US" altLang="zh-CN" sz="2000" dirty="0">
                <a:latin typeface="Apple Braille" pitchFamily="2" charset="0"/>
              </a:rPr>
              <a:t>》</a:t>
            </a:r>
            <a:r>
              <a:rPr lang="zh-CN" altLang="en-US" sz="2000" dirty="0">
                <a:latin typeface="Apple Braille" pitchFamily="2" charset="0"/>
              </a:rPr>
              <a:t>，其旨在越过语言的隔膜，较为系统地向西方宣传中国和中国文化。</a:t>
            </a:r>
            <a:endParaRPr lang="en-US" altLang="zh-CN" sz="2000" dirty="0">
              <a:latin typeface="Apple Braille" pitchFamily="2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77453" y="354805"/>
            <a:ext cx="5000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三、文本分析：文章主干内容</a:t>
            </a:r>
            <a:endParaRPr lang="en-US" altLang="zh-CN" sz="2800" b="1" dirty="0">
              <a:latin typeface="Apple Braille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1633" y="2843168"/>
            <a:ext cx="10129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pple Braille" pitchFamily="2" charset="0"/>
              </a:rPr>
              <a:t>时代背景</a:t>
            </a:r>
            <a:r>
              <a:rPr lang="zh-CN" altLang="en-US" sz="2000" dirty="0">
                <a:latin typeface="Apple Braille" pitchFamily="2" charset="0"/>
              </a:rPr>
              <a:t>（前提）：在西方人的视角里，中国人是“贪吃”的，而西方人视“贪吃”为野蛮。</a:t>
            </a:r>
            <a:endParaRPr lang="en-US" sz="2000" dirty="0">
              <a:latin typeface="Apple Braille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17058" y="3540377"/>
            <a:ext cx="8109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pple Braille" pitchFamily="2" charset="0"/>
              </a:rPr>
              <a:t>写作目的</a:t>
            </a:r>
            <a:r>
              <a:rPr lang="zh-CN" altLang="en-US" sz="2000" dirty="0">
                <a:latin typeface="Apple Braille" pitchFamily="2" charset="0"/>
              </a:rPr>
              <a:t>：越过语言的隔膜，较为系统地向西方宣传中国和中国文化</a:t>
            </a:r>
            <a:r>
              <a:rPr lang="zh-CN" altLang="en-US" dirty="0">
                <a:latin typeface="Apple Braille" pitchFamily="2" charset="0"/>
              </a:rPr>
              <a:t>。</a:t>
            </a:r>
            <a:endParaRPr lang="en-US" dirty="0">
              <a:latin typeface="Apple Braille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8034" y="5194340"/>
            <a:ext cx="3841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、驳斥与自证（段落</a:t>
            </a:r>
            <a:r>
              <a:rPr lang="en-US" altLang="zh-CN" sz="2000" b="1" dirty="0"/>
              <a:t>1-</a:t>
            </a:r>
            <a:r>
              <a:rPr lang="zh-CN" altLang="en-US" sz="2000" b="1" dirty="0"/>
              <a:t>段落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）</a:t>
            </a:r>
            <a:endParaRPr lang="en-US" altLang="zh-CN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914572" y="5194340"/>
            <a:ext cx="40062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2</a:t>
            </a:r>
            <a:r>
              <a:rPr lang="zh-CN" altLang="en-US" sz="2000" b="1" dirty="0"/>
              <a:t>、宣传与自省（段落</a:t>
            </a:r>
            <a:r>
              <a:rPr lang="en-US" altLang="zh-CN" sz="2000" b="1" dirty="0"/>
              <a:t>9-</a:t>
            </a:r>
            <a:r>
              <a:rPr lang="zh-CN" altLang="en-US" sz="2000" b="1" dirty="0"/>
              <a:t>段落</a:t>
            </a:r>
            <a:r>
              <a:rPr lang="en-US" altLang="zh-CN" sz="2000" b="1" dirty="0"/>
              <a:t>11</a:t>
            </a:r>
            <a:r>
              <a:rPr lang="zh-CN" altLang="en-US" sz="2000" b="1" dirty="0"/>
              <a:t>）</a:t>
            </a:r>
            <a:endParaRPr lang="en-US" altLang="zh-CN" sz="2000" b="1" dirty="0"/>
          </a:p>
        </p:txBody>
      </p:sp>
      <p:cxnSp>
        <p:nvCxnSpPr>
          <p:cNvPr id="16" name="Curved Connector 15"/>
          <p:cNvCxnSpPr>
            <a:stCxn id="9" idx="1"/>
            <a:endCxn id="11" idx="0"/>
          </p:cNvCxnSpPr>
          <p:nvPr/>
        </p:nvCxnSpPr>
        <p:spPr>
          <a:xfrm rot="10800000" flipH="1" flipV="1">
            <a:off x="1211632" y="3043222"/>
            <a:ext cx="1946959" cy="2151117"/>
          </a:xfrm>
          <a:prstGeom prst="curvedConnector4">
            <a:avLst>
              <a:gd name="adj1" fmla="val -11741"/>
              <a:gd name="adj2" fmla="val 5465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10" idx="3"/>
            <a:endCxn id="12" idx="0"/>
          </p:cNvCxnSpPr>
          <p:nvPr/>
        </p:nvCxnSpPr>
        <p:spPr>
          <a:xfrm flipH="1">
            <a:off x="8917685" y="3740432"/>
            <a:ext cx="1109285" cy="1453908"/>
          </a:xfrm>
          <a:prstGeom prst="curvedConnector4">
            <a:avLst>
              <a:gd name="adj1" fmla="val -20608"/>
              <a:gd name="adj2" fmla="val 5688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105985" y="158931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美食</a:t>
            </a:r>
            <a:r>
              <a:rPr lang="zh-CN" altLang="en-US" sz="2800" b="1" dirty="0"/>
              <a:t>散文</a:t>
            </a:r>
            <a:endParaRPr 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86198-425F-E543-A3D9-66035A76C988}"/>
              </a:ext>
            </a:extLst>
          </p:cNvPr>
          <p:cNvSpPr txBox="1"/>
          <p:nvPr/>
        </p:nvSpPr>
        <p:spPr>
          <a:xfrm>
            <a:off x="6642702" y="158931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？</a:t>
            </a:r>
            <a:endParaRPr lang="en-CN" sz="2800" b="1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4915" y="1011802"/>
            <a:ext cx="79704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</a:t>
            </a:r>
            <a:r>
              <a:rPr lang="zh-CN" altLang="en-US" sz="2000" dirty="0"/>
              <a:t>）</a:t>
            </a:r>
            <a:r>
              <a:rPr lang="en-US" sz="2000" b="1" dirty="0"/>
              <a:t>饮食的选择没有绝对的</a:t>
            </a:r>
            <a:r>
              <a:rPr lang="zh-CN" altLang="en-US" sz="2000" b="1" dirty="0"/>
              <a:t>“优劣”，只有文化的差异和现实情况的影响</a:t>
            </a:r>
            <a:endParaRPr 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74915" y="348229"/>
            <a:ext cx="4575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1</a:t>
            </a:r>
            <a:r>
              <a:rPr lang="zh-CN" altLang="en-US" sz="2400" b="1" dirty="0"/>
              <a:t>、驳斥与自证（段落</a:t>
            </a:r>
            <a:r>
              <a:rPr lang="en-US" altLang="zh-CN" sz="2400" b="1" dirty="0"/>
              <a:t>1-</a:t>
            </a:r>
            <a:r>
              <a:rPr lang="zh-CN" altLang="en-US" sz="2400" b="1" dirty="0"/>
              <a:t>段落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）</a:t>
            </a:r>
            <a:endParaRPr lang="en-US" altLang="zh-CN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86620" y="1600733"/>
            <a:ext cx="10315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西方例子</a:t>
            </a:r>
            <a:r>
              <a:rPr lang="zh-CN" altLang="en-US" sz="2000" dirty="0"/>
              <a:t>：</a:t>
            </a:r>
            <a:r>
              <a:rPr lang="en-US" sz="2000" dirty="0"/>
              <a:t>欧洲</a:t>
            </a:r>
            <a:r>
              <a:rPr lang="en-US" altLang="zh-CN" sz="2000" dirty="0"/>
              <a:t>-</a:t>
            </a:r>
            <a:r>
              <a:rPr lang="zh-CN" altLang="en-US" sz="2000" dirty="0"/>
              <a:t>淡菜类 </a:t>
            </a:r>
            <a:r>
              <a:rPr lang="en-US" altLang="zh-CN" sz="2000" dirty="0"/>
              <a:t>vs</a:t>
            </a:r>
            <a:r>
              <a:rPr lang="zh-CN" altLang="en-US" sz="2000" dirty="0"/>
              <a:t> 美洲</a:t>
            </a:r>
            <a:r>
              <a:rPr lang="en-US" altLang="zh-CN" sz="2000" dirty="0"/>
              <a:t>-</a:t>
            </a:r>
            <a:r>
              <a:rPr lang="zh-CN" altLang="en-US" sz="2000" dirty="0"/>
              <a:t>软壳蛤类  ；  英格兰和波士顿高价出售鲽鱼 </a:t>
            </a:r>
            <a:r>
              <a:rPr lang="en-US" altLang="zh-CN" sz="2000" dirty="0"/>
              <a:t>vs</a:t>
            </a:r>
            <a:r>
              <a:rPr lang="zh-CN" altLang="en-US" sz="2000" dirty="0"/>
              <a:t> 纽芬兰不吃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086620" y="2189664"/>
            <a:ext cx="8135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西方不应以日常饮食标准来批判</a:t>
            </a:r>
            <a:r>
              <a:rPr lang="en-US" sz="2000" dirty="0" err="1"/>
              <a:t>中国人因饥荒的环境而慌不择食</a:t>
            </a:r>
            <a:r>
              <a:rPr lang="zh-CN" altLang="en-US" sz="2000" dirty="0"/>
              <a:t>的行为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474915" y="2850627"/>
            <a:ext cx="31550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2</a:t>
            </a:r>
            <a:r>
              <a:rPr lang="zh-CN" altLang="en-US" sz="2000" dirty="0"/>
              <a:t>）</a:t>
            </a:r>
            <a:r>
              <a:rPr lang="zh-CN" altLang="en-US" sz="2000" b="1" dirty="0"/>
              <a:t>中国人对待饮食的郑重</a:t>
            </a:r>
            <a:endParaRPr lang="en-US" altLang="zh-CN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86621" y="3511590"/>
            <a:ext cx="9131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中法对待美食的</a:t>
            </a:r>
            <a:r>
              <a:rPr lang="zh-CN" altLang="en-US" sz="2000" dirty="0"/>
              <a:t>“热烈”</a:t>
            </a:r>
            <a:r>
              <a:rPr lang="en-US" altLang="zh-CN" sz="2000" dirty="0"/>
              <a:t>——</a:t>
            </a:r>
            <a:r>
              <a:rPr lang="zh-CN" altLang="en-US" sz="2000" dirty="0"/>
              <a:t>以饮食为人生乐趣  </a:t>
            </a:r>
            <a:r>
              <a:rPr lang="en-US" altLang="zh-CN" sz="2000" dirty="0"/>
              <a:t>vs</a:t>
            </a:r>
            <a:r>
              <a:rPr lang="zh-CN" altLang="en-US" sz="2000" dirty="0"/>
              <a:t>  英国“歉疚”地吃</a:t>
            </a:r>
            <a:r>
              <a:rPr lang="en-US" altLang="zh-CN" sz="2000" dirty="0"/>
              <a:t>——</a:t>
            </a:r>
            <a:r>
              <a:rPr lang="zh-CN" altLang="en-US" sz="2000" dirty="0"/>
              <a:t>视饮食为负担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086621" y="4172553"/>
            <a:ext cx="10902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饮食语言的差异</a:t>
            </a:r>
            <a:r>
              <a:rPr lang="zh-CN" altLang="en-US" sz="2000" dirty="0"/>
              <a:t>：“烹饪”</a:t>
            </a:r>
            <a:r>
              <a:rPr lang="en-US" altLang="zh-CN" sz="2000" dirty="0"/>
              <a:t>vs</a:t>
            </a:r>
            <a:r>
              <a:rPr lang="zh-CN" altLang="en-US" sz="2000" dirty="0"/>
              <a:t>“烧” ；“厨师” </a:t>
            </a:r>
            <a:r>
              <a:rPr lang="en-US" altLang="zh-CN" sz="2000" dirty="0"/>
              <a:t>vs</a:t>
            </a:r>
            <a:r>
              <a:rPr lang="zh-CN" altLang="en-US" sz="2000" dirty="0"/>
              <a:t> “火夫； ”菜单“ </a:t>
            </a:r>
            <a:r>
              <a:rPr lang="en-US" altLang="zh-CN" sz="2000" dirty="0"/>
              <a:t>vs</a:t>
            </a:r>
            <a:r>
              <a:rPr lang="zh-CN" altLang="en-US" sz="2000" dirty="0"/>
              <a:t> ”盘碟“ ；”美味品评家” </a:t>
            </a:r>
            <a:r>
              <a:rPr lang="en-US" altLang="zh-CN" sz="2000" dirty="0"/>
              <a:t>vs</a:t>
            </a:r>
            <a:r>
              <a:rPr lang="zh-CN" altLang="en-US" sz="2000" dirty="0"/>
              <a:t> “贪吃星”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501904" y="4833516"/>
            <a:ext cx="3667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3</a:t>
            </a:r>
            <a:r>
              <a:rPr lang="zh-CN" altLang="en-US" sz="2000" dirty="0"/>
              <a:t>）</a:t>
            </a:r>
            <a:r>
              <a:rPr lang="zh-CN" altLang="en-US" sz="2000" b="1" dirty="0"/>
              <a:t>中国人独有的美食精神内涵</a:t>
            </a:r>
            <a:endParaRPr lang="en-US" altLang="zh-CN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104603" y="5494479"/>
            <a:ext cx="79896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中国文化中美食与</a:t>
            </a:r>
            <a:r>
              <a:rPr lang="en-US" sz="2000" u="sng" dirty="0"/>
              <a:t>文人名士</a:t>
            </a:r>
            <a:r>
              <a:rPr lang="en-US" sz="2000" dirty="0"/>
              <a:t>的深度绑定</a:t>
            </a:r>
            <a:r>
              <a:rPr lang="zh-CN" altLang="en-US" sz="2000" dirty="0"/>
              <a:t> </a:t>
            </a:r>
            <a:r>
              <a:rPr lang="en-US" altLang="zh-CN" sz="2000" dirty="0"/>
              <a:t>vs</a:t>
            </a:r>
            <a:r>
              <a:rPr lang="zh-CN" altLang="en-US" sz="2000" dirty="0"/>
              <a:t> 外国名人对美食文化的漠视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1104603" y="6109661"/>
            <a:ext cx="85026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中国人视饮食为</a:t>
            </a:r>
            <a:r>
              <a:rPr lang="zh-CN" altLang="en-US" sz="2000" u="sng" dirty="0"/>
              <a:t>故乡的精神锚点 </a:t>
            </a:r>
            <a:r>
              <a:rPr lang="en-US" altLang="zh-CN" sz="2000" dirty="0"/>
              <a:t>vs</a:t>
            </a:r>
            <a:r>
              <a:rPr lang="zh-CN" altLang="en-US" sz="2000" dirty="0"/>
              <a:t> 西方人不承认饮食带来的依恋乡井之思</a:t>
            </a:r>
            <a:endParaRPr lang="en-US" sz="20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9706" y="279693"/>
            <a:ext cx="4774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2</a:t>
            </a:r>
            <a:r>
              <a:rPr lang="zh-CN" altLang="en-US" sz="2400" b="1" dirty="0"/>
              <a:t>、宣传与自省（段落</a:t>
            </a:r>
            <a:r>
              <a:rPr lang="en-US" altLang="zh-CN" sz="2400" b="1" dirty="0"/>
              <a:t>9-</a:t>
            </a:r>
            <a:r>
              <a:rPr lang="zh-CN" altLang="en-US" sz="2400" b="1" dirty="0"/>
              <a:t>段落</a:t>
            </a:r>
            <a:r>
              <a:rPr lang="en-US" altLang="zh-CN" sz="2400" b="1" dirty="0"/>
              <a:t>11</a:t>
            </a:r>
            <a:r>
              <a:rPr lang="zh-CN" altLang="en-US" sz="2400" b="1" dirty="0"/>
              <a:t>）</a:t>
            </a:r>
            <a:endParaRPr lang="en-US" altLang="zh-CN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05044" y="1033627"/>
            <a:ext cx="2898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</a:t>
            </a:r>
            <a:r>
              <a:rPr lang="zh-CN" altLang="en-US" sz="2000" dirty="0"/>
              <a:t>）</a:t>
            </a:r>
            <a:r>
              <a:rPr lang="zh-CN" altLang="en-US" sz="2000" b="1" dirty="0"/>
              <a:t>介绍中国的烹饪技法</a:t>
            </a:r>
            <a:endParaRPr 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522489" y="1751002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重视感官体验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825" y="976081"/>
            <a:ext cx="6785114" cy="11047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2489" y="2637537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追求滋味调和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3825" y="2395584"/>
            <a:ext cx="7772400" cy="8455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5044" y="3420244"/>
            <a:ext cx="3924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2</a:t>
            </a:r>
            <a:r>
              <a:rPr lang="zh-CN" altLang="en-US" sz="2000" dirty="0"/>
              <a:t>）</a:t>
            </a:r>
            <a:r>
              <a:rPr lang="zh-CN" altLang="en-US" sz="2000" b="1" dirty="0"/>
              <a:t>对中国饮食中铺张浪费的自省</a:t>
            </a:r>
            <a:endParaRPr lang="en-US" altLang="zh-CN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84330" y="4485662"/>
            <a:ext cx="3667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3</a:t>
            </a:r>
            <a:r>
              <a:rPr lang="zh-CN" altLang="en-US" sz="2000" dirty="0"/>
              <a:t>）</a:t>
            </a:r>
            <a:r>
              <a:rPr lang="zh-CN" altLang="en-US" sz="2000" b="1" dirty="0"/>
              <a:t>由饮食文化延伸至饮茶文化</a:t>
            </a:r>
            <a:endParaRPr lang="en-US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522488" y="3952953"/>
            <a:ext cx="85094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并非全面认同中国人的饮食观念</a:t>
            </a:r>
            <a:r>
              <a:rPr lang="zh-CN" altLang="en-US" sz="2000" dirty="0"/>
              <a:t>，指出</a:t>
            </a:r>
            <a:r>
              <a:rPr lang="zh-CN" altLang="en-US" sz="2000" u="sng" dirty="0"/>
              <a:t>无节制、过量、铺张浪费</a:t>
            </a:r>
            <a:r>
              <a:rPr lang="zh-CN" altLang="en-US" sz="2000" dirty="0"/>
              <a:t>的一面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1522489" y="5018371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中国的茶</a:t>
            </a:r>
            <a:r>
              <a:rPr lang="zh-CN" altLang="en-US" sz="2000" dirty="0"/>
              <a:t>～欧洲的酒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705044" y="5578151"/>
            <a:ext cx="31550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4</a:t>
            </a:r>
            <a:r>
              <a:rPr lang="zh-CN" altLang="en-US" sz="2000" dirty="0"/>
              <a:t>）</a:t>
            </a:r>
            <a:r>
              <a:rPr lang="en-US" sz="2000" b="1" dirty="0"/>
              <a:t>对饮茶文化没落的叹息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2489" y="6143566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中国火车头等坐用李普顿茶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7822" y="6136407"/>
            <a:ext cx="5827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中国富豪用外国茶款待希望体验中国茶的外国来宾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8332838" y="1707333"/>
            <a:ext cx="18988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332838" y="2090053"/>
            <a:ext cx="92559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511637" y="2825480"/>
            <a:ext cx="137357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10" grpId="0"/>
      <p:bldP spid="11" grpId="0"/>
      <p:bldP spid="12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709" y="496427"/>
            <a:ext cx="7772400" cy="11719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5246" y="2525386"/>
            <a:ext cx="119811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pple Braille" pitchFamily="2" charset="0"/>
              </a:rPr>
              <a:t>西方流行的偏见</a:t>
            </a:r>
            <a:r>
              <a:rPr lang="zh-CN" altLang="en-US" sz="2400" dirty="0">
                <a:latin typeface="Apple Braille" pitchFamily="2" charset="0"/>
              </a:rPr>
              <a:t>：中国文明是虚无缥缈的“精神文明”；西方文明是实实在在的“物质文明</a:t>
            </a:r>
            <a:endParaRPr lang="en-US" sz="2400" dirty="0">
              <a:latin typeface="Apple Braille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246" y="1996704"/>
            <a:ext cx="5073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pple Braille" pitchFamily="2" charset="0"/>
              </a:rPr>
              <a:t>西方对中国人的误解</a:t>
            </a:r>
            <a:r>
              <a:rPr lang="zh-CN" altLang="en-US" sz="2400" dirty="0">
                <a:latin typeface="Apple Braille" pitchFamily="2" charset="0"/>
              </a:rPr>
              <a:t>：“贪吃”；野蛮</a:t>
            </a:r>
            <a:endParaRPr lang="en-US" sz="2400" dirty="0">
              <a:latin typeface="Apple Braille" pitchFamily="2" charset="0"/>
            </a:endParaRPr>
          </a:p>
        </p:txBody>
      </p:sp>
      <p:sp>
        <p:nvSpPr>
          <p:cNvPr id="8" name="Multiply 7"/>
          <p:cNvSpPr/>
          <p:nvPr/>
        </p:nvSpPr>
        <p:spPr>
          <a:xfrm>
            <a:off x="580533" y="1812069"/>
            <a:ext cx="1004322" cy="135307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1191022" y="3232158"/>
            <a:ext cx="188212" cy="1928626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TextBox 10"/>
          <p:cNvSpPr txBox="1"/>
          <p:nvPr/>
        </p:nvSpPr>
        <p:spPr>
          <a:xfrm>
            <a:off x="1486925" y="322511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pple Braille" pitchFamily="2" charset="0"/>
              </a:rPr>
              <a:t>中西文化的比较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6858" y="3916351"/>
            <a:ext cx="214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Apple Braille" pitchFamily="2" charset="0"/>
              </a:rPr>
              <a:t>“</a:t>
            </a:r>
            <a:r>
              <a:rPr lang="en-US" sz="2400" dirty="0">
                <a:latin typeface="Apple Braille" pitchFamily="2" charset="0"/>
              </a:rPr>
              <a:t>饮食</a:t>
            </a:r>
            <a:r>
              <a:rPr lang="zh-CN" altLang="en-US" sz="2400" dirty="0">
                <a:latin typeface="Apple Braille" pitchFamily="2" charset="0"/>
              </a:rPr>
              <a:t>”</a:t>
            </a:r>
            <a:r>
              <a:rPr lang="en-US" sz="2400" dirty="0">
                <a:latin typeface="Apple Braille" pitchFamily="2" charset="0"/>
              </a:rPr>
              <a:t>的</a:t>
            </a:r>
            <a:r>
              <a:rPr lang="en-US" sz="2400" b="1" u="sng" dirty="0">
                <a:latin typeface="Apple Braille" pitchFamily="2" charset="0"/>
              </a:rPr>
              <a:t>偏好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8924" y="3916350"/>
            <a:ext cx="1999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Apple Braille" pitchFamily="2" charset="0"/>
              </a:rPr>
              <a:t>“</a:t>
            </a:r>
            <a:r>
              <a:rPr lang="en-US" sz="2400" dirty="0">
                <a:latin typeface="Apple Braille" pitchFamily="2" charset="0"/>
              </a:rPr>
              <a:t>饮食</a:t>
            </a:r>
            <a:r>
              <a:rPr lang="zh-CN" altLang="en-US" sz="2400" dirty="0">
                <a:latin typeface="Apple Braille" pitchFamily="2" charset="0"/>
              </a:rPr>
              <a:t>”</a:t>
            </a:r>
            <a:r>
              <a:rPr lang="en-US" sz="2400" dirty="0">
                <a:latin typeface="Apple Braille" pitchFamily="2" charset="0"/>
              </a:rPr>
              <a:t>的</a:t>
            </a:r>
            <a:r>
              <a:rPr lang="en-US" sz="2400" b="1" u="sng" dirty="0">
                <a:latin typeface="Apple Braille" pitchFamily="2" charset="0"/>
              </a:rPr>
              <a:t>态度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8308" y="3898598"/>
            <a:ext cx="1999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Apple Braille" pitchFamily="2" charset="0"/>
              </a:rPr>
              <a:t>“</a:t>
            </a:r>
            <a:r>
              <a:rPr lang="en-US" sz="2400" dirty="0">
                <a:latin typeface="Apple Braille" pitchFamily="2" charset="0"/>
              </a:rPr>
              <a:t>饮食</a:t>
            </a:r>
            <a:r>
              <a:rPr lang="zh-CN" altLang="en-US" sz="2400" dirty="0">
                <a:latin typeface="Apple Braille" pitchFamily="2" charset="0"/>
              </a:rPr>
              <a:t>”</a:t>
            </a:r>
            <a:r>
              <a:rPr lang="en-US" sz="2400" dirty="0">
                <a:latin typeface="Apple Braille" pitchFamily="2" charset="0"/>
              </a:rPr>
              <a:t>的</a:t>
            </a:r>
            <a:r>
              <a:rPr lang="en-US" sz="2400" b="1" u="sng" dirty="0">
                <a:latin typeface="Apple Braille" pitchFamily="2" charset="0"/>
              </a:rPr>
              <a:t>技巧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3476" y="3879017"/>
            <a:ext cx="1999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Apple Braille" pitchFamily="2" charset="0"/>
              </a:rPr>
              <a:t>“</a:t>
            </a:r>
            <a:r>
              <a:rPr lang="en-US" sz="2400" dirty="0">
                <a:latin typeface="Apple Braille" pitchFamily="2" charset="0"/>
              </a:rPr>
              <a:t>饮食</a:t>
            </a:r>
            <a:r>
              <a:rPr lang="zh-CN" altLang="en-US" sz="2400" dirty="0">
                <a:latin typeface="Apple Braille" pitchFamily="2" charset="0"/>
              </a:rPr>
              <a:t>”</a:t>
            </a:r>
            <a:r>
              <a:rPr lang="en-US" sz="2400" dirty="0">
                <a:latin typeface="Apple Braille" pitchFamily="2" charset="0"/>
              </a:rPr>
              <a:t>的</a:t>
            </a:r>
            <a:r>
              <a:rPr lang="en-US" sz="2400" b="1" u="sng" dirty="0">
                <a:latin typeface="Apple Braille" pitchFamily="2" charset="0"/>
              </a:rPr>
              <a:t>内涵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6859" y="4572352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pple Braille" pitchFamily="2" charset="0"/>
              </a:rPr>
              <a:t>介绍</a:t>
            </a:r>
            <a:r>
              <a:rPr lang="zh-CN" altLang="en-US" sz="2400" dirty="0">
                <a:latin typeface="Apple Braille" pitchFamily="2" charset="0"/>
              </a:rPr>
              <a:t>、展示中国人的饮食文化</a:t>
            </a:r>
            <a:endParaRPr lang="en-US" sz="2400" dirty="0">
              <a:latin typeface="Apple Braille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7000" y="5318809"/>
            <a:ext cx="1185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ple Braille" pitchFamily="2" charset="0"/>
              </a:rPr>
              <a:t>从饮食这一角度切入</a:t>
            </a:r>
            <a:r>
              <a:rPr lang="zh-CN" altLang="en-US" sz="2400" dirty="0">
                <a:latin typeface="Apple Braille" pitchFamily="2" charset="0"/>
              </a:rPr>
              <a:t>，向世界展示一种中国式的独特生活美学，证明了中国文明并非空洞的“精神文明”，而是</a:t>
            </a:r>
            <a:r>
              <a:rPr lang="zh-CN" altLang="en-US" sz="2400" b="1" u="sng" dirty="0">
                <a:latin typeface="Apple Braille" pitchFamily="2" charset="0"/>
              </a:rPr>
              <a:t>实实在在的，充满生命力与烟火气</a:t>
            </a:r>
            <a:r>
              <a:rPr lang="zh-CN" altLang="en-US" sz="2400" dirty="0">
                <a:latin typeface="Apple Braille" pitchFamily="2" charset="0"/>
              </a:rPr>
              <a:t>的文明。</a:t>
            </a:r>
            <a:endParaRPr lang="en-US" altLang="zh-CN" sz="2400" dirty="0">
              <a:latin typeface="Apple Braille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77573" y="75631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bldLvl="0" animBg="1"/>
      <p:bldP spid="10" grpId="0" bldLvl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04748" y="4729518"/>
            <a:ext cx="49888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pple Braille" pitchFamily="2" charset="0"/>
              </a:rPr>
              <a:t>“几乎每个命题，林语堂都能从东、西方找到理论依据。可能片面，也可能谬误，但跟创作实践的密切联系，使这些只言片语残章断简获得某种生命力。”</a:t>
            </a:r>
            <a:endParaRPr lang="en-US" altLang="zh-CN" sz="2000" dirty="0">
              <a:latin typeface="Apple Braille" pitchFamily="2" charset="0"/>
            </a:endParaRPr>
          </a:p>
          <a:p>
            <a:pPr algn="r"/>
            <a:r>
              <a:rPr lang="en-US" altLang="zh-CN" sz="2000" dirty="0">
                <a:latin typeface="Apple Braille" pitchFamily="2" charset="0"/>
              </a:rPr>
              <a:t>——</a:t>
            </a:r>
            <a:r>
              <a:rPr lang="zh-CN" altLang="en-US" sz="2000" dirty="0">
                <a:latin typeface="Apple Braille" pitchFamily="2" charset="0"/>
              </a:rPr>
              <a:t>陈平原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7453" y="354805"/>
            <a:ext cx="6373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三、文本赏析：艺术手法</a:t>
            </a:r>
            <a:r>
              <a:rPr lang="en-US" altLang="zh-CN" sz="2800" b="1" dirty="0">
                <a:latin typeface="Apple Braille" pitchFamily="2" charset="0"/>
              </a:rPr>
              <a:t>—</a:t>
            </a:r>
            <a:r>
              <a:rPr lang="zh-CN" altLang="en-US" sz="2800" b="1" dirty="0">
                <a:latin typeface="Apple Braille" pitchFamily="2" charset="0"/>
              </a:rPr>
              <a:t>中西对比</a:t>
            </a:r>
            <a:endParaRPr lang="en-US" altLang="zh-CN" sz="2800" b="1" dirty="0">
              <a:latin typeface="Apple Braille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86" y="985747"/>
            <a:ext cx="6059893" cy="55660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79411" y="978787"/>
            <a:ext cx="2073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中国人热烈地吃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4652" y="978787"/>
            <a:ext cx="2073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英国人歉疚地吃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4297" y="295826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热爱美食，视烹调为艺术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533414" y="295826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功利、克制，仅为生存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959477" y="1460088"/>
            <a:ext cx="2879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饮食语言中用词的对比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852" y="544808"/>
            <a:ext cx="2073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饮食态度的对比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8660" y="1941389"/>
            <a:ext cx="47668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“烹饪”</a:t>
            </a:r>
            <a:r>
              <a:rPr lang="en-US" altLang="zh-CN" sz="2000" dirty="0"/>
              <a:t>vs</a:t>
            </a:r>
            <a:r>
              <a:rPr lang="zh-CN" altLang="en-US" sz="2000" dirty="0"/>
              <a:t>“烧” “厨师” </a:t>
            </a:r>
            <a:r>
              <a:rPr lang="en-US" altLang="zh-CN" sz="2000" dirty="0"/>
              <a:t>vs</a:t>
            </a:r>
            <a:r>
              <a:rPr lang="zh-CN" altLang="en-US" sz="2000" dirty="0"/>
              <a:t> “火夫 </a:t>
            </a:r>
            <a:endParaRPr lang="en-US" altLang="zh-CN" sz="2000" dirty="0"/>
          </a:p>
          <a:p>
            <a:pPr algn="ctr"/>
            <a:r>
              <a:rPr lang="zh-CN" altLang="en-US" sz="2000" dirty="0"/>
              <a:t>”菜单“ </a:t>
            </a:r>
            <a:r>
              <a:rPr lang="en-US" altLang="zh-CN" sz="2000" dirty="0"/>
              <a:t>vs</a:t>
            </a:r>
            <a:r>
              <a:rPr lang="zh-CN" altLang="en-US" sz="2000" dirty="0"/>
              <a:t> ”盘碟“ ”美味品评家” </a:t>
            </a:r>
            <a:r>
              <a:rPr lang="en-US" altLang="zh-CN" sz="2000" dirty="0"/>
              <a:t>vs</a:t>
            </a:r>
            <a:r>
              <a:rPr lang="zh-CN" altLang="en-US" sz="2000" dirty="0"/>
              <a:t> “贪吃星”</a:t>
            </a:r>
            <a:endParaRPr lang="en-US" sz="2000" dirty="0"/>
          </a:p>
        </p:txBody>
      </p:sp>
      <p:sp>
        <p:nvSpPr>
          <p:cNvPr id="16" name="Right Arrow 15"/>
          <p:cNvSpPr/>
          <p:nvPr/>
        </p:nvSpPr>
        <p:spPr>
          <a:xfrm rot="5400000">
            <a:off x="9208583" y="3587339"/>
            <a:ext cx="339073" cy="38807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003708" y="4090107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中国人对待饮食的郑重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943959" y="1610067"/>
            <a:ext cx="8214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498059" y="1913476"/>
            <a:ext cx="99870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115814" y="1913476"/>
            <a:ext cx="1265531" cy="50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66271" y="2203455"/>
            <a:ext cx="17489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586575" y="3142934"/>
            <a:ext cx="66033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176002" y="3429000"/>
            <a:ext cx="8214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953359" y="3466100"/>
            <a:ext cx="116245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66271" y="3756847"/>
            <a:ext cx="6097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2601686" y="3768751"/>
            <a:ext cx="5349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249681" y="3778618"/>
            <a:ext cx="8214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153123" y="4042364"/>
            <a:ext cx="11620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466473" y="4074002"/>
            <a:ext cx="8214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 bldLvl="0" animBg="1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7453" y="354805"/>
            <a:ext cx="4265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三、文本赏析：语言特点</a:t>
            </a:r>
            <a:endParaRPr lang="en-US" altLang="zh-CN" sz="2800" b="1" dirty="0">
              <a:latin typeface="Apple Braille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6326" y="1061520"/>
            <a:ext cx="104193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“抓住东西文化比较这么一个大题目，从日常生活的零星小事的观察分析入手，把握中外国民性与文化精神的异同，并用</a:t>
            </a:r>
            <a:r>
              <a:rPr lang="zh-CN" altLang="en-US" sz="2000" b="1" u="sng" dirty="0"/>
              <a:t>潇洒空灵的散文笔调</a:t>
            </a:r>
            <a:r>
              <a:rPr lang="zh-CN" altLang="en-US" sz="2000" dirty="0"/>
              <a:t>表述出来。既有独特的见解，又能深入浅出，入情入理。”</a:t>
            </a:r>
            <a:endParaRPr lang="en-US" altLang="zh-CN" sz="2000" dirty="0"/>
          </a:p>
          <a:p>
            <a:pPr algn="r"/>
            <a:r>
              <a:rPr lang="en-US" altLang="zh-CN" sz="2000" dirty="0"/>
              <a:t>——</a:t>
            </a:r>
            <a:r>
              <a:rPr lang="zh-CN" altLang="en-US" sz="2000" dirty="0"/>
              <a:t>陈平原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235241" y="2557957"/>
            <a:ext cx="9721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“倘遇可与谈者，写起文章，也如</a:t>
            </a:r>
            <a:r>
              <a:rPr lang="zh-CN" altLang="en-US" sz="2000" b="1" u="sng" dirty="0"/>
              <a:t>与密友相逢</a:t>
            </a:r>
            <a:r>
              <a:rPr lang="zh-CN" altLang="en-US" sz="2000" dirty="0"/>
              <a:t>，促膝谈心，如行云流水道来。”</a:t>
            </a:r>
            <a:endParaRPr lang="en-US" altLang="zh-CN" sz="2000" dirty="0"/>
          </a:p>
          <a:p>
            <a:pPr algn="r"/>
            <a:r>
              <a:rPr lang="en-US" altLang="zh-CN" sz="2000" dirty="0"/>
              <a:t>——</a:t>
            </a:r>
            <a:r>
              <a:rPr lang="zh-CN" altLang="en-US" sz="2000" dirty="0"/>
              <a:t>林语堂</a:t>
            </a:r>
          </a:p>
          <a:p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7924619" y="4710748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Apple Braille" pitchFamily="2" charset="0"/>
              </a:rPr>
              <a:t>闲适冲淡、幽默自然</a:t>
            </a:r>
            <a:endParaRPr lang="en-US" sz="2400" b="1" dirty="0">
              <a:latin typeface="Apple Braille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19435" y="4128071"/>
            <a:ext cx="3586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Apple Braille" pitchFamily="2" charset="0"/>
              </a:rPr>
              <a:t>“把读者引为知己”的风格</a:t>
            </a:r>
            <a:endParaRPr lang="en-US" sz="2400" b="1" dirty="0">
              <a:latin typeface="Apple Braille" pitchFamily="2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53" y="3493860"/>
            <a:ext cx="6570913" cy="83956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rcRect t="4718"/>
          <a:stretch>
            <a:fillRect/>
          </a:stretch>
        </p:blipFill>
        <p:spPr>
          <a:xfrm>
            <a:off x="862606" y="4692870"/>
            <a:ext cx="6385760" cy="131790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00324" y="1134622"/>
            <a:ext cx="9991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“</a:t>
            </a:r>
            <a:r>
              <a:rPr lang="zh-CN" altLang="en-US" sz="2400" b="1" dirty="0">
                <a:latin typeface="Apple Braille" pitchFamily="2" charset="0"/>
              </a:rPr>
              <a:t>林语堂是用有教养的西洋绅士的眼光来观察、理解、选择中国文化的</a:t>
            </a:r>
            <a:r>
              <a:rPr lang="zh-CN" altLang="en-US" sz="2000" dirty="0"/>
              <a:t>。”</a:t>
            </a:r>
            <a:endParaRPr lang="en-US" altLang="zh-CN" sz="2000" dirty="0"/>
          </a:p>
          <a:p>
            <a:pPr algn="r"/>
            <a:r>
              <a:rPr lang="en-US" altLang="zh-CN" sz="2000" dirty="0"/>
              <a:t>——</a:t>
            </a:r>
            <a:r>
              <a:rPr lang="zh-CN" altLang="en-US" sz="2000" dirty="0"/>
              <a:t>陈平原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596272" y="5046081"/>
            <a:ext cx="1072713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      “</a:t>
            </a:r>
            <a:r>
              <a:rPr lang="zh-CN" altLang="en-US" sz="2400" b="1" dirty="0">
                <a:latin typeface="Apple Braille" pitchFamily="2" charset="0"/>
              </a:rPr>
              <a:t>他发掘出了西方文化的优美与荣华，但他还是要回到东方。</a:t>
            </a:r>
            <a:r>
              <a:rPr lang="en-US" altLang="zh-CN" sz="2400" b="1" dirty="0">
                <a:latin typeface="Apple Braille" pitchFamily="2" charset="0"/>
              </a:rPr>
              <a:t>······</a:t>
            </a:r>
            <a:r>
              <a:rPr lang="zh-CN" altLang="en-US" sz="2400" b="1" dirty="0">
                <a:latin typeface="Apple Braille" pitchFamily="2" charset="0"/>
              </a:rPr>
              <a:t>盖套在中国式长袍和平底鞋里，他的灵魂得到了休息了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pPr algn="r"/>
            <a:r>
              <a:rPr lang="en-US" altLang="zh-CN" sz="2000" dirty="0"/>
              <a:t>——</a:t>
            </a:r>
            <a:r>
              <a:rPr lang="zh-CN" altLang="en-US" sz="2000" dirty="0"/>
              <a:t>林语堂</a:t>
            </a:r>
            <a:r>
              <a:rPr lang="en-US" altLang="zh-CN" sz="2000" dirty="0"/>
              <a:t>《</a:t>
            </a:r>
            <a:r>
              <a:rPr lang="zh-CN" altLang="en-US" sz="2000" dirty="0"/>
              <a:t>吾国与吾民</a:t>
            </a:r>
            <a:r>
              <a:rPr lang="en-US" altLang="zh-CN" sz="2000" dirty="0"/>
              <a:t>》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377585" y="347597"/>
            <a:ext cx="51861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四、总结：</a:t>
            </a:r>
            <a:r>
              <a:rPr lang="en-US" sz="2800" b="1" dirty="0">
                <a:latin typeface="Apple Braille" pitchFamily="2" charset="0"/>
              </a:rPr>
              <a:t>林语堂的中西态度</a:t>
            </a:r>
            <a:endParaRPr lang="en-US" altLang="zh-CN" sz="2800" b="1" dirty="0">
              <a:latin typeface="Apple Braille" pitchFamily="2" charset="0"/>
            </a:endParaRPr>
          </a:p>
          <a:p>
            <a:endParaRPr lang="en-US" altLang="zh-CN" sz="2800" b="1" dirty="0">
              <a:latin typeface="Apple Braille" pitchFamily="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2430" y="2329011"/>
            <a:ext cx="10454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《</a:t>
            </a:r>
            <a:r>
              <a:rPr lang="zh-CN" altLang="en-US" sz="2000" dirty="0"/>
              <a:t>饮食</a:t>
            </a:r>
            <a:r>
              <a:rPr lang="en-US" altLang="zh-CN" sz="2000" dirty="0"/>
              <a:t>》</a:t>
            </a:r>
            <a:r>
              <a:rPr lang="zh-CN" altLang="en-US" sz="2000" dirty="0"/>
              <a:t>以中国生活美学（饮食）为根基，借西方视角</a:t>
            </a:r>
            <a:r>
              <a:rPr lang="zh-CN" altLang="en-US" sz="2000" u="sng" dirty="0"/>
              <a:t>反观与阐释</a:t>
            </a:r>
            <a:r>
              <a:rPr lang="zh-CN" altLang="en-US" sz="2000" dirty="0"/>
              <a:t>中国文化，以一种更容易被西方理解的方式向西方展示了中国的文化。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732430" y="3286749"/>
            <a:ext cx="10299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他长期用英文写作</a:t>
            </a:r>
            <a:r>
              <a:rPr lang="en-US" altLang="zh-CN" sz="2000" dirty="0"/>
              <a:t>《</a:t>
            </a:r>
            <a:r>
              <a:rPr lang="zh-CN" altLang="en-US" sz="2000" dirty="0"/>
              <a:t>吾国与吾民</a:t>
            </a:r>
            <a:r>
              <a:rPr lang="en-US" altLang="zh-CN" sz="2000" dirty="0"/>
              <a:t>》</a:t>
            </a:r>
            <a:r>
              <a:rPr lang="zh-CN" altLang="en-US" sz="2000" dirty="0"/>
              <a:t>的目的：</a:t>
            </a:r>
            <a:r>
              <a:rPr lang="zh-CN" altLang="en-US" sz="2000" b="1" dirty="0"/>
              <a:t>消除西方对中国的</a:t>
            </a:r>
            <a:r>
              <a:rPr lang="zh-CN" altLang="en-US" sz="2000" b="1" u="sng" dirty="0"/>
              <a:t>误解</a:t>
            </a:r>
            <a:r>
              <a:rPr lang="zh-CN" altLang="en-US" sz="2000" b="1" dirty="0"/>
              <a:t>，让世界看见一个</a:t>
            </a:r>
            <a:r>
              <a:rPr lang="zh-CN" altLang="en-US" sz="2000" b="1" u="sng" dirty="0"/>
              <a:t>真实、有温度、有生活智慧</a:t>
            </a:r>
            <a:r>
              <a:rPr lang="zh-CN" altLang="en-US" sz="2000" b="1" dirty="0"/>
              <a:t>的中国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258777" y="4244487"/>
            <a:ext cx="9674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东西兼通，站在第三视角的立场，纯客观地评判两种不同的文化，追求文化平等互鉴</a:t>
            </a:r>
            <a:endParaRPr lang="en-US" sz="20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7585" y="347597"/>
            <a:ext cx="2498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Apple Braille" pitchFamily="2" charset="0"/>
              </a:rPr>
              <a:t>五、问题探讨</a:t>
            </a:r>
            <a:endParaRPr lang="en-US" altLang="zh-CN" sz="2800" b="1" dirty="0">
              <a:latin typeface="Apple Braille" pitchFamily="2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77585" y="1207306"/>
            <a:ext cx="1176688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ple Braille" pitchFamily="2" charset="0"/>
              </a:rPr>
              <a:t>问题一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ple Braille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ple Braille" pitchFamily="2" charset="0"/>
              </a:rPr>
              <a:t>      在我们对林语堂先生的作品的分析中有提到，他非常善于将文章“ 化板重为轻松，变铺张为亲切”。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ple Braille" pitchFamily="2" charset="0"/>
              </a:rPr>
              <a:t>      然而陈平原教授却指出 “轻松的笔调，既是林语堂的长处，也是林语堂的短处。在一个并不轻松的时代，过分追求轻松的笔调，未免有点不合时宜。” 请结合时代背景和林语堂先生的生平，谈谈你对这一观点的看法。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585" y="3628103"/>
            <a:ext cx="117668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ple Braille" pitchFamily="2" charset="0"/>
              </a:rPr>
              <a:t>问题二</a:t>
            </a:r>
          </a:p>
          <a:p>
            <a:endParaRPr lang="en-US" sz="2000" dirty="0">
              <a:latin typeface="Apple Braille" pitchFamily="2" charset="0"/>
            </a:endParaRPr>
          </a:p>
          <a:p>
            <a:r>
              <a:rPr lang="zh-CN" altLang="en-US" sz="2000" dirty="0">
                <a:latin typeface="Apple Braille" pitchFamily="2" charset="0"/>
              </a:rPr>
              <a:t>       </a:t>
            </a:r>
            <a:r>
              <a:rPr lang="en-US" sz="2000" dirty="0">
                <a:latin typeface="Apple Braille" pitchFamily="2" charset="0"/>
              </a:rPr>
              <a:t>林语堂</a:t>
            </a:r>
            <a:r>
              <a:rPr lang="en-US" altLang="zh-CN" sz="2000" dirty="0">
                <a:latin typeface="Apple Braille" pitchFamily="2" charset="0"/>
              </a:rPr>
              <a:t>1923</a:t>
            </a:r>
            <a:r>
              <a:rPr lang="zh-CN" altLang="en-US" sz="2000" dirty="0">
                <a:latin typeface="Apple Braille" pitchFamily="2" charset="0"/>
              </a:rPr>
              <a:t>年回国时，曾自信地认为“对于我们自己的文明之欣赏和批评能有客观的，局外观察的态度“。你认为，对于一种文化的理解，能真正做到”纯客观”吗？请结合林语堂的中西观念，谈谈你的理解。</a:t>
            </a:r>
            <a:endParaRPr lang="en-US" sz="2000" dirty="0">
              <a:latin typeface="Apple Braille" pitchFamily="2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Straight Connector 79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/>
          <p:cNvGrpSpPr>
            <a:grpSpLocks noGrp="1" noUngrp="1" noRot="1" noChangeAspect="1" noMove="1" noResize="1"/>
          </p:cNvGrpSpPr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2" name="Group 11"/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44" name="Freeform 68"/>
              <p:cNvSpPr/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5" name="Freeform 69"/>
              <p:cNvSpPr/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146" name="Line 70"/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 useBgFill="1">
        <p:nvSpPr>
          <p:cNvPr id="147" name="Rectangle 1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8" name="Group 147"/>
          <p:cNvGrpSpPr>
            <a:grpSpLocks noGrp="1" noUngrp="1" noRot="1" noChangeAspect="1" noMove="1" noResize="1"/>
          </p:cNvGrpSpPr>
          <p:nvPr/>
        </p:nvGrpSpPr>
        <p:grpSpPr>
          <a:xfrm>
            <a:off x="403168" y="602681"/>
            <a:ext cx="3615648" cy="5932335"/>
            <a:chOff x="402434" y="602681"/>
            <a:chExt cx="3615648" cy="5932335"/>
          </a:xfrm>
        </p:grpSpPr>
        <p:grpSp>
          <p:nvGrpSpPr>
            <p:cNvPr id="149" name="Group 148"/>
            <p:cNvGrpSpPr>
              <a:grpSpLocks noChangeAspect="1"/>
            </p:cNvGrpSpPr>
            <p:nvPr/>
          </p:nvGrpSpPr>
          <p:grpSpPr>
            <a:xfrm rot="2700000">
              <a:off x="710054" y="399231"/>
              <a:ext cx="317159" cy="932400"/>
              <a:chOff x="6376988" y="280988"/>
              <a:chExt cx="633413" cy="1862138"/>
            </a:xfrm>
          </p:grpSpPr>
          <p:sp>
            <p:nvSpPr>
              <p:cNvPr id="77" name="Freeform 68"/>
              <p:cNvSpPr/>
              <p:nvPr/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" name="Freeform 69"/>
              <p:cNvSpPr/>
              <p:nvPr/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" name="Line 70"/>
              <p:cNvSpPr>
                <a:spLocks noChangeShapeType="1"/>
              </p:cNvSpPr>
              <p:nvPr/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21" name="Oval 20"/>
            <p:cNvSpPr/>
            <p:nvPr/>
          </p:nvSpPr>
          <p:spPr>
            <a:xfrm rot="10800000">
              <a:off x="1333586" y="839438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2" name="Group 21"/>
            <p:cNvGrpSpPr/>
            <p:nvPr/>
          </p:nvGrpSpPr>
          <p:grpSpPr>
            <a:xfrm rot="13500000">
              <a:off x="1732866" y="390058"/>
              <a:ext cx="1785984" cy="2211229"/>
              <a:chOff x="3125006" y="3171595"/>
              <a:chExt cx="1785984" cy="2211229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3" name="Straight Connector 72"/>
                <p:cNvCxnSpPr/>
                <p:nvPr/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/>
                <p:nvPr/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Rectangle 30"/>
                <p:cNvSpPr/>
                <p:nvPr/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-1" fmla="*/ 1302493 w 1393933"/>
                    <a:gd name="connsiteY0-2" fmla="*/ 1302493 h 1393933"/>
                    <a:gd name="connsiteX1-3" fmla="*/ 0 w 1393933"/>
                    <a:gd name="connsiteY1-4" fmla="*/ 1302493 h 1393933"/>
                    <a:gd name="connsiteX2-5" fmla="*/ 0 w 1393933"/>
                    <a:gd name="connsiteY2-6" fmla="*/ 0 h 1393933"/>
                    <a:gd name="connsiteX3-7" fmla="*/ 1302493 w 1393933"/>
                    <a:gd name="connsiteY3-8" fmla="*/ 0 h 1393933"/>
                    <a:gd name="connsiteX4-9" fmla="*/ 1393933 w 1393933"/>
                    <a:gd name="connsiteY4-10" fmla="*/ 1393933 h 1393933"/>
                    <a:gd name="connsiteX0-11" fmla="*/ 0 w 1393933"/>
                    <a:gd name="connsiteY0-12" fmla="*/ 1302493 h 1393933"/>
                    <a:gd name="connsiteX1-13" fmla="*/ 0 w 1393933"/>
                    <a:gd name="connsiteY1-14" fmla="*/ 0 h 1393933"/>
                    <a:gd name="connsiteX2-15" fmla="*/ 1302493 w 1393933"/>
                    <a:gd name="connsiteY2-16" fmla="*/ 0 h 1393933"/>
                    <a:gd name="connsiteX3-17" fmla="*/ 1393933 w 1393933"/>
                    <a:gd name="connsiteY3-18" fmla="*/ 1393933 h 1393933"/>
                    <a:gd name="connsiteX0-19" fmla="*/ 0 w 1302493"/>
                    <a:gd name="connsiteY0-20" fmla="*/ 1302493 h 1302493"/>
                    <a:gd name="connsiteX1-21" fmla="*/ 0 w 1302493"/>
                    <a:gd name="connsiteY1-22" fmla="*/ 0 h 1302493"/>
                    <a:gd name="connsiteX2-23" fmla="*/ 1302493 w 1302493"/>
                    <a:gd name="connsiteY2-24" fmla="*/ 0 h 130249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Rectangle 30"/>
                <p:cNvSpPr/>
                <p:nvPr/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-1" fmla="*/ 1302493 w 1393933"/>
                    <a:gd name="connsiteY0-2" fmla="*/ 1302493 h 1393933"/>
                    <a:gd name="connsiteX1-3" fmla="*/ 0 w 1393933"/>
                    <a:gd name="connsiteY1-4" fmla="*/ 1302493 h 1393933"/>
                    <a:gd name="connsiteX2-5" fmla="*/ 0 w 1393933"/>
                    <a:gd name="connsiteY2-6" fmla="*/ 0 h 1393933"/>
                    <a:gd name="connsiteX3-7" fmla="*/ 1302493 w 1393933"/>
                    <a:gd name="connsiteY3-8" fmla="*/ 0 h 1393933"/>
                    <a:gd name="connsiteX4-9" fmla="*/ 1393933 w 1393933"/>
                    <a:gd name="connsiteY4-10" fmla="*/ 1393933 h 1393933"/>
                    <a:gd name="connsiteX0-11" fmla="*/ 0 w 1393933"/>
                    <a:gd name="connsiteY0-12" fmla="*/ 1302493 h 1393933"/>
                    <a:gd name="connsiteX1-13" fmla="*/ 0 w 1393933"/>
                    <a:gd name="connsiteY1-14" fmla="*/ 0 h 1393933"/>
                    <a:gd name="connsiteX2-15" fmla="*/ 1302493 w 1393933"/>
                    <a:gd name="connsiteY2-16" fmla="*/ 0 h 1393933"/>
                    <a:gd name="connsiteX3-17" fmla="*/ 1393933 w 1393933"/>
                    <a:gd name="connsiteY3-18" fmla="*/ 1393933 h 1393933"/>
                    <a:gd name="connsiteX0-19" fmla="*/ 0 w 1302493"/>
                    <a:gd name="connsiteY0-20" fmla="*/ 1302493 h 1302493"/>
                    <a:gd name="connsiteX1-21" fmla="*/ 0 w 1302493"/>
                    <a:gd name="connsiteY1-22" fmla="*/ 0 h 1302493"/>
                    <a:gd name="connsiteX2-23" fmla="*/ 1302493 w 1302493"/>
                    <a:gd name="connsiteY2-24" fmla="*/ 0 h 130249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0" name="Group 69"/>
              <p:cNvGrpSpPr/>
              <p:nvPr/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1" name="Freeform: Shape 70"/>
                <p:cNvSpPr/>
                <p:nvPr/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Freeform: Shape 71"/>
                <p:cNvSpPr/>
                <p:nvPr/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3" name="Group 22"/>
            <p:cNvGrpSpPr/>
            <p:nvPr/>
          </p:nvGrpSpPr>
          <p:grpSpPr>
            <a:xfrm>
              <a:off x="540000" y="2480400"/>
              <a:ext cx="2457450" cy="3838575"/>
              <a:chOff x="587376" y="280988"/>
              <a:chExt cx="2457450" cy="3838575"/>
            </a:xfrm>
          </p:grpSpPr>
          <p:sp>
            <p:nvSpPr>
              <p:cNvPr id="47" name="Freeform 64"/>
              <p:cNvSpPr/>
              <p:nvPr/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" name="Freeform 81"/>
              <p:cNvSpPr/>
              <p:nvPr/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" name="Freeform 61"/>
              <p:cNvSpPr/>
              <p:nvPr/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" name="Freeform 78"/>
              <p:cNvSpPr/>
              <p:nvPr/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" name="Freeform 84"/>
              <p:cNvSpPr/>
              <p:nvPr/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" name="Freeform 87"/>
              <p:cNvSpPr/>
              <p:nvPr/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" name="Freeform 60"/>
              <p:cNvSpPr/>
              <p:nvPr/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" name="Freeform 59"/>
              <p:cNvSpPr/>
              <p:nvPr/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" name="Freeform 62"/>
              <p:cNvSpPr/>
              <p:nvPr/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/>
              </a:p>
            </p:txBody>
          </p:sp>
          <p:sp>
            <p:nvSpPr>
              <p:cNvPr id="56" name="Freeform 65"/>
              <p:cNvSpPr/>
              <p:nvPr/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" name="Freeform 79"/>
              <p:cNvSpPr/>
              <p:nvPr/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" name="Freeform 82"/>
              <p:cNvSpPr/>
              <p:nvPr/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" name="Freeform 85"/>
              <p:cNvSpPr/>
              <p:nvPr/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" name="Freeform 88"/>
              <p:cNvSpPr/>
              <p:nvPr/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grpSp>
            <p:nvGrpSpPr>
              <p:cNvPr id="61" name="Group 60"/>
              <p:cNvGrpSpPr/>
              <p:nvPr/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62" name="Line 63"/>
                <p:cNvSpPr>
                  <a:spLocks noChangeShapeType="1"/>
                </p:cNvSpPr>
                <p:nvPr/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63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64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65" name="Line 80"/>
                <p:cNvSpPr>
                  <a:spLocks noChangeShapeType="1"/>
                </p:cNvSpPr>
                <p:nvPr/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66" name="Line 83"/>
                <p:cNvSpPr>
                  <a:spLocks noChangeShapeType="1"/>
                </p:cNvSpPr>
                <p:nvPr/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67" name="Line 86"/>
                <p:cNvSpPr>
                  <a:spLocks noChangeShapeType="1"/>
                </p:cNvSpPr>
                <p:nvPr/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68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</p:grpSp>
        <p:sp>
          <p:nvSpPr>
            <p:cNvPr id="150" name="Oval 149"/>
            <p:cNvSpPr/>
            <p:nvPr/>
          </p:nvSpPr>
          <p:spPr>
            <a:xfrm rot="10800000">
              <a:off x="2742320" y="5778888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51" name="Group 150"/>
            <p:cNvGrpSpPr/>
            <p:nvPr/>
          </p:nvGrpSpPr>
          <p:grpSpPr>
            <a:xfrm rot="10800000">
              <a:off x="2305927" y="2362458"/>
              <a:ext cx="641183" cy="1069728"/>
              <a:chOff x="6484112" y="2967038"/>
              <a:chExt cx="641183" cy="1069728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44" name="Freeform 68"/>
                <p:cNvSpPr/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5" name="Freeform 69"/>
                <p:cNvSpPr/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6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grpSp>
            <p:nvGrpSpPr>
              <p:cNvPr id="40" name="Group 39"/>
              <p:cNvGrpSpPr/>
              <p:nvPr/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41" name="Freeform 68"/>
                <p:cNvSpPr/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2" name="Freeform 69"/>
                <p:cNvSpPr/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43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52" name="Group 151"/>
            <p:cNvGrpSpPr/>
            <p:nvPr/>
          </p:nvGrpSpPr>
          <p:grpSpPr>
            <a:xfrm>
              <a:off x="3384669" y="4915016"/>
              <a:ext cx="633413" cy="1620000"/>
              <a:chOff x="3384669" y="4915016"/>
              <a:chExt cx="633413" cy="1620000"/>
            </a:xfrm>
          </p:grpSpPr>
          <p:grpSp>
            <p:nvGrpSpPr>
              <p:cNvPr id="35" name="Group 34"/>
              <p:cNvGrpSpPr/>
              <p:nvPr/>
            </p:nvGrpSpPr>
            <p:grpSpPr>
              <a:xfrm rot="18900000">
                <a:off x="3384669" y="4946104"/>
                <a:ext cx="633413" cy="1419225"/>
                <a:chOff x="5959192" y="333389"/>
                <a:chExt cx="633413" cy="1419225"/>
              </a:xfrm>
            </p:grpSpPr>
            <p:sp>
              <p:nvSpPr>
                <p:cNvPr id="37" name="Freeform 68"/>
                <p:cNvSpPr/>
                <p:nvPr/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38" name="Freeform 69"/>
                <p:cNvSpPr/>
                <p:nvPr/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sp>
            <p:nvSpPr>
              <p:cNvPr id="36" name="Line 70"/>
              <p:cNvSpPr>
                <a:spLocks noChangeShapeType="1"/>
              </p:cNvSpPr>
              <p:nvPr/>
            </p:nvSpPr>
            <p:spPr bwMode="auto">
              <a:xfrm rot="18900000" flipV="1">
                <a:off x="3774042" y="4915016"/>
                <a:ext cx="0" cy="16200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153" name="Group 152"/>
            <p:cNvGrpSpPr/>
            <p:nvPr/>
          </p:nvGrpSpPr>
          <p:grpSpPr>
            <a:xfrm rot="10800000">
              <a:off x="540013" y="1046180"/>
              <a:ext cx="903599" cy="2160000"/>
              <a:chOff x="9057947" y="3423463"/>
              <a:chExt cx="903599" cy="2160000"/>
            </a:xfrm>
          </p:grpSpPr>
          <p:grpSp>
            <p:nvGrpSpPr>
              <p:cNvPr id="154" name="Group 153"/>
              <p:cNvGrpSpPr>
                <a:grpSpLocks noChangeAspect="1"/>
              </p:cNvGrpSpPr>
              <p:nvPr/>
            </p:nvGrpSpPr>
            <p:grpSpPr>
              <a:xfrm>
                <a:off x="9057947" y="3432856"/>
                <a:ext cx="903599" cy="1872461"/>
                <a:chOff x="10538626" y="3165838"/>
                <a:chExt cx="936000" cy="1939601"/>
              </a:xfrm>
            </p:grpSpPr>
            <p:sp>
              <p:nvSpPr>
                <p:cNvPr id="33" name="Freeform: Shape 32"/>
                <p:cNvSpPr/>
                <p:nvPr/>
              </p:nvSpPr>
              <p:spPr>
                <a:xfrm>
                  <a:off x="10538626" y="3183996"/>
                  <a:ext cx="453600" cy="1920288"/>
                </a:xfrm>
                <a:custGeom>
                  <a:avLst/>
                  <a:gdLst>
                    <a:gd name="connsiteX0" fmla="*/ 453600 w 453600"/>
                    <a:gd name="connsiteY0" fmla="*/ 0 h 1920288"/>
                    <a:gd name="connsiteX1" fmla="*/ 453600 w 453600"/>
                    <a:gd name="connsiteY1" fmla="*/ 1920288 h 1920288"/>
                    <a:gd name="connsiteX2" fmla="*/ 384059 w 453600"/>
                    <a:gd name="connsiteY2" fmla="*/ 1914152 h 1920288"/>
                    <a:gd name="connsiteX3" fmla="*/ 9354 w 453600"/>
                    <a:gd name="connsiteY3" fmla="*/ 1548700 h 1920288"/>
                    <a:gd name="connsiteX4" fmla="*/ 0 w 453600"/>
                    <a:gd name="connsiteY4" fmla="*/ 1455902 h 1920288"/>
                    <a:gd name="connsiteX5" fmla="*/ 146 w 453600"/>
                    <a:gd name="connsiteY5" fmla="*/ 1451885 h 1920288"/>
                    <a:gd name="connsiteX6" fmla="*/ 145 w 453600"/>
                    <a:gd name="connsiteY6" fmla="*/ 1451885 h 1920288"/>
                    <a:gd name="connsiteX7" fmla="*/ 7358 w 453600"/>
                    <a:gd name="connsiteY7" fmla="*/ 1253678 h 1920288"/>
                    <a:gd name="connsiteX8" fmla="*/ 424671 w 453600"/>
                    <a:gd name="connsiteY8" fmla="*/ 36480 h 1920288"/>
                    <a:gd name="connsiteX9" fmla="*/ 453600 w 453600"/>
                    <a:gd name="connsiteY9" fmla="*/ 0 h 1920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53600" h="1920288">
                      <a:moveTo>
                        <a:pt x="453600" y="0"/>
                      </a:moveTo>
                      <a:lnTo>
                        <a:pt x="453600" y="1920288"/>
                      </a:lnTo>
                      <a:lnTo>
                        <a:pt x="384059" y="1914152"/>
                      </a:lnTo>
                      <a:cubicBezTo>
                        <a:pt x="196308" y="1880615"/>
                        <a:pt x="47443" y="1734834"/>
                        <a:pt x="9354" y="1548700"/>
                      </a:cubicBezTo>
                      <a:lnTo>
                        <a:pt x="0" y="1455902"/>
                      </a:lnTo>
                      <a:lnTo>
                        <a:pt x="146" y="1451885"/>
                      </a:lnTo>
                      <a:lnTo>
                        <a:pt x="145" y="1451885"/>
                      </a:lnTo>
                      <a:lnTo>
                        <a:pt x="7358" y="1253678"/>
                      </a:lnTo>
                      <a:cubicBezTo>
                        <a:pt x="42019" y="780132"/>
                        <a:pt x="195015" y="355125"/>
                        <a:pt x="424671" y="36480"/>
                      </a:cubicBezTo>
                      <a:lnTo>
                        <a:pt x="45360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Freeform: Shape 33"/>
                <p:cNvSpPr/>
                <p:nvPr/>
              </p:nvSpPr>
              <p:spPr>
                <a:xfrm>
                  <a:off x="10992226" y="3165838"/>
                  <a:ext cx="482400" cy="1939601"/>
                </a:xfrm>
                <a:custGeom>
                  <a:avLst/>
                  <a:gdLst>
                    <a:gd name="connsiteX0" fmla="*/ 14399 w 482400"/>
                    <a:gd name="connsiteY0" fmla="*/ 0 h 1939601"/>
                    <a:gd name="connsiteX1" fmla="*/ 14399 w 482400"/>
                    <a:gd name="connsiteY1" fmla="*/ 689615 h 1939601"/>
                    <a:gd name="connsiteX2" fmla="*/ 14400 w 482400"/>
                    <a:gd name="connsiteY2" fmla="*/ 689615 h 1939601"/>
                    <a:gd name="connsiteX3" fmla="*/ 14401 w 482400"/>
                    <a:gd name="connsiteY3" fmla="*/ 689615 h 1939601"/>
                    <a:gd name="connsiteX4" fmla="*/ 14401 w 482400"/>
                    <a:gd name="connsiteY4" fmla="*/ 0 h 1939601"/>
                    <a:gd name="connsiteX5" fmla="*/ 57729 w 482400"/>
                    <a:gd name="connsiteY5" fmla="*/ 54638 h 1939601"/>
                    <a:gd name="connsiteX6" fmla="*/ 475042 w 482400"/>
                    <a:gd name="connsiteY6" fmla="*/ 1271836 h 1939601"/>
                    <a:gd name="connsiteX7" fmla="*/ 482255 w 482400"/>
                    <a:gd name="connsiteY7" fmla="*/ 1470043 h 1939601"/>
                    <a:gd name="connsiteX8" fmla="*/ 482254 w 482400"/>
                    <a:gd name="connsiteY8" fmla="*/ 1470043 h 1939601"/>
                    <a:gd name="connsiteX9" fmla="*/ 482400 w 482400"/>
                    <a:gd name="connsiteY9" fmla="*/ 1474060 h 1939601"/>
                    <a:gd name="connsiteX10" fmla="*/ 473046 w 482400"/>
                    <a:gd name="connsiteY10" fmla="*/ 1566858 h 1939601"/>
                    <a:gd name="connsiteX11" fmla="*/ 15706 w 482400"/>
                    <a:gd name="connsiteY11" fmla="*/ 1939601 h 1939601"/>
                    <a:gd name="connsiteX12" fmla="*/ 14400 w 482400"/>
                    <a:gd name="connsiteY12" fmla="*/ 1939469 h 1939601"/>
                    <a:gd name="connsiteX13" fmla="*/ 13094 w 482400"/>
                    <a:gd name="connsiteY13" fmla="*/ 1939601 h 1939601"/>
                    <a:gd name="connsiteX14" fmla="*/ 0 w 482400"/>
                    <a:gd name="connsiteY14" fmla="*/ 1938446 h 1939601"/>
                    <a:gd name="connsiteX15" fmla="*/ 0 w 482400"/>
                    <a:gd name="connsiteY15" fmla="*/ 18158 h 1939601"/>
                    <a:gd name="connsiteX16" fmla="*/ 14399 w 482400"/>
                    <a:gd name="connsiteY16" fmla="*/ 0 h 193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82400" h="1939601">
                      <a:moveTo>
                        <a:pt x="14399" y="0"/>
                      </a:moveTo>
                      <a:lnTo>
                        <a:pt x="14399" y="689615"/>
                      </a:lnTo>
                      <a:lnTo>
                        <a:pt x="14400" y="689615"/>
                      </a:lnTo>
                      <a:lnTo>
                        <a:pt x="14401" y="689615"/>
                      </a:lnTo>
                      <a:lnTo>
                        <a:pt x="14401" y="0"/>
                      </a:lnTo>
                      <a:lnTo>
                        <a:pt x="57729" y="54638"/>
                      </a:lnTo>
                      <a:cubicBezTo>
                        <a:pt x="287385" y="373283"/>
                        <a:pt x="440381" y="798290"/>
                        <a:pt x="475042" y="1271836"/>
                      </a:cubicBezTo>
                      <a:lnTo>
                        <a:pt x="482255" y="1470043"/>
                      </a:lnTo>
                      <a:lnTo>
                        <a:pt x="482254" y="1470043"/>
                      </a:lnTo>
                      <a:lnTo>
                        <a:pt x="482400" y="1474060"/>
                      </a:lnTo>
                      <a:lnTo>
                        <a:pt x="473046" y="1566858"/>
                      </a:lnTo>
                      <a:cubicBezTo>
                        <a:pt x="429516" y="1779582"/>
                        <a:pt x="241298" y="1939601"/>
                        <a:pt x="15706" y="1939601"/>
                      </a:cubicBezTo>
                      <a:lnTo>
                        <a:pt x="14400" y="1939469"/>
                      </a:lnTo>
                      <a:lnTo>
                        <a:pt x="13094" y="1939601"/>
                      </a:lnTo>
                      <a:lnTo>
                        <a:pt x="0" y="1938446"/>
                      </a:lnTo>
                      <a:lnTo>
                        <a:pt x="0" y="18158"/>
                      </a:lnTo>
                      <a:lnTo>
                        <a:pt x="1439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5" name="Group 154"/>
              <p:cNvGrpSpPr/>
              <p:nvPr/>
            </p:nvGrpSpPr>
            <p:grpSpPr>
              <a:xfrm>
                <a:off x="9210264" y="3423463"/>
                <a:ext cx="597126" cy="2160000"/>
                <a:chOff x="9210264" y="3423463"/>
                <a:chExt cx="597126" cy="2160000"/>
              </a:xfrm>
            </p:grpSpPr>
            <p:cxnSp>
              <p:nvCxnSpPr>
                <p:cNvPr id="30" name="Straight Connector 29"/>
                <p:cNvCxnSpPr/>
                <p:nvPr/>
              </p:nvCxnSpPr>
              <p:spPr>
                <a:xfrm>
                  <a:off x="9508827" y="3423463"/>
                  <a:ext cx="0" cy="216000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Rectangle 5"/>
                <p:cNvSpPr/>
                <p:nvPr/>
              </p:nvSpPr>
              <p:spPr>
                <a:xfrm rot="2700000">
                  <a:off x="9210264" y="4162845"/>
                  <a:ext cx="597126" cy="597126"/>
                </a:xfrm>
                <a:custGeom>
                  <a:avLst/>
                  <a:gdLst>
                    <a:gd name="connsiteX0" fmla="*/ 0 w 1239398"/>
                    <a:gd name="connsiteY0" fmla="*/ 0 h 1239398"/>
                    <a:gd name="connsiteX1" fmla="*/ 1239398 w 1239398"/>
                    <a:gd name="connsiteY1" fmla="*/ 0 h 1239398"/>
                    <a:gd name="connsiteX2" fmla="*/ 1239398 w 1239398"/>
                    <a:gd name="connsiteY2" fmla="*/ 1239398 h 1239398"/>
                    <a:gd name="connsiteX3" fmla="*/ 0 w 1239398"/>
                    <a:gd name="connsiteY3" fmla="*/ 1239398 h 1239398"/>
                    <a:gd name="connsiteX4" fmla="*/ 0 w 1239398"/>
                    <a:gd name="connsiteY4" fmla="*/ 0 h 1239398"/>
                    <a:gd name="connsiteX0-1" fmla="*/ 0 w 1239398"/>
                    <a:gd name="connsiteY0-2" fmla="*/ 0 h 1239398"/>
                    <a:gd name="connsiteX1-3" fmla="*/ 1239398 w 1239398"/>
                    <a:gd name="connsiteY1-4" fmla="*/ 0 h 1239398"/>
                    <a:gd name="connsiteX2-5" fmla="*/ 1239398 w 1239398"/>
                    <a:gd name="connsiteY2-6" fmla="*/ 1239398 h 1239398"/>
                    <a:gd name="connsiteX3-7" fmla="*/ 0 w 1239398"/>
                    <a:gd name="connsiteY3-8" fmla="*/ 1239398 h 1239398"/>
                    <a:gd name="connsiteX4-9" fmla="*/ 91440 w 1239398"/>
                    <a:gd name="connsiteY4-10" fmla="*/ 91440 h 1239398"/>
                    <a:gd name="connsiteX0-11" fmla="*/ 1239398 w 1239398"/>
                    <a:gd name="connsiteY0-12" fmla="*/ 0 h 1239398"/>
                    <a:gd name="connsiteX1-13" fmla="*/ 1239398 w 1239398"/>
                    <a:gd name="connsiteY1-14" fmla="*/ 1239398 h 1239398"/>
                    <a:gd name="connsiteX2-15" fmla="*/ 0 w 1239398"/>
                    <a:gd name="connsiteY2-16" fmla="*/ 1239398 h 1239398"/>
                    <a:gd name="connsiteX3-17" fmla="*/ 91440 w 1239398"/>
                    <a:gd name="connsiteY3-18" fmla="*/ 91440 h 1239398"/>
                    <a:gd name="connsiteX0-19" fmla="*/ 1239398 w 1239398"/>
                    <a:gd name="connsiteY0-20" fmla="*/ 0 h 1239398"/>
                    <a:gd name="connsiteX1-21" fmla="*/ 1239398 w 1239398"/>
                    <a:gd name="connsiteY1-22" fmla="*/ 1239398 h 1239398"/>
                    <a:gd name="connsiteX2-23" fmla="*/ 0 w 1239398"/>
                    <a:gd name="connsiteY2-24" fmla="*/ 1239398 h 1239398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239398" h="1239398">
                      <a:moveTo>
                        <a:pt x="1239398" y="0"/>
                      </a:moveTo>
                      <a:lnTo>
                        <a:pt x="1239398" y="1239398"/>
                      </a:lnTo>
                      <a:lnTo>
                        <a:pt x="0" y="1239398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5"/>
                <p:cNvSpPr/>
                <p:nvPr/>
              </p:nvSpPr>
              <p:spPr>
                <a:xfrm rot="2700000">
                  <a:off x="9297710" y="3747070"/>
                  <a:ext cx="422234" cy="422234"/>
                </a:xfrm>
                <a:custGeom>
                  <a:avLst/>
                  <a:gdLst>
                    <a:gd name="connsiteX0" fmla="*/ 0 w 1239398"/>
                    <a:gd name="connsiteY0" fmla="*/ 0 h 1239398"/>
                    <a:gd name="connsiteX1" fmla="*/ 1239398 w 1239398"/>
                    <a:gd name="connsiteY1" fmla="*/ 0 h 1239398"/>
                    <a:gd name="connsiteX2" fmla="*/ 1239398 w 1239398"/>
                    <a:gd name="connsiteY2" fmla="*/ 1239398 h 1239398"/>
                    <a:gd name="connsiteX3" fmla="*/ 0 w 1239398"/>
                    <a:gd name="connsiteY3" fmla="*/ 1239398 h 1239398"/>
                    <a:gd name="connsiteX4" fmla="*/ 0 w 1239398"/>
                    <a:gd name="connsiteY4" fmla="*/ 0 h 1239398"/>
                    <a:gd name="connsiteX0-1" fmla="*/ 0 w 1239398"/>
                    <a:gd name="connsiteY0-2" fmla="*/ 0 h 1239398"/>
                    <a:gd name="connsiteX1-3" fmla="*/ 1239398 w 1239398"/>
                    <a:gd name="connsiteY1-4" fmla="*/ 0 h 1239398"/>
                    <a:gd name="connsiteX2-5" fmla="*/ 1239398 w 1239398"/>
                    <a:gd name="connsiteY2-6" fmla="*/ 1239398 h 1239398"/>
                    <a:gd name="connsiteX3-7" fmla="*/ 0 w 1239398"/>
                    <a:gd name="connsiteY3-8" fmla="*/ 1239398 h 1239398"/>
                    <a:gd name="connsiteX4-9" fmla="*/ 91440 w 1239398"/>
                    <a:gd name="connsiteY4-10" fmla="*/ 91440 h 1239398"/>
                    <a:gd name="connsiteX0-11" fmla="*/ 1239398 w 1239398"/>
                    <a:gd name="connsiteY0-12" fmla="*/ 0 h 1239398"/>
                    <a:gd name="connsiteX1-13" fmla="*/ 1239398 w 1239398"/>
                    <a:gd name="connsiteY1-14" fmla="*/ 1239398 h 1239398"/>
                    <a:gd name="connsiteX2-15" fmla="*/ 0 w 1239398"/>
                    <a:gd name="connsiteY2-16" fmla="*/ 1239398 h 1239398"/>
                    <a:gd name="connsiteX3-17" fmla="*/ 91440 w 1239398"/>
                    <a:gd name="connsiteY3-18" fmla="*/ 91440 h 1239398"/>
                    <a:gd name="connsiteX0-19" fmla="*/ 1239398 w 1239398"/>
                    <a:gd name="connsiteY0-20" fmla="*/ 0 h 1239398"/>
                    <a:gd name="connsiteX1-21" fmla="*/ 1239398 w 1239398"/>
                    <a:gd name="connsiteY1-22" fmla="*/ 1239398 h 1239398"/>
                    <a:gd name="connsiteX2-23" fmla="*/ 0 w 1239398"/>
                    <a:gd name="connsiteY2-24" fmla="*/ 1239398 h 1239398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239398" h="1239398">
                      <a:moveTo>
                        <a:pt x="1239398" y="0"/>
                      </a:moveTo>
                      <a:lnTo>
                        <a:pt x="1239398" y="1239398"/>
                      </a:lnTo>
                      <a:lnTo>
                        <a:pt x="0" y="1239398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cxnSp>
        <p:nvCxnSpPr>
          <p:cNvPr id="81" name="Straight Connector 8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/>
          <p:cNvGrpSpPr>
            <a:grpSpLocks noGrp="1" noUngrp="1" noRot="1" noChangeAspect="1" noMove="1" noResize="1"/>
          </p:cNvGrpSpPr>
          <p:nvPr/>
        </p:nvGrpSpPr>
        <p:grpSpPr>
          <a:xfrm flipH="1">
            <a:off x="8173184" y="602681"/>
            <a:ext cx="3615648" cy="5932335"/>
            <a:chOff x="402434" y="602681"/>
            <a:chExt cx="3615648" cy="5932335"/>
          </a:xfrm>
        </p:grpSpPr>
        <p:grpSp>
          <p:nvGrpSpPr>
            <p:cNvPr id="84" name="Group 83"/>
            <p:cNvGrpSpPr>
              <a:grpSpLocks noChangeAspect="1"/>
            </p:cNvGrpSpPr>
            <p:nvPr/>
          </p:nvGrpSpPr>
          <p:grpSpPr>
            <a:xfrm rot="2700000">
              <a:off x="710054" y="399231"/>
              <a:ext cx="317159" cy="932400"/>
              <a:chOff x="6376988" y="280988"/>
              <a:chExt cx="633413" cy="1862138"/>
            </a:xfrm>
          </p:grpSpPr>
          <p:sp>
            <p:nvSpPr>
              <p:cNvPr id="141" name="Freeform 68"/>
              <p:cNvSpPr/>
              <p:nvPr/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3" name="Line 70"/>
              <p:cNvSpPr>
                <a:spLocks noChangeShapeType="1"/>
              </p:cNvSpPr>
              <p:nvPr/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85" name="Oval 84"/>
            <p:cNvSpPr/>
            <p:nvPr/>
          </p:nvSpPr>
          <p:spPr>
            <a:xfrm rot="10800000">
              <a:off x="1333586" y="839438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86" name="Group 85"/>
            <p:cNvGrpSpPr/>
            <p:nvPr/>
          </p:nvGrpSpPr>
          <p:grpSpPr>
            <a:xfrm rot="13500000">
              <a:off x="1732866" y="390058"/>
              <a:ext cx="1785984" cy="2211229"/>
              <a:chOff x="3125006" y="3171595"/>
              <a:chExt cx="1785984" cy="2211229"/>
            </a:xfrm>
          </p:grpSpPr>
          <p:grpSp>
            <p:nvGrpSpPr>
              <p:cNvPr id="133" name="Group 132"/>
              <p:cNvGrpSpPr/>
              <p:nvPr/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37" name="Straight Connector 136"/>
                <p:cNvCxnSpPr/>
                <p:nvPr/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/>
                <p:cNvCxnSpPr/>
                <p:nvPr/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9" name="Rectangle 30"/>
                <p:cNvSpPr/>
                <p:nvPr/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-1" fmla="*/ 1302493 w 1393933"/>
                    <a:gd name="connsiteY0-2" fmla="*/ 1302493 h 1393933"/>
                    <a:gd name="connsiteX1-3" fmla="*/ 0 w 1393933"/>
                    <a:gd name="connsiteY1-4" fmla="*/ 1302493 h 1393933"/>
                    <a:gd name="connsiteX2-5" fmla="*/ 0 w 1393933"/>
                    <a:gd name="connsiteY2-6" fmla="*/ 0 h 1393933"/>
                    <a:gd name="connsiteX3-7" fmla="*/ 1302493 w 1393933"/>
                    <a:gd name="connsiteY3-8" fmla="*/ 0 h 1393933"/>
                    <a:gd name="connsiteX4-9" fmla="*/ 1393933 w 1393933"/>
                    <a:gd name="connsiteY4-10" fmla="*/ 1393933 h 1393933"/>
                    <a:gd name="connsiteX0-11" fmla="*/ 0 w 1393933"/>
                    <a:gd name="connsiteY0-12" fmla="*/ 1302493 h 1393933"/>
                    <a:gd name="connsiteX1-13" fmla="*/ 0 w 1393933"/>
                    <a:gd name="connsiteY1-14" fmla="*/ 0 h 1393933"/>
                    <a:gd name="connsiteX2-15" fmla="*/ 1302493 w 1393933"/>
                    <a:gd name="connsiteY2-16" fmla="*/ 0 h 1393933"/>
                    <a:gd name="connsiteX3-17" fmla="*/ 1393933 w 1393933"/>
                    <a:gd name="connsiteY3-18" fmla="*/ 1393933 h 1393933"/>
                    <a:gd name="connsiteX0-19" fmla="*/ 0 w 1302493"/>
                    <a:gd name="connsiteY0-20" fmla="*/ 1302493 h 1302493"/>
                    <a:gd name="connsiteX1-21" fmla="*/ 0 w 1302493"/>
                    <a:gd name="connsiteY1-22" fmla="*/ 0 h 1302493"/>
                    <a:gd name="connsiteX2-23" fmla="*/ 1302493 w 1302493"/>
                    <a:gd name="connsiteY2-24" fmla="*/ 0 h 130249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 30"/>
                <p:cNvSpPr/>
                <p:nvPr/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-1" fmla="*/ 1302493 w 1393933"/>
                    <a:gd name="connsiteY0-2" fmla="*/ 1302493 h 1393933"/>
                    <a:gd name="connsiteX1-3" fmla="*/ 0 w 1393933"/>
                    <a:gd name="connsiteY1-4" fmla="*/ 1302493 h 1393933"/>
                    <a:gd name="connsiteX2-5" fmla="*/ 0 w 1393933"/>
                    <a:gd name="connsiteY2-6" fmla="*/ 0 h 1393933"/>
                    <a:gd name="connsiteX3-7" fmla="*/ 1302493 w 1393933"/>
                    <a:gd name="connsiteY3-8" fmla="*/ 0 h 1393933"/>
                    <a:gd name="connsiteX4-9" fmla="*/ 1393933 w 1393933"/>
                    <a:gd name="connsiteY4-10" fmla="*/ 1393933 h 1393933"/>
                    <a:gd name="connsiteX0-11" fmla="*/ 0 w 1393933"/>
                    <a:gd name="connsiteY0-12" fmla="*/ 1302493 h 1393933"/>
                    <a:gd name="connsiteX1-13" fmla="*/ 0 w 1393933"/>
                    <a:gd name="connsiteY1-14" fmla="*/ 0 h 1393933"/>
                    <a:gd name="connsiteX2-15" fmla="*/ 1302493 w 1393933"/>
                    <a:gd name="connsiteY2-16" fmla="*/ 0 h 1393933"/>
                    <a:gd name="connsiteX3-17" fmla="*/ 1393933 w 1393933"/>
                    <a:gd name="connsiteY3-18" fmla="*/ 1393933 h 1393933"/>
                    <a:gd name="connsiteX0-19" fmla="*/ 0 w 1302493"/>
                    <a:gd name="connsiteY0-20" fmla="*/ 1302493 h 1302493"/>
                    <a:gd name="connsiteX1-21" fmla="*/ 0 w 1302493"/>
                    <a:gd name="connsiteY1-22" fmla="*/ 0 h 1302493"/>
                    <a:gd name="connsiteX2-23" fmla="*/ 1302493 w 1302493"/>
                    <a:gd name="connsiteY2-24" fmla="*/ 0 h 130249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4" name="Group 133"/>
              <p:cNvGrpSpPr/>
              <p:nvPr/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35" name="Freeform: Shape 134"/>
                <p:cNvSpPr/>
                <p:nvPr/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" name="Freeform: Shape 135"/>
                <p:cNvSpPr/>
                <p:nvPr/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87" name="Group 86"/>
            <p:cNvGrpSpPr/>
            <p:nvPr/>
          </p:nvGrpSpPr>
          <p:grpSpPr>
            <a:xfrm>
              <a:off x="540000" y="2480400"/>
              <a:ext cx="2457450" cy="3838575"/>
              <a:chOff x="587376" y="280988"/>
              <a:chExt cx="2457450" cy="3838575"/>
            </a:xfrm>
          </p:grpSpPr>
          <p:sp>
            <p:nvSpPr>
              <p:cNvPr id="111" name="Freeform 64"/>
              <p:cNvSpPr/>
              <p:nvPr/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2" name="Freeform 81"/>
              <p:cNvSpPr/>
              <p:nvPr/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3" name="Freeform 61"/>
              <p:cNvSpPr/>
              <p:nvPr/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4" name="Freeform 78"/>
              <p:cNvSpPr/>
              <p:nvPr/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5" name="Freeform 84"/>
              <p:cNvSpPr/>
              <p:nvPr/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6" name="Freeform 87"/>
              <p:cNvSpPr/>
              <p:nvPr/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7" name="Freeform 60"/>
              <p:cNvSpPr/>
              <p:nvPr/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8" name="Freeform 59"/>
              <p:cNvSpPr/>
              <p:nvPr/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9" name="Freeform 62"/>
              <p:cNvSpPr/>
              <p:nvPr/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/>
              </a:p>
            </p:txBody>
          </p:sp>
          <p:sp>
            <p:nvSpPr>
              <p:cNvPr id="120" name="Freeform 65"/>
              <p:cNvSpPr/>
              <p:nvPr/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1" name="Freeform 79"/>
              <p:cNvSpPr/>
              <p:nvPr/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2" name="Freeform 82"/>
              <p:cNvSpPr/>
              <p:nvPr/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3" name="Freeform 85"/>
              <p:cNvSpPr/>
              <p:nvPr/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4" name="Freeform 88"/>
              <p:cNvSpPr/>
              <p:nvPr/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grpSp>
            <p:nvGrpSpPr>
              <p:cNvPr id="125" name="Group 124"/>
              <p:cNvGrpSpPr/>
              <p:nvPr/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126" name="Line 63"/>
                <p:cNvSpPr>
                  <a:spLocks noChangeShapeType="1"/>
                </p:cNvSpPr>
                <p:nvPr/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27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28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29" name="Line 80"/>
                <p:cNvSpPr>
                  <a:spLocks noChangeShapeType="1"/>
                </p:cNvSpPr>
                <p:nvPr/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30" name="Line 83"/>
                <p:cNvSpPr>
                  <a:spLocks noChangeShapeType="1"/>
                </p:cNvSpPr>
                <p:nvPr/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31" name="Line 86"/>
                <p:cNvSpPr>
                  <a:spLocks noChangeShapeType="1"/>
                </p:cNvSpPr>
                <p:nvPr/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32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</p:grpSp>
        <p:sp>
          <p:nvSpPr>
            <p:cNvPr id="88" name="Oval 87"/>
            <p:cNvSpPr/>
            <p:nvPr/>
          </p:nvSpPr>
          <p:spPr>
            <a:xfrm rot="10800000">
              <a:off x="2742320" y="5778888"/>
              <a:ext cx="340415" cy="340415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89" name="Group 88"/>
            <p:cNvGrpSpPr/>
            <p:nvPr/>
          </p:nvGrpSpPr>
          <p:grpSpPr>
            <a:xfrm rot="10800000">
              <a:off x="2305927" y="2362458"/>
              <a:ext cx="641183" cy="1069728"/>
              <a:chOff x="6484112" y="2967038"/>
              <a:chExt cx="641183" cy="1069728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08" name="Freeform 68"/>
                <p:cNvSpPr/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09" name="Freeform 69"/>
                <p:cNvSpPr/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10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05" name="Freeform 68"/>
                <p:cNvSpPr/>
                <p:nvPr/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06" name="Freeform 69"/>
                <p:cNvSpPr/>
                <p:nvPr/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07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0" name="Group 89"/>
            <p:cNvGrpSpPr/>
            <p:nvPr/>
          </p:nvGrpSpPr>
          <p:grpSpPr>
            <a:xfrm>
              <a:off x="3384669" y="4915016"/>
              <a:ext cx="633413" cy="1620000"/>
              <a:chOff x="3384669" y="4915016"/>
              <a:chExt cx="633413" cy="1620000"/>
            </a:xfrm>
          </p:grpSpPr>
          <p:grpSp>
            <p:nvGrpSpPr>
              <p:cNvPr id="99" name="Group 98"/>
              <p:cNvGrpSpPr/>
              <p:nvPr/>
            </p:nvGrpSpPr>
            <p:grpSpPr>
              <a:xfrm rot="18900000">
                <a:off x="3384669" y="4946104"/>
                <a:ext cx="633413" cy="1419225"/>
                <a:chOff x="5959192" y="333389"/>
                <a:chExt cx="633413" cy="1419225"/>
              </a:xfrm>
            </p:grpSpPr>
            <p:sp>
              <p:nvSpPr>
                <p:cNvPr id="101" name="Freeform 68"/>
                <p:cNvSpPr/>
                <p:nvPr/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102" name="Freeform 69"/>
                <p:cNvSpPr/>
                <p:nvPr/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sp>
            <p:nvSpPr>
              <p:cNvPr id="100" name="Line 70"/>
              <p:cNvSpPr>
                <a:spLocks noChangeShapeType="1"/>
              </p:cNvSpPr>
              <p:nvPr/>
            </p:nvSpPr>
            <p:spPr bwMode="auto">
              <a:xfrm rot="18900000" flipV="1">
                <a:off x="3774042" y="4915016"/>
                <a:ext cx="0" cy="16200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 rot="10800000">
              <a:off x="540013" y="1046180"/>
              <a:ext cx="903599" cy="2160000"/>
              <a:chOff x="9057947" y="3423463"/>
              <a:chExt cx="903599" cy="2160000"/>
            </a:xfrm>
          </p:grpSpPr>
          <p:grpSp>
            <p:nvGrpSpPr>
              <p:cNvPr id="92" name="Group 91"/>
              <p:cNvGrpSpPr>
                <a:grpSpLocks noChangeAspect="1"/>
              </p:cNvGrpSpPr>
              <p:nvPr/>
            </p:nvGrpSpPr>
            <p:grpSpPr>
              <a:xfrm>
                <a:off x="9057947" y="3432856"/>
                <a:ext cx="903599" cy="1872461"/>
                <a:chOff x="10538626" y="3165838"/>
                <a:chExt cx="936000" cy="1939601"/>
              </a:xfrm>
            </p:grpSpPr>
            <p:sp>
              <p:nvSpPr>
                <p:cNvPr id="97" name="Freeform: Shape 96"/>
                <p:cNvSpPr/>
                <p:nvPr/>
              </p:nvSpPr>
              <p:spPr>
                <a:xfrm>
                  <a:off x="10538626" y="3183996"/>
                  <a:ext cx="453600" cy="1920288"/>
                </a:xfrm>
                <a:custGeom>
                  <a:avLst/>
                  <a:gdLst>
                    <a:gd name="connsiteX0" fmla="*/ 453600 w 453600"/>
                    <a:gd name="connsiteY0" fmla="*/ 0 h 1920288"/>
                    <a:gd name="connsiteX1" fmla="*/ 453600 w 453600"/>
                    <a:gd name="connsiteY1" fmla="*/ 1920288 h 1920288"/>
                    <a:gd name="connsiteX2" fmla="*/ 384059 w 453600"/>
                    <a:gd name="connsiteY2" fmla="*/ 1914152 h 1920288"/>
                    <a:gd name="connsiteX3" fmla="*/ 9354 w 453600"/>
                    <a:gd name="connsiteY3" fmla="*/ 1548700 h 1920288"/>
                    <a:gd name="connsiteX4" fmla="*/ 0 w 453600"/>
                    <a:gd name="connsiteY4" fmla="*/ 1455902 h 1920288"/>
                    <a:gd name="connsiteX5" fmla="*/ 146 w 453600"/>
                    <a:gd name="connsiteY5" fmla="*/ 1451885 h 1920288"/>
                    <a:gd name="connsiteX6" fmla="*/ 145 w 453600"/>
                    <a:gd name="connsiteY6" fmla="*/ 1451885 h 1920288"/>
                    <a:gd name="connsiteX7" fmla="*/ 7358 w 453600"/>
                    <a:gd name="connsiteY7" fmla="*/ 1253678 h 1920288"/>
                    <a:gd name="connsiteX8" fmla="*/ 424671 w 453600"/>
                    <a:gd name="connsiteY8" fmla="*/ 36480 h 1920288"/>
                    <a:gd name="connsiteX9" fmla="*/ 453600 w 453600"/>
                    <a:gd name="connsiteY9" fmla="*/ 0 h 1920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53600" h="1920288">
                      <a:moveTo>
                        <a:pt x="453600" y="0"/>
                      </a:moveTo>
                      <a:lnTo>
                        <a:pt x="453600" y="1920288"/>
                      </a:lnTo>
                      <a:lnTo>
                        <a:pt x="384059" y="1914152"/>
                      </a:lnTo>
                      <a:cubicBezTo>
                        <a:pt x="196308" y="1880615"/>
                        <a:pt x="47443" y="1734834"/>
                        <a:pt x="9354" y="1548700"/>
                      </a:cubicBezTo>
                      <a:lnTo>
                        <a:pt x="0" y="1455902"/>
                      </a:lnTo>
                      <a:lnTo>
                        <a:pt x="146" y="1451885"/>
                      </a:lnTo>
                      <a:lnTo>
                        <a:pt x="145" y="1451885"/>
                      </a:lnTo>
                      <a:lnTo>
                        <a:pt x="7358" y="1253678"/>
                      </a:lnTo>
                      <a:cubicBezTo>
                        <a:pt x="42019" y="780132"/>
                        <a:pt x="195015" y="355125"/>
                        <a:pt x="424671" y="36480"/>
                      </a:cubicBezTo>
                      <a:lnTo>
                        <a:pt x="45360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Freeform: Shape 97"/>
                <p:cNvSpPr/>
                <p:nvPr/>
              </p:nvSpPr>
              <p:spPr>
                <a:xfrm>
                  <a:off x="10992226" y="3165838"/>
                  <a:ext cx="482400" cy="1939601"/>
                </a:xfrm>
                <a:custGeom>
                  <a:avLst/>
                  <a:gdLst>
                    <a:gd name="connsiteX0" fmla="*/ 14399 w 482400"/>
                    <a:gd name="connsiteY0" fmla="*/ 0 h 1939601"/>
                    <a:gd name="connsiteX1" fmla="*/ 14399 w 482400"/>
                    <a:gd name="connsiteY1" fmla="*/ 689615 h 1939601"/>
                    <a:gd name="connsiteX2" fmla="*/ 14400 w 482400"/>
                    <a:gd name="connsiteY2" fmla="*/ 689615 h 1939601"/>
                    <a:gd name="connsiteX3" fmla="*/ 14401 w 482400"/>
                    <a:gd name="connsiteY3" fmla="*/ 689615 h 1939601"/>
                    <a:gd name="connsiteX4" fmla="*/ 14401 w 482400"/>
                    <a:gd name="connsiteY4" fmla="*/ 0 h 1939601"/>
                    <a:gd name="connsiteX5" fmla="*/ 57729 w 482400"/>
                    <a:gd name="connsiteY5" fmla="*/ 54638 h 1939601"/>
                    <a:gd name="connsiteX6" fmla="*/ 475042 w 482400"/>
                    <a:gd name="connsiteY6" fmla="*/ 1271836 h 1939601"/>
                    <a:gd name="connsiteX7" fmla="*/ 482255 w 482400"/>
                    <a:gd name="connsiteY7" fmla="*/ 1470043 h 1939601"/>
                    <a:gd name="connsiteX8" fmla="*/ 482254 w 482400"/>
                    <a:gd name="connsiteY8" fmla="*/ 1470043 h 1939601"/>
                    <a:gd name="connsiteX9" fmla="*/ 482400 w 482400"/>
                    <a:gd name="connsiteY9" fmla="*/ 1474060 h 1939601"/>
                    <a:gd name="connsiteX10" fmla="*/ 473046 w 482400"/>
                    <a:gd name="connsiteY10" fmla="*/ 1566858 h 1939601"/>
                    <a:gd name="connsiteX11" fmla="*/ 15706 w 482400"/>
                    <a:gd name="connsiteY11" fmla="*/ 1939601 h 1939601"/>
                    <a:gd name="connsiteX12" fmla="*/ 14400 w 482400"/>
                    <a:gd name="connsiteY12" fmla="*/ 1939469 h 1939601"/>
                    <a:gd name="connsiteX13" fmla="*/ 13094 w 482400"/>
                    <a:gd name="connsiteY13" fmla="*/ 1939601 h 1939601"/>
                    <a:gd name="connsiteX14" fmla="*/ 0 w 482400"/>
                    <a:gd name="connsiteY14" fmla="*/ 1938446 h 1939601"/>
                    <a:gd name="connsiteX15" fmla="*/ 0 w 482400"/>
                    <a:gd name="connsiteY15" fmla="*/ 18158 h 1939601"/>
                    <a:gd name="connsiteX16" fmla="*/ 14399 w 482400"/>
                    <a:gd name="connsiteY16" fmla="*/ 0 h 193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82400" h="1939601">
                      <a:moveTo>
                        <a:pt x="14399" y="0"/>
                      </a:moveTo>
                      <a:lnTo>
                        <a:pt x="14399" y="689615"/>
                      </a:lnTo>
                      <a:lnTo>
                        <a:pt x="14400" y="689615"/>
                      </a:lnTo>
                      <a:lnTo>
                        <a:pt x="14401" y="689615"/>
                      </a:lnTo>
                      <a:lnTo>
                        <a:pt x="14401" y="0"/>
                      </a:lnTo>
                      <a:lnTo>
                        <a:pt x="57729" y="54638"/>
                      </a:lnTo>
                      <a:cubicBezTo>
                        <a:pt x="287385" y="373283"/>
                        <a:pt x="440381" y="798290"/>
                        <a:pt x="475042" y="1271836"/>
                      </a:cubicBezTo>
                      <a:lnTo>
                        <a:pt x="482255" y="1470043"/>
                      </a:lnTo>
                      <a:lnTo>
                        <a:pt x="482254" y="1470043"/>
                      </a:lnTo>
                      <a:lnTo>
                        <a:pt x="482400" y="1474060"/>
                      </a:lnTo>
                      <a:lnTo>
                        <a:pt x="473046" y="1566858"/>
                      </a:lnTo>
                      <a:cubicBezTo>
                        <a:pt x="429516" y="1779582"/>
                        <a:pt x="241298" y="1939601"/>
                        <a:pt x="15706" y="1939601"/>
                      </a:cubicBezTo>
                      <a:lnTo>
                        <a:pt x="14400" y="1939469"/>
                      </a:lnTo>
                      <a:lnTo>
                        <a:pt x="13094" y="1939601"/>
                      </a:lnTo>
                      <a:lnTo>
                        <a:pt x="0" y="1938446"/>
                      </a:lnTo>
                      <a:lnTo>
                        <a:pt x="0" y="18158"/>
                      </a:lnTo>
                      <a:lnTo>
                        <a:pt x="1439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9210264" y="3423463"/>
                <a:ext cx="597126" cy="2160000"/>
                <a:chOff x="9210264" y="3423463"/>
                <a:chExt cx="597126" cy="2160000"/>
              </a:xfrm>
            </p:grpSpPr>
            <p:cxnSp>
              <p:nvCxnSpPr>
                <p:cNvPr id="94" name="Straight Connector 93"/>
                <p:cNvCxnSpPr/>
                <p:nvPr/>
              </p:nvCxnSpPr>
              <p:spPr>
                <a:xfrm>
                  <a:off x="9508827" y="3423463"/>
                  <a:ext cx="0" cy="216000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5" name="Rectangle 5"/>
                <p:cNvSpPr/>
                <p:nvPr/>
              </p:nvSpPr>
              <p:spPr>
                <a:xfrm rot="2700000">
                  <a:off x="9210264" y="4162845"/>
                  <a:ext cx="597126" cy="597126"/>
                </a:xfrm>
                <a:custGeom>
                  <a:avLst/>
                  <a:gdLst>
                    <a:gd name="connsiteX0" fmla="*/ 0 w 1239398"/>
                    <a:gd name="connsiteY0" fmla="*/ 0 h 1239398"/>
                    <a:gd name="connsiteX1" fmla="*/ 1239398 w 1239398"/>
                    <a:gd name="connsiteY1" fmla="*/ 0 h 1239398"/>
                    <a:gd name="connsiteX2" fmla="*/ 1239398 w 1239398"/>
                    <a:gd name="connsiteY2" fmla="*/ 1239398 h 1239398"/>
                    <a:gd name="connsiteX3" fmla="*/ 0 w 1239398"/>
                    <a:gd name="connsiteY3" fmla="*/ 1239398 h 1239398"/>
                    <a:gd name="connsiteX4" fmla="*/ 0 w 1239398"/>
                    <a:gd name="connsiteY4" fmla="*/ 0 h 1239398"/>
                    <a:gd name="connsiteX0-1" fmla="*/ 0 w 1239398"/>
                    <a:gd name="connsiteY0-2" fmla="*/ 0 h 1239398"/>
                    <a:gd name="connsiteX1-3" fmla="*/ 1239398 w 1239398"/>
                    <a:gd name="connsiteY1-4" fmla="*/ 0 h 1239398"/>
                    <a:gd name="connsiteX2-5" fmla="*/ 1239398 w 1239398"/>
                    <a:gd name="connsiteY2-6" fmla="*/ 1239398 h 1239398"/>
                    <a:gd name="connsiteX3-7" fmla="*/ 0 w 1239398"/>
                    <a:gd name="connsiteY3-8" fmla="*/ 1239398 h 1239398"/>
                    <a:gd name="connsiteX4-9" fmla="*/ 91440 w 1239398"/>
                    <a:gd name="connsiteY4-10" fmla="*/ 91440 h 1239398"/>
                    <a:gd name="connsiteX0-11" fmla="*/ 1239398 w 1239398"/>
                    <a:gd name="connsiteY0-12" fmla="*/ 0 h 1239398"/>
                    <a:gd name="connsiteX1-13" fmla="*/ 1239398 w 1239398"/>
                    <a:gd name="connsiteY1-14" fmla="*/ 1239398 h 1239398"/>
                    <a:gd name="connsiteX2-15" fmla="*/ 0 w 1239398"/>
                    <a:gd name="connsiteY2-16" fmla="*/ 1239398 h 1239398"/>
                    <a:gd name="connsiteX3-17" fmla="*/ 91440 w 1239398"/>
                    <a:gd name="connsiteY3-18" fmla="*/ 91440 h 1239398"/>
                    <a:gd name="connsiteX0-19" fmla="*/ 1239398 w 1239398"/>
                    <a:gd name="connsiteY0-20" fmla="*/ 0 h 1239398"/>
                    <a:gd name="connsiteX1-21" fmla="*/ 1239398 w 1239398"/>
                    <a:gd name="connsiteY1-22" fmla="*/ 1239398 h 1239398"/>
                    <a:gd name="connsiteX2-23" fmla="*/ 0 w 1239398"/>
                    <a:gd name="connsiteY2-24" fmla="*/ 1239398 h 1239398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239398" h="1239398">
                      <a:moveTo>
                        <a:pt x="1239398" y="0"/>
                      </a:moveTo>
                      <a:lnTo>
                        <a:pt x="1239398" y="1239398"/>
                      </a:lnTo>
                      <a:lnTo>
                        <a:pt x="0" y="1239398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Rectangle 5"/>
                <p:cNvSpPr/>
                <p:nvPr/>
              </p:nvSpPr>
              <p:spPr>
                <a:xfrm rot="2700000">
                  <a:off x="9297710" y="3747070"/>
                  <a:ext cx="422234" cy="422234"/>
                </a:xfrm>
                <a:custGeom>
                  <a:avLst/>
                  <a:gdLst>
                    <a:gd name="connsiteX0" fmla="*/ 0 w 1239398"/>
                    <a:gd name="connsiteY0" fmla="*/ 0 h 1239398"/>
                    <a:gd name="connsiteX1" fmla="*/ 1239398 w 1239398"/>
                    <a:gd name="connsiteY1" fmla="*/ 0 h 1239398"/>
                    <a:gd name="connsiteX2" fmla="*/ 1239398 w 1239398"/>
                    <a:gd name="connsiteY2" fmla="*/ 1239398 h 1239398"/>
                    <a:gd name="connsiteX3" fmla="*/ 0 w 1239398"/>
                    <a:gd name="connsiteY3" fmla="*/ 1239398 h 1239398"/>
                    <a:gd name="connsiteX4" fmla="*/ 0 w 1239398"/>
                    <a:gd name="connsiteY4" fmla="*/ 0 h 1239398"/>
                    <a:gd name="connsiteX0-1" fmla="*/ 0 w 1239398"/>
                    <a:gd name="connsiteY0-2" fmla="*/ 0 h 1239398"/>
                    <a:gd name="connsiteX1-3" fmla="*/ 1239398 w 1239398"/>
                    <a:gd name="connsiteY1-4" fmla="*/ 0 h 1239398"/>
                    <a:gd name="connsiteX2-5" fmla="*/ 1239398 w 1239398"/>
                    <a:gd name="connsiteY2-6" fmla="*/ 1239398 h 1239398"/>
                    <a:gd name="connsiteX3-7" fmla="*/ 0 w 1239398"/>
                    <a:gd name="connsiteY3-8" fmla="*/ 1239398 h 1239398"/>
                    <a:gd name="connsiteX4-9" fmla="*/ 91440 w 1239398"/>
                    <a:gd name="connsiteY4-10" fmla="*/ 91440 h 1239398"/>
                    <a:gd name="connsiteX0-11" fmla="*/ 1239398 w 1239398"/>
                    <a:gd name="connsiteY0-12" fmla="*/ 0 h 1239398"/>
                    <a:gd name="connsiteX1-13" fmla="*/ 1239398 w 1239398"/>
                    <a:gd name="connsiteY1-14" fmla="*/ 1239398 h 1239398"/>
                    <a:gd name="connsiteX2-15" fmla="*/ 0 w 1239398"/>
                    <a:gd name="connsiteY2-16" fmla="*/ 1239398 h 1239398"/>
                    <a:gd name="connsiteX3-17" fmla="*/ 91440 w 1239398"/>
                    <a:gd name="connsiteY3-18" fmla="*/ 91440 h 1239398"/>
                    <a:gd name="connsiteX0-19" fmla="*/ 1239398 w 1239398"/>
                    <a:gd name="connsiteY0-20" fmla="*/ 0 h 1239398"/>
                    <a:gd name="connsiteX1-21" fmla="*/ 1239398 w 1239398"/>
                    <a:gd name="connsiteY1-22" fmla="*/ 1239398 h 1239398"/>
                    <a:gd name="connsiteX2-23" fmla="*/ 0 w 1239398"/>
                    <a:gd name="connsiteY2-24" fmla="*/ 1239398 h 1239398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239398" h="1239398">
                      <a:moveTo>
                        <a:pt x="1239398" y="0"/>
                      </a:moveTo>
                      <a:lnTo>
                        <a:pt x="1239398" y="1239398"/>
                      </a:lnTo>
                      <a:lnTo>
                        <a:pt x="0" y="1239398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5" name="TextBox 4"/>
          <p:cNvSpPr txBox="1"/>
          <p:nvPr/>
        </p:nvSpPr>
        <p:spPr>
          <a:xfrm>
            <a:off x="4974539" y="2735339"/>
            <a:ext cx="2242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pple Braille" pitchFamily="2" charset="0"/>
              </a:rPr>
              <a:t>感谢观看</a:t>
            </a:r>
          </a:p>
        </p:txBody>
      </p:sp>
    </p:spTree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VhNGU4Y2M4YjA3Mzk3MTQ5M2MxNWM4NWFjMzljYWEifQ=="/>
  <p:tag name="KSO_WPP_MARK_KEY" val="12d5b617-1277-42d9-be2b-07f4da6fa13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云峰静龙行书"/>
        <a:font script="Hebr" typeface="云峰静龙行书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云峰静龙行书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云峰静龙行书"/>
        <a:font script="Hebr" typeface="云峰静龙行书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云峰静龙行书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云峰静龙行书"/>
        <a:font script="Hebr" typeface="云峰静龙行书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云峰静龙行书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1647</Words>
  <Application>Microsoft Macintosh PowerPoint</Application>
  <PresentationFormat>Widescreen</PresentationFormat>
  <Paragraphs>141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宋体</vt:lpstr>
      <vt:lpstr>Apple Braille</vt:lpstr>
      <vt:lpstr>Arial</vt:lpstr>
      <vt:lpstr>Avenir Next LT Pro</vt:lpstr>
      <vt:lpstr>Goudy Old Style</vt:lpstr>
      <vt:lpstr>Wingdings</vt:lpstr>
      <vt:lpstr>Office 主题</vt:lpstr>
      <vt:lpstr>FrostyVTI</vt:lpstr>
      <vt:lpstr>味外之旨  现代散文饮食题材的精神意蕴</vt:lpstr>
      <vt:lpstr>PowerPoint Presentation</vt:lpstr>
      <vt:lpstr>饮食之间的文化省思  ——林语堂《饮食》中的中西态度</vt:lpstr>
      <vt:lpstr>目录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CF</dc:creator>
  <cp:lastModifiedBy>Francis Lu</cp:lastModifiedBy>
  <cp:revision>107</cp:revision>
  <dcterms:created xsi:type="dcterms:W3CDTF">2021-06-18T02:23:00Z</dcterms:created>
  <dcterms:modified xsi:type="dcterms:W3CDTF">2026-04-20T13:25:52Z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2E676B4A1AAC4F348CAD1CCF7D4190DD_13</vt:lpwstr>
  </property>
  <property fmtid="{D5CDD505-2E9C-101B-9397-08002B2CF9AE}" pid="3" name="KSOProductBuildVer">
    <vt:lpwstr>2052-12.1.0.25225</vt:lpwstr>
  </property>
</Properties>
</file>