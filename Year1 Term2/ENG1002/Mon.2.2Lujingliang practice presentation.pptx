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17"/>
  </p:notesMasterIdLst>
  <p:sldIdLst>
    <p:sldId id="260" r:id="rId2"/>
    <p:sldId id="263" r:id="rId3"/>
    <p:sldId id="256" r:id="rId4"/>
    <p:sldId id="257" r:id="rId5"/>
    <p:sldId id="266" r:id="rId6"/>
    <p:sldId id="258" r:id="rId7"/>
    <p:sldId id="269" r:id="rId8"/>
    <p:sldId id="267" r:id="rId9"/>
    <p:sldId id="268" r:id="rId10"/>
    <p:sldId id="264" r:id="rId11"/>
    <p:sldId id="270" r:id="rId12"/>
    <p:sldId id="271" r:id="rId13"/>
    <p:sldId id="265" r:id="rId14"/>
    <p:sldId id="262" r:id="rId15"/>
    <p:sldId id="259" r:id="rId16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24"/>
    <p:restoredTop sz="94658"/>
  </p:normalViewPr>
  <p:slideViewPr>
    <p:cSldViewPr snapToGrid="0">
      <p:cViewPr varScale="1">
        <p:scale>
          <a:sx n="120" d="100"/>
          <a:sy n="120" d="100"/>
        </p:scale>
        <p:origin x="1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E1F9A-2554-0B48-A4CB-88FF40192846}" type="datetimeFigureOut">
              <a:rPr lang="en-CN" smtClean="0"/>
              <a:t>2026/2/2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4148F-197D-6C48-B539-5D9EAFF7033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31963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4148F-197D-6C48-B539-5D9EAFF70335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28684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54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113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98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68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143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854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6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06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71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92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29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345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8" r:id="rId6"/>
    <p:sldLayoutId id="2147483693" r:id="rId7"/>
    <p:sldLayoutId id="2147483694" r:id="rId8"/>
    <p:sldLayoutId id="2147483695" r:id="rId9"/>
    <p:sldLayoutId id="2147483697" r:id="rId10"/>
    <p:sldLayoutId id="214748369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politics.people.com.cn/n1/2017/0307/c1001-29127762.html" TargetMode="External"/><Relationship Id="rId2" Type="http://schemas.openxmlformats.org/officeDocument/2006/relationships/hyperlink" Target="https://ourworldindata.org/economic-inequality-by-gender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D6083B81-AD57-D748-CB97-E5F996FD0F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311"/>
          <a:stretch>
            <a:fillRect/>
          </a:stretch>
        </p:blipFill>
        <p:spPr>
          <a:xfrm>
            <a:off x="0" y="78647"/>
            <a:ext cx="12192000" cy="67007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140F2A-640C-FD85-4417-40992FCEA66B}"/>
              </a:ext>
            </a:extLst>
          </p:cNvPr>
          <p:cNvSpPr txBox="1"/>
          <p:nvPr/>
        </p:nvSpPr>
        <p:spPr>
          <a:xfrm>
            <a:off x="6828612" y="4632973"/>
            <a:ext cx="49375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What do you think are the causes of the gender pay gap?</a:t>
            </a:r>
            <a:endParaRPr lang="en-CN" sz="2800" dirty="0"/>
          </a:p>
        </p:txBody>
      </p:sp>
    </p:spTree>
    <p:extLst>
      <p:ext uri="{BB962C8B-B14F-4D97-AF65-F5344CB8AC3E}">
        <p14:creationId xmlns:p14="http://schemas.microsoft.com/office/powerpoint/2010/main" val="220293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FFF5B-69A0-53D8-A0A3-EF7BB822E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9" y="1177348"/>
            <a:ext cx="3330906" cy="12431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300" dirty="0"/>
              <a:t>gender discrimination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 graph with blue bars&#10;&#10;AI-generated content may be incorrect.">
            <a:extLst>
              <a:ext uri="{FF2B5EF4-FFF2-40B4-BE49-F238E27FC236}">
                <a16:creationId xmlns:a16="http://schemas.microsoft.com/office/drawing/2014/main" id="{5E1612A8-AC67-748F-832B-75254E3BB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35" y="1025692"/>
            <a:ext cx="7179970" cy="4810577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6E8B7AF1-80C6-AFCD-6EC2-120F71747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0994" y="3694535"/>
            <a:ext cx="3330906" cy="186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14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0088C1-41C7-F24A-524E-40C167BEE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 fontScale="90000"/>
          </a:bodyPr>
          <a:lstStyle/>
          <a:p>
            <a:r>
              <a:rPr lang="en-CN" dirty="0"/>
              <a:t>Male</a:t>
            </a:r>
            <a:r>
              <a:rPr lang="en-US" altLang="zh-CN" dirty="0"/>
              <a:t>-Female</a:t>
            </a:r>
            <a:r>
              <a:rPr lang="zh-CN" altLang="en-US" dirty="0"/>
              <a:t> </a:t>
            </a:r>
            <a:br>
              <a:rPr lang="en-US" altLang="zh-CN" dirty="0"/>
            </a:br>
            <a:r>
              <a:rPr lang="en-US" altLang="zh-CN" dirty="0"/>
              <a:t>facts</a:t>
            </a:r>
            <a:r>
              <a:rPr lang="zh-CN" altLang="en-US" dirty="0"/>
              <a:t> </a:t>
            </a:r>
            <a:br>
              <a:rPr lang="en-US" altLang="zh-CN" dirty="0"/>
            </a:b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fallacies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sz="2400" dirty="0">
                <a:latin typeface="Apple Braille" pitchFamily="2" charset="0"/>
              </a:rPr>
              <a:t>article: Thomas </a:t>
            </a:r>
            <a:r>
              <a:rPr lang="en-US" altLang="zh-CN" sz="2400" dirty="0" err="1">
                <a:latin typeface="Apple Braille" pitchFamily="2" charset="0"/>
              </a:rPr>
              <a:t>sowell</a:t>
            </a:r>
            <a:r>
              <a:rPr lang="en-US" altLang="zh-CN" sz="2400" dirty="0">
                <a:latin typeface="Apple Braille" pitchFamily="2" charset="0"/>
              </a:rPr>
              <a:t> Economic Facts and Fallacies</a:t>
            </a:r>
            <a:endParaRPr lang="en-CN" dirty="0">
              <a:latin typeface="Apple Braille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D32B94-508E-45FD-DE4D-63AD64855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4551" y="4742901"/>
            <a:ext cx="5322013" cy="3809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</a:t>
            </a:r>
            <a:r>
              <a:rPr lang="en-CN" dirty="0"/>
              <a:t>y: Jingliang Lu</a:t>
            </a:r>
          </a:p>
        </p:txBody>
      </p:sp>
      <p:pic>
        <p:nvPicPr>
          <p:cNvPr id="16" name="Picture 15" descr="Abstract red geometric pattern">
            <a:extLst>
              <a:ext uri="{FF2B5EF4-FFF2-40B4-BE49-F238E27FC236}">
                <a16:creationId xmlns:a16="http://schemas.microsoft.com/office/drawing/2014/main" id="{8731FB17-F6D3-0C84-FE9C-961C78F347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64" r="39769" b="-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00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3FC28-86C5-4DDC-96B7-7A5FAE68A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7270"/>
            <a:ext cx="2884239" cy="3352767"/>
          </a:xfrm>
        </p:spPr>
        <p:txBody>
          <a:bodyPr>
            <a:normAutofit/>
          </a:bodyPr>
          <a:lstStyle/>
          <a:p>
            <a:r>
              <a:rPr lang="en-CN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23233-41AC-A392-3E90-AC674A393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990" y="2955473"/>
            <a:ext cx="6716922" cy="1102100"/>
          </a:xfrm>
        </p:spPr>
        <p:txBody>
          <a:bodyPr>
            <a:normAutofit/>
          </a:bodyPr>
          <a:lstStyle/>
          <a:p>
            <a:r>
              <a:rPr lang="en-CN" sz="3200" dirty="0"/>
              <a:t>Conclusion</a:t>
            </a:r>
            <a:endParaRPr lang="en-CN" sz="2800" dirty="0"/>
          </a:p>
          <a:p>
            <a:pPr lvl="1"/>
            <a:r>
              <a:rPr lang="en-US" sz="2000" dirty="0"/>
              <a:t>Why do fallacies arise</a:t>
            </a:r>
            <a:r>
              <a:rPr lang="zh-CN" altLang="en-US" sz="2000" dirty="0"/>
              <a:t>？</a:t>
            </a:r>
            <a:endParaRPr lang="en-US" sz="2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30C0A8-3E5C-476B-A64B-4D4FDE8D5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58DB4F-30F6-7804-619E-AE02F48A8F15}"/>
              </a:ext>
            </a:extLst>
          </p:cNvPr>
          <p:cNvSpPr txBox="1">
            <a:spLocks/>
          </p:cNvSpPr>
          <p:nvPr/>
        </p:nvSpPr>
        <p:spPr>
          <a:xfrm>
            <a:off x="4675863" y="1196789"/>
            <a:ext cx="6716922" cy="13054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N" sz="3200" dirty="0"/>
              <a:t>Causes</a:t>
            </a:r>
          </a:p>
          <a:p>
            <a:pPr lvl="1"/>
            <a:r>
              <a:rPr lang="en-US" sz="2200" dirty="0"/>
              <a:t>The widely held reason</a:t>
            </a:r>
            <a:r>
              <a:rPr lang="zh-CN" altLang="en-US" sz="2200" dirty="0"/>
              <a:t> </a:t>
            </a:r>
            <a:r>
              <a:rPr lang="en-US" altLang="zh-CN" sz="2200" dirty="0"/>
              <a:t>(discrimination)</a:t>
            </a:r>
            <a:r>
              <a:rPr lang="zh-CN" altLang="en-US" sz="2200" dirty="0"/>
              <a:t> </a:t>
            </a:r>
            <a:r>
              <a:rPr lang="en-US" altLang="zh-CN" sz="2200" dirty="0"/>
              <a:t>–</a:t>
            </a:r>
            <a:r>
              <a:rPr lang="zh-CN" altLang="en-US" sz="2200" dirty="0"/>
              <a:t> </a:t>
            </a:r>
            <a:r>
              <a:rPr lang="en-US" altLang="zh-CN" sz="2200" dirty="0"/>
              <a:t>fallacies</a:t>
            </a:r>
          </a:p>
          <a:p>
            <a:pPr lvl="1"/>
            <a:r>
              <a:rPr lang="en-US" altLang="zh-CN" sz="2200" dirty="0"/>
              <a:t>The two</a:t>
            </a:r>
            <a:r>
              <a:rPr lang="zh-CN" altLang="en-US" sz="2200" dirty="0"/>
              <a:t> </a:t>
            </a:r>
            <a:r>
              <a:rPr lang="en-US" altLang="zh-CN" sz="2200" dirty="0"/>
              <a:t>main factors</a:t>
            </a:r>
            <a:r>
              <a:rPr lang="zh-CN" altLang="en-US" sz="2200" dirty="0"/>
              <a:t> </a:t>
            </a:r>
            <a:r>
              <a:rPr lang="en-US" altLang="zh-CN" sz="2200" dirty="0"/>
              <a:t>-</a:t>
            </a:r>
            <a:r>
              <a:rPr lang="zh-CN" altLang="en-US" sz="2200" dirty="0"/>
              <a:t> </a:t>
            </a:r>
            <a:r>
              <a:rPr lang="en-US" altLang="zh-CN" sz="2200" dirty="0"/>
              <a:t>Facts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FEC8CF6-0721-B20B-C1B9-9E0F68725F78}"/>
              </a:ext>
            </a:extLst>
          </p:cNvPr>
          <p:cNvSpPr txBox="1">
            <a:spLocks/>
          </p:cNvSpPr>
          <p:nvPr/>
        </p:nvSpPr>
        <p:spPr>
          <a:xfrm>
            <a:off x="4675863" y="4675698"/>
            <a:ext cx="6716922" cy="642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N" sz="3200" dirty="0"/>
              <a:t>Q</a:t>
            </a:r>
            <a:r>
              <a:rPr lang="en-US" altLang="zh-CN" sz="3200" dirty="0"/>
              <a:t>&amp;A</a:t>
            </a:r>
            <a:endParaRPr lang="en-CN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C6FE61-3948-5AD7-F809-2349D1882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215" y="1722397"/>
            <a:ext cx="2657629" cy="400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96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A4A91-1ADE-3557-3E36-0487BD18E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bstract red geometric pattern">
            <a:extLst>
              <a:ext uri="{FF2B5EF4-FFF2-40B4-BE49-F238E27FC236}">
                <a16:creationId xmlns:a16="http://schemas.microsoft.com/office/drawing/2014/main" id="{005DCD5D-A702-C60B-57CB-9DA60D33FC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526" b="7205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ED0B5B-FDFA-0CB1-08B1-4FDC0675F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n-CN" dirty="0">
                <a:solidFill>
                  <a:srgbClr val="FFFFFF"/>
                </a:solidFill>
              </a:rPr>
              <a:t>Part</a:t>
            </a:r>
            <a:r>
              <a:rPr lang="zh-CN" altLang="en-US" dirty="0">
                <a:solidFill>
                  <a:srgbClr val="FFFFFF"/>
                </a:solidFill>
              </a:rPr>
              <a:t> </a:t>
            </a:r>
            <a:r>
              <a:rPr lang="en-US" altLang="zh-CN" dirty="0">
                <a:solidFill>
                  <a:srgbClr val="FFFFFF"/>
                </a:solidFill>
              </a:rPr>
              <a:t>1</a:t>
            </a:r>
            <a:br>
              <a:rPr lang="en-US" altLang="zh-CN" dirty="0">
                <a:solidFill>
                  <a:srgbClr val="FFFFFF"/>
                </a:solidFill>
              </a:rPr>
            </a:br>
            <a:r>
              <a:rPr lang="en-US" altLang="zh-CN" dirty="0">
                <a:solidFill>
                  <a:srgbClr val="FFFFFF"/>
                </a:solidFill>
              </a:rPr>
              <a:t>Causes</a:t>
            </a:r>
            <a:endParaRPr lang="en-CN" dirty="0">
              <a:solidFill>
                <a:srgbClr val="FFFFFF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257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D5AFED04-96BB-0FFE-56CF-D74524C97D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0608" y="1640931"/>
            <a:ext cx="6218526" cy="414568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5DF074-49C6-F099-BDA3-3B5C392B315A}"/>
              </a:ext>
            </a:extLst>
          </p:cNvPr>
          <p:cNvSpPr txBox="1"/>
          <p:nvPr/>
        </p:nvSpPr>
        <p:spPr>
          <a:xfrm>
            <a:off x="1462520" y="5786615"/>
            <a:ext cx="50465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/>
              <a:t>Declines in Higher Education and Professional Occupations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55AE1E-A11C-8A5F-9ECC-FAE1FCF723EA}"/>
              </a:ext>
            </a:extLst>
          </p:cNvPr>
          <p:cNvSpPr txBox="1"/>
          <p:nvPr/>
        </p:nvSpPr>
        <p:spPr>
          <a:xfrm>
            <a:off x="6983984" y="2477421"/>
            <a:ext cx="42189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pple Braille" pitchFamily="2" charset="0"/>
              </a:rPr>
              <a:t>1.</a:t>
            </a:r>
            <a:r>
              <a:rPr lang="zh-CN" altLang="en-US" dirty="0">
                <a:latin typeface="Apple Braille" pitchFamily="2" charset="0"/>
              </a:rPr>
              <a:t> </a:t>
            </a:r>
            <a:r>
              <a:rPr lang="en-US" dirty="0">
                <a:latin typeface="Apple Braille" pitchFamily="2" charset="0"/>
              </a:rPr>
              <a:t>anti-discrimination</a:t>
            </a:r>
          </a:p>
          <a:p>
            <a:r>
              <a:rPr lang="en-US" dirty="0">
                <a:latin typeface="Apple Braille" pitchFamily="2" charset="0"/>
              </a:rPr>
              <a:t>laws and policies imposed by government</a:t>
            </a:r>
            <a:r>
              <a:rPr lang="zh-CN" altLang="en-US" dirty="0">
                <a:latin typeface="Apple Braille" pitchFamily="2" charset="0"/>
              </a:rPr>
              <a:t> </a:t>
            </a:r>
            <a:r>
              <a:rPr lang="en-US" altLang="zh-CN" dirty="0">
                <a:latin typeface="Apple Braille" pitchFamily="2" charset="0"/>
              </a:rPr>
              <a:t>in</a:t>
            </a:r>
            <a:r>
              <a:rPr lang="zh-CN" altLang="en-US" dirty="0">
                <a:latin typeface="Apple Braille" pitchFamily="2" charset="0"/>
              </a:rPr>
              <a:t> </a:t>
            </a:r>
            <a:r>
              <a:rPr lang="en-US" dirty="0">
                <a:latin typeface="Apple Braille" pitchFamily="2" charset="0"/>
              </a:rPr>
              <a:t>the 1960s </a:t>
            </a:r>
          </a:p>
          <a:p>
            <a:endParaRPr lang="en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D39DA5-CA17-C69E-5B56-D7FAA65FE398}"/>
              </a:ext>
            </a:extLst>
          </p:cNvPr>
          <p:cNvSpPr txBox="1"/>
          <p:nvPr/>
        </p:nvSpPr>
        <p:spPr>
          <a:xfrm>
            <a:off x="6969618" y="3891339"/>
            <a:ext cx="4557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pple Braille" pitchFamily="2" charset="0"/>
              </a:rPr>
              <a:t>2.</a:t>
            </a:r>
            <a:r>
              <a:rPr lang="zh-CN" altLang="en-US" dirty="0">
                <a:latin typeface="Apple Braille" pitchFamily="2" charset="0"/>
              </a:rPr>
              <a:t> </a:t>
            </a:r>
            <a:r>
              <a:rPr lang="en-US" dirty="0">
                <a:latin typeface="Apple Braille" pitchFamily="2" charset="0"/>
              </a:rPr>
              <a:t>Declines in the representation of women among academic faculty during</a:t>
            </a:r>
          </a:p>
          <a:p>
            <a:r>
              <a:rPr lang="en-US" dirty="0">
                <a:latin typeface="Apple Braille" pitchFamily="2" charset="0"/>
              </a:rPr>
              <a:t>this era occurred even at women's colleges, run by women</a:t>
            </a:r>
            <a:endParaRPr lang="en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5F5BCB-6A62-D814-5CC5-9B0226B3A3B2}"/>
              </a:ext>
            </a:extLst>
          </p:cNvPr>
          <p:cNvSpPr txBox="1"/>
          <p:nvPr/>
        </p:nvSpPr>
        <p:spPr>
          <a:xfrm>
            <a:off x="6983984" y="1863722"/>
            <a:ext cx="2264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Contradictory fact</a:t>
            </a:r>
            <a:endParaRPr lang="en-CN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3990A1-E79B-146A-F277-B71B2BC393BC}"/>
              </a:ext>
            </a:extLst>
          </p:cNvPr>
          <p:cNvSpPr txBox="1"/>
          <p:nvPr/>
        </p:nvSpPr>
        <p:spPr>
          <a:xfrm>
            <a:off x="750201" y="926514"/>
            <a:ext cx="60193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Is it all due to gender discrimination?</a:t>
            </a:r>
            <a:endParaRPr lang="en-CN" sz="2800" b="1" dirty="0"/>
          </a:p>
        </p:txBody>
      </p:sp>
    </p:spTree>
    <p:extLst>
      <p:ext uri="{BB962C8B-B14F-4D97-AF65-F5344CB8AC3E}">
        <p14:creationId xmlns:p14="http://schemas.microsoft.com/office/powerpoint/2010/main" val="11668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1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2E5D44-C5DC-B6DC-BF85-EA52ED0AFE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16" r="53567"/>
          <a:stretch>
            <a:fillRect/>
          </a:stretch>
        </p:blipFill>
        <p:spPr>
          <a:xfrm>
            <a:off x="556812" y="2110267"/>
            <a:ext cx="1745673" cy="26374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0F6157-7087-0CF4-14F1-E7B0FA9B31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522" r="4123"/>
          <a:stretch>
            <a:fillRect/>
          </a:stretch>
        </p:blipFill>
        <p:spPr>
          <a:xfrm>
            <a:off x="9557006" y="2175095"/>
            <a:ext cx="2078182" cy="25078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F192CC-F9FD-4B26-C748-5AEB4DFCCECE}"/>
              </a:ext>
            </a:extLst>
          </p:cNvPr>
          <p:cNvSpPr txBox="1"/>
          <p:nvPr/>
        </p:nvSpPr>
        <p:spPr>
          <a:xfrm>
            <a:off x="3748598" y="860185"/>
            <a:ext cx="47940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Male vs. Female Comparison</a:t>
            </a:r>
            <a:endParaRPr lang="en-CN" sz="2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E14C1B-08A8-8787-2030-04EF1F344E35}"/>
              </a:ext>
            </a:extLst>
          </p:cNvPr>
          <p:cNvSpPr txBox="1"/>
          <p:nvPr/>
        </p:nvSpPr>
        <p:spPr>
          <a:xfrm>
            <a:off x="2438399" y="2073195"/>
            <a:ext cx="2620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Weaker physical strength</a:t>
            </a:r>
            <a:endParaRPr lang="en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D872B8-1F15-D374-3B07-AA5B6117A4E4}"/>
              </a:ext>
            </a:extLst>
          </p:cNvPr>
          <p:cNvSpPr txBox="1"/>
          <p:nvPr/>
        </p:nvSpPr>
        <p:spPr>
          <a:xfrm>
            <a:off x="6761020" y="2073195"/>
            <a:ext cx="270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Stronger physical strength</a:t>
            </a:r>
            <a:endParaRPr lang="en-C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096A43-6420-0455-1D35-322A0421C505}"/>
              </a:ext>
            </a:extLst>
          </p:cNvPr>
          <p:cNvSpPr txBox="1"/>
          <p:nvPr/>
        </p:nvSpPr>
        <p:spPr>
          <a:xfrm>
            <a:off x="2438399" y="3131906"/>
            <a:ext cx="2992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greater societal responsibility for childbearing and childcare.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09571B-B0D6-E4B5-5B74-FF8F83242D17}"/>
              </a:ext>
            </a:extLst>
          </p:cNvPr>
          <p:cNvSpPr txBox="1"/>
          <p:nvPr/>
        </p:nvSpPr>
        <p:spPr>
          <a:xfrm>
            <a:off x="6761020" y="3124470"/>
            <a:ext cx="27042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family responsibilities are more focused on external pursuits.</a:t>
            </a:r>
            <a:endParaRPr lang="en-C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0F53E1-78AB-A03B-89ED-28C26C037091}"/>
              </a:ext>
            </a:extLst>
          </p:cNvPr>
          <p:cNvSpPr txBox="1"/>
          <p:nvPr/>
        </p:nvSpPr>
        <p:spPr>
          <a:xfrm>
            <a:off x="2438399" y="4827382"/>
            <a:ext cx="31034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Their personality and emotional tendencies are characterized by stability and a low-stress orientation.</a:t>
            </a:r>
            <a:endParaRPr lang="en-C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02BD80-6969-7E2C-3B71-560B38B5DA8E}"/>
              </a:ext>
            </a:extLst>
          </p:cNvPr>
          <p:cNvSpPr txBox="1"/>
          <p:nvPr/>
        </p:nvSpPr>
        <p:spPr>
          <a:xfrm>
            <a:off x="6710270" y="4812510"/>
            <a:ext cx="29068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have a stronger professional ambition and tend to choose high-pressure, high-reward careers.</a:t>
            </a:r>
            <a:endParaRPr lang="en-C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567E48-88EF-4E06-2857-54A465381434}"/>
              </a:ext>
            </a:extLst>
          </p:cNvPr>
          <p:cNvSpPr txBox="1"/>
          <p:nvPr/>
        </p:nvSpPr>
        <p:spPr>
          <a:xfrm>
            <a:off x="4696690" y="1606858"/>
            <a:ext cx="26718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physiological perspective</a:t>
            </a:r>
            <a:endParaRPr lang="en-CN" sz="2000" b="1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ECEE72-D301-B6FE-3DCF-439DCDDE79EF}"/>
              </a:ext>
            </a:extLst>
          </p:cNvPr>
          <p:cNvSpPr txBox="1"/>
          <p:nvPr/>
        </p:nvSpPr>
        <p:spPr>
          <a:xfrm>
            <a:off x="4816007" y="2667018"/>
            <a:ext cx="23759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Social responsibilities</a:t>
            </a:r>
            <a:endParaRPr lang="en-CN" sz="2000" b="1" i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EEA648-FC6E-6694-F9C9-8EE87634226C}"/>
              </a:ext>
            </a:extLst>
          </p:cNvPr>
          <p:cNvSpPr txBox="1"/>
          <p:nvPr/>
        </p:nvSpPr>
        <p:spPr>
          <a:xfrm>
            <a:off x="4816007" y="4347622"/>
            <a:ext cx="23535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Individual tendencies</a:t>
            </a:r>
            <a:endParaRPr lang="en-CN" sz="2000" b="1" i="1" dirty="0"/>
          </a:p>
        </p:txBody>
      </p:sp>
    </p:spTree>
    <p:extLst>
      <p:ext uri="{BB962C8B-B14F-4D97-AF65-F5344CB8AC3E}">
        <p14:creationId xmlns:p14="http://schemas.microsoft.com/office/powerpoint/2010/main" val="277364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DF0C9-B33D-FE80-0B93-2CC37C820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885512"/>
            <a:ext cx="4520045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Marital condition</a:t>
            </a:r>
            <a:endParaRPr lang="en-CN" dirty="0"/>
          </a:p>
        </p:txBody>
      </p:sp>
      <p:pic>
        <p:nvPicPr>
          <p:cNvPr id="5" name="Picture 4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33F88456-2EF6-34FC-D042-351F733A0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35" y="1704109"/>
            <a:ext cx="5261988" cy="41176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CA9C06-21EA-8171-EE03-160870DE5407}"/>
              </a:ext>
            </a:extLst>
          </p:cNvPr>
          <p:cNvSpPr txBox="1"/>
          <p:nvPr/>
        </p:nvSpPr>
        <p:spPr>
          <a:xfrm>
            <a:off x="6229379" y="1163933"/>
            <a:ext cx="53668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Families impose greater restrictions </a:t>
            </a:r>
          </a:p>
          <a:p>
            <a:r>
              <a:rPr lang="en-US" sz="2400" b="1" dirty="0"/>
              <a:t>on women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E541B6-F38E-F6C8-B969-F4F5651A8937}"/>
              </a:ext>
            </a:extLst>
          </p:cNvPr>
          <p:cNvSpPr txBox="1"/>
          <p:nvPr/>
        </p:nvSpPr>
        <p:spPr>
          <a:xfrm>
            <a:off x="6229380" y="2108206"/>
            <a:ext cx="52619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Career choices</a:t>
            </a:r>
            <a:r>
              <a:rPr lang="zh-CN" altLang="en-US" sz="2000" b="1" i="1" dirty="0"/>
              <a:t>：</a:t>
            </a:r>
            <a:endParaRPr lang="en-US" altLang="zh-CN" sz="2000" b="1" i="1" dirty="0"/>
          </a:p>
          <a:p>
            <a:r>
              <a:rPr lang="en-US" dirty="0"/>
              <a:t>Women are more inclined to choose jobs that are more stable and less demanding.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26B48A-B6EE-4D19-0BB8-DD7C4CB9BC5A}"/>
              </a:ext>
            </a:extLst>
          </p:cNvPr>
          <p:cNvSpPr txBox="1"/>
          <p:nvPr/>
        </p:nvSpPr>
        <p:spPr>
          <a:xfrm>
            <a:off x="6229380" y="3272503"/>
            <a:ext cx="48542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Working hour options</a:t>
            </a:r>
            <a:r>
              <a:rPr lang="zh-CN" altLang="en-US" sz="2000" b="1" i="1" dirty="0"/>
              <a:t>：</a:t>
            </a:r>
            <a:endParaRPr lang="en-US" altLang="zh-CN" sz="2000" b="1" i="1" dirty="0"/>
          </a:p>
          <a:p>
            <a:r>
              <a:rPr lang="en-US" sz="2000" dirty="0"/>
              <a:t>They prefer fixed working schedules to balance work and family care.</a:t>
            </a:r>
            <a:endParaRPr lang="en-CN" sz="2000" b="1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07F465-D30A-642E-4AB3-3D348F879A82}"/>
              </a:ext>
            </a:extLst>
          </p:cNvPr>
          <p:cNvSpPr txBox="1"/>
          <p:nvPr/>
        </p:nvSpPr>
        <p:spPr>
          <a:xfrm>
            <a:off x="6229379" y="4498356"/>
            <a:ext cx="49928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Childbearing responsibilities</a:t>
            </a:r>
            <a:r>
              <a:rPr lang="zh-CN" altLang="en-US" sz="2000" b="1" i="1" dirty="0"/>
              <a:t>：</a:t>
            </a:r>
            <a:endParaRPr lang="en-US" altLang="zh-CN" sz="2000" b="1" i="1" dirty="0"/>
          </a:p>
          <a:p>
            <a:r>
              <a:rPr lang="en-US" sz="2000" dirty="0"/>
              <a:t>They spend more time taking care of their children,</a:t>
            </a:r>
            <a:r>
              <a:rPr lang="zh-CN" altLang="en-US" sz="2000" dirty="0"/>
              <a:t> </a:t>
            </a:r>
            <a:r>
              <a:rPr lang="en-US" sz="2000" dirty="0"/>
              <a:t> and choose to reduce their workload or even exit the workforce entirely.</a:t>
            </a:r>
            <a:endParaRPr lang="en-CN" sz="2000" b="1" i="1" dirty="0"/>
          </a:p>
        </p:txBody>
      </p:sp>
    </p:spTree>
    <p:extLst>
      <p:ext uri="{BB962C8B-B14F-4D97-AF65-F5344CB8AC3E}">
        <p14:creationId xmlns:p14="http://schemas.microsoft.com/office/powerpoint/2010/main" val="315962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0E041-3CDF-D5D3-3AB2-D76F14A7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889" y="900545"/>
            <a:ext cx="10311245" cy="665019"/>
          </a:xfrm>
        </p:spPr>
        <p:txBody>
          <a:bodyPr>
            <a:normAutofit/>
          </a:bodyPr>
          <a:lstStyle/>
          <a:p>
            <a:r>
              <a:rPr lang="en-US" sz="2800" dirty="0"/>
              <a:t>Requirements for practitioners in high-tech industries</a:t>
            </a:r>
            <a:endParaRPr lang="en-CN" sz="2800" dirty="0"/>
          </a:p>
        </p:txBody>
      </p:sp>
      <p:pic>
        <p:nvPicPr>
          <p:cNvPr id="5" name="Content Placeholder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138A3430-52FF-D178-C27D-6389A19DE8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610" y="1773383"/>
            <a:ext cx="7373904" cy="3954667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8663E5-4553-D650-A8D9-3BD98F0E6544}"/>
              </a:ext>
            </a:extLst>
          </p:cNvPr>
          <p:cNvSpPr txBox="1"/>
          <p:nvPr/>
        </p:nvSpPr>
        <p:spPr>
          <a:xfrm>
            <a:off x="7836196" y="1565564"/>
            <a:ext cx="41785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Major constraints</a:t>
            </a:r>
            <a:r>
              <a:rPr lang="zh-CN" altLang="en-US" b="1" i="1" dirty="0"/>
              <a:t>：</a:t>
            </a:r>
            <a:endParaRPr lang="en-US" b="1" i="1" dirty="0"/>
          </a:p>
          <a:p>
            <a:r>
              <a:rPr lang="en-US" dirty="0"/>
              <a:t>Women tend to choose liberal arts majors, which makes it difficult for them to secure jobs in high-tech industries</a:t>
            </a:r>
            <a:endParaRPr lang="en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FD6145-A687-FEA3-5B89-F41BE90C26CF}"/>
              </a:ext>
            </a:extLst>
          </p:cNvPr>
          <p:cNvSpPr txBox="1"/>
          <p:nvPr/>
        </p:nvSpPr>
        <p:spPr>
          <a:xfrm>
            <a:off x="7836196" y="2986668"/>
            <a:ext cx="41785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Industrial renewal</a:t>
            </a:r>
            <a:r>
              <a:rPr lang="zh-CN" altLang="en-US" b="1" i="1" dirty="0"/>
              <a:t>：</a:t>
            </a:r>
            <a:endParaRPr lang="en-US" altLang="zh-CN" b="1" i="1" dirty="0"/>
          </a:p>
          <a:p>
            <a:r>
              <a:rPr lang="en-US" dirty="0"/>
              <a:t>The technologies in high-tech industries are updated and iterated at an excessively rapid pace.</a:t>
            </a:r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B08B6-24D5-2E79-9F05-3F8C09307CEA}"/>
              </a:ext>
            </a:extLst>
          </p:cNvPr>
          <p:cNvSpPr txBox="1"/>
          <p:nvPr/>
        </p:nvSpPr>
        <p:spPr>
          <a:xfrm>
            <a:off x="7836196" y="4553772"/>
            <a:ext cx="41785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/>
              <a:t>Personal</a:t>
            </a:r>
            <a:r>
              <a:rPr lang="zh-CN" altLang="en-US" b="1" i="1" dirty="0"/>
              <a:t> </a:t>
            </a:r>
            <a:r>
              <a:rPr lang="en-US" altLang="zh-CN" b="1" i="1" dirty="0"/>
              <a:t>choices</a:t>
            </a:r>
            <a:r>
              <a:rPr lang="zh-CN" altLang="en-US" b="1" i="1" dirty="0"/>
              <a:t>：</a:t>
            </a:r>
            <a:endParaRPr lang="en-US" altLang="zh-CN" b="1" i="1" dirty="0"/>
          </a:p>
          <a:p>
            <a:r>
              <a:rPr lang="en-US" dirty="0"/>
              <a:t>Influenced by objective physical conditions and emotional tendencies, women generally do not choose jobs with excessive pressure and high intensity.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725915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3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63AFC1-6EF1-CBBD-9FE1-D46161186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bstract red geometric pattern">
            <a:extLst>
              <a:ext uri="{FF2B5EF4-FFF2-40B4-BE49-F238E27FC236}">
                <a16:creationId xmlns:a16="http://schemas.microsoft.com/office/drawing/2014/main" id="{9A32D13C-D13F-ED17-9E3C-4EB75CA7F5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526" b="7205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705958-293D-CE5A-9D50-1FB383ABC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3541" y="990599"/>
            <a:ext cx="5619054" cy="484909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400" dirty="0">
                <a:solidFill>
                  <a:srgbClr val="FFFFFF"/>
                </a:solidFill>
              </a:rPr>
              <a:t>Part</a:t>
            </a:r>
            <a:r>
              <a:rPr lang="en-US" altLang="zh-CN" sz="5400" dirty="0">
                <a:solidFill>
                  <a:srgbClr val="FFFFFF"/>
                </a:solidFill>
              </a:rPr>
              <a:t> 2 Conclusion</a:t>
            </a:r>
            <a:endParaRPr lang="en-US" sz="5400" dirty="0">
              <a:solidFill>
                <a:srgbClr val="FFFFFF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9817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BB223-AF7F-7642-765A-15FAFBE7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680484"/>
          </a:xfrm>
        </p:spPr>
        <p:txBody>
          <a:bodyPr>
            <a:normAutofit fontScale="90000"/>
          </a:bodyPr>
          <a:lstStyle/>
          <a:p>
            <a:r>
              <a:rPr lang="en-US" dirty="0"/>
              <a:t>Why do fallacies arise</a:t>
            </a:r>
            <a:r>
              <a:rPr lang="zh-CN" altLang="en-US" dirty="0"/>
              <a:t>？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97AE7-B9E4-2A3F-BBB4-F665265A4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860" y="1673238"/>
            <a:ext cx="9857228" cy="1166979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n-US" b="1" i="1" dirty="0"/>
              <a:t>Attempting to summarize data trends with a single cause leads to overgeneralization</a:t>
            </a:r>
            <a:endParaRPr lang="en-US" dirty="0"/>
          </a:p>
          <a:p>
            <a:pPr marL="0" indent="0">
              <a:buNone/>
            </a:pPr>
            <a:r>
              <a:rPr lang="en-US" b="1" i="1" dirty="0"/>
              <a:t>	</a:t>
            </a:r>
            <a:r>
              <a:rPr lang="en-US" dirty="0"/>
              <a:t>The diversity of influencing factors has been ignored, and the issue has not been viewed comprehensively.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E27714-24D9-794A-6CBF-9C62597C52FA}"/>
              </a:ext>
            </a:extLst>
          </p:cNvPr>
          <p:cNvSpPr txBox="1"/>
          <p:nvPr/>
        </p:nvSpPr>
        <p:spPr>
          <a:xfrm>
            <a:off x="817860" y="3004521"/>
            <a:ext cx="1047391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/>
              <a:t>2.</a:t>
            </a:r>
            <a:r>
              <a:rPr lang="zh-CN" altLang="en-US" sz="2000" b="1" i="1" dirty="0"/>
              <a:t> </a:t>
            </a:r>
            <a:r>
              <a:rPr lang="en-US" sz="2000" b="1" i="1" dirty="0"/>
              <a:t>The foundational conditions for comparison are inconsistent.</a:t>
            </a:r>
          </a:p>
          <a:p>
            <a:r>
              <a:rPr lang="en-US" sz="2000" dirty="0"/>
              <a:t>	</a:t>
            </a:r>
            <a:r>
              <a:rPr lang="en-US" dirty="0"/>
              <a:t>Comparisons of subjects should be conducted under identical preconditions, and analyses should be carried out within the same dimension.</a:t>
            </a:r>
          </a:p>
          <a:p>
            <a:r>
              <a:rPr lang="en-US" dirty="0"/>
              <a:t>	Marital status: married or unmarried? </a:t>
            </a:r>
          </a:p>
          <a:p>
            <a:r>
              <a:rPr lang="en-US" dirty="0"/>
              <a:t>	Age group: homogeneity? </a:t>
            </a:r>
          </a:p>
          <a:p>
            <a:r>
              <a:rPr lang="en-US" dirty="0"/>
              <a:t>	Educational background: consistency?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078331-DEEA-98F6-12E2-F4247B608297}"/>
              </a:ext>
            </a:extLst>
          </p:cNvPr>
          <p:cNvSpPr txBox="1"/>
          <p:nvPr/>
        </p:nvSpPr>
        <p:spPr>
          <a:xfrm>
            <a:off x="817860" y="4984706"/>
            <a:ext cx="98260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i="1" dirty="0"/>
              <a:t>3.</a:t>
            </a:r>
            <a:r>
              <a:rPr lang="zh-CN" altLang="en-US" sz="2000" b="1" i="1" dirty="0"/>
              <a:t> </a:t>
            </a:r>
            <a:r>
              <a:rPr lang="en-US" sz="2000" b="1" i="1" dirty="0"/>
              <a:t>Data deception and misdirection</a:t>
            </a:r>
          </a:p>
          <a:p>
            <a:r>
              <a:rPr lang="en-US" sz="2000" dirty="0"/>
              <a:t>	Individual differences are overlooked under the misleading influence of big data.</a:t>
            </a:r>
            <a:endParaRPr lang="en-US" sz="2000" b="1" i="1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C86C471-F21F-A2D0-B5AD-74B1B494C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N" altLang="en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785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F5DFE-3B06-5D6C-DE98-CD27A4AC2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1545335"/>
            <a:ext cx="3799763" cy="376732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N" sz="2400" b="1" i="1" dirty="0">
                <a:latin typeface="Apple Braille" pitchFamily="2" charset="0"/>
                <a:cs typeface="APPLE CHANCERY" panose="03020702040506060504" pitchFamily="66" charset="-79"/>
              </a:rPr>
              <a:t>The gender pay gap is real, but its causes are more nuanced than we think. </a:t>
            </a:r>
          </a:p>
          <a:p>
            <a:pPr marL="0" indent="0">
              <a:buNone/>
            </a:pPr>
            <a:endParaRPr lang="en-US" sz="2400" b="1" i="1" dirty="0">
              <a:latin typeface="Apple Braille" pitchFamily="2" charset="0"/>
              <a:cs typeface="APPLE CHANCERY" panose="03020702040506060504" pitchFamily="66" charset="-79"/>
            </a:endParaRPr>
          </a:p>
          <a:p>
            <a:pPr marL="0" indent="0">
              <a:buNone/>
            </a:pPr>
            <a:r>
              <a:rPr lang="en-CN" sz="2400" b="1" i="1" dirty="0">
                <a:latin typeface="Apple Braille" pitchFamily="2" charset="0"/>
                <a:cs typeface="APPLE CHANCERY" panose="03020702040506060504" pitchFamily="66" charset="-79"/>
              </a:rPr>
              <a:t>By separating facts from fallacies, we can gain a more comprehensive understanding of the issue and make informed decisions.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11B665-DE0C-094B-5335-A9ECA2F75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246" y="1017583"/>
            <a:ext cx="6238456" cy="482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80926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E79C44-15EE-9906-04E7-D5FB7B119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bstract red geometric pattern">
            <a:extLst>
              <a:ext uri="{FF2B5EF4-FFF2-40B4-BE49-F238E27FC236}">
                <a16:creationId xmlns:a16="http://schemas.microsoft.com/office/drawing/2014/main" id="{4A887958-57FB-A073-C2B0-B8BC428ED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526" b="7205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850F88-E87B-E742-13D3-102193221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3541" y="990599"/>
            <a:ext cx="5619054" cy="484909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400" dirty="0">
                <a:solidFill>
                  <a:srgbClr val="FFFFFF"/>
                </a:solidFill>
              </a:rPr>
              <a:t>Part</a:t>
            </a:r>
            <a:r>
              <a:rPr lang="en-US" altLang="zh-CN" sz="5400" dirty="0">
                <a:solidFill>
                  <a:srgbClr val="FFFFFF"/>
                </a:solidFill>
              </a:rPr>
              <a:t> 3 </a:t>
            </a:r>
            <a:br>
              <a:rPr lang="en-US" altLang="zh-CN" sz="5400" dirty="0">
                <a:solidFill>
                  <a:srgbClr val="FFFFFF"/>
                </a:solidFill>
              </a:rPr>
            </a:br>
            <a:r>
              <a:rPr lang="en-US" altLang="zh-CN" sz="5400" dirty="0">
                <a:solidFill>
                  <a:srgbClr val="FFFFFF"/>
                </a:solidFill>
              </a:rPr>
              <a:t>Q&amp;A</a:t>
            </a:r>
            <a:endParaRPr lang="en-US" sz="5400" dirty="0">
              <a:solidFill>
                <a:srgbClr val="FFFFFF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966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B3CA38D-7BB0-4D35-BE00-0F4876602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00FF6-B164-275E-9A2A-EFD7CFA62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3218"/>
            <a:ext cx="10691265" cy="693904"/>
          </a:xfrm>
        </p:spPr>
        <p:txBody>
          <a:bodyPr>
            <a:normAutofit fontScale="90000"/>
          </a:bodyPr>
          <a:lstStyle/>
          <a:p>
            <a:r>
              <a:rPr lang="en-CN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21878-95FC-A881-29AC-915862D10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4" y="1687667"/>
            <a:ext cx="10691265" cy="3739896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Apple Braille" pitchFamily="2" charset="0"/>
              </a:rPr>
              <a:t>Our world in data: </a:t>
            </a:r>
            <a:r>
              <a:rPr lang="en-US" sz="1600" dirty="0">
                <a:latin typeface="Apple Braille" pitchFamily="2" charset="0"/>
                <a:hlinkClick r:id="rId2"/>
              </a:rPr>
              <a:t>https://ourworldindata.org/economic-inequality-by-gender</a:t>
            </a:r>
            <a:endParaRPr lang="en-US" sz="1600" dirty="0">
              <a:latin typeface="Apple Braille" pitchFamily="2" charset="0"/>
            </a:endParaRPr>
          </a:p>
          <a:p>
            <a:r>
              <a:rPr lang="en-US" sz="1600" dirty="0" err="1">
                <a:latin typeface="Apple Braille" pitchFamily="2" charset="0"/>
              </a:rPr>
              <a:t>People.cn</a:t>
            </a:r>
            <a:r>
              <a:rPr lang="zh-CN" altLang="en-US" sz="1600" dirty="0">
                <a:latin typeface="Apple Braille" pitchFamily="2" charset="0"/>
              </a:rPr>
              <a:t>：</a:t>
            </a:r>
            <a:r>
              <a:rPr lang="en-US" altLang="zh-CN" sz="1600" dirty="0">
                <a:latin typeface="Apple Braille" pitchFamily="2" charset="0"/>
                <a:hlinkClick r:id="rId3"/>
              </a:rPr>
              <a:t>http://politics.people.com.cn/n1/2017/0307/c1001-29127762.html</a:t>
            </a:r>
            <a:endParaRPr lang="en-US" altLang="zh-CN" sz="1600" dirty="0">
              <a:latin typeface="Apple Braille" pitchFamily="2" charset="0"/>
            </a:endParaRPr>
          </a:p>
          <a:p>
            <a:r>
              <a:rPr lang="en-US" sz="1600" dirty="0">
                <a:latin typeface="Apple Braille" pitchFamily="2" charset="0"/>
              </a:rPr>
              <a:t>National Bureau of Statistics (NBS), All-China Women's Federation (ACWF), 2024</a:t>
            </a:r>
          </a:p>
          <a:p>
            <a:r>
              <a:rPr lang="en-US" sz="1600" b="1" dirty="0">
                <a:latin typeface="Apple Braille" pitchFamily="2" charset="0"/>
              </a:rPr>
              <a:t>U.S. EEOC (2024 Report)</a:t>
            </a:r>
            <a:r>
              <a:rPr lang="en-US" sz="1600" dirty="0">
                <a:latin typeface="Apple Braille" pitchFamily="2" charset="0"/>
              </a:rPr>
              <a:t>：Official U.S. federal agency data, 2014–2022 longitudinal tracking, most authoritative for U.S. high-tech gender gaps.</a:t>
            </a:r>
          </a:p>
          <a:p>
            <a:r>
              <a:rPr lang="en-US" sz="1600" b="1" dirty="0">
                <a:latin typeface="Apple Braille" pitchFamily="2" charset="0"/>
              </a:rPr>
              <a:t>CompTIA (2025 Tech Workforce Report)</a:t>
            </a:r>
            <a:r>
              <a:rPr lang="en-US" sz="1600" dirty="0">
                <a:latin typeface="Apple Braille" pitchFamily="2" charset="0"/>
              </a:rPr>
              <a:t>：Leading tech industry trade group, industry-wide employment surveys, widely cited in tech diversity research.</a:t>
            </a:r>
          </a:p>
          <a:p>
            <a:r>
              <a:rPr lang="en-US" sz="1600" b="1" dirty="0" err="1">
                <a:latin typeface="Apple Braille" pitchFamily="2" charset="0"/>
              </a:rPr>
              <a:t>Zippia</a:t>
            </a:r>
            <a:r>
              <a:rPr lang="en-US" sz="1600" b="1" dirty="0">
                <a:latin typeface="Apple Braille" pitchFamily="2" charset="0"/>
              </a:rPr>
              <a:t> (2024)</a:t>
            </a:r>
            <a:r>
              <a:rPr lang="en-US" sz="1600" dirty="0">
                <a:latin typeface="Apple Braille" pitchFamily="2" charset="0"/>
              </a:rPr>
              <a:t>：Labor market analytics platform using BLS/ACS microdata, reliable for occupation-specific gender breakdowns (biochemistry).</a:t>
            </a:r>
          </a:p>
          <a:p>
            <a:r>
              <a:rPr lang="en-US" sz="1600" b="1" dirty="0">
                <a:latin typeface="Apple Braille" pitchFamily="2" charset="0"/>
              </a:rPr>
              <a:t>AIPRM/High5 (2025)</a:t>
            </a:r>
            <a:r>
              <a:rPr lang="en-US" sz="1600" dirty="0">
                <a:latin typeface="Apple Braille" pitchFamily="2" charset="0"/>
              </a:rPr>
              <a:t>：Aggregated industry reports, complementary to official data for AI/software roles.</a:t>
            </a:r>
          </a:p>
          <a:p>
            <a:endParaRPr lang="en-US" dirty="0"/>
          </a:p>
          <a:p>
            <a:endParaRPr lang="en-CN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14FD1B-A0BF-4C73-A68E-4B1F7299F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B100A6-1EBC-40AB-BB7E-26807F3CF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6176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8E1B10-C465-F054-4365-70D006E1A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16" name="Picture 15" descr="Abstract red geometric pattern">
            <a:extLst>
              <a:ext uri="{FF2B5EF4-FFF2-40B4-BE49-F238E27FC236}">
                <a16:creationId xmlns:a16="http://schemas.microsoft.com/office/drawing/2014/main" id="{FCFA09C6-510F-4025-29D1-CB2DC3A251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58" r="9091" b="823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21F66AB-6D67-4C86-A415-0B6E4EEC5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2B972-68A8-CE43-BE6C-D4CBC94882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786" y="908651"/>
            <a:ext cx="5230366" cy="4005454"/>
          </a:xfrm>
        </p:spPr>
        <p:txBody>
          <a:bodyPr anchor="t">
            <a:normAutofit/>
          </a:bodyPr>
          <a:lstStyle/>
          <a:p>
            <a:r>
              <a:rPr lang="en-CN" sz="6800" dirty="0"/>
              <a:t>Thank you </a:t>
            </a:r>
            <a:br>
              <a:rPr lang="en-CN" sz="6800" dirty="0"/>
            </a:br>
            <a:r>
              <a:rPr lang="en-CN" sz="6800" dirty="0"/>
              <a:t>for your</a:t>
            </a:r>
            <a:br>
              <a:rPr lang="en-CN" sz="6800" dirty="0"/>
            </a:br>
            <a:r>
              <a:rPr lang="en-CN" sz="6800" dirty="0"/>
              <a:t>listening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541AE6-E7BB-F362-82F9-FD724D74CA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787" y="5050632"/>
            <a:ext cx="3793200" cy="1129888"/>
          </a:xfrm>
        </p:spPr>
        <p:txBody>
          <a:bodyPr anchor="b">
            <a:normAutofit/>
          </a:bodyPr>
          <a:lstStyle/>
          <a:p>
            <a:r>
              <a:rPr lang="en-US" sz="2200" dirty="0"/>
              <a:t>B</a:t>
            </a:r>
            <a:r>
              <a:rPr lang="en-CN" sz="2200" dirty="0"/>
              <a:t>y: Jingliang lu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B66F5E1-B07D-4718-F4B4-5FCE4B7E8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4285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704</TotalTime>
  <Words>633</Words>
  <Application>Microsoft Macintosh PowerPoint</Application>
  <PresentationFormat>Widescreen</PresentationFormat>
  <Paragraphs>71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Apple Braille</vt:lpstr>
      <vt:lpstr>Aptos</vt:lpstr>
      <vt:lpstr>Arial</vt:lpstr>
      <vt:lpstr>Calisto MT</vt:lpstr>
      <vt:lpstr>Univers Condensed</vt:lpstr>
      <vt:lpstr>ChronicleVTI</vt:lpstr>
      <vt:lpstr>PowerPoint Presentation</vt:lpstr>
      <vt:lpstr>gender discrimination</vt:lpstr>
      <vt:lpstr>Male-Female  facts  and fallacies  article: Thomas sowell Economic Facts and Fallacies</vt:lpstr>
      <vt:lpstr>content</vt:lpstr>
      <vt:lpstr>Part 1 Causes</vt:lpstr>
      <vt:lpstr>PowerPoint Presentation</vt:lpstr>
      <vt:lpstr>PowerPoint Presentation</vt:lpstr>
      <vt:lpstr>Marital condition</vt:lpstr>
      <vt:lpstr>Requirements for practitioners in high-tech industries</vt:lpstr>
      <vt:lpstr>Part 2 Conclusion</vt:lpstr>
      <vt:lpstr>Why do fallacies arise？</vt:lpstr>
      <vt:lpstr>PowerPoint Presentation</vt:lpstr>
      <vt:lpstr>Part 3  Q&amp;A</vt:lpstr>
      <vt:lpstr>reference</vt:lpstr>
      <vt:lpstr>Thank you  for your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 Lu</dc:creator>
  <cp:lastModifiedBy>Francis Lu</cp:lastModifiedBy>
  <cp:revision>18</cp:revision>
  <dcterms:created xsi:type="dcterms:W3CDTF">2026-01-29T01:59:25Z</dcterms:created>
  <dcterms:modified xsi:type="dcterms:W3CDTF">2026-02-02T02:06:08Z</dcterms:modified>
</cp:coreProperties>
</file>