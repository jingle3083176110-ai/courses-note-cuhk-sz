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2" r:id="rId1"/>
  </p:sldMasterIdLst>
  <p:notesMasterIdLst>
    <p:notesMasterId r:id="rId49"/>
  </p:notesMasterIdLst>
  <p:sldIdLst>
    <p:sldId id="702" r:id="rId2"/>
    <p:sldId id="700" r:id="rId3"/>
    <p:sldId id="705" r:id="rId4"/>
    <p:sldId id="703" r:id="rId5"/>
    <p:sldId id="704" r:id="rId6"/>
    <p:sldId id="267" r:id="rId7"/>
    <p:sldId id="706" r:id="rId8"/>
    <p:sldId id="707" r:id="rId9"/>
    <p:sldId id="708" r:id="rId10"/>
    <p:sldId id="589" r:id="rId11"/>
    <p:sldId id="710" r:id="rId12"/>
    <p:sldId id="711" r:id="rId13"/>
    <p:sldId id="318" r:id="rId14"/>
    <p:sldId id="712" r:id="rId15"/>
    <p:sldId id="713" r:id="rId16"/>
    <p:sldId id="714" r:id="rId17"/>
    <p:sldId id="715" r:id="rId18"/>
    <p:sldId id="719" r:id="rId19"/>
    <p:sldId id="720" r:id="rId20"/>
    <p:sldId id="721" r:id="rId21"/>
    <p:sldId id="722" r:id="rId22"/>
    <p:sldId id="695" r:id="rId23"/>
    <p:sldId id="723" r:id="rId24"/>
    <p:sldId id="724" r:id="rId25"/>
    <p:sldId id="725" r:id="rId26"/>
    <p:sldId id="727" r:id="rId27"/>
    <p:sldId id="728" r:id="rId28"/>
    <p:sldId id="729" r:id="rId29"/>
    <p:sldId id="730" r:id="rId30"/>
    <p:sldId id="735" r:id="rId31"/>
    <p:sldId id="608" r:id="rId32"/>
    <p:sldId id="736" r:id="rId33"/>
    <p:sldId id="738" r:id="rId34"/>
    <p:sldId id="739" r:id="rId35"/>
    <p:sldId id="740" r:id="rId36"/>
    <p:sldId id="743" r:id="rId37"/>
    <p:sldId id="742" r:id="rId38"/>
    <p:sldId id="744" r:id="rId39"/>
    <p:sldId id="745" r:id="rId40"/>
    <p:sldId id="747" r:id="rId41"/>
    <p:sldId id="746" r:id="rId42"/>
    <p:sldId id="748" r:id="rId43"/>
    <p:sldId id="749" r:id="rId44"/>
    <p:sldId id="750" r:id="rId45"/>
    <p:sldId id="751" r:id="rId46"/>
    <p:sldId id="752" r:id="rId47"/>
    <p:sldId id="753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5799A-2EB9-45DD-8BE7-82877D403BE6}" v="6" dt="2025-11-23T08:48:03.386"/>
    <p1510:client id="{1B245C5F-8F92-45D1-BB09-CF02E62909B5}" v="211" dt="2025-11-23T08:36:40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3" autoAdjust="0"/>
    <p:restoredTop sz="77260" autoAdjust="0"/>
  </p:normalViewPr>
  <p:slideViewPr>
    <p:cSldViewPr snapToGrid="0">
      <p:cViewPr>
        <p:scale>
          <a:sx n="100" d="100"/>
          <a:sy n="100" d="100"/>
        </p:scale>
        <p:origin x="2580" y="592"/>
      </p:cViewPr>
      <p:guideLst/>
    </p:cSldViewPr>
  </p:slideViewPr>
  <p:outlineViewPr>
    <p:cViewPr>
      <p:scale>
        <a:sx n="33" d="100"/>
        <a:sy n="33" d="100"/>
      </p:scale>
      <p:origin x="0" y="-28628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-27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51908-5784-447D-B0D2-45A25B061F31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71EF6-A985-4B9B-AAB7-69D68CE63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35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72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785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11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749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97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AEBB62-6597-484F-A2C0-AC8374AEA3B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24410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985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297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22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4739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33B75E-551A-C34B-8A90-916D06393212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-108" charset="0"/>
                <a:cs typeface="Arial" pitchFamily="-108" charset="0"/>
              </a:rPr>
              <a:pPr marL="0" marR="0" lvl="0" indent="0" algn="r" defTabSz="84739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-108" charset="0"/>
              <a:cs typeface="Arial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095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831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552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DBA9BB-9760-4C1F-A5EA-9BF1F322BB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4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507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9620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729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451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75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40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472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AECEAE-7E4B-4AB1-AC13-2C283E118F2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8249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090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228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6994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268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277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410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215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84739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33B75E-551A-C34B-8A90-916D06393212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-108" charset="0"/>
                <a:cs typeface="Arial" pitchFamily="-108" charset="0"/>
              </a:rPr>
              <a:pPr marL="0" marR="0" lvl="0" indent="0" algn="r" defTabSz="84739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-108" charset="0"/>
              <a:cs typeface="Arial" pitchFamily="-10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824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5811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7162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3693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8853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2442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4148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0913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8947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7964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851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380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8968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8310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8405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69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147412"/>
            <a:ext cx="7315200" cy="37261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15200" cy="29809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0205" y="142275"/>
            <a:ext cx="5823975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1" y="3489706"/>
            <a:ext cx="8670416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rgbClr val="0070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6492876"/>
            <a:ext cx="4114800" cy="365125"/>
          </a:xfrm>
        </p:spPr>
        <p:txBody>
          <a:bodyPr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2016 Pearson Education, Inc.</a:t>
            </a:r>
            <a:endParaRPr lang="en-US" dirty="0"/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94766" y="5575445"/>
            <a:ext cx="974234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PowerPoint</a:t>
            </a:r>
            <a:r>
              <a:rPr lang="en-US" sz="2000" b="1" baseline="30000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®</a:t>
            </a:r>
            <a:r>
              <a:rPr lang="en-US" sz="20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 Lectures </a:t>
            </a:r>
            <a:r>
              <a:rPr lang="en-US" sz="16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created by Edward J. </a:t>
            </a:r>
            <a:r>
              <a:rPr lang="en-US" sz="1600" b="1" dirty="0" err="1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Zalisko</a:t>
            </a:r>
            <a:r>
              <a:rPr lang="en-US" sz="16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 for</a:t>
            </a:r>
          </a:p>
          <a:p>
            <a:pPr eaLnBrk="0" hangingPunct="0"/>
            <a:r>
              <a:rPr lang="en-US" sz="1800" b="1" i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Campbell Essential Biology, </a:t>
            </a:r>
            <a:r>
              <a:rPr lang="en-US" sz="18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Sixth Edition,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and</a:t>
            </a:r>
            <a:endParaRPr lang="en-US" sz="1800" b="1" dirty="0">
              <a:solidFill>
                <a:schemeClr val="tx1"/>
              </a:solidFill>
              <a:latin typeface="Times New Roman" pitchFamily="-108" charset="0"/>
              <a:ea typeface="ＭＳ Ｐゴシック" pitchFamily="-108" charset="-128"/>
              <a:cs typeface="ＭＳ Ｐゴシック" pitchFamily="-108" charset="-128"/>
            </a:endParaRPr>
          </a:p>
          <a:p>
            <a:pPr eaLnBrk="0" hangingPunct="0"/>
            <a:r>
              <a:rPr lang="en-US" sz="1800" b="1" i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Campbell Essential Biology with Physiology, </a:t>
            </a:r>
            <a:r>
              <a:rPr lang="en-US" sz="18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Fifth Edition</a:t>
            </a:r>
            <a:endParaRPr lang="en-US" sz="1800" b="1" i="1" dirty="0">
              <a:solidFill>
                <a:schemeClr val="tx1"/>
              </a:solidFill>
              <a:ea typeface="ＭＳ Ｐゴシック" pitchFamily="-108" charset="-128"/>
              <a:cs typeface="ＭＳ Ｐゴシック" pitchFamily="-108" charset="-128"/>
            </a:endParaRPr>
          </a:p>
          <a:p>
            <a:pPr eaLnBrk="0" hangingPunct="0"/>
            <a:r>
              <a:rPr lang="en-US" sz="1600" b="1" i="1" dirty="0">
                <a:solidFill>
                  <a:schemeClr val="tx1"/>
                </a:solidFill>
                <a:latin typeface="Times New Roman" pitchFamily="-108" charset="0"/>
                <a:ea typeface="ＭＳ Ｐゴシック" pitchFamily="-108" charset="-128"/>
                <a:cs typeface="ＭＳ Ｐゴシック" pitchFamily="-108" charset="-128"/>
              </a:rPr>
              <a:t> </a:t>
            </a:r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108" charset="-128"/>
                <a:cs typeface="Arial" panose="020B0604020202020204" pitchFamily="34" charset="0"/>
              </a:rPr>
              <a:t>  –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108" charset="-128"/>
                <a:cs typeface="Arial" panose="020B0604020202020204" pitchFamily="34" charset="0"/>
              </a:rPr>
              <a:t>Eric J. Simon, Jean L. Dickey, Kelly A. Hogan, and Jane B. Reece</a:t>
            </a:r>
          </a:p>
        </p:txBody>
      </p:sp>
    </p:spTree>
    <p:extLst>
      <p:ext uri="{BB962C8B-B14F-4D97-AF65-F5344CB8AC3E}">
        <p14:creationId xmlns:p14="http://schemas.microsoft.com/office/powerpoint/2010/main" val="10314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11390811" cy="52649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2471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3177" y="365127"/>
            <a:ext cx="11390811" cy="97872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</a:t>
            </a:r>
            <a:br>
              <a:rPr lang="en-US" dirty="0"/>
            </a:br>
            <a:r>
              <a:rPr lang="en-US" dirty="0"/>
              <a:t>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476103"/>
            <a:ext cx="11390811" cy="4700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4094AE2-66B0-413A-B1D4-0DFB325CE55C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2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F00255B-C231-41F6-9EE1-963B145DB7F3}" type="datetime1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6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970F47B-AC61-48D2-AED7-2728DB50D162}" type="datetime1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9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63F0D25-61E9-4431-B0D3-B1DFEC712E9B}" type="datetime1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9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177" y="132523"/>
            <a:ext cx="11390811" cy="95886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177" y="1227908"/>
            <a:ext cx="11390811" cy="5264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14536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2.png"/><Relationship Id="rId4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7.png"/><Relationship Id="rId4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2BB030-9142-4298-9BCF-8D1D8A1B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DADD4-ADFE-403B-80DC-122E35F5D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900" y="1181101"/>
            <a:ext cx="7431088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122AF45-F230-4FA0-86CA-6AD931C2C1D1}"/>
              </a:ext>
            </a:extLst>
          </p:cNvPr>
          <p:cNvSpPr txBox="1">
            <a:spLocks/>
          </p:cNvSpPr>
          <p:nvPr/>
        </p:nvSpPr>
        <p:spPr bwMode="auto">
          <a:xfrm>
            <a:off x="1756288" y="432720"/>
            <a:ext cx="8668312" cy="1652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25000" lnSpcReduction="20000"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44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21600" dirty="0">
                <a:solidFill>
                  <a:srgbClr val="FF0000"/>
                </a:solidFill>
                <a:latin typeface="Cambria" panose="02040503050406030204" pitchFamily="18" charset="0"/>
              </a:rPr>
              <a:t>How Genes Are Controlled</a:t>
            </a:r>
          </a:p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600">
                <a:solidFill>
                  <a:srgbClr val="FF0000"/>
                </a:solidFill>
                <a:latin typeface="Cambria" panose="02040503050406030204" pitchFamily="18" charset="0"/>
              </a:rPr>
              <a:t>Unit 2; </a:t>
            </a:r>
            <a:r>
              <a:rPr lang="en-US" altLang="en-US" sz="9600" dirty="0">
                <a:solidFill>
                  <a:srgbClr val="FF0000"/>
                </a:solidFill>
                <a:latin typeface="Cambria" panose="02040503050406030204" pitchFamily="18" charset="0"/>
              </a:rPr>
              <a:t>Chapter 11</a:t>
            </a:r>
          </a:p>
        </p:txBody>
      </p:sp>
    </p:spTree>
    <p:extLst>
      <p:ext uri="{BB962C8B-B14F-4D97-AF65-F5344CB8AC3E}">
        <p14:creationId xmlns:p14="http://schemas.microsoft.com/office/powerpoint/2010/main" val="322890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A5F2-607E-455D-938A-68309B17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Objectives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82E44-DB71-40FE-AECD-272145FB0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how gene regulation leads to cells with many different properties.</a:t>
            </a:r>
          </a:p>
          <a:p>
            <a:r>
              <a:rPr lang="en-US" dirty="0"/>
              <a:t>Explain how the lac operon works, and compare it to the mechanism of operons that control amino acid synthesis in bacteria.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389CB-66BF-435F-936F-1F80B6A9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94161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igure_08_02c">
            <a:extLst>
              <a:ext uri="{FF2B5EF4-FFF2-40B4-BE49-F238E27FC236}">
                <a16:creationId xmlns:a16="http://schemas.microsoft.com/office/drawing/2014/main" id="{1796B465-24C6-4BAF-9BB1-E1B1DC3C6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240" y="4334413"/>
            <a:ext cx="6827520" cy="238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figure_08_02a">
            <a:extLst>
              <a:ext uri="{FF2B5EF4-FFF2-40B4-BE49-F238E27FC236}">
                <a16:creationId xmlns:a16="http://schemas.microsoft.com/office/drawing/2014/main" id="{F23B9D93-1417-469F-BC3E-7D27D0AE8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82240" y="1915974"/>
            <a:ext cx="6827520" cy="2284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figure_08_02b">
            <a:extLst>
              <a:ext uri="{FF2B5EF4-FFF2-40B4-BE49-F238E27FC236}">
                <a16:creationId xmlns:a16="http://schemas.microsoft.com/office/drawing/2014/main" id="{D0FE50DF-B398-48FC-A897-03A88F3B79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82240" y="133956"/>
            <a:ext cx="6827520" cy="164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980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18737-49A3-4E5D-BA61-6E1214A54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and How Genes Are Regulated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9591-E40C-4931-BFF8-58355B788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8911687" cy="5264966"/>
          </a:xfrm>
        </p:spPr>
        <p:txBody>
          <a:bodyPr/>
          <a:lstStyle/>
          <a:p>
            <a:r>
              <a:rPr lang="en-US" dirty="0"/>
              <a:t>Cells with the same genetic information can develop into </a:t>
            </a:r>
            <a:r>
              <a:rPr lang="en-US" dirty="0">
                <a:highlight>
                  <a:srgbClr val="FFFF00"/>
                </a:highlight>
              </a:rPr>
              <a:t>different types</a:t>
            </a:r>
            <a:r>
              <a:rPr lang="en-US" dirty="0"/>
              <a:t> of cells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highlight>
                  <a:srgbClr val="FFFF00"/>
                </a:highlight>
              </a:rPr>
              <a:t>specialization</a:t>
            </a:r>
            <a:r>
              <a:rPr lang="en-US" dirty="0"/>
              <a:t> of cells within the body.</a:t>
            </a:r>
          </a:p>
          <a:p>
            <a:pPr lvl="1"/>
            <a:r>
              <a:rPr lang="en-US" dirty="0"/>
              <a:t>Through gene regulation, mechanisms that </a:t>
            </a:r>
            <a:r>
              <a:rPr lang="en-US" b="1" dirty="0">
                <a:solidFill>
                  <a:srgbClr val="FF0000"/>
                </a:solidFill>
              </a:rPr>
              <a:t>turn on </a:t>
            </a:r>
            <a:r>
              <a:rPr lang="en-US" dirty="0"/>
              <a:t>certain genes while other genes remain </a:t>
            </a:r>
            <a:r>
              <a:rPr lang="en-US" b="1" dirty="0">
                <a:solidFill>
                  <a:srgbClr val="FF0000"/>
                </a:solidFill>
              </a:rPr>
              <a:t>turned off</a:t>
            </a:r>
            <a:r>
              <a:rPr lang="en-US" dirty="0"/>
              <a:t>. 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A gene that is turned on </a:t>
            </a:r>
            <a:r>
              <a:rPr lang="en-US" dirty="0"/>
              <a:t>is being transcribed into mRNA, and that message is being translated into specific proteins. </a:t>
            </a:r>
          </a:p>
          <a:p>
            <a:r>
              <a:rPr lang="en-US" b="1" dirty="0">
                <a:solidFill>
                  <a:srgbClr val="FF0000"/>
                </a:solidFill>
              </a:rPr>
              <a:t>Gene expression</a:t>
            </a:r>
            <a:r>
              <a:rPr lang="en-US" dirty="0"/>
              <a:t>, the overall process by which genetic information flows from genes to proteins.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34B70-6D34-4DC9-B9C3-59773E573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figure_08_01">
            <a:extLst>
              <a:ext uri="{FF2B5EF4-FFF2-40B4-BE49-F238E27FC236}">
                <a16:creationId xmlns:a16="http://schemas.microsoft.com/office/drawing/2014/main" id="{4EFBB7AB-6975-424F-A1AB-029EF61A2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865" y="606286"/>
            <a:ext cx="2897135" cy="625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32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B607-ED5E-447E-9D91-CAADB4D6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Different Cell Types Produce Different Sets of Proteins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5D84D-D8B9-4620-82E2-48FAFACC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B15795-E513-4C3C-A6F3-16E0D66AB871}"/>
              </a:ext>
            </a:extLst>
          </p:cNvPr>
          <p:cNvGrpSpPr/>
          <p:nvPr/>
        </p:nvGrpSpPr>
        <p:grpSpPr>
          <a:xfrm>
            <a:off x="600762" y="1091386"/>
            <a:ext cx="11173226" cy="5401490"/>
            <a:chOff x="600762" y="1226431"/>
            <a:chExt cx="10990476" cy="52664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FF8DA9-0EB0-4A65-BE0C-B92F39EAF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762" y="1359542"/>
              <a:ext cx="10990476" cy="5133333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1EC34BA-9705-4391-9963-133DC2A16102}"/>
                </a:ext>
              </a:extLst>
            </p:cNvPr>
            <p:cNvSpPr/>
            <p:nvPr/>
          </p:nvSpPr>
          <p:spPr>
            <a:xfrm>
              <a:off x="600762" y="1226431"/>
              <a:ext cx="1756963" cy="33472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EF51FEB-686C-4D15-AB0A-53EF9C29E455}"/>
              </a:ext>
            </a:extLst>
          </p:cNvPr>
          <p:cNvSpPr/>
          <p:nvPr/>
        </p:nvSpPr>
        <p:spPr>
          <a:xfrm>
            <a:off x="4273880" y="4581650"/>
            <a:ext cx="26436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Housekeeping</a:t>
            </a:r>
          </a:p>
        </p:txBody>
      </p:sp>
    </p:spTree>
    <p:extLst>
      <p:ext uri="{BB962C8B-B14F-4D97-AF65-F5344CB8AC3E}">
        <p14:creationId xmlns:p14="http://schemas.microsoft.com/office/powerpoint/2010/main" val="330236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2" descr="figure_08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7315"/>
            <a:ext cx="12192000" cy="4503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F361D0-0462-4A7D-855C-6CD80DE8BC79}"/>
              </a:ext>
            </a:extLst>
          </p:cNvPr>
          <p:cNvSpPr txBox="1">
            <a:spLocks/>
          </p:cNvSpPr>
          <p:nvPr/>
        </p:nvSpPr>
        <p:spPr>
          <a:xfrm>
            <a:off x="383177" y="132523"/>
            <a:ext cx="11390811" cy="95886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dirty="0">
                <a:latin typeface="Times New Roman"/>
                <a:ea typeface="仿宋"/>
              </a:rPr>
              <a:t>Gene Expression Can Be Regulated at Various Steps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仿宋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仿宋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176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0B1F3-F603-47BD-874D-2FC453E7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Transcriptional Switches Work</a:t>
            </a:r>
            <a:br>
              <a:rPr lang="en-US" dirty="0"/>
            </a:br>
            <a:r>
              <a:rPr lang="en-US" dirty="0"/>
              <a:t>Transcription Regulators Bind to Regulatory DNA Sequences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C1980-7E83-4ECF-AE73-BE9B0C5A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118F8-7877-4829-B739-88A702AA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6B2ED-9FEE-4E79-A882-E3E0B3FA0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" y="1553148"/>
            <a:ext cx="12193200" cy="493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0388-FAB4-4A8A-8B50-1F6FDE895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Regulation in Bacteria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097B4-DD9B-4AD0-927F-5F428155A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as needed</a:t>
            </a:r>
          </a:p>
          <a:p>
            <a:r>
              <a:rPr lang="en-US" dirty="0"/>
              <a:t>In response to increase </a:t>
            </a:r>
            <a:r>
              <a:rPr lang="en-US" dirty="0">
                <a:highlight>
                  <a:srgbClr val="FFFF00"/>
                </a:highlight>
              </a:rPr>
              <a:t>lactose</a:t>
            </a:r>
            <a:r>
              <a:rPr lang="en-US" dirty="0"/>
              <a:t>, </a:t>
            </a:r>
            <a:r>
              <a:rPr lang="en-US" i="1" dirty="0"/>
              <a:t>E. coli</a:t>
            </a:r>
            <a:r>
              <a:rPr lang="en-US" dirty="0"/>
              <a:t> express three genes, </a:t>
            </a:r>
            <a:r>
              <a:rPr lang="en-US" altLang="zh-CN" b="1" dirty="0">
                <a:solidFill>
                  <a:srgbClr val="FF0000"/>
                </a:solidFill>
              </a:rPr>
              <a:t>together</a:t>
            </a:r>
            <a:r>
              <a:rPr lang="en-US" altLang="zh-CN" b="1" dirty="0"/>
              <a:t>,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for enzymes that enable the bacterium to absorb and digest this sugar.</a:t>
            </a:r>
          </a:p>
          <a:p>
            <a:pPr lvl="1"/>
            <a:r>
              <a:rPr lang="en-US" dirty="0"/>
              <a:t>The organization of the three genes, </a:t>
            </a:r>
            <a:r>
              <a:rPr lang="en-US" dirty="0">
                <a:highlight>
                  <a:srgbClr val="FFFF00"/>
                </a:highlight>
              </a:rPr>
              <a:t>adjacent</a:t>
            </a:r>
            <a:r>
              <a:rPr lang="en-US" dirty="0"/>
              <a:t> in the DNA and turned on and off </a:t>
            </a:r>
            <a:r>
              <a:rPr lang="en-US" dirty="0">
                <a:highlight>
                  <a:srgbClr val="FFFF00"/>
                </a:highlight>
              </a:rPr>
              <a:t>as a single unit</a:t>
            </a:r>
          </a:p>
          <a:p>
            <a:r>
              <a:rPr lang="en-US" dirty="0"/>
              <a:t>After the lactose is gone, these genes are turned off.</a:t>
            </a:r>
          </a:p>
          <a:p>
            <a:r>
              <a:rPr lang="en-US" dirty="0"/>
              <a:t>This regulation is achieved through </a:t>
            </a:r>
            <a:r>
              <a:rPr lang="en-US" dirty="0">
                <a:highlight>
                  <a:srgbClr val="FFFF00"/>
                </a:highlight>
              </a:rPr>
              <a:t>short stretches of DNA</a:t>
            </a:r>
            <a:r>
              <a:rPr lang="en-US" dirty="0"/>
              <a:t> that help turn all three genes on and off at once, coordinating their expression.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B7CFF-8E6A-4CAB-8536-D7A863E3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165968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7BC6A-707D-43C1-AAC8-3C29D4896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Lac</a:t>
            </a:r>
            <a:r>
              <a:rPr lang="en-US" dirty="0"/>
              <a:t> Operon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490CE-FA16-4E62-806A-B92DDEEF5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6206598" cy="5264966"/>
          </a:xfrm>
        </p:spPr>
        <p:txBody>
          <a:bodyPr/>
          <a:lstStyle/>
          <a:p>
            <a:r>
              <a:rPr lang="en-US" dirty="0"/>
              <a:t>Such a cluster of </a:t>
            </a:r>
            <a:r>
              <a:rPr lang="en-US" b="1" dirty="0">
                <a:solidFill>
                  <a:srgbClr val="FF0000"/>
                </a:solidFill>
              </a:rPr>
              <a:t>related genes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sequences that control them</a:t>
            </a:r>
            <a:r>
              <a:rPr lang="en-US" dirty="0"/>
              <a:t> is called an operon (</a:t>
            </a:r>
            <a:r>
              <a:rPr lang="zh-CN" altLang="en-US" dirty="0"/>
              <a:t>操纵子</a:t>
            </a:r>
            <a:r>
              <a:rPr lang="en-US" altLang="zh-CN" dirty="0"/>
              <a:t>).</a:t>
            </a:r>
          </a:p>
          <a:p>
            <a:r>
              <a:rPr lang="en-US" dirty="0"/>
              <a:t>The operon considered here is the </a:t>
            </a:r>
            <a:r>
              <a:rPr lang="en-US" i="1" dirty="0"/>
              <a:t>lac</a:t>
            </a:r>
            <a:r>
              <a:rPr lang="en-US" dirty="0"/>
              <a:t> operon (</a:t>
            </a:r>
            <a:r>
              <a:rPr lang="zh-CN" altLang="en-US" dirty="0"/>
              <a:t>乳糖操纵子</a:t>
            </a:r>
            <a:r>
              <a:rPr lang="en-US" altLang="zh-CN" dirty="0"/>
              <a:t>).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67922-FC4A-4E43-B2B6-14E15D4F7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41EDE-8CD1-416B-95DD-899F13557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5" y="569066"/>
            <a:ext cx="5219048" cy="59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9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42ACEFC-48D3-465D-872F-27471F2723EF}"/>
              </a:ext>
            </a:extLst>
          </p:cNvPr>
          <p:cNvGrpSpPr/>
          <p:nvPr/>
        </p:nvGrpSpPr>
        <p:grpSpPr>
          <a:xfrm>
            <a:off x="5757164" y="204216"/>
            <a:ext cx="6291072" cy="6449568"/>
            <a:chOff x="2950464" y="204216"/>
            <a:chExt cx="6291072" cy="6449568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0464" y="204216"/>
              <a:ext cx="6291072" cy="6449568"/>
            </a:xfrm>
            <a:prstGeom prst="rect">
              <a:avLst/>
            </a:prstGeom>
          </p:spPr>
        </p:pic>
        <p:sp>
          <p:nvSpPr>
            <p:cNvPr id="4" name="TextBox 2"/>
            <p:cNvSpPr txBox="1">
              <a:spLocks noChangeArrowheads="1"/>
            </p:cNvSpPr>
            <p:nvPr/>
          </p:nvSpPr>
          <p:spPr bwMode="auto">
            <a:xfrm>
              <a:off x="6388807" y="210681"/>
              <a:ext cx="63639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Operon</a:t>
              </a:r>
            </a:p>
          </p:txBody>
        </p:sp>
        <p:sp>
          <p:nvSpPr>
            <p:cNvPr id="5" name="TextBox 3"/>
            <p:cNvSpPr txBox="1">
              <a:spLocks noChangeArrowheads="1"/>
            </p:cNvSpPr>
            <p:nvPr/>
          </p:nvSpPr>
          <p:spPr bwMode="auto">
            <a:xfrm>
              <a:off x="5306132" y="602794"/>
              <a:ext cx="75661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Operator</a:t>
              </a:r>
            </a:p>
          </p:txBody>
        </p:sp>
        <p:sp>
          <p:nvSpPr>
            <p:cNvPr id="6" name="TextBox 4"/>
            <p:cNvSpPr txBox="1">
              <a:spLocks noChangeArrowheads="1"/>
            </p:cNvSpPr>
            <p:nvPr/>
          </p:nvSpPr>
          <p:spPr bwMode="auto">
            <a:xfrm>
              <a:off x="3571788" y="737734"/>
              <a:ext cx="93455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Regulatory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gene</a:t>
              </a:r>
            </a:p>
          </p:txBody>
        </p: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2989968" y="1280657"/>
              <a:ext cx="3895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DNA</a:t>
              </a:r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2989969" y="1806119"/>
              <a:ext cx="5498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mRNA</a:t>
              </a: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2989969" y="2301419"/>
              <a:ext cx="61715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Protein</a:t>
              </a: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6617902" y="593871"/>
              <a:ext cx="1689565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Cluster of genes for</a:t>
              </a:r>
            </a:p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lactose enzymes</a:t>
              </a:r>
            </a:p>
          </p:txBody>
        </p:sp>
        <p:sp>
          <p:nvSpPr>
            <p:cNvPr id="12" name="TextBox 12"/>
            <p:cNvSpPr txBox="1">
              <a:spLocks noChangeArrowheads="1"/>
            </p:cNvSpPr>
            <p:nvPr/>
          </p:nvSpPr>
          <p:spPr bwMode="auto">
            <a:xfrm>
              <a:off x="5042606" y="2244270"/>
              <a:ext cx="827150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Active</a:t>
              </a:r>
            </a:p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repressor</a:t>
              </a:r>
            </a:p>
          </p:txBody>
        </p:sp>
        <p:sp>
          <p:nvSpPr>
            <p:cNvPr id="14" name="TextBox 15"/>
            <p:cNvSpPr txBox="1">
              <a:spLocks noChangeArrowheads="1"/>
            </p:cNvSpPr>
            <p:nvPr/>
          </p:nvSpPr>
          <p:spPr bwMode="auto">
            <a:xfrm>
              <a:off x="6665025" y="2415145"/>
              <a:ext cx="2384097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RNA polymerase cannot attach to promoter</a:t>
              </a:r>
            </a:p>
          </p:txBody>
        </p:sp>
        <p:sp>
          <p:nvSpPr>
            <p:cNvPr id="15" name="TextBox 18"/>
            <p:cNvSpPr txBox="1">
              <a:spLocks noChangeArrowheads="1"/>
            </p:cNvSpPr>
            <p:nvPr/>
          </p:nvSpPr>
          <p:spPr bwMode="auto">
            <a:xfrm>
              <a:off x="2989969" y="2964994"/>
              <a:ext cx="292868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Operon turned off (lactose absent)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852388" y="3686851"/>
              <a:ext cx="1133067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Transcription</a:t>
              </a:r>
            </a:p>
          </p:txBody>
        </p:sp>
        <p:sp>
          <p:nvSpPr>
            <p:cNvPr id="17" name="TextBox 20"/>
            <p:cNvSpPr txBox="1">
              <a:spLocks noChangeArrowheads="1"/>
            </p:cNvSpPr>
            <p:nvPr/>
          </p:nvSpPr>
          <p:spPr bwMode="auto">
            <a:xfrm>
              <a:off x="2991556" y="4223882"/>
              <a:ext cx="38953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DNA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36256" y="4547732"/>
              <a:ext cx="113814" cy="2442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7" b="1" dirty="0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3</a:t>
              </a:r>
            </a:p>
          </p:txBody>
        </p:sp>
        <p:sp>
          <p:nvSpPr>
            <p:cNvPr id="19" name="TextBox 22"/>
            <p:cNvSpPr txBox="1">
              <a:spLocks noChangeArrowheads="1"/>
            </p:cNvSpPr>
            <p:nvPr/>
          </p:nvSpPr>
          <p:spPr bwMode="auto">
            <a:xfrm>
              <a:off x="2991557" y="4749344"/>
              <a:ext cx="5498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mRNA</a:t>
              </a:r>
            </a:p>
          </p:txBody>
        </p:sp>
        <p:sp>
          <p:nvSpPr>
            <p:cNvPr id="20" name="TextBox 23"/>
            <p:cNvSpPr txBox="1">
              <a:spLocks noChangeArrowheads="1"/>
            </p:cNvSpPr>
            <p:nvPr/>
          </p:nvSpPr>
          <p:spPr bwMode="auto">
            <a:xfrm>
              <a:off x="2991557" y="5243057"/>
              <a:ext cx="61715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Protein</a:t>
              </a:r>
            </a:p>
          </p:txBody>
        </p:sp>
        <p:sp>
          <p:nvSpPr>
            <p:cNvPr id="21" name="TextBox 24"/>
            <p:cNvSpPr txBox="1">
              <a:spLocks noChangeArrowheads="1"/>
            </p:cNvSpPr>
            <p:nvPr/>
          </p:nvSpPr>
          <p:spPr bwMode="auto">
            <a:xfrm>
              <a:off x="5529969" y="4392951"/>
              <a:ext cx="1599797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RNA polymerase</a:t>
              </a:r>
            </a:p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bound to promoter</a:t>
              </a:r>
            </a:p>
          </p:txBody>
        </p:sp>
        <p:sp>
          <p:nvSpPr>
            <p:cNvPr id="22" name="TextBox 26"/>
            <p:cNvSpPr txBox="1">
              <a:spLocks noChangeArrowheads="1"/>
            </p:cNvSpPr>
            <p:nvPr/>
          </p:nvSpPr>
          <p:spPr bwMode="auto">
            <a:xfrm>
              <a:off x="6407857" y="4943019"/>
              <a:ext cx="5498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mRNA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04518" y="5062082"/>
              <a:ext cx="113814" cy="2442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7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2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78943" y="5489119"/>
              <a:ext cx="113814" cy="24423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7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241391" y="4909681"/>
              <a:ext cx="953531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Translation</a:t>
              </a:r>
            </a:p>
          </p:txBody>
        </p:sp>
        <p:sp>
          <p:nvSpPr>
            <p:cNvPr id="26" name="TextBox 30"/>
            <p:cNvSpPr txBox="1">
              <a:spLocks noChangeArrowheads="1"/>
            </p:cNvSpPr>
            <p:nvPr/>
          </p:nvSpPr>
          <p:spPr bwMode="auto">
            <a:xfrm>
              <a:off x="2986794" y="5790744"/>
              <a:ext cx="67486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Lactose</a:t>
              </a:r>
            </a:p>
          </p:txBody>
        </p:sp>
        <p:sp>
          <p:nvSpPr>
            <p:cNvPr id="27" name="TextBox 31"/>
            <p:cNvSpPr txBox="1">
              <a:spLocks noChangeArrowheads="1"/>
            </p:cNvSpPr>
            <p:nvPr/>
          </p:nvSpPr>
          <p:spPr bwMode="auto">
            <a:xfrm>
              <a:off x="5839531" y="5600245"/>
              <a:ext cx="82715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Inactive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repressor</a:t>
              </a:r>
            </a:p>
          </p:txBody>
        </p:sp>
        <p:sp>
          <p:nvSpPr>
            <p:cNvPr id="28" name="TextBox 33"/>
            <p:cNvSpPr txBox="1">
              <a:spLocks noChangeArrowheads="1"/>
            </p:cNvSpPr>
            <p:nvPr/>
          </p:nvSpPr>
          <p:spPr bwMode="auto">
            <a:xfrm>
              <a:off x="7588957" y="6101894"/>
              <a:ext cx="148117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Lactose enzymes</a:t>
              </a:r>
            </a:p>
          </p:txBody>
        </p:sp>
        <p:sp>
          <p:nvSpPr>
            <p:cNvPr id="29" name="TextBox 34"/>
            <p:cNvSpPr txBox="1">
              <a:spLocks noChangeArrowheads="1"/>
            </p:cNvSpPr>
            <p:nvPr/>
          </p:nvSpPr>
          <p:spPr bwMode="auto">
            <a:xfrm>
              <a:off x="2991557" y="6379707"/>
              <a:ext cx="414376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Operon turned on (lactose inactivates repressor)</a:t>
              </a:r>
            </a:p>
          </p:txBody>
        </p:sp>
        <p:sp>
          <p:nvSpPr>
            <p:cNvPr id="30" name="TextBox 4"/>
            <p:cNvSpPr txBox="1">
              <a:spLocks noChangeArrowheads="1"/>
            </p:cNvSpPr>
            <p:nvPr/>
          </p:nvSpPr>
          <p:spPr bwMode="auto">
            <a:xfrm>
              <a:off x="4660126" y="825381"/>
              <a:ext cx="79829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Arial"/>
                  <a:ea typeface="ＭＳ Ｐゴシック" charset="0"/>
                  <a:cs typeface="Arial" pitchFamily="-108" charset="0"/>
                </a:rPr>
                <a:t>Promoter</a:t>
              </a:r>
            </a:p>
          </p:txBody>
        </p:sp>
        <p:sp>
          <p:nvSpPr>
            <p:cNvPr id="31" name="Freeform 30"/>
            <p:cNvSpPr/>
            <p:nvPr/>
          </p:nvSpPr>
          <p:spPr>
            <a:xfrm>
              <a:off x="5269708" y="4357688"/>
              <a:ext cx="223837" cy="133350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sm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6803232" y="2189500"/>
              <a:ext cx="326534" cy="77451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sm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 rot="10800000">
              <a:off x="4855368" y="417740"/>
              <a:ext cx="3682207" cy="274410"/>
              <a:chOff x="424395" y="5613146"/>
              <a:chExt cx="928192" cy="336460"/>
            </a:xfrm>
          </p:grpSpPr>
          <p:sp>
            <p:nvSpPr>
              <p:cNvPr id="34" name="Freeform 3"/>
              <p:cNvSpPr/>
              <p:nvPr/>
            </p:nvSpPr>
            <p:spPr>
              <a:xfrm>
                <a:off x="424395" y="5613146"/>
                <a:ext cx="928192" cy="174599"/>
              </a:xfrm>
              <a:custGeom>
                <a:avLst/>
                <a:gdLst>
                  <a:gd name="connsiteX0" fmla="*/ 6350 w 928192"/>
                  <a:gd name="connsiteY0" fmla="*/ 6350 h 174599"/>
                  <a:gd name="connsiteX1" fmla="*/ 6350 w 928192"/>
                  <a:gd name="connsiteY1" fmla="*/ 168249 h 174599"/>
                  <a:gd name="connsiteX2" fmla="*/ 921842 w 928192"/>
                  <a:gd name="connsiteY2" fmla="*/ 168249 h 174599"/>
                  <a:gd name="connsiteX3" fmla="*/ 921842 w 928192"/>
                  <a:gd name="connsiteY3" fmla="*/ 6350 h 174599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</a:cxnLst>
                <a:rect l="l" t="t" r="r" b="b"/>
                <a:pathLst>
                  <a:path w="928192" h="174599">
                    <a:moveTo>
                      <a:pt x="6350" y="6350"/>
                    </a:moveTo>
                    <a:lnTo>
                      <a:pt x="6350" y="168249"/>
                    </a:lnTo>
                    <a:lnTo>
                      <a:pt x="921842" y="168249"/>
                    </a:lnTo>
                    <a:lnTo>
                      <a:pt x="921842" y="6350"/>
                    </a:lnTo>
                  </a:path>
                </a:pathLst>
              </a:custGeom>
              <a:ln w="12700">
                <a:miter lim="800000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000000"/>
                  </a:solidFill>
                  <a:latin typeface="Times"/>
                </a:endParaRPr>
              </a:p>
            </p:txBody>
          </p:sp>
          <p:sp>
            <p:nvSpPr>
              <p:cNvPr id="35" name="Freeform 3"/>
              <p:cNvSpPr/>
              <p:nvPr/>
            </p:nvSpPr>
            <p:spPr>
              <a:xfrm>
                <a:off x="882116" y="5775045"/>
                <a:ext cx="25400" cy="174561"/>
              </a:xfrm>
              <a:custGeom>
                <a:avLst/>
                <a:gdLst>
                  <a:gd name="connsiteX0" fmla="*/ 6350 w 25400"/>
                  <a:gd name="connsiteY0" fmla="*/ 168211 h 174561"/>
                  <a:gd name="connsiteX1" fmla="*/ 6350 w 25400"/>
                  <a:gd name="connsiteY1" fmla="*/ 6350 h 174561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25400" h="174561">
                    <a:moveTo>
                      <a:pt x="6350" y="168211"/>
                    </a:moveTo>
                    <a:lnTo>
                      <a:pt x="6350" y="6350"/>
                    </a:lnTo>
                  </a:path>
                </a:pathLst>
              </a:custGeom>
              <a:ln w="12700">
                <a:miter lim="800000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000000"/>
                  </a:solidFill>
                  <a:latin typeface="Times"/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 rot="11279966">
              <a:off x="5964429" y="967018"/>
              <a:ext cx="2609242" cy="292608"/>
              <a:chOff x="424395" y="5613146"/>
              <a:chExt cx="928192" cy="336460"/>
            </a:xfrm>
          </p:grpSpPr>
          <p:sp>
            <p:nvSpPr>
              <p:cNvPr id="37" name="Freeform 3"/>
              <p:cNvSpPr/>
              <p:nvPr/>
            </p:nvSpPr>
            <p:spPr>
              <a:xfrm>
                <a:off x="424395" y="5613146"/>
                <a:ext cx="928192" cy="174599"/>
              </a:xfrm>
              <a:custGeom>
                <a:avLst/>
                <a:gdLst>
                  <a:gd name="connsiteX0" fmla="*/ 6350 w 928192"/>
                  <a:gd name="connsiteY0" fmla="*/ 6350 h 174599"/>
                  <a:gd name="connsiteX1" fmla="*/ 6350 w 928192"/>
                  <a:gd name="connsiteY1" fmla="*/ 168249 h 174599"/>
                  <a:gd name="connsiteX2" fmla="*/ 921842 w 928192"/>
                  <a:gd name="connsiteY2" fmla="*/ 168249 h 174599"/>
                  <a:gd name="connsiteX3" fmla="*/ 921842 w 928192"/>
                  <a:gd name="connsiteY3" fmla="*/ 6350 h 174599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</a:cxnLst>
                <a:rect l="l" t="t" r="r" b="b"/>
                <a:pathLst>
                  <a:path w="928192" h="174599">
                    <a:moveTo>
                      <a:pt x="6350" y="6350"/>
                    </a:moveTo>
                    <a:lnTo>
                      <a:pt x="6350" y="168249"/>
                    </a:lnTo>
                    <a:lnTo>
                      <a:pt x="921842" y="168249"/>
                    </a:lnTo>
                    <a:lnTo>
                      <a:pt x="921842" y="6350"/>
                    </a:lnTo>
                  </a:path>
                </a:pathLst>
              </a:custGeom>
              <a:ln w="12700">
                <a:miter lim="800000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000000"/>
                  </a:solidFill>
                  <a:latin typeface="Times"/>
                </a:endParaRPr>
              </a:p>
            </p:txBody>
          </p:sp>
          <p:sp>
            <p:nvSpPr>
              <p:cNvPr id="38" name="Freeform 3"/>
              <p:cNvSpPr/>
              <p:nvPr/>
            </p:nvSpPr>
            <p:spPr>
              <a:xfrm>
                <a:off x="882116" y="5775045"/>
                <a:ext cx="25400" cy="174561"/>
              </a:xfrm>
              <a:custGeom>
                <a:avLst/>
                <a:gdLst>
                  <a:gd name="connsiteX0" fmla="*/ 6350 w 25400"/>
                  <a:gd name="connsiteY0" fmla="*/ 168211 h 174561"/>
                  <a:gd name="connsiteX1" fmla="*/ 6350 w 25400"/>
                  <a:gd name="connsiteY1" fmla="*/ 6350 h 174561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25400" h="174561">
                    <a:moveTo>
                      <a:pt x="6350" y="168211"/>
                    </a:moveTo>
                    <a:lnTo>
                      <a:pt x="6350" y="6350"/>
                    </a:lnTo>
                  </a:path>
                </a:pathLst>
              </a:custGeom>
              <a:ln w="12700">
                <a:miter lim="800000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000000"/>
                  </a:solidFill>
                  <a:latin typeface="Times"/>
                </a:endParaRPr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4957504" y="1689246"/>
              <a:ext cx="289267" cy="289306"/>
              <a:chOff x="3433503" y="1689246"/>
              <a:chExt cx="289267" cy="289306"/>
            </a:xfrm>
          </p:grpSpPr>
          <p:sp>
            <p:nvSpPr>
              <p:cNvPr id="39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solidFill>
                <a:srgbClr val="58595B">
                  <a:alpha val="100000"/>
                </a:srgbClr>
              </a:solidFill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1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5811496" y="1798976"/>
              <a:ext cx="289267" cy="289306"/>
              <a:chOff x="3433503" y="1689246"/>
              <a:chExt cx="289267" cy="289306"/>
            </a:xfrm>
          </p:grpSpPr>
          <p:sp>
            <p:nvSpPr>
              <p:cNvPr id="43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solidFill>
                <a:srgbClr val="58595B">
                  <a:alpha val="100000"/>
                </a:srgbClr>
              </a:solidFill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2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3585831" y="5458834"/>
              <a:ext cx="289267" cy="289306"/>
              <a:chOff x="3433503" y="1689246"/>
              <a:chExt cx="289267" cy="289306"/>
            </a:xfrm>
            <a:solidFill>
              <a:srgbClr val="0095DA"/>
            </a:solidFill>
          </p:grpSpPr>
          <p:sp>
            <p:nvSpPr>
              <p:cNvPr id="46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grpFill/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grp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1</a:t>
                </a: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5012201" y="5028099"/>
              <a:ext cx="289267" cy="289306"/>
              <a:chOff x="3433503" y="1689246"/>
              <a:chExt cx="289267" cy="289306"/>
            </a:xfrm>
            <a:solidFill>
              <a:srgbClr val="0095DA"/>
            </a:solidFill>
          </p:grpSpPr>
          <p:sp>
            <p:nvSpPr>
              <p:cNvPr id="49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grpFill/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grp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2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4948530" y="4514853"/>
              <a:ext cx="289267" cy="289306"/>
              <a:chOff x="3433503" y="1689246"/>
              <a:chExt cx="289267" cy="289306"/>
            </a:xfrm>
            <a:solidFill>
              <a:srgbClr val="0095DA"/>
            </a:solidFill>
          </p:grpSpPr>
          <p:sp>
            <p:nvSpPr>
              <p:cNvPr id="52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grpFill/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grp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3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6491581" y="3641552"/>
              <a:ext cx="289267" cy="289306"/>
              <a:chOff x="3433503" y="1689246"/>
              <a:chExt cx="289267" cy="289306"/>
            </a:xfrm>
            <a:solidFill>
              <a:srgbClr val="0095DA"/>
            </a:solidFill>
          </p:grpSpPr>
          <p:sp>
            <p:nvSpPr>
              <p:cNvPr id="55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grpFill/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grp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4</a:t>
                </a: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7880691" y="4868517"/>
              <a:ext cx="289267" cy="289306"/>
              <a:chOff x="3433503" y="1689246"/>
              <a:chExt cx="289267" cy="289306"/>
            </a:xfrm>
            <a:solidFill>
              <a:srgbClr val="0095DA"/>
            </a:solidFill>
          </p:grpSpPr>
          <p:sp>
            <p:nvSpPr>
              <p:cNvPr id="58" name="Freeform 3"/>
              <p:cNvSpPr/>
              <p:nvPr/>
            </p:nvSpPr>
            <p:spPr>
              <a:xfrm>
                <a:off x="3433503" y="1689246"/>
                <a:ext cx="289267" cy="289306"/>
              </a:xfrm>
              <a:custGeom>
                <a:avLst/>
                <a:gdLst>
                  <a:gd name="connsiteX0" fmla="*/ 289267 w 289267"/>
                  <a:gd name="connsiteY0" fmla="*/ 144652 h 289306"/>
                  <a:gd name="connsiteX1" fmla="*/ 144640 w 289267"/>
                  <a:gd name="connsiteY1" fmla="*/ 289305 h 289306"/>
                  <a:gd name="connsiteX2" fmla="*/ 0 w 289267"/>
                  <a:gd name="connsiteY2" fmla="*/ 144652 h 289306"/>
                  <a:gd name="connsiteX3" fmla="*/ 144640 w 289267"/>
                  <a:gd name="connsiteY3" fmla="*/ 0 h 289306"/>
                  <a:gd name="connsiteX4" fmla="*/ 289267 w 289267"/>
                  <a:gd name="connsiteY4" fmla="*/ 144652 h 289306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  <a:cxn ang="2">
                    <a:pos x="connsiteX2" y="connsiteY2"/>
                  </a:cxn>
                  <a:cxn ang="3">
                    <a:pos x="connsiteX3" y="connsiteY3"/>
                  </a:cxn>
                  <a:cxn ang="4">
                    <a:pos x="connsiteX4" y="connsiteY4"/>
                  </a:cxn>
                </a:cxnLst>
                <a:rect l="l" t="t" r="r" b="b"/>
                <a:pathLst>
                  <a:path w="289267" h="289306">
                    <a:moveTo>
                      <a:pt x="289267" y="144652"/>
                    </a:moveTo>
                    <a:cubicBezTo>
                      <a:pt x="289267" y="224497"/>
                      <a:pt x="224548" y="289305"/>
                      <a:pt x="144640" y="289305"/>
                    </a:cubicBezTo>
                    <a:cubicBezTo>
                      <a:pt x="64795" y="289305"/>
                      <a:pt x="0" y="224497"/>
                      <a:pt x="0" y="144652"/>
                    </a:cubicBezTo>
                    <a:cubicBezTo>
                      <a:pt x="0" y="64706"/>
                      <a:pt x="64795" y="0"/>
                      <a:pt x="144640" y="0"/>
                    </a:cubicBezTo>
                    <a:cubicBezTo>
                      <a:pt x="224548" y="0"/>
                      <a:pt x="289267" y="64706"/>
                      <a:pt x="289267" y="144652"/>
                    </a:cubicBezTo>
                  </a:path>
                </a:pathLst>
              </a:custGeom>
              <a:grpFill/>
              <a:ln w="12700">
                <a:solidFill>
                  <a:srgbClr val="000000">
                    <a:alpha val="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400" b="1">
                  <a:solidFill>
                    <a:srgbClr val="FFFFFF"/>
                  </a:solidFill>
                  <a:latin typeface="Times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519399" y="1709401"/>
                <a:ext cx="113814" cy="244234"/>
              </a:xfrm>
              <a:prstGeom prst="rect">
                <a:avLst/>
              </a:prstGeom>
              <a:grp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7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5</a:t>
                </a:r>
              </a:p>
            </p:txBody>
          </p:sp>
        </p:grpSp>
        <p:cxnSp>
          <p:nvCxnSpPr>
            <p:cNvPr id="62" name="Straight Connector 61"/>
            <p:cNvCxnSpPr/>
            <p:nvPr/>
          </p:nvCxnSpPr>
          <p:spPr bwMode="auto">
            <a:xfrm flipH="1">
              <a:off x="5693966" y="811888"/>
              <a:ext cx="1" cy="28031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0" name="Footer Placeholder 3">
            <a:extLst>
              <a:ext uri="{FF2B5EF4-FFF2-40B4-BE49-F238E27FC236}">
                <a16:creationId xmlns:a16="http://schemas.microsoft.com/office/drawing/2014/main" id="{9B2EDEA0-C5DB-45CB-8DBB-1CD555DE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C745A963-49C3-4E17-83B6-E2DB11846982}"/>
              </a:ext>
            </a:extLst>
          </p:cNvPr>
          <p:cNvSpPr txBox="1">
            <a:spLocks/>
          </p:cNvSpPr>
          <p:nvPr/>
        </p:nvSpPr>
        <p:spPr>
          <a:xfrm>
            <a:off x="383177" y="457438"/>
            <a:ext cx="5202583" cy="5943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Two control sequence in DNA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Promoter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启动子</a:t>
            </a:r>
            <a:r>
              <a:rPr lang="en-US" altLang="zh-CN" dirty="0"/>
              <a:t>), </a:t>
            </a:r>
            <a:r>
              <a:rPr lang="en-US" dirty="0"/>
              <a:t>is the site where the enzyme </a:t>
            </a:r>
            <a:r>
              <a:rPr lang="en-US" dirty="0">
                <a:highlight>
                  <a:srgbClr val="FFFF00"/>
                </a:highlight>
              </a:rPr>
              <a:t>RNA polymerase</a:t>
            </a:r>
            <a:r>
              <a:rPr lang="en-US" dirty="0"/>
              <a:t> attaches and </a:t>
            </a:r>
            <a:r>
              <a:rPr lang="en-US" dirty="0">
                <a:highlight>
                  <a:srgbClr val="FFFF00"/>
                </a:highlight>
              </a:rPr>
              <a:t>initiates</a:t>
            </a:r>
            <a:r>
              <a:rPr lang="en-US" dirty="0"/>
              <a:t> transcription.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Operator</a:t>
            </a:r>
            <a:r>
              <a:rPr lang="en-US" dirty="0"/>
              <a:t> (</a:t>
            </a:r>
            <a:r>
              <a:rPr lang="zh-CN" altLang="en-US" dirty="0"/>
              <a:t>操纵基因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dirty="0"/>
              <a:t>acts as a </a:t>
            </a:r>
            <a:r>
              <a:rPr lang="en-US" dirty="0">
                <a:highlight>
                  <a:srgbClr val="FFFF00"/>
                </a:highlight>
              </a:rPr>
              <a:t>switch</a:t>
            </a:r>
            <a:r>
              <a:rPr lang="en-US" dirty="0"/>
              <a:t> that is turned on or off, depending on whether a specific protein is bound there. </a:t>
            </a:r>
          </a:p>
          <a:p>
            <a:r>
              <a:rPr lang="en-US" dirty="0"/>
              <a:t>The specific protein, </a:t>
            </a:r>
            <a:r>
              <a:rPr lang="en-US" b="1" dirty="0">
                <a:solidFill>
                  <a:srgbClr val="FF0000"/>
                </a:solidFill>
              </a:rPr>
              <a:t>repressor</a:t>
            </a:r>
            <a:r>
              <a:rPr lang="en-US" dirty="0"/>
              <a:t>, if </a:t>
            </a:r>
            <a:r>
              <a:rPr lang="en-US" dirty="0">
                <a:highlight>
                  <a:srgbClr val="FFFF00"/>
                </a:highlight>
              </a:rPr>
              <a:t>active</a:t>
            </a:r>
            <a:r>
              <a:rPr lang="en-US" dirty="0"/>
              <a:t>, binds to the operator.</a:t>
            </a:r>
          </a:p>
        </p:txBody>
      </p:sp>
    </p:spTree>
    <p:extLst>
      <p:ext uri="{BB962C8B-B14F-4D97-AF65-F5344CB8AC3E}">
        <p14:creationId xmlns:p14="http://schemas.microsoft.com/office/powerpoint/2010/main" val="2904407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D502-F0A1-459C-8A1B-690B6C074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Genes Turned off by Repressor Proteins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B422-37CF-426C-A44D-2FC598CA1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5A4B-95C1-4429-9BD8-BA87C593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3FE01-1450-40D6-8824-6F3DE5573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43" y="1247775"/>
            <a:ext cx="10356115" cy="524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1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410C-28E5-492A-BF5A-EBA62CB99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Genes Turned on by Activator 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D10F0-C4E0-4B49-892E-2B4FF55ED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E9707-D8DB-4413-86AA-D0FF4144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figure_08_08">
            <a:extLst>
              <a:ext uri="{FF2B5EF4-FFF2-40B4-BE49-F238E27FC236}">
                <a16:creationId xmlns:a16="http://schemas.microsoft.com/office/drawing/2014/main" id="{D68D519F-49C1-4801-B10F-368AF951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789" y="1227909"/>
            <a:ext cx="9156422" cy="408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3802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8" name="Picture 4" descr="https://upload.wikimedia.org/wikipedia/commons/thumb/c/c2/CAMP-4K.png/960px-CAMP-4K.png">
            <a:extLst>
              <a:ext uri="{FF2B5EF4-FFF2-40B4-BE49-F238E27FC236}">
                <a16:creationId xmlns:a16="http://schemas.microsoft.com/office/drawing/2014/main" id="{BE3233FF-D0DF-43A4-A925-BA352B936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869" y="448853"/>
            <a:ext cx="3210467" cy="159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0A659F-4F7B-40D2-A792-609AC3E89C0F}"/>
              </a:ext>
            </a:extLst>
          </p:cNvPr>
          <p:cNvSpPr/>
          <p:nvPr/>
        </p:nvSpPr>
        <p:spPr>
          <a:xfrm>
            <a:off x="8100524" y="104921"/>
            <a:ext cx="28631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cyclic AMP (cAMP) </a:t>
            </a:r>
          </a:p>
        </p:txBody>
      </p:sp>
    </p:spTree>
    <p:extLst>
      <p:ext uri="{BB962C8B-B14F-4D97-AF65-F5344CB8AC3E}">
        <p14:creationId xmlns:p14="http://schemas.microsoft.com/office/powerpoint/2010/main" val="88767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D7C9-AFA5-4448-8253-0A5D05CD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Regulation in Eukaryotic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5E8BA-74CA-42FA-AC43-A31A7E919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8968177" cy="5264966"/>
          </a:xfrm>
        </p:spPr>
        <p:txBody>
          <a:bodyPr/>
          <a:lstStyle/>
          <a:p>
            <a:pPr marL="0" indent="0">
              <a:buNone/>
            </a:pPr>
            <a:r>
              <a:rPr lang="en-US" i="1" u="sng" dirty="0"/>
              <a:t>LO: Explain how transcription is regulated in eukaryotes and compare transcriptional regulation in eukaryotes and prokaryotes.</a:t>
            </a:r>
          </a:p>
          <a:p>
            <a:r>
              <a:rPr lang="en-US" dirty="0"/>
              <a:t>Pre-transcriptional control</a:t>
            </a:r>
          </a:p>
          <a:p>
            <a:r>
              <a:rPr lang="en-US" altLang="en-US" b="1" dirty="0">
                <a:solidFill>
                  <a:srgbClr val="FF0000"/>
                </a:solidFill>
              </a:rPr>
              <a:t>Transcriptional control</a:t>
            </a:r>
          </a:p>
          <a:p>
            <a:r>
              <a:rPr lang="en-US" altLang="en-US" dirty="0"/>
              <a:t>Post-transcriptional control</a:t>
            </a:r>
          </a:p>
          <a:p>
            <a:r>
              <a:rPr lang="en-US" altLang="en-US" dirty="0"/>
              <a:t>Translational control</a:t>
            </a:r>
          </a:p>
          <a:p>
            <a:r>
              <a:rPr lang="en-US" altLang="en-US" dirty="0"/>
              <a:t>Post-translational control</a:t>
            </a:r>
          </a:p>
          <a:p>
            <a:endParaRPr lang="en-US" altLang="en-US" b="1" dirty="0">
              <a:solidFill>
                <a:srgbClr val="000000"/>
              </a:solidFill>
              <a:latin typeface="Arial" pitchFamily="-108" charset="0"/>
              <a:cs typeface="Arial" panose="020B0604020202020204" pitchFamily="34" charset="0"/>
            </a:endParaRPr>
          </a:p>
          <a:p>
            <a:endParaRPr lang="en-US" altLang="en-US" b="1" dirty="0">
              <a:solidFill>
                <a:srgbClr val="000000"/>
              </a:solidFill>
              <a:latin typeface="Arial" pitchFamily="-108" charset="0"/>
              <a:cs typeface="Arial" panose="020B0604020202020204" pitchFamily="34" charset="0"/>
            </a:endParaRPr>
          </a:p>
          <a:p>
            <a:endParaRPr lang="en-US" altLang="en-US" b="1" dirty="0">
              <a:solidFill>
                <a:srgbClr val="FF0000"/>
              </a:solidFill>
              <a:latin typeface="Arial" pitchFamily="-108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81C24-B653-46A9-AEEB-F988084D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C4872-C417-4300-A386-EA80839C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54" y="0"/>
            <a:ext cx="2840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6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3A97-DFB2-4173-98C6-C1DCC30E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Regulation of DNA Packing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A139-6437-4E65-BD01-14AAD5527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7789335" cy="5264966"/>
          </a:xfrm>
        </p:spPr>
        <p:txBody>
          <a:bodyPr/>
          <a:lstStyle/>
          <a:p>
            <a:r>
              <a:rPr lang="en-US" dirty="0"/>
              <a:t>DNA packing tends to </a:t>
            </a:r>
            <a:r>
              <a:rPr lang="en-US" b="1" dirty="0">
                <a:solidFill>
                  <a:srgbClr val="FF0000"/>
                </a:solidFill>
              </a:rPr>
              <a:t>prevent</a:t>
            </a:r>
            <a:r>
              <a:rPr lang="en-US" dirty="0"/>
              <a:t> gene expression.</a:t>
            </a:r>
          </a:p>
          <a:p>
            <a:r>
              <a:rPr lang="en-US" dirty="0"/>
              <a:t>Cells may use DNA packing for the </a:t>
            </a:r>
            <a:r>
              <a:rPr lang="en-US" b="1" dirty="0">
                <a:solidFill>
                  <a:srgbClr val="FF0000"/>
                </a:solidFill>
              </a:rPr>
              <a:t>long-term inactivation</a:t>
            </a:r>
            <a:r>
              <a:rPr lang="en-US" dirty="0"/>
              <a:t> of genes</a:t>
            </a:r>
          </a:p>
          <a:p>
            <a:pPr lvl="1"/>
            <a:r>
              <a:rPr lang="en-US" dirty="0"/>
              <a:t>Heterochromatin: a tightly packed (darkly staining) form of DNA or condensed DNA. </a:t>
            </a:r>
          </a:p>
        </p:txBody>
      </p:sp>
      <p:pic>
        <p:nvPicPr>
          <p:cNvPr id="5" name="Picture 2" descr="figure_05_28">
            <a:extLst>
              <a:ext uri="{FF2B5EF4-FFF2-40B4-BE49-F238E27FC236}">
                <a16:creationId xmlns:a16="http://schemas.microsoft.com/office/drawing/2014/main" id="{5F1C05BF-CFE1-4973-9E3A-CA9A1E1C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77" y="4939895"/>
            <a:ext cx="11427823" cy="191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figure_05_24">
            <a:extLst>
              <a:ext uri="{FF2B5EF4-FFF2-40B4-BE49-F238E27FC236}">
                <a16:creationId xmlns:a16="http://schemas.microsoft.com/office/drawing/2014/main" id="{EFDBDA2E-EB48-4F52-A2F8-323C6341D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512" y="0"/>
            <a:ext cx="4019488" cy="493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861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igure_05_30">
            <a:extLst>
              <a:ext uri="{FF2B5EF4-FFF2-40B4-BE49-F238E27FC236}">
                <a16:creationId xmlns:a16="http://schemas.microsoft.com/office/drawing/2014/main" id="{BE70D3C8-48BF-4DA7-80AA-BEC6D9136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639" y="6117"/>
            <a:ext cx="6772631" cy="6851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2D11E-39F7-409A-8C71-63ECA89B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Chromosome Inactivation</a:t>
            </a:r>
            <a:br>
              <a:rPr lang="en-US" dirty="0"/>
            </a:br>
            <a:r>
              <a:rPr lang="en-US" dirty="0"/>
              <a:t>Barr body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9CA1F-F7E2-4A6E-9DA5-6F5275539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29" y="1227909"/>
            <a:ext cx="2765181" cy="56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19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F59F-FB69-47D4-A321-6180E6FF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Tortoiseshell Cats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177A1-B966-4324-AFC5-0B2E4CB0F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61D480-74F2-4950-BC31-5F7171E8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2B9EEA-FD45-4090-BE75-987154E8F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35" y="1091385"/>
            <a:ext cx="10425731" cy="540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70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638C52-BD33-4224-A293-7F7DC2B4A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94" y="2495550"/>
            <a:ext cx="10772775" cy="4362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7A681F-1FB4-4ECC-A5CF-5CF03CB6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Euchromatin </a:t>
            </a:r>
            <a:br>
              <a:rPr lang="en-US" dirty="0"/>
            </a:br>
            <a:r>
              <a:rPr lang="en-US" dirty="0"/>
              <a:t>Loosely Packed Areas of Active Genes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A710F-7519-44A9-AA49-B1B1095A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Still needs to be “</a:t>
            </a:r>
            <a:r>
              <a:rPr lang="en-US" dirty="0">
                <a:highlight>
                  <a:srgbClr val="FFFF00"/>
                </a:highlight>
              </a:rPr>
              <a:t>unpacked</a:t>
            </a:r>
            <a:r>
              <a:rPr lang="en-US" dirty="0"/>
              <a:t>” before it can be transcribed</a:t>
            </a:r>
          </a:p>
          <a:p>
            <a:r>
              <a:rPr lang="en-US" b="1" dirty="0">
                <a:solidFill>
                  <a:srgbClr val="FF0000"/>
                </a:solidFill>
              </a:rPr>
              <a:t>Chromatin remodeling complex</a:t>
            </a:r>
            <a:r>
              <a:rPr lang="en-US" dirty="0"/>
              <a:t> pushes aside nucleosomes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AA915-1FC0-4023-863C-F52AE2C6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200507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7D7E-D0DE-4DCF-B986-E29DC8F4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Initiation of Transcription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E5909-2198-4D65-92F9-0DD0D86A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87D67F-6AD7-8F44-E85B-B40053E0A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38" y="3356818"/>
            <a:ext cx="5795962" cy="35011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AD82-26A5-4262-9AFD-66ABCBAC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FF0000"/>
                </a:solidFill>
              </a:rPr>
              <a:t>most important stage</a:t>
            </a:r>
            <a:r>
              <a:rPr lang="en-US" dirty="0"/>
              <a:t> for regulating gene expression</a:t>
            </a:r>
          </a:p>
          <a:p>
            <a:r>
              <a:rPr lang="en-US" dirty="0"/>
              <a:t>The </a:t>
            </a:r>
            <a:r>
              <a:rPr lang="en-US" dirty="0">
                <a:highlight>
                  <a:srgbClr val="FFFF00"/>
                </a:highlight>
              </a:rPr>
              <a:t>binding of RNA polymerase to promotor</a:t>
            </a:r>
            <a:r>
              <a:rPr lang="en-US" dirty="0"/>
              <a:t> requires the assistance of </a:t>
            </a:r>
            <a:r>
              <a:rPr lang="en-US" b="1" dirty="0">
                <a:solidFill>
                  <a:srgbClr val="FF0000"/>
                </a:solidFill>
              </a:rPr>
              <a:t>transcription factors (TFs</a:t>
            </a:r>
            <a:r>
              <a:rPr lang="en-US" dirty="0"/>
              <a:t>, proteins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Enhancers (DNA) by activators (TFs) to facilitate</a:t>
            </a:r>
          </a:p>
          <a:p>
            <a:pPr lvl="1"/>
            <a:r>
              <a:rPr lang="en-US" dirty="0"/>
              <a:t>Silencers (DNA) by repressors(TFs) to inhibit</a:t>
            </a:r>
          </a:p>
          <a:p>
            <a:pPr lvl="2"/>
            <a:r>
              <a:rPr lang="en-US" dirty="0"/>
              <a:t>Less common</a:t>
            </a:r>
          </a:p>
          <a:p>
            <a:pPr lvl="1"/>
            <a:r>
              <a:rPr lang="en-US" dirty="0"/>
              <a:t>“Off”, as the default state for most genes </a:t>
            </a:r>
          </a:p>
          <a:p>
            <a:pPr lvl="2"/>
            <a:r>
              <a:rPr lang="en-US" dirty="0"/>
              <a:t>~20% of protein-coding genes  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943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3D480-6413-D9D5-6252-1B4A673E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Regulators Control Gene Expression from a Distance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C7A02D-5248-DE6B-B366-050660C9A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AB1B7FD9-E686-54D1-7C5E-9230F2B3A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00" y="1180069"/>
            <a:ext cx="12193200" cy="531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65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7A83B-F57F-D6B7-8FE0-26C10E90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Transcription Initiation Complex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B2B47D-EA37-AB27-1CAD-686426CB2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334E926-C4CF-6CD2-5383-DB1E19AC4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" y="1174597"/>
            <a:ext cx="12193200" cy="568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56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2" descr="figure_08_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" y="0"/>
            <a:ext cx="10241280" cy="3577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487226" y="3225909"/>
            <a:ext cx="32175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/>
                <a:ea typeface="+mn-ea"/>
                <a:cs typeface="+mn-cs"/>
              </a:rPr>
              <a:t>Even-skipped—Eve</a:t>
            </a:r>
          </a:p>
        </p:txBody>
      </p:sp>
      <p:pic>
        <p:nvPicPr>
          <p:cNvPr id="3" name="Picture 2" descr="figure_08_14">
            <a:extLst>
              <a:ext uri="{FF2B5EF4-FFF2-40B4-BE49-F238E27FC236}">
                <a16:creationId xmlns:a16="http://schemas.microsoft.com/office/drawing/2014/main" id="{19D36C35-BA29-337C-2DD2-B640C275C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3921125"/>
            <a:ext cx="8531225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826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246F1-9DAC-AB65-2A9D-EECD3DC1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Combinatorial Control Can Generate Different Cell Types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9501E1-5A27-920E-629D-9B90B2942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6065247" cy="5264966"/>
          </a:xfrm>
        </p:spPr>
        <p:txBody>
          <a:bodyPr/>
          <a:lstStyle/>
          <a:p>
            <a:r>
              <a:rPr lang="en-US" altLang="zh-CN" dirty="0"/>
              <a:t>Approximately 1000 transcription regulators</a:t>
            </a:r>
          </a:p>
          <a:p>
            <a:r>
              <a:rPr lang="en-US" altLang="zh-CN" dirty="0"/>
              <a:t>To control the 24,000 genes</a:t>
            </a:r>
            <a:endParaRPr lang="zh-CN" altLang="en-US" dirty="0"/>
          </a:p>
        </p:txBody>
      </p:sp>
      <p:pic>
        <p:nvPicPr>
          <p:cNvPr id="5" name="Picture 2" descr="figure_08_17">
            <a:extLst>
              <a:ext uri="{FF2B5EF4-FFF2-40B4-BE49-F238E27FC236}">
                <a16:creationId xmlns:a16="http://schemas.microsoft.com/office/drawing/2014/main" id="{36143CB7-620B-228E-0652-D2290499C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4" y="995013"/>
            <a:ext cx="5743575" cy="586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0341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64D61-E690-F8E9-E750-C69B0B37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Coordination of Gene Expression by a Single TF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B4DFBB-E9D4-B62B-B0D5-8E54460DE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FBFF04B-9962-2D63-6086-1C4CC0989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" y="757563"/>
            <a:ext cx="12193200" cy="610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09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8B5F1-335C-BBCC-6BF0-C30F6F6A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RNA Processing and Breakdown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E26031-4C09-656E-FE82-36B1559E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Processing</a:t>
            </a:r>
          </a:p>
          <a:p>
            <a:pPr lvl="1"/>
            <a:r>
              <a:rPr lang="en-US" altLang="zh-CN" dirty="0"/>
              <a:t>Addition of a cap and tail</a:t>
            </a:r>
          </a:p>
          <a:p>
            <a:pPr lvl="1"/>
            <a:r>
              <a:rPr lang="en-US" altLang="zh-CN" dirty="0"/>
              <a:t>Removal of any introns </a:t>
            </a:r>
          </a:p>
          <a:p>
            <a:pPr lvl="1"/>
            <a:r>
              <a:rPr lang="en-US" altLang="zh-CN" dirty="0"/>
              <a:t>Splicing together of the remaining exons</a:t>
            </a:r>
          </a:p>
          <a:p>
            <a:pPr lvl="2"/>
            <a:r>
              <a:rPr lang="en-US" altLang="zh-CN" b="1" dirty="0">
                <a:solidFill>
                  <a:srgbClr val="FF0000"/>
                </a:solidFill>
              </a:rPr>
              <a:t>Alternative RNA splicing</a:t>
            </a:r>
          </a:p>
          <a:p>
            <a:pPr lvl="2"/>
            <a:r>
              <a:rPr lang="en-US" altLang="zh-CN" dirty="0"/>
              <a:t>multiple mRNAs from the same gene</a:t>
            </a:r>
          </a:p>
          <a:p>
            <a:r>
              <a:rPr lang="en-US" altLang="zh-CN" dirty="0"/>
              <a:t>Breakdown</a:t>
            </a:r>
          </a:p>
          <a:p>
            <a:pPr lvl="1"/>
            <a:r>
              <a:rPr lang="en-US" altLang="zh-CN" dirty="0"/>
              <a:t>Mature mRNA’s “lifetime”, highly variable </a:t>
            </a:r>
          </a:p>
          <a:p>
            <a:pPr lvl="1"/>
            <a:r>
              <a:rPr lang="en-US" altLang="zh-CN" dirty="0"/>
              <a:t>From hours to weeks to months, all eventually broken down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DA5BC0-5A43-D61D-CC65-865697FF1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96A9C1-4F31-0D0D-3049-BCA5ABFB7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162" y="1227909"/>
            <a:ext cx="5044838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39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D1CAE-F2C6-F1FE-E43F-CDA7DE5B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microRNAs (miRNAs), Non-protein Coding RNAs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196C11-CF0E-5EB4-2625-536089EF0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Base-pair to </a:t>
            </a:r>
            <a:r>
              <a:rPr lang="en-US" altLang="zh-CN" dirty="0">
                <a:highlight>
                  <a:srgbClr val="FFFF00"/>
                </a:highlight>
              </a:rPr>
              <a:t>complementary</a:t>
            </a:r>
            <a:r>
              <a:rPr lang="en-US" altLang="zh-CN" dirty="0"/>
              <a:t> sequences in messenger RNA (mRNA)</a:t>
            </a:r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9315EFF-8DB9-7C22-6A1A-A8C67B46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7" y="1845734"/>
            <a:ext cx="5320878" cy="50122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A6FE9E2-15AA-C9F3-AA53-59F95F49A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129" y="1845734"/>
            <a:ext cx="5582859" cy="501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47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4A211-3CFF-E2C4-71C6-5E174FEB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Protein Activation and Breakdown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9091A-2AD7-2A79-4FA0-919864C42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Activation by </a:t>
            </a:r>
          </a:p>
          <a:p>
            <a:pPr lvl="1"/>
            <a:r>
              <a:rPr lang="en-US" altLang="zh-CN" dirty="0"/>
              <a:t>Cleavage, activation of insulin (</a:t>
            </a:r>
            <a:r>
              <a:rPr lang="zh-CN" altLang="en-US" dirty="0"/>
              <a:t>胰岛素</a:t>
            </a:r>
            <a:r>
              <a:rPr lang="en-US" altLang="zh-CN" dirty="0"/>
              <a:t>), trypsin (</a:t>
            </a:r>
            <a:r>
              <a:rPr lang="zh-CN" altLang="en-US" dirty="0"/>
              <a:t>胰蛋白酶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Chemical modification, e.g., phosphorylation by kinase </a:t>
            </a:r>
          </a:p>
          <a:p>
            <a:r>
              <a:rPr lang="en-US" altLang="zh-CN" dirty="0"/>
              <a:t>Selective ubiquitin-mediated breakdown of proteins</a:t>
            </a:r>
            <a:endParaRPr lang="zh-CN" altLang="en-US" dirty="0"/>
          </a:p>
        </p:txBody>
      </p:sp>
      <p:pic>
        <p:nvPicPr>
          <p:cNvPr id="1026" name="Picture 2" descr="Reorganization from proinsulin to insulin. Pancreas secretes the immediate precursor, which is proinsulin. Removal of the C-peptide generates active insulin which comprises two peptide chains as chain A and chain B and two disulfide bonds (S–S) which are connected. Proteases remove associating peptide (C-peptide) to discharge dynamic insulin, made out of two peptide chains (A and B) associated by two disulfide (S–S) bonds. Since C-peptide emerges just from endogenous insulin, its quality in blood shows that at least some pancreatic insulin is being made.">
            <a:extLst>
              <a:ext uri="{FF2B5EF4-FFF2-40B4-BE49-F238E27FC236}">
                <a16:creationId xmlns:a16="http://schemas.microsoft.com/office/drawing/2014/main" id="{8E674949-8AB9-64D8-6C6C-7EC602C7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12" y="3489056"/>
            <a:ext cx="3417388" cy="300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igure_07_41">
            <a:extLst>
              <a:ext uri="{FF2B5EF4-FFF2-40B4-BE49-F238E27FC236}">
                <a16:creationId xmlns:a16="http://schemas.microsoft.com/office/drawing/2014/main" id="{8F284E81-42B5-3176-FB5F-73D3A3E1D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267" y="3447160"/>
            <a:ext cx="7179733" cy="341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21B4DF1-69B1-C32A-B671-4376986B9EA5}"/>
              </a:ext>
            </a:extLst>
          </p:cNvPr>
          <p:cNvSpPr txBox="1"/>
          <p:nvPr/>
        </p:nvSpPr>
        <p:spPr>
          <a:xfrm>
            <a:off x="0" y="65502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https://share.google/images/eg9y9xSEm6ZHmEUD3</a:t>
            </a:r>
          </a:p>
        </p:txBody>
      </p:sp>
    </p:spTree>
    <p:extLst>
      <p:ext uri="{BB962C8B-B14F-4D97-AF65-F5344CB8AC3E}">
        <p14:creationId xmlns:p14="http://schemas.microsoft.com/office/powerpoint/2010/main" val="3488486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CD7E2-2BEC-26C1-0732-EAE6F471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ED3540F1-84A8-73EB-7194-F21765139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95337" y="1497711"/>
            <a:ext cx="6296663" cy="38625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B85F20-79C3-6FBF-83D7-957F80E74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93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85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40DD8-3170-69E6-7193-83EC7B05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Objectives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0B3067-E39D-5D64-8553-7C73DB47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Describe the significance of cell signaling and homeotic genes in multicellular organisms.</a:t>
            </a:r>
          </a:p>
          <a:p>
            <a:r>
              <a:rPr lang="en-US" altLang="zh-CN" dirty="0"/>
              <a:t>Explain how mutations in proto-oncogenes and tumor suppressor genes can lead to cancer.</a:t>
            </a:r>
          </a:p>
          <a:p>
            <a:r>
              <a:rPr lang="en-US" altLang="zh-CN" dirty="0"/>
              <a:t>Evaluate how personal habits and individual choices can affect a person’s risk of developing cancers.</a:t>
            </a:r>
          </a:p>
          <a:p>
            <a:r>
              <a:rPr lang="en-US" altLang="zh-CN" dirty="0"/>
              <a:t>Evolution Connection: The Evolution of Cancer in the Body</a:t>
            </a:r>
          </a:p>
          <a:p>
            <a:r>
              <a:rPr lang="en-US" altLang="zh-CN" dirty="0"/>
              <a:t>Explain how populations of cancer cells evolve.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DCF0E3-24EB-02A3-2EC3-63BF986D7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1326560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19D9-3C61-E9DA-3A59-6112A5DB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Cell-to-cell Signaling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A691E5-C66B-338C-6A04-37D18CC3D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5257801" cy="526496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In a multicellular organism: </a:t>
            </a:r>
          </a:p>
          <a:p>
            <a:pPr marL="0" indent="0">
              <a:buNone/>
            </a:pPr>
            <a:r>
              <a:rPr lang="en-US" altLang="zh-CN" dirty="0"/>
              <a:t>Gene regulation can cross cell boundaries, allowing information to be communicated </a:t>
            </a:r>
            <a:r>
              <a:rPr lang="en-US" altLang="zh-CN" dirty="0">
                <a:highlight>
                  <a:srgbClr val="FFFF00"/>
                </a:highlight>
              </a:rPr>
              <a:t>between and among cells</a:t>
            </a:r>
            <a:r>
              <a:rPr lang="en-US" altLang="zh-CN" dirty="0"/>
              <a:t>.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D6DF39-FBEE-FE32-B0C2-0E305F56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7A9F64B3-6C08-AA84-6186-597F5836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417"/>
          <a:stretch>
            <a:fillRect/>
          </a:stretch>
        </p:blipFill>
        <p:spPr>
          <a:xfrm>
            <a:off x="5640978" y="1091386"/>
            <a:ext cx="6551022" cy="57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72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6EDFF61E-DD5B-5B06-9510-446A767790E3}"/>
              </a:ext>
            </a:extLst>
          </p:cNvPr>
          <p:cNvGrpSpPr/>
          <p:nvPr/>
        </p:nvGrpSpPr>
        <p:grpSpPr>
          <a:xfrm>
            <a:off x="668871" y="204216"/>
            <a:ext cx="4535424" cy="6449568"/>
            <a:chOff x="3828288" y="204216"/>
            <a:chExt cx="4535424" cy="6449568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8288" y="204216"/>
              <a:ext cx="4535424" cy="6449568"/>
            </a:xfrm>
            <a:prstGeom prst="rect">
              <a:avLst/>
            </a:prstGeom>
          </p:spPr>
        </p:pic>
        <p:sp>
          <p:nvSpPr>
            <p:cNvPr id="4" name="TextBox 2"/>
            <p:cNvSpPr txBox="1">
              <a:spLocks noChangeArrowheads="1"/>
            </p:cNvSpPr>
            <p:nvPr/>
          </p:nvSpPr>
          <p:spPr bwMode="auto">
            <a:xfrm>
              <a:off x="5111645" y="283585"/>
              <a:ext cx="151483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SIGNALING CELL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330970" y="561398"/>
              <a:ext cx="113814" cy="24404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6" b="1" dirty="0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1</a:t>
              </a:r>
            </a:p>
          </p:txBody>
        </p:sp>
        <p:sp>
          <p:nvSpPr>
            <p:cNvPr id="6" name="TextBox 4"/>
            <p:cNvSpPr txBox="1">
              <a:spLocks noChangeArrowheads="1"/>
            </p:cNvSpPr>
            <p:nvPr/>
          </p:nvSpPr>
          <p:spPr bwMode="auto">
            <a:xfrm>
              <a:off x="5161334" y="1067811"/>
              <a:ext cx="9073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Plasma</a:t>
              </a:r>
            </a:p>
            <a:p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membrane</a:t>
              </a:r>
              <a:endParaRPr lang="en-US" sz="1400" b="1" dirty="0">
                <a:solidFill>
                  <a:srgbClr val="000000"/>
                </a:solidFill>
                <a:latin typeface="Arial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30970" y="1129723"/>
              <a:ext cx="113814" cy="24404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6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2</a:t>
              </a:r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7313408" y="848752"/>
              <a:ext cx="1024318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Signal</a:t>
              </a:r>
            </a:p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     molecule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35607" y="1880611"/>
              <a:ext cx="113814" cy="24404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6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3</a:t>
              </a:r>
            </a:p>
          </p:txBody>
        </p:sp>
        <p:sp>
          <p:nvSpPr>
            <p:cNvPr id="10" name="TextBox 10"/>
            <p:cNvSpPr txBox="1">
              <a:spLocks noChangeArrowheads="1"/>
            </p:cNvSpPr>
            <p:nvPr/>
          </p:nvSpPr>
          <p:spPr bwMode="auto">
            <a:xfrm>
              <a:off x="5133870" y="2255261"/>
              <a:ext cx="724044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TARGET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CELL</a:t>
              </a:r>
              <a:endParaRPr lang="en-US" sz="1400" b="1" dirty="0">
                <a:solidFill>
                  <a:srgbClr val="000000"/>
                </a:solidFill>
                <a:latin typeface="Arial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30807" y="2088573"/>
              <a:ext cx="113814" cy="24404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6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4</a:t>
              </a:r>
            </a:p>
          </p:txBody>
        </p:sp>
        <p:sp>
          <p:nvSpPr>
            <p:cNvPr id="12" name="TextBox 13"/>
            <p:cNvSpPr txBox="1">
              <a:spLocks noChangeArrowheads="1"/>
            </p:cNvSpPr>
            <p:nvPr/>
          </p:nvSpPr>
          <p:spPr bwMode="auto">
            <a:xfrm>
              <a:off x="6720577" y="2436235"/>
              <a:ext cx="705321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Relay</a:t>
              </a:r>
            </a:p>
            <a:p>
              <a:pPr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proteins</a:t>
              </a:r>
            </a:p>
          </p:txBody>
        </p:sp>
        <p:sp>
          <p:nvSpPr>
            <p:cNvPr id="13" name="TextBox 15"/>
            <p:cNvSpPr txBox="1">
              <a:spLocks noChangeArrowheads="1"/>
            </p:cNvSpPr>
            <p:nvPr/>
          </p:nvSpPr>
          <p:spPr bwMode="auto">
            <a:xfrm>
              <a:off x="7207800" y="2125085"/>
              <a:ext cx="804707" cy="41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Receptor</a:t>
              </a:r>
            </a:p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   protein</a:t>
              </a:r>
            </a:p>
          </p:txBody>
        </p:sp>
        <p:sp>
          <p:nvSpPr>
            <p:cNvPr id="14" name="TextBox 17"/>
            <p:cNvSpPr txBox="1">
              <a:spLocks noChangeArrowheads="1"/>
            </p:cNvSpPr>
            <p:nvPr/>
          </p:nvSpPr>
          <p:spPr bwMode="auto">
            <a:xfrm>
              <a:off x="6744389" y="2988685"/>
              <a:ext cx="1133066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Transcription</a:t>
              </a:r>
            </a:p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factor</a:t>
              </a:r>
            </a:p>
            <a:p>
              <a:pPr algn="ctr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(activated)</a:t>
              </a:r>
            </a:p>
          </p:txBody>
        </p:sp>
        <p:sp>
          <p:nvSpPr>
            <p:cNvPr id="15" name="TextBox 20"/>
            <p:cNvSpPr txBox="1">
              <a:spLocks noChangeArrowheads="1"/>
            </p:cNvSpPr>
            <p:nvPr/>
          </p:nvSpPr>
          <p:spPr bwMode="auto">
            <a:xfrm>
              <a:off x="5783158" y="3753860"/>
              <a:ext cx="69570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Nucleus</a:t>
              </a:r>
            </a:p>
          </p:txBody>
        </p:sp>
        <p:sp>
          <p:nvSpPr>
            <p:cNvPr id="16" name="TextBox 21"/>
            <p:cNvSpPr txBox="1">
              <a:spLocks noChangeArrowheads="1"/>
            </p:cNvSpPr>
            <p:nvPr/>
          </p:nvSpPr>
          <p:spPr bwMode="auto">
            <a:xfrm>
              <a:off x="4527446" y="4863522"/>
              <a:ext cx="113306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Transcription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94282" y="4720648"/>
              <a:ext cx="113814" cy="24404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6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5</a:t>
              </a:r>
            </a:p>
          </p:txBody>
        </p:sp>
        <p:sp>
          <p:nvSpPr>
            <p:cNvPr id="18" name="TextBox 23"/>
            <p:cNvSpPr txBox="1">
              <a:spLocks noChangeArrowheads="1"/>
            </p:cNvSpPr>
            <p:nvPr/>
          </p:nvSpPr>
          <p:spPr bwMode="auto">
            <a:xfrm>
              <a:off x="5216421" y="5523922"/>
              <a:ext cx="5498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mRNA</a:t>
              </a:r>
            </a:p>
          </p:txBody>
        </p:sp>
        <p:sp>
          <p:nvSpPr>
            <p:cNvPr id="19" name="TextBox 24"/>
            <p:cNvSpPr txBox="1">
              <a:spLocks noChangeArrowheads="1"/>
            </p:cNvSpPr>
            <p:nvPr/>
          </p:nvSpPr>
          <p:spPr bwMode="auto">
            <a:xfrm>
              <a:off x="7345258" y="5487410"/>
              <a:ext cx="36869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New</a:t>
              </a:r>
            </a:p>
          </p:txBody>
        </p:sp>
        <p:sp>
          <p:nvSpPr>
            <p:cNvPr id="20" name="TextBox 25"/>
            <p:cNvSpPr txBox="1">
              <a:spLocks noChangeArrowheads="1"/>
            </p:cNvSpPr>
            <p:nvPr/>
          </p:nvSpPr>
          <p:spPr bwMode="auto">
            <a:xfrm>
              <a:off x="7345258" y="5690610"/>
              <a:ext cx="605935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protein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10295" y="5931911"/>
              <a:ext cx="113814" cy="24404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eaLnBrk="0" hangingPunct="0">
                <a:defRPr/>
              </a:pPr>
              <a:r>
                <a:rPr lang="en-US" sz="1586" b="1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rPr>
                <a:t>6</a:t>
              </a:r>
            </a:p>
          </p:txBody>
        </p:sp>
        <p:sp>
          <p:nvSpPr>
            <p:cNvPr id="22" name="TextBox 27"/>
            <p:cNvSpPr txBox="1">
              <a:spLocks noChangeArrowheads="1"/>
            </p:cNvSpPr>
            <p:nvPr/>
          </p:nvSpPr>
          <p:spPr bwMode="auto">
            <a:xfrm>
              <a:off x="6289571" y="6376410"/>
              <a:ext cx="95353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Translation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6121485" y="2856526"/>
              <a:ext cx="589567" cy="234337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V="1">
              <a:off x="7469981" y="5906054"/>
              <a:ext cx="88107" cy="242334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7269956" y="1952625"/>
              <a:ext cx="117921" cy="202406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6415137" y="2364738"/>
              <a:ext cx="254262" cy="145100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6671780" y="2212974"/>
              <a:ext cx="0" cy="301627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7229145" y="873439"/>
              <a:ext cx="300457" cy="67155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 flipH="1">
              <a:off x="6096001" y="940593"/>
              <a:ext cx="239606" cy="252413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 flipH="1" flipV="1">
              <a:off x="6094857" y="1185863"/>
              <a:ext cx="179736" cy="254795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 flipH="1">
              <a:off x="5595938" y="5307807"/>
              <a:ext cx="52389" cy="213734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med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7260751" y="561398"/>
              <a:ext cx="253283" cy="248803"/>
              <a:chOff x="5736750" y="561397"/>
              <a:chExt cx="253283" cy="248803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5736750" y="566159"/>
                <a:ext cx="253283" cy="244041"/>
              </a:xfrm>
              <a:prstGeom prst="ellipse">
                <a:avLst/>
              </a:prstGeom>
              <a:solidFill>
                <a:srgbClr val="58595B"/>
              </a:solidFill>
              <a:ln w="12700">
                <a:solidFill>
                  <a:srgbClr val="58595B"/>
                </a:solidFill>
                <a:miter lim="800000"/>
                <a:tailEnd type="triangle" w="med" len="med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" pitchFamily="84" charset="0"/>
                  <a:ea typeface="ＭＳ Ｐゴシック" charset="0"/>
                  <a:cs typeface="Arial" pitchFamily="-108" charset="0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5805608" y="561397"/>
                <a:ext cx="113814" cy="24404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6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1</a:t>
                </a: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7255665" y="1132104"/>
              <a:ext cx="253283" cy="248803"/>
              <a:chOff x="5736750" y="561397"/>
              <a:chExt cx="253283" cy="248803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5736750" y="566159"/>
                <a:ext cx="253283" cy="244041"/>
              </a:xfrm>
              <a:prstGeom prst="ellipse">
                <a:avLst/>
              </a:prstGeom>
              <a:solidFill>
                <a:srgbClr val="58595B"/>
              </a:solidFill>
              <a:ln w="12700">
                <a:solidFill>
                  <a:srgbClr val="58595B"/>
                </a:solidFill>
                <a:miter lim="800000"/>
                <a:tailEnd type="triangle" w="med" len="med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" pitchFamily="84" charset="0"/>
                  <a:ea typeface="ＭＳ Ｐゴシック" charset="0"/>
                  <a:cs typeface="Arial" pitchFamily="-108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805608" y="561397"/>
                <a:ext cx="113814" cy="24404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6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2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6269832" y="1880247"/>
              <a:ext cx="253283" cy="248803"/>
              <a:chOff x="5736750" y="561397"/>
              <a:chExt cx="253283" cy="248803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5736750" y="566159"/>
                <a:ext cx="253283" cy="244041"/>
              </a:xfrm>
              <a:prstGeom prst="ellipse">
                <a:avLst/>
              </a:prstGeom>
              <a:solidFill>
                <a:srgbClr val="58595B"/>
              </a:solidFill>
              <a:ln w="12700">
                <a:solidFill>
                  <a:srgbClr val="58595B"/>
                </a:solidFill>
                <a:miter lim="800000"/>
                <a:tailEnd type="triangle" w="med" len="med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" pitchFamily="84" charset="0"/>
                  <a:ea typeface="ＭＳ Ｐゴシック" charset="0"/>
                  <a:cs typeface="Arial" pitchFamily="-108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5805608" y="561397"/>
                <a:ext cx="113814" cy="24404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6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3</a:t>
                </a:r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5955952" y="2090992"/>
              <a:ext cx="253283" cy="248803"/>
              <a:chOff x="5736750" y="561397"/>
              <a:chExt cx="253283" cy="248803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5736750" y="566159"/>
                <a:ext cx="253283" cy="244041"/>
              </a:xfrm>
              <a:prstGeom prst="ellipse">
                <a:avLst/>
              </a:prstGeom>
              <a:solidFill>
                <a:srgbClr val="58595B"/>
              </a:solidFill>
              <a:ln w="12700">
                <a:solidFill>
                  <a:srgbClr val="58595B"/>
                </a:solidFill>
                <a:miter lim="800000"/>
                <a:tailEnd type="triangle" w="med" len="med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" pitchFamily="84" charset="0"/>
                  <a:ea typeface="ＭＳ Ｐゴシック" charset="0"/>
                  <a:cs typeface="Arial" pitchFamily="-108" charset="0"/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805608" y="561397"/>
                <a:ext cx="113814" cy="24404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6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4</a:t>
                </a:r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5825661" y="4715886"/>
              <a:ext cx="253283" cy="248803"/>
              <a:chOff x="5736750" y="561397"/>
              <a:chExt cx="253283" cy="248803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5736750" y="566159"/>
                <a:ext cx="253283" cy="244041"/>
              </a:xfrm>
              <a:prstGeom prst="ellipse">
                <a:avLst/>
              </a:prstGeom>
              <a:solidFill>
                <a:srgbClr val="58595B"/>
              </a:solidFill>
              <a:ln w="12700">
                <a:solidFill>
                  <a:srgbClr val="58595B"/>
                </a:solidFill>
                <a:miter lim="800000"/>
                <a:tailEnd type="triangle" w="med" len="med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" pitchFamily="84" charset="0"/>
                  <a:ea typeface="ＭＳ Ｐゴシック" charset="0"/>
                  <a:cs typeface="Arial" pitchFamily="-108" charset="0"/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5805608" y="561397"/>
                <a:ext cx="113814" cy="24404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6" b="1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5</a:t>
                </a:r>
                <a:endParaRPr lang="en-US" sz="1586" b="1" dirty="0">
                  <a:solidFill>
                    <a:srgbClr val="FFFFFF"/>
                  </a:solidFill>
                  <a:latin typeface="Arial"/>
                  <a:ea typeface="ＭＳ Ｐゴシック" charset="0"/>
                  <a:cs typeface="Arial" pitchFamily="-108" charset="0"/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6940561" y="5930541"/>
              <a:ext cx="253283" cy="248803"/>
              <a:chOff x="5736750" y="561397"/>
              <a:chExt cx="253283" cy="248803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5736750" y="566159"/>
                <a:ext cx="253283" cy="244041"/>
              </a:xfrm>
              <a:prstGeom prst="ellipse">
                <a:avLst/>
              </a:prstGeom>
              <a:solidFill>
                <a:srgbClr val="58595B"/>
              </a:solidFill>
              <a:ln w="12700">
                <a:solidFill>
                  <a:srgbClr val="58595B"/>
                </a:solidFill>
                <a:miter lim="800000"/>
                <a:tailEnd type="triangle" w="med" len="med"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Times" pitchFamily="84" charset="0"/>
                  <a:ea typeface="ＭＳ Ｐゴシック" charset="0"/>
                  <a:cs typeface="Arial" pitchFamily="-108" charset="0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5805608" y="561397"/>
                <a:ext cx="113814" cy="24404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1586" b="1" dirty="0">
                    <a:solidFill>
                      <a:srgbClr val="FFFFFF"/>
                    </a:solidFill>
                    <a:latin typeface="Arial"/>
                    <a:ea typeface="ＭＳ Ｐゴシック" charset="0"/>
                    <a:cs typeface="Arial" pitchFamily="-108" charset="0"/>
                  </a:rPr>
                  <a:t>6</a:t>
                </a:r>
              </a:p>
            </p:txBody>
          </p:sp>
        </p:grpSp>
      </p:grpSp>
      <p:pic>
        <p:nvPicPr>
          <p:cNvPr id="3" name="Picture 2" descr="figure_16_12">
            <a:extLst>
              <a:ext uri="{FF2B5EF4-FFF2-40B4-BE49-F238E27FC236}">
                <a16:creationId xmlns:a16="http://schemas.microsoft.com/office/drawing/2014/main" id="{F6704936-46AA-B768-223D-DCBF9AA1B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900" y="440292"/>
            <a:ext cx="5630862" cy="631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7209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709AC-EC5B-6314-3C01-FF87E7E8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A Cell’s Response to a Signal Can be Fast or Slow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CEDFD-DEE8-604B-48A3-18B22104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2" descr="figure_16_07">
            <a:extLst>
              <a:ext uri="{FF2B5EF4-FFF2-40B4-BE49-F238E27FC236}">
                <a16:creationId xmlns:a16="http://schemas.microsoft.com/office/drawing/2014/main" id="{4F8DD712-5EF2-2790-5A11-EC69ADD57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964" y="1091386"/>
            <a:ext cx="7892073" cy="576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8495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91C9E-68E8-F894-6929-8814BF853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Signal Transduction Pathways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9C967-ABFF-3F39-AE80-2E0BDCCA5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4FE022-3701-FB8F-B5B0-50840B7B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pic>
        <p:nvPicPr>
          <p:cNvPr id="5" name="11_08SignalTransduction_A.mpg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84178" y="1227909"/>
            <a:ext cx="7023644" cy="52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76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6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353CC-B0B5-3FEC-040B-3738A6EB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Multiple Pathways and Diverse Intracellular Proteins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9666C-61AE-8257-CEED-9F39529FF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FCAB2E4-1DF7-23B7-1AD7-03AD59B17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872"/>
          <a:stretch>
            <a:fillRect/>
          </a:stretch>
        </p:blipFill>
        <p:spPr>
          <a:xfrm>
            <a:off x="7579445" y="1227909"/>
            <a:ext cx="3945043" cy="5630091"/>
          </a:xfrm>
          <a:prstGeom prst="rect">
            <a:avLst/>
          </a:prstGeom>
        </p:spPr>
      </p:pic>
      <p:pic>
        <p:nvPicPr>
          <p:cNvPr id="6" name="Picture 1"/>
          <p:cNvPicPr>
            <a:picLocks noChangeAspect="1"/>
          </p:cNvPicPr>
          <p:nvPr/>
        </p:nvPicPr>
        <p:blipFill>
          <a:blip r:embed="rId4"/>
          <a:srcRect l="29305"/>
          <a:stretch>
            <a:fillRect/>
          </a:stretch>
        </p:blipFill>
        <p:spPr>
          <a:xfrm>
            <a:off x="667513" y="1227908"/>
            <a:ext cx="6244419" cy="56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52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DC6A8-D53C-43E9-6E54-0001B3026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early embryonic development, homeotic genes regulate </a:t>
            </a:r>
            <a:r>
              <a:rPr lang="en-US" altLang="zh-CN" dirty="0">
                <a:highlight>
                  <a:srgbClr val="FFFF00"/>
                </a:highlight>
              </a:rPr>
              <a:t>groups of other genes</a:t>
            </a:r>
            <a:r>
              <a:rPr lang="en-US" altLang="zh-CN" dirty="0"/>
              <a:t> that </a:t>
            </a:r>
            <a:r>
              <a:rPr lang="en-US" altLang="zh-CN" b="1" dirty="0">
                <a:solidFill>
                  <a:srgbClr val="FF0000"/>
                </a:solidFill>
              </a:rPr>
              <a:t>determine what body parts</a:t>
            </a:r>
            <a:r>
              <a:rPr lang="en-US" altLang="zh-CN" dirty="0"/>
              <a:t> will develop in which locations (the </a:t>
            </a:r>
            <a:r>
              <a:rPr lang="en-US" altLang="zh-CN" dirty="0">
                <a:highlight>
                  <a:srgbClr val="FFFF00"/>
                </a:highlight>
              </a:rPr>
              <a:t>development of anatomical structures</a:t>
            </a:r>
            <a:r>
              <a:rPr lang="en-US" altLang="zh-CN" dirty="0"/>
              <a:t>).</a:t>
            </a:r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7DC991-4627-F924-67EE-ED5A683BD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Homeotic Genes (</a:t>
            </a:r>
            <a:r>
              <a:rPr lang="zh-CN" altLang="en-US" dirty="0"/>
              <a:t>同源基因</a:t>
            </a:r>
            <a:r>
              <a:rPr lang="en-US" altLang="zh-CN" dirty="0"/>
              <a:t>) , Master Control Genes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064A8F-BC4C-878E-214C-566EBA8A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A2A5B00-5483-80ED-A682-55902DCEFA4E}"/>
              </a:ext>
            </a:extLst>
          </p:cNvPr>
          <p:cNvGrpSpPr>
            <a:grpSpLocks noChangeAspect="1"/>
          </p:cNvGrpSpPr>
          <p:nvPr/>
        </p:nvGrpSpPr>
        <p:grpSpPr>
          <a:xfrm>
            <a:off x="2223345" y="2497667"/>
            <a:ext cx="7814735" cy="4360333"/>
            <a:chOff x="1620654" y="781178"/>
            <a:chExt cx="9476238" cy="5287390"/>
          </a:xfrm>
        </p:grpSpPr>
        <p:pic>
          <p:nvPicPr>
            <p:cNvPr id="6" name="Picture 12">
              <a:extLst>
                <a:ext uri="{FF2B5EF4-FFF2-40B4-BE49-F238E27FC236}">
                  <a16:creationId xmlns:a16="http://schemas.microsoft.com/office/drawing/2014/main" id="{96A0D701-C688-4E37-3657-D78810AD4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2704" y="789432"/>
              <a:ext cx="8546592" cy="5279136"/>
            </a:xfrm>
            <a:prstGeom prst="rect">
              <a:avLst/>
            </a:prstGeom>
          </p:spPr>
        </p:pic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D0E85A2D-6F57-CB6A-45A2-D8AAEC980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9059" y="781178"/>
              <a:ext cx="185307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Antenna</a:t>
              </a:r>
              <a:r>
                <a:rPr lang="zh-CN" altLang="en-US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" pitchFamily="-108" charset="0"/>
                </a:rPr>
                <a:t>（触须）</a:t>
              </a:r>
              <a:endParaRPr 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itchFamily="-108" charset="0"/>
              </a:endParaRPr>
            </a:p>
          </p:txBody>
        </p:sp>
        <p:sp>
          <p:nvSpPr>
            <p:cNvPr id="8" name="TextBox 3">
              <a:extLst>
                <a:ext uri="{FF2B5EF4-FFF2-40B4-BE49-F238E27FC236}">
                  <a16:creationId xmlns:a16="http://schemas.microsoft.com/office/drawing/2014/main" id="{E019DE2D-6B9C-A86D-978D-C02B943A4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341" y="781178"/>
              <a:ext cx="41036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Eye</a:t>
              </a: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A0000155-573B-A641-ACF6-0D0A4D124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98807" y="4533929"/>
              <a:ext cx="1064394" cy="51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9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Extra pair</a:t>
              </a:r>
            </a:p>
            <a:p>
              <a:pPr eaLnBrk="0" fontAlgn="base" hangingPunct="0">
                <a:lnSpc>
                  <a:spcPts val="19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of legs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A4AE038-C1F1-B970-8A1F-3B56AE06C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2071" y="5370523"/>
              <a:ext cx="4914821" cy="62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9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Head with extra legs growing due to</a:t>
              </a:r>
            </a:p>
            <a:p>
              <a:pPr eaLnBrk="0" fontAlgn="base" hangingPunct="0">
                <a:lnSpc>
                  <a:spcPts val="19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presence of mutant homeotic gene</a:t>
              </a: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F130B7B4-D6A6-86C3-C237-F805692B7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654" y="5372942"/>
              <a:ext cx="3949797" cy="622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0" fontAlgn="base" hangingPunct="0">
                <a:lnSpc>
                  <a:spcPts val="19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Normal head due to presence</a:t>
              </a:r>
            </a:p>
            <a:p>
              <a:pPr eaLnBrk="0" fontAlgn="base" hangingPunct="0">
                <a:lnSpc>
                  <a:spcPts val="19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rgbClr val="000000"/>
                  </a:solidFill>
                  <a:latin typeface="Arial"/>
                  <a:ea typeface="ＭＳ Ｐゴシック" charset="0"/>
                  <a:cs typeface="Arial" pitchFamily="-108" charset="0"/>
                </a:rPr>
                <a:t>of normal homeotic gene</a:t>
              </a: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331E69F0-38AC-C7FC-0A30-E37A0890B633}"/>
                </a:ext>
              </a:extLst>
            </p:cNvPr>
            <p:cNvSpPr/>
            <p:nvPr/>
          </p:nvSpPr>
          <p:spPr>
            <a:xfrm>
              <a:off x="6941344" y="3964782"/>
              <a:ext cx="2431256" cy="837532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31750">
              <a:solidFill>
                <a:schemeClr val="bg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59884F84-A4A5-1E03-11D4-060C6470ADC7}"/>
                </a:ext>
              </a:extLst>
            </p:cNvPr>
            <p:cNvSpPr/>
            <p:nvPr/>
          </p:nvSpPr>
          <p:spPr>
            <a:xfrm flipH="1">
              <a:off x="9391648" y="4200527"/>
              <a:ext cx="111919" cy="589883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31750">
              <a:solidFill>
                <a:schemeClr val="bg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D23894B-006F-7F21-86FA-34B9EFCFB9C6}"/>
                </a:ext>
              </a:extLst>
            </p:cNvPr>
            <p:cNvSpPr/>
            <p:nvPr/>
          </p:nvSpPr>
          <p:spPr>
            <a:xfrm flipV="1">
              <a:off x="4892675" y="1098549"/>
              <a:ext cx="349250" cy="952500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8C4C2C43-5162-6A95-2CAD-996B078ACDE7}"/>
                </a:ext>
              </a:extLst>
            </p:cNvPr>
            <p:cNvSpPr/>
            <p:nvPr/>
          </p:nvSpPr>
          <p:spPr>
            <a:xfrm flipH="1" flipV="1">
              <a:off x="2281238" y="1058175"/>
              <a:ext cx="866775" cy="1742174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31750">
              <a:solidFill>
                <a:schemeClr val="bg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560ED20-D12E-B299-617D-B8970635EF35}"/>
                </a:ext>
              </a:extLst>
            </p:cNvPr>
            <p:cNvSpPr/>
            <p:nvPr/>
          </p:nvSpPr>
          <p:spPr>
            <a:xfrm flipH="1" flipV="1">
              <a:off x="2270443" y="1039760"/>
              <a:ext cx="866775" cy="1742174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1D59098-BFC1-D4A6-817A-2CA048103FCD}"/>
                </a:ext>
              </a:extLst>
            </p:cNvPr>
            <p:cNvSpPr/>
            <p:nvPr/>
          </p:nvSpPr>
          <p:spPr>
            <a:xfrm>
              <a:off x="6960394" y="3971132"/>
              <a:ext cx="2431256" cy="837532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D7E68AD-A364-80A2-3BD1-621AB3FD604E}"/>
                </a:ext>
              </a:extLst>
            </p:cNvPr>
            <p:cNvSpPr/>
            <p:nvPr/>
          </p:nvSpPr>
          <p:spPr>
            <a:xfrm flipH="1">
              <a:off x="9386888" y="4221163"/>
              <a:ext cx="111919" cy="589883"/>
            </a:xfrm>
            <a:custGeom>
              <a:avLst/>
              <a:gdLst>
                <a:gd name="connsiteX0" fmla="*/ 223837 w 223837"/>
                <a:gd name="connsiteY0" fmla="*/ 133350 h 133350"/>
                <a:gd name="connsiteX1" fmla="*/ 223837 w 223837"/>
                <a:gd name="connsiteY1" fmla="*/ 133350 h 133350"/>
                <a:gd name="connsiteX2" fmla="*/ 0 w 223837"/>
                <a:gd name="connsiteY2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837" h="133350">
                  <a:moveTo>
                    <a:pt x="223837" y="133350"/>
                  </a:moveTo>
                  <a:lnTo>
                    <a:pt x="223837" y="13335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tx1"/>
              </a:solidFill>
              <a:miter lim="800000"/>
              <a:tailEnd type="triangle" w="med" len="lg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Times" pitchFamily="84" charset="0"/>
                <a:ea typeface="ＭＳ Ｐゴシック" charset="0"/>
                <a:cs typeface="Arial" pitchFamily="-10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66529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A2DB4-2F93-3426-E4F2-02A5BDE9D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Homeotic Genes in Fruit Flies, Mouse, and Human</a:t>
            </a:r>
            <a:endParaRPr lang="zh-CN" altLang="en-US" dirty="0"/>
          </a:p>
        </p:txBody>
      </p:sp>
      <p:pic>
        <p:nvPicPr>
          <p:cNvPr id="5" name="Picture 2" descr="Fig. 19">
            <a:extLst>
              <a:ext uri="{FF2B5EF4-FFF2-40B4-BE49-F238E27FC236}">
                <a16:creationId xmlns:a16="http://schemas.microsoft.com/office/drawing/2014/main" id="{FDE531B9-AAFC-A0F6-2EDB-679BDF6FA3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695" y="1297784"/>
            <a:ext cx="7468611" cy="529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2087B1C-FB94-472E-4997-CD74FCC0A5AB}"/>
              </a:ext>
            </a:extLst>
          </p:cNvPr>
          <p:cNvSpPr txBox="1"/>
          <p:nvPr/>
        </p:nvSpPr>
        <p:spPr>
          <a:xfrm>
            <a:off x="0" y="6596390"/>
            <a:ext cx="1219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/>
              <a:t>Pang, D., Thompson, D.N.P. Embryology and bony malformations of the craniovertebral junction. Childs </a:t>
            </a:r>
            <a:r>
              <a:rPr lang="en-US" altLang="zh-CN" sz="1100" dirty="0" err="1"/>
              <a:t>Nerv</a:t>
            </a:r>
            <a:r>
              <a:rPr lang="en-US" altLang="zh-CN" sz="1100" dirty="0"/>
              <a:t> Syst 27, 523–564 (2011). https://doi.org/10.1007/s00381-010-1358-9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434636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84A6E-39B3-D418-481D-4E1977D7E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Development of Head-Tail Axis in Fruit Flies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407C6A-1576-14D6-D478-20CE5AA7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pic>
        <p:nvPicPr>
          <p:cNvPr id="5" name="11_10HeadTailAxisFruitFly_A.mpg">
            <a:hlinkClick r:id="" action="ppaction://media"/>
            <a:extLst>
              <a:ext uri="{FF2B5EF4-FFF2-40B4-BE49-F238E27FC236}">
                <a16:creationId xmlns:a16="http://schemas.microsoft.com/office/drawing/2014/main" id="{E1BA7E60-E6F4-DD44-9665-09F622EB135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87361" y="1227138"/>
            <a:ext cx="7017279" cy="526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0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2DD2E-A543-8BE5-90E7-3FA259CD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Genetic Basis of Cancer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38FA34-1754-70BE-CD4A-417E6DAAF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6277505" cy="5264966"/>
          </a:xfrm>
        </p:spPr>
        <p:txBody>
          <a:bodyPr/>
          <a:lstStyle/>
          <a:p>
            <a:r>
              <a:rPr lang="en-US" altLang="zh-CN" dirty="0"/>
              <a:t>Viruses with cancer-causing genes </a:t>
            </a:r>
          </a:p>
          <a:p>
            <a:pPr lvl="1"/>
            <a:r>
              <a:rPr lang="en-US" altLang="zh-CN" dirty="0"/>
              <a:t>Human papillomavirus (HPV)→ cervical cancer </a:t>
            </a:r>
          </a:p>
          <a:p>
            <a:r>
              <a:rPr lang="en-US" altLang="zh-CN" dirty="0"/>
              <a:t>Oncogene (“onco-”, tumor)</a:t>
            </a:r>
          </a:p>
          <a:p>
            <a:r>
              <a:rPr lang="en-US" altLang="zh-CN" dirty="0"/>
              <a:t>Tumor-suppressor genes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508088-5C22-11D0-EEA8-A4BCBC0DD97D}"/>
              </a:ext>
            </a:extLst>
          </p:cNvPr>
          <p:cNvSpPr txBox="1"/>
          <p:nvPr/>
        </p:nvSpPr>
        <p:spPr>
          <a:xfrm>
            <a:off x="6094396" y="6550223"/>
            <a:ext cx="6097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/>
              <a:t>https://share.google/images/YIGLMXHTGWZ3h2j4J</a:t>
            </a:r>
            <a:endParaRPr lang="zh-CN" altLang="en-US" sz="1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694135-5179-FB30-8E35-D76C0F27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2050" name="Picture 2" descr="Immunizing against HPV">
            <a:extLst>
              <a:ext uri="{FF2B5EF4-FFF2-40B4-BE49-F238E27FC236}">
                <a16:creationId xmlns:a16="http://schemas.microsoft.com/office/drawing/2014/main" id="{34418645-0340-9E09-7BA3-1ADB3AD0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162" y="1091386"/>
            <a:ext cx="5458837" cy="545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445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69005-E197-411A-CBE3-21A2C3A9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Oncogenes (</a:t>
            </a:r>
            <a:r>
              <a:rPr lang="zh-CN" altLang="en-US" dirty="0"/>
              <a:t>致癌基因</a:t>
            </a:r>
            <a:r>
              <a:rPr lang="en-US" altLang="zh-CN" dirty="0"/>
              <a:t>), “GO”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1CE23-A5B2-0A18-4C26-9B16EC97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Oncogene, a gene that </a:t>
            </a:r>
            <a:r>
              <a:rPr lang="en-US" altLang="zh-CN" b="1" dirty="0">
                <a:solidFill>
                  <a:srgbClr val="FF0000"/>
                </a:solidFill>
              </a:rPr>
              <a:t>causes cancer</a:t>
            </a:r>
          </a:p>
          <a:p>
            <a:r>
              <a:rPr lang="en-US" altLang="zh-CN" dirty="0"/>
              <a:t>Proto-oncogene (</a:t>
            </a:r>
            <a:r>
              <a:rPr lang="zh-CN" altLang="en-US" dirty="0"/>
              <a:t>原癌基因</a:t>
            </a:r>
            <a:r>
              <a:rPr lang="en-US" altLang="zh-CN" dirty="0"/>
              <a:t>),</a:t>
            </a:r>
            <a:r>
              <a:rPr lang="zh-CN" altLang="en-US" dirty="0"/>
              <a:t> </a:t>
            </a:r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normal, health</a:t>
            </a:r>
            <a:r>
              <a:rPr lang="en-US" altLang="zh-CN" dirty="0"/>
              <a:t> gene with the potential (if changed, mutated) to become a cancer-causing oncogene.</a:t>
            </a:r>
          </a:p>
          <a:p>
            <a:r>
              <a:rPr lang="en-US" altLang="zh-CN" dirty="0"/>
              <a:t>A cell can acquire an oncogene from </a:t>
            </a:r>
          </a:p>
          <a:p>
            <a:pPr lvl="1"/>
            <a:r>
              <a:rPr lang="en-US" altLang="zh-CN" dirty="0"/>
              <a:t>a virus</a:t>
            </a:r>
          </a:p>
          <a:p>
            <a:pPr lvl="1"/>
            <a:r>
              <a:rPr lang="en-US" altLang="zh-CN" dirty="0"/>
              <a:t>the mutation of one of its own proto-oncogenes </a:t>
            </a:r>
          </a:p>
          <a:p>
            <a:r>
              <a:rPr lang="en-US" altLang="zh-CN" dirty="0"/>
              <a:t>Many proto-oncogenes code for </a:t>
            </a:r>
            <a:r>
              <a:rPr lang="en-US" altLang="zh-CN" b="1" dirty="0">
                <a:solidFill>
                  <a:srgbClr val="FF0000"/>
                </a:solidFill>
              </a:rPr>
              <a:t>growth factors</a:t>
            </a:r>
            <a:r>
              <a:rPr lang="en-US" altLang="zh-CN" dirty="0"/>
              <a:t>, proteins that stimulate cell division, or for other proteins that </a:t>
            </a:r>
            <a:r>
              <a:rPr lang="en-US" altLang="zh-CN" b="1" dirty="0">
                <a:solidFill>
                  <a:srgbClr val="FF0000"/>
                </a:solidFill>
              </a:rPr>
              <a:t>affect the cell cycle</a:t>
            </a:r>
            <a:r>
              <a:rPr lang="en-US" altLang="zh-CN" dirty="0"/>
              <a:t>. 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8B2D3D-441B-4252-81B4-9C31011A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559671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93912-5796-E6B6-F057-937551F9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Abnormal Gene Expression Stimulates the Cell to Divide Excessively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D0E0C2-5E03-192F-95C7-6CAA929DB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AB1260-058F-3632-0E8E-2421D05D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89" y="1091386"/>
            <a:ext cx="9611023" cy="5766613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B665D6-6BCE-4CF2-D7F2-B9AA5916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2116399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54443-E86D-08D1-F840-A8581DF0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Tumor-Suppressor Genes (</a:t>
            </a:r>
            <a:r>
              <a:rPr lang="zh-CN" altLang="en-US" dirty="0"/>
              <a:t>肿瘤抑制基因</a:t>
            </a:r>
            <a:r>
              <a:rPr lang="en-US" altLang="zh-CN" dirty="0"/>
              <a:t>), “Stop”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0BD82-B550-FAF8-CF2C-E201EB09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Encode proteins normally help prevent uncontrolled cell growth. 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BC3F7E-FC9E-0138-42AF-D6D28354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FAF89DC-BE2F-8EB6-98FC-2F51718E5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807" y="1830142"/>
            <a:ext cx="7042387" cy="50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368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2A798-9B1E-29F5-2F68-E87FA300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Progression of a Cancer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39ADEF-1EDC-3F8C-AF4E-BE77546CC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gradual</a:t>
            </a:r>
            <a:r>
              <a:rPr lang="en-US" altLang="zh-CN" dirty="0"/>
              <a:t> process and produced by </a:t>
            </a:r>
            <a:r>
              <a:rPr lang="en-US" altLang="zh-CN" b="1" dirty="0">
                <a:solidFill>
                  <a:srgbClr val="FF0000"/>
                </a:solidFill>
              </a:rPr>
              <a:t>more than one</a:t>
            </a:r>
            <a:r>
              <a:rPr lang="en-US" altLang="zh-CN" dirty="0"/>
              <a:t> mutation.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926014-55D8-BE29-3FE0-9374E3F96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22" y="1804687"/>
            <a:ext cx="10873357" cy="492079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C0044A-887E-4877-E489-CB0AE336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6058C7-EC01-7129-8E8C-066E73846477}"/>
              </a:ext>
            </a:extLst>
          </p:cNvPr>
          <p:cNvSpPr txBox="1"/>
          <p:nvPr/>
        </p:nvSpPr>
        <p:spPr>
          <a:xfrm>
            <a:off x="8312250" y="3597193"/>
            <a:ext cx="779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(</a:t>
            </a:r>
            <a:r>
              <a:rPr lang="zh-CN" altLang="en-US" b="1" dirty="0"/>
              <a:t>息肉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84164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F2CBC-B767-153A-B93D-369D1C4D0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Accumulation of Mutations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C04CA3-5EDA-81E5-F1C2-3C6985E1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CA15D6-4F6B-C363-6723-4B49331B5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29192"/>
            <a:ext cx="12192000" cy="4363683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F09FE6-5AE0-24EA-B2AE-4381F2E22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typically takes at least six mutations (usually </a:t>
            </a:r>
            <a:r>
              <a:rPr lang="en-US" altLang="zh-CN" dirty="0">
                <a:highlight>
                  <a:srgbClr val="FFFF00"/>
                </a:highlight>
              </a:rPr>
              <a:t>creating</a:t>
            </a:r>
            <a:r>
              <a:rPr lang="en-US" altLang="zh-CN" dirty="0"/>
              <a:t> at least one active oncogene and </a:t>
            </a:r>
            <a:r>
              <a:rPr lang="en-US" altLang="zh-CN" dirty="0">
                <a:highlight>
                  <a:srgbClr val="FFFF00"/>
                </a:highlight>
              </a:rPr>
              <a:t>disabling</a:t>
            </a:r>
            <a:r>
              <a:rPr lang="en-US" altLang="zh-CN" dirty="0"/>
              <a:t> at least one tumor-suppressor gene)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138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E85C8-6809-FE4F-655A-26B79CC2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Inherited Cancer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D7F327-E142-F254-62A4-144332C96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6284323" cy="5264966"/>
          </a:xfrm>
        </p:spPr>
        <p:txBody>
          <a:bodyPr/>
          <a:lstStyle/>
          <a:p>
            <a:r>
              <a:rPr lang="en-US" altLang="zh-CN" dirty="0"/>
              <a:t>Cancers can run in families.</a:t>
            </a:r>
          </a:p>
          <a:p>
            <a:r>
              <a:rPr lang="en-US" altLang="zh-CN" dirty="0"/>
              <a:t>15% of colorectal cancers</a:t>
            </a:r>
          </a:p>
          <a:p>
            <a:r>
              <a:rPr lang="en-US" altLang="zh-CN" dirty="0"/>
              <a:t>5–10% of breast cancer</a:t>
            </a:r>
          </a:p>
          <a:p>
            <a:r>
              <a:rPr lang="en-US" altLang="zh-CN" dirty="0"/>
              <a:t>Proactive prevention by Angelina Jolie</a:t>
            </a:r>
          </a:p>
          <a:p>
            <a:pPr lvl="1"/>
            <a:r>
              <a:rPr lang="en-US" altLang="zh-CN" dirty="0"/>
              <a:t>Inherited mutant </a:t>
            </a:r>
            <a:r>
              <a:rPr lang="en-US" altLang="zh-CN" i="1" dirty="0"/>
              <a:t>BRCA1</a:t>
            </a:r>
            <a:r>
              <a:rPr lang="en-US" altLang="zh-CN" dirty="0"/>
              <a:t> (tumor-suppressor gene) 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CE9502-0447-F50D-A64B-5C28AF6AC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93FCE33-7ABA-2D27-4E44-1EAD64D97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707010"/>
            <a:ext cx="5524500" cy="615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59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95AC9-6BCC-0FC4-FBEA-3E3D813A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Cancer Risk by Carcinogens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1A589-ED0C-81D8-5E62-0868C20E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ighlight>
                  <a:srgbClr val="FFFF00"/>
                </a:highlight>
              </a:rPr>
              <a:t>Tobacco use</a:t>
            </a:r>
            <a:r>
              <a:rPr lang="en-US" altLang="zh-CN" dirty="0"/>
              <a:t>, the </a:t>
            </a:r>
            <a:r>
              <a:rPr lang="en-US" altLang="zh-CN" dirty="0">
                <a:highlight>
                  <a:srgbClr val="FFFF00"/>
                </a:highlight>
              </a:rPr>
              <a:t>consumption of alcohol</a:t>
            </a:r>
            <a:r>
              <a:rPr lang="en-US" altLang="zh-CN" dirty="0"/>
              <a:t>, and </a:t>
            </a:r>
            <a:r>
              <a:rPr lang="en-US" altLang="zh-CN" dirty="0">
                <a:highlight>
                  <a:srgbClr val="FFFF00"/>
                </a:highlight>
              </a:rPr>
              <a:t>excessive time spent in the sun</a:t>
            </a:r>
            <a:r>
              <a:rPr lang="en-US" altLang="zh-CN" dirty="0"/>
              <a:t> are </a:t>
            </a:r>
            <a:r>
              <a:rPr lang="en-US" altLang="zh-CN" b="1" dirty="0">
                <a:solidFill>
                  <a:srgbClr val="FF0000"/>
                </a:solidFill>
              </a:rPr>
              <a:t>all avoidable behaviors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B998B2-7BF9-7A82-CA02-03C9D45F7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75" y="2147764"/>
            <a:ext cx="7943850" cy="4710236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4DFACC-3946-6C4E-333A-FB1C80715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5807874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92AAB-5DAE-8E9A-135F-6C6E6485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Cancer Prevention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CA790F-5680-52CE-91D9-53BC03F7C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Some food choices significantly reduce a person’s cancer risk</a:t>
            </a:r>
          </a:p>
          <a:p>
            <a:pPr lvl="1"/>
            <a:r>
              <a:rPr lang="en-US" altLang="zh-CN" dirty="0"/>
              <a:t>20–30 g of plant fiber daily (one apple a day?)</a:t>
            </a:r>
          </a:p>
          <a:p>
            <a:pPr lvl="1"/>
            <a:r>
              <a:rPr lang="en-US" altLang="zh-CN" dirty="0"/>
              <a:t>less animal fat</a:t>
            </a:r>
          </a:p>
          <a:p>
            <a:pPr lvl="1"/>
            <a:r>
              <a:rPr lang="en-US" altLang="zh-CN" dirty="0"/>
              <a:t>Vitamins C and E and certain compounds related to vitamin A in fruits and vegetables</a:t>
            </a:r>
          </a:p>
          <a:p>
            <a:pPr lvl="1"/>
            <a:r>
              <a:rPr lang="en-US" altLang="zh-CN" dirty="0"/>
              <a:t>Cabbage (</a:t>
            </a:r>
            <a:r>
              <a:rPr lang="zh-CN" altLang="en-US" dirty="0"/>
              <a:t>卷心菜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and its relatives, such as broccoli (</a:t>
            </a:r>
            <a:r>
              <a:rPr lang="zh-CN" altLang="en-US" dirty="0"/>
              <a:t>西兰花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and cauliflower (</a:t>
            </a:r>
            <a:r>
              <a:rPr lang="zh-CN" altLang="en-US" dirty="0"/>
              <a:t>菜花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en-US" altLang="zh-CN" dirty="0"/>
              <a:t>Determining how diet influences cancer has become an important focus of nutrition research. 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F680F9-527B-4E92-44BC-99A3BBBA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44388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F52F6-0523-6086-354F-9AECEF5B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Tumor Evolves, A Population of Cancer Cells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3D7916-50CB-2C74-0AD8-81B22EFF1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All evolving populations have the potential to produce more offspring than can be supported by the environment. </a:t>
            </a:r>
          </a:p>
          <a:p>
            <a:pPr lvl="1"/>
            <a:r>
              <a:rPr lang="en-US" altLang="zh-CN" dirty="0"/>
              <a:t>Overproduction by cancer cells</a:t>
            </a:r>
          </a:p>
          <a:p>
            <a:r>
              <a:rPr lang="en-US" altLang="zh-CN" dirty="0"/>
              <a:t>Variation among individuals of the population</a:t>
            </a:r>
          </a:p>
          <a:p>
            <a:r>
              <a:rPr lang="en-US" altLang="zh-CN" dirty="0"/>
              <a:t>Variations in the population must affect survival and reproductive success.</a:t>
            </a:r>
          </a:p>
          <a:p>
            <a:pPr lvl="1"/>
            <a:r>
              <a:rPr lang="en-US" altLang="zh-CN" dirty="0"/>
              <a:t>Mutations in cancer cells</a:t>
            </a:r>
          </a:p>
          <a:p>
            <a:pPr lvl="2"/>
            <a:r>
              <a:rPr lang="en-US" altLang="zh-CN" dirty="0"/>
              <a:t>Less susceptible to normal mechanisms of reproductive control </a:t>
            </a:r>
          </a:p>
          <a:p>
            <a:pPr lvl="2"/>
            <a:r>
              <a:rPr lang="en-US" altLang="zh-CN" dirty="0"/>
              <a:t>Passed on to descendants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22C099-E59B-11CA-3AC3-6B3B67B7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965558551"/>
      </p:ext>
    </p:extLst>
  </p:cSld>
  <p:clrMapOvr>
    <a:masterClrMapping/>
  </p:clrMapOvr>
</p:sld>
</file>

<file path=ppt/theme/theme1.xml><?xml version="1.0" encoding="utf-8"?>
<a:theme xmlns:a="http://schemas.openxmlformats.org/drawingml/2006/main" name="CampbellEB6_Lecture_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仿宋"/>
        <a:cs typeface=""/>
      </a:majorFont>
      <a:minorFont>
        <a:latin typeface="Arial"/>
        <a:ea typeface="仿宋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mpbellEB6_Lecture_Design" id="{B6DE6437-4D3C-4EDA-98E9-FA36A5B6B78F}" vid="{61AD6984-E196-4B60-B50C-5CFEAA8E5D4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1663</Words>
  <Application>Microsoft Office PowerPoint</Application>
  <PresentationFormat>宽屏</PresentationFormat>
  <Paragraphs>295</Paragraphs>
  <Slides>47</Slides>
  <Notes>44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ＭＳ Ｐゴシック</vt:lpstr>
      <vt:lpstr>等线</vt:lpstr>
      <vt:lpstr>楷体</vt:lpstr>
      <vt:lpstr>Arial</vt:lpstr>
      <vt:lpstr>Cambria</vt:lpstr>
      <vt:lpstr>Times</vt:lpstr>
      <vt:lpstr>Times New Roman</vt:lpstr>
      <vt:lpstr>Wingdings</vt:lpstr>
      <vt:lpstr>CampbellEB6_Lecture_Design</vt:lpstr>
      <vt:lpstr>PowerPoint 演示文稿</vt:lpstr>
      <vt:lpstr>Learning Objectives 1</vt:lpstr>
      <vt:lpstr>PowerPoint 演示文稿</vt:lpstr>
      <vt:lpstr>Why and How Genes Are Regulated</vt:lpstr>
      <vt:lpstr>Different Cell Types Produce Different Sets of Proteins </vt:lpstr>
      <vt:lpstr>PowerPoint 演示文稿</vt:lpstr>
      <vt:lpstr>How Transcriptional Switches Work Transcription Regulators Bind to Regulatory DNA Sequences </vt:lpstr>
      <vt:lpstr>Gene Regulation in Bacteria</vt:lpstr>
      <vt:lpstr>Lac Operon</vt:lpstr>
      <vt:lpstr>PowerPoint 演示文稿</vt:lpstr>
      <vt:lpstr>Genes Turned off by Repressor Proteins </vt:lpstr>
      <vt:lpstr>Genes Turned on by Activator Proteins</vt:lpstr>
      <vt:lpstr>PowerPoint 演示文稿</vt:lpstr>
      <vt:lpstr>Gene Regulation in Eukaryotic Cells</vt:lpstr>
      <vt:lpstr>The Regulation of DNA Packing</vt:lpstr>
      <vt:lpstr>X Chromosome Inactivation Barr body</vt:lpstr>
      <vt:lpstr>Tortoiseshell Cats </vt:lpstr>
      <vt:lpstr>In Euchromatin  Loosely Packed Areas of Active Genes </vt:lpstr>
      <vt:lpstr>The Initiation of Transcription</vt:lpstr>
      <vt:lpstr>Regulators Control Gene Expression from a Distance </vt:lpstr>
      <vt:lpstr>Transcription Initiation Complex </vt:lpstr>
      <vt:lpstr>PowerPoint 演示文稿</vt:lpstr>
      <vt:lpstr>Combinatorial Control Can Generate Different Cell Types </vt:lpstr>
      <vt:lpstr>Coordination of Gene Expression by a Single TF </vt:lpstr>
      <vt:lpstr>RNA Processing and Breakdown</vt:lpstr>
      <vt:lpstr>microRNAs (miRNAs), Non-protein Coding RNAs </vt:lpstr>
      <vt:lpstr>Protein Activation and Breakdown</vt:lpstr>
      <vt:lpstr>PowerPoint 演示文稿</vt:lpstr>
      <vt:lpstr>Learning Objectives 2</vt:lpstr>
      <vt:lpstr>Cell-to-cell Signaling</vt:lpstr>
      <vt:lpstr>PowerPoint 演示文稿</vt:lpstr>
      <vt:lpstr>A Cell’s Response to a Signal Can be Fast or Slow </vt:lpstr>
      <vt:lpstr>Signal Transduction Pathways</vt:lpstr>
      <vt:lpstr>Multiple Pathways and Diverse Intracellular Proteins</vt:lpstr>
      <vt:lpstr>Homeotic Genes (同源基因) , Master Control Genes</vt:lpstr>
      <vt:lpstr>Homeotic Genes in Fruit Flies, Mouse, and Human</vt:lpstr>
      <vt:lpstr>Development of Head-Tail Axis in Fruit Flies</vt:lpstr>
      <vt:lpstr>The Genetic Basis of Cancer</vt:lpstr>
      <vt:lpstr>Oncogenes (致癌基因), “GO”</vt:lpstr>
      <vt:lpstr>Abnormal Gene Expression Stimulates the Cell to Divide Excessively </vt:lpstr>
      <vt:lpstr>Tumor-Suppressor Genes (肿瘤抑制基因), “Stop”</vt:lpstr>
      <vt:lpstr>The Progression of a Cancer</vt:lpstr>
      <vt:lpstr>Accumulation of Mutations</vt:lpstr>
      <vt:lpstr>Inherited Cancer</vt:lpstr>
      <vt:lpstr>Cancer Risk by Carcinogens</vt:lpstr>
      <vt:lpstr>Cancer Prevention</vt:lpstr>
      <vt:lpstr>A Tumor Evolves, A Population of Cancer Cells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2025-11-23T08:48:00Z</dcterms:created>
  <dcterms:modified xsi:type="dcterms:W3CDTF">2025-11-23T08:48:45Z</dcterms:modified>
</cp:coreProperties>
</file>