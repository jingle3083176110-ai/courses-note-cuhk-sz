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2" r:id="rId1"/>
    <p:sldMasterId id="2147483669" r:id="rId2"/>
    <p:sldMasterId id="2147483672" r:id="rId3"/>
    <p:sldMasterId id="2147483698" r:id="rId4"/>
  </p:sldMasterIdLst>
  <p:notesMasterIdLst>
    <p:notesMasterId r:id="rId87"/>
  </p:notesMasterIdLst>
  <p:sldIdLst>
    <p:sldId id="579" r:id="rId5"/>
    <p:sldId id="580" r:id="rId6"/>
    <p:sldId id="581" r:id="rId7"/>
    <p:sldId id="582" r:id="rId8"/>
    <p:sldId id="584" r:id="rId9"/>
    <p:sldId id="585" r:id="rId10"/>
    <p:sldId id="586" r:id="rId11"/>
    <p:sldId id="587" r:id="rId12"/>
    <p:sldId id="588" r:id="rId13"/>
    <p:sldId id="589" r:id="rId14"/>
    <p:sldId id="590" r:id="rId15"/>
    <p:sldId id="591" r:id="rId16"/>
    <p:sldId id="592" r:id="rId17"/>
    <p:sldId id="593" r:id="rId18"/>
    <p:sldId id="594" r:id="rId19"/>
    <p:sldId id="595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5" r:id="rId30"/>
    <p:sldId id="606" r:id="rId31"/>
    <p:sldId id="607" r:id="rId32"/>
    <p:sldId id="608" r:id="rId33"/>
    <p:sldId id="537" r:id="rId34"/>
    <p:sldId id="609" r:id="rId35"/>
    <p:sldId id="610" r:id="rId36"/>
    <p:sldId id="612" r:id="rId37"/>
    <p:sldId id="613" r:id="rId38"/>
    <p:sldId id="614" r:id="rId39"/>
    <p:sldId id="615" r:id="rId40"/>
    <p:sldId id="616" r:id="rId41"/>
    <p:sldId id="617" r:id="rId42"/>
    <p:sldId id="619" r:id="rId43"/>
    <p:sldId id="618" r:id="rId44"/>
    <p:sldId id="620" r:id="rId45"/>
    <p:sldId id="621" r:id="rId46"/>
    <p:sldId id="624" r:id="rId47"/>
    <p:sldId id="626" r:id="rId48"/>
    <p:sldId id="623" r:id="rId49"/>
    <p:sldId id="625" r:id="rId50"/>
    <p:sldId id="627" r:id="rId51"/>
    <p:sldId id="628" r:id="rId52"/>
    <p:sldId id="629" r:id="rId53"/>
    <p:sldId id="630" r:id="rId54"/>
    <p:sldId id="634" r:id="rId55"/>
    <p:sldId id="631" r:id="rId56"/>
    <p:sldId id="666" r:id="rId57"/>
    <p:sldId id="632" r:id="rId58"/>
    <p:sldId id="668" r:id="rId59"/>
    <p:sldId id="669" r:id="rId60"/>
    <p:sldId id="462" r:id="rId61"/>
    <p:sldId id="673" r:id="rId62"/>
    <p:sldId id="674" r:id="rId63"/>
    <p:sldId id="675" r:id="rId64"/>
    <p:sldId id="672" r:id="rId65"/>
    <p:sldId id="468" r:id="rId66"/>
    <p:sldId id="678" r:id="rId67"/>
    <p:sldId id="676" r:id="rId68"/>
    <p:sldId id="679" r:id="rId69"/>
    <p:sldId id="680" r:id="rId70"/>
    <p:sldId id="681" r:id="rId71"/>
    <p:sldId id="671" r:id="rId72"/>
    <p:sldId id="684" r:id="rId73"/>
    <p:sldId id="685" r:id="rId74"/>
    <p:sldId id="686" r:id="rId75"/>
    <p:sldId id="683" r:id="rId76"/>
    <p:sldId id="687" r:id="rId77"/>
    <p:sldId id="689" r:id="rId78"/>
    <p:sldId id="690" r:id="rId79"/>
    <p:sldId id="691" r:id="rId80"/>
    <p:sldId id="692" r:id="rId81"/>
    <p:sldId id="688" r:id="rId82"/>
    <p:sldId id="693" r:id="rId83"/>
    <p:sldId id="694" r:id="rId84"/>
    <p:sldId id="695" r:id="rId85"/>
    <p:sldId id="696" r:id="rId8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3563" autoAdjust="0"/>
    <p:restoredTop sz="79137" autoAdjust="0"/>
  </p:normalViewPr>
  <p:slideViewPr>
    <p:cSldViewPr snapToGrid="0">
      <p:cViewPr varScale="1">
        <p:scale>
          <a:sx n="88" d="100"/>
          <a:sy n="88" d="100"/>
        </p:scale>
        <p:origin x="978" y="90"/>
      </p:cViewPr>
      <p:guideLst/>
    </p:cSldViewPr>
  </p:slideViewPr>
  <p:outlineViewPr>
    <p:cViewPr>
      <p:scale>
        <a:sx n="33" d="100"/>
        <a:sy n="33" d="100"/>
      </p:scale>
      <p:origin x="0" y="-28628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heme" Target="theme/theme1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51908-5784-447D-B0D2-45A25B061F31}" type="datetimeFigureOut">
              <a:rPr lang="zh-CN" altLang="en-US" smtClean="0"/>
              <a:t>2025/12/2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71EF6-A985-4B9B-AAB7-69D68CE635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350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372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4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957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427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955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605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805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905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983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785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961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295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544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593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93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793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793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793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793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7937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7937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9626C9-B8E7-4D06-ACF0-49181973AE89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" panose="02020603050405020304" pitchFamily="18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7937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20547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7641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936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668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1813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621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56070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947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8434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13463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69663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5033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35258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14272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949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2030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83336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6700" y="1422400"/>
            <a:ext cx="12649200" cy="7115175"/>
          </a:xfrm>
          <a:solidFill>
            <a:srgbClr val="FFFFFF"/>
          </a:solidFill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6075" y="9012238"/>
            <a:ext cx="8883650" cy="85391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177650" tIns="88825" rIns="177650" bIns="88825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05425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978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9473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521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266700" y="1422400"/>
            <a:ext cx="12649200" cy="7115175"/>
          </a:xfrm>
          <a:solidFill>
            <a:srgbClr val="FFFFFF"/>
          </a:solidFill>
          <a:ln/>
        </p:spPr>
      </p:sp>
      <p:sp>
        <p:nvSpPr>
          <p:cNvPr id="137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16075" y="9012238"/>
            <a:ext cx="8883650" cy="8539162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177650" tIns="88825" rIns="177650" bIns="88825"/>
          <a:lstStyle/>
          <a:p>
            <a:endParaRPr lang="en-US" alt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4399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92443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6863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08652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649372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98055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2722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8010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5757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59423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1139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13840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53231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615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C71EF6-A985-4B9B-AAB7-69D68CE63585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177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147412"/>
            <a:ext cx="7315200" cy="37261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315200" cy="29809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40205" y="142275"/>
            <a:ext cx="5823975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1" y="3489706"/>
            <a:ext cx="8670416" cy="1655762"/>
          </a:xfr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rgbClr val="0070C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6492876"/>
            <a:ext cx="4114800" cy="365125"/>
          </a:xfrm>
        </p:spPr>
        <p:txBody>
          <a:bodyPr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© 2016 Pearson Education, Inc.</a:t>
            </a:r>
            <a:endParaRPr lang="en-US" dirty="0"/>
          </a:p>
        </p:txBody>
      </p:sp>
      <p:sp>
        <p:nvSpPr>
          <p:cNvPr id="11" name="Text Box 39"/>
          <p:cNvSpPr txBox="1">
            <a:spLocks noChangeArrowheads="1"/>
          </p:cNvSpPr>
          <p:nvPr/>
        </p:nvSpPr>
        <p:spPr bwMode="auto">
          <a:xfrm>
            <a:off x="94766" y="5575445"/>
            <a:ext cx="9742341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20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PowerPoint</a:t>
            </a:r>
            <a:r>
              <a:rPr lang="en-US" sz="2000" b="1" baseline="30000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®</a:t>
            </a:r>
            <a:r>
              <a:rPr lang="en-US" sz="20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Lectures </a:t>
            </a:r>
            <a:r>
              <a:rPr lang="en-US" sz="16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created by Edward J. </a:t>
            </a:r>
            <a:r>
              <a:rPr lang="en-US" sz="1600" b="1" dirty="0" err="1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Zalisko</a:t>
            </a:r>
            <a:r>
              <a:rPr lang="en-US" sz="16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for</a:t>
            </a:r>
          </a:p>
          <a:p>
            <a:pPr eaLnBrk="0" hangingPunct="0"/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Campbell Essential Biology,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Sixth Edition,</a:t>
            </a:r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and</a:t>
            </a:r>
            <a:endParaRPr lang="en-US" sz="1800" b="1" dirty="0">
              <a:solidFill>
                <a:schemeClr val="tx1"/>
              </a:solidFill>
              <a:latin typeface="Times New Roman" pitchFamily="-108" charset="0"/>
              <a:ea typeface="ＭＳ Ｐゴシック" pitchFamily="-108" charset="-128"/>
              <a:cs typeface="ＭＳ Ｐゴシック" pitchFamily="-108" charset="-128"/>
            </a:endParaRPr>
          </a:p>
          <a:p>
            <a:pPr eaLnBrk="0" hangingPunct="0"/>
            <a:r>
              <a:rPr lang="en-US" sz="1800" b="1" i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Campbell Essential Biology with Physiology, </a:t>
            </a:r>
            <a:r>
              <a:rPr lang="en-US" sz="1800" b="1" dirty="0">
                <a:solidFill>
                  <a:schemeClr val="tx1"/>
                </a:solidFill>
                <a:ea typeface="ＭＳ Ｐゴシック" pitchFamily="-108" charset="-128"/>
                <a:cs typeface="ＭＳ Ｐゴシック" pitchFamily="-108" charset="-128"/>
              </a:rPr>
              <a:t>Fifth Edition</a:t>
            </a:r>
            <a:endParaRPr lang="en-US" sz="1800" b="1" i="1" dirty="0">
              <a:solidFill>
                <a:schemeClr val="tx1"/>
              </a:solidFill>
              <a:ea typeface="ＭＳ Ｐゴシック" pitchFamily="-108" charset="-128"/>
              <a:cs typeface="ＭＳ Ｐゴシック" pitchFamily="-108" charset="-128"/>
            </a:endParaRPr>
          </a:p>
          <a:p>
            <a:pPr eaLnBrk="0" hangingPunct="0"/>
            <a:r>
              <a:rPr lang="en-US" sz="1600" b="1" i="1" dirty="0">
                <a:solidFill>
                  <a:schemeClr val="tx1"/>
                </a:solidFill>
                <a:latin typeface="Times New Roman" pitchFamily="-108" charset="0"/>
                <a:ea typeface="ＭＳ Ｐゴシック" pitchFamily="-108" charset="-128"/>
                <a:cs typeface="ＭＳ Ｐゴシック" pitchFamily="-108" charset="-128"/>
              </a:rPr>
              <a:t> </a:t>
            </a:r>
            <a:r>
              <a:rPr lang="en-US" sz="1600" b="1" i="1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108" charset="-128"/>
                <a:cs typeface="Arial" panose="020B0604020202020204" pitchFamily="34" charset="0"/>
              </a:rPr>
              <a:t>  – </a:t>
            </a:r>
            <a:r>
              <a:rPr lang="en-US" sz="1600" b="1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-108" charset="-128"/>
                <a:cs typeface="Arial" panose="020B0604020202020204" pitchFamily="34" charset="0"/>
              </a:rPr>
              <a:t>Eric J. Simon, Jean L. Dickey, Kelly A. Hogan, and Jane B. Reece</a:t>
            </a:r>
          </a:p>
        </p:txBody>
      </p:sp>
    </p:spTree>
    <p:extLst>
      <p:ext uri="{BB962C8B-B14F-4D97-AF65-F5344CB8AC3E}">
        <p14:creationId xmlns:p14="http://schemas.microsoft.com/office/powerpoint/2010/main" val="10314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11390811" cy="52649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024713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3177" y="365127"/>
            <a:ext cx="11390811" cy="97872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</a:t>
            </a:r>
            <a:br>
              <a:rPr lang="en-US" dirty="0"/>
            </a:br>
            <a:r>
              <a:rPr lang="en-US" dirty="0"/>
              <a:t>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476103"/>
            <a:ext cx="11390811" cy="47008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D4094AE2-66B0-413A-B1D4-0DFB325CE55C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27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2F00255B-C231-41F6-9EE1-963B145DB7F3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68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7970F47B-AC61-48D2-AED7-2728DB50D162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39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163F0D25-61E9-4431-B0D3-B1DFEC712E9B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69DE886-DA9C-4BB0-9CDA-E860E39C94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9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750009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>
            <a:extLst>
              <a:ext uri="{FF2B5EF4-FFF2-40B4-BE49-F238E27FC236}">
                <a16:creationId xmlns:a16="http://schemas.microsoft.com/office/drawing/2014/main" id="{F10CB6AD-247D-47A3-B41D-465FF4D6EA2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06400" y="6553200"/>
            <a:ext cx="11379200" cy="0"/>
          </a:xfrm>
          <a:prstGeom prst="line">
            <a:avLst/>
          </a:prstGeom>
          <a:noFill/>
          <a:ln w="25400">
            <a:solidFill>
              <a:srgbClr val="BD3A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B5FD66A9-503C-40A0-B495-94A1F60F35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996950"/>
          </a:xfrm>
          <a:prstGeom prst="rect">
            <a:avLst/>
          </a:prstGeom>
          <a:gradFill rotWithShape="0">
            <a:gsLst>
              <a:gs pos="0">
                <a:srgbClr val="5D2F49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2400"/>
          </a:p>
        </p:txBody>
      </p:sp>
      <p:pic>
        <p:nvPicPr>
          <p:cNvPr id="6" name="Picture 24" descr="72602Campbell5e_cvr">
            <a:extLst>
              <a:ext uri="{FF2B5EF4-FFF2-40B4-BE49-F238E27FC236}">
                <a16:creationId xmlns:a16="http://schemas.microsoft.com/office/drawing/2014/main" id="{5E533DD6-9D4E-446B-8E91-24013CE061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5" y="952501"/>
            <a:ext cx="5084233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3">
            <a:extLst>
              <a:ext uri="{FF2B5EF4-FFF2-40B4-BE49-F238E27FC236}">
                <a16:creationId xmlns:a16="http://schemas.microsoft.com/office/drawing/2014/main" id="{D8D3A637-869D-4A3E-852F-73EE19C2007F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0" y="6400800"/>
            <a:ext cx="12194117" cy="457200"/>
          </a:xfrm>
          <a:prstGeom prst="rect">
            <a:avLst/>
          </a:prstGeom>
          <a:solidFill>
            <a:srgbClr val="008B5D"/>
          </a:solidFill>
          <a:ln>
            <a:noFill/>
          </a:ln>
          <a:effectLst/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8" name="Rectangle 33">
            <a:extLst>
              <a:ext uri="{FF2B5EF4-FFF2-40B4-BE49-F238E27FC236}">
                <a16:creationId xmlns:a16="http://schemas.microsoft.com/office/drawing/2014/main" id="{56C842DF-4E18-4ACE-B598-6662849CAE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600700"/>
            <a:ext cx="12192000" cy="8001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4B7278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2400"/>
          </a:p>
        </p:txBody>
      </p:sp>
      <p:pic>
        <p:nvPicPr>
          <p:cNvPr id="9" name="Picture 18" descr="72602Campbell4e_cvr">
            <a:extLst>
              <a:ext uri="{FF2B5EF4-FFF2-40B4-BE49-F238E27FC236}">
                <a16:creationId xmlns:a16="http://schemas.microsoft.com/office/drawing/2014/main" id="{0640EA90-037A-4349-9FDB-46E1B68F3C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668" y="1390650"/>
            <a:ext cx="6227233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" descr="Pearson_Bound_White">
            <a:extLst>
              <a:ext uri="{FF2B5EF4-FFF2-40B4-BE49-F238E27FC236}">
                <a16:creationId xmlns:a16="http://schemas.microsoft.com/office/drawing/2014/main" id="{1BE08FB6-BF7C-4FB8-9C63-8AF24E0BC6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18" y="6356351"/>
            <a:ext cx="2038349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 descr="Pearson_Strap_Bound_White">
            <a:extLst>
              <a:ext uri="{FF2B5EF4-FFF2-40B4-BE49-F238E27FC236}">
                <a16:creationId xmlns:a16="http://schemas.microsoft.com/office/drawing/2014/main" id="{EFEBF6BE-284D-47F3-861C-371F91B9FC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56351"/>
            <a:ext cx="23495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34">
            <a:extLst>
              <a:ext uri="{FF2B5EF4-FFF2-40B4-BE49-F238E27FC236}">
                <a16:creationId xmlns:a16="http://schemas.microsoft.com/office/drawing/2014/main" id="{3D6C61F6-F537-42D0-8DD1-A6E827A022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224434" y="6184901"/>
            <a:ext cx="296756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defRPr/>
            </a:pPr>
            <a:r>
              <a:rPr lang="en-US" sz="1000">
                <a:solidFill>
                  <a:schemeClr val="bg1"/>
                </a:solidFill>
                <a:latin typeface="Times New Roman" pitchFamily="84" charset="0"/>
              </a:rPr>
              <a:t>© 2013 Pearson Education, Inc.</a:t>
            </a:r>
          </a:p>
        </p:txBody>
      </p:sp>
      <p:sp>
        <p:nvSpPr>
          <p:cNvPr id="13" name="Rectangle 36">
            <a:extLst>
              <a:ext uri="{FF2B5EF4-FFF2-40B4-BE49-F238E27FC236}">
                <a16:creationId xmlns:a16="http://schemas.microsoft.com/office/drawing/2014/main" id="{24407EB0-7136-485C-9C33-8E814CACEE0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2767" y="5995880"/>
            <a:ext cx="3718903" cy="416141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kumimoji="1" lang="en-US" altLang="en-US" sz="2100" b="1">
                <a:solidFill>
                  <a:schemeClr val="bg1"/>
                </a:solidFill>
                <a:latin typeface="Times New Roman" pitchFamily="84" charset="0"/>
              </a:rPr>
              <a:t>Lectures by Edward J. Zalisko</a:t>
            </a:r>
          </a:p>
        </p:txBody>
      </p:sp>
      <p:sp>
        <p:nvSpPr>
          <p:cNvPr id="14" name="Text Box 39">
            <a:extLst>
              <a:ext uri="{FF2B5EF4-FFF2-40B4-BE49-F238E27FC236}">
                <a16:creationId xmlns:a16="http://schemas.microsoft.com/office/drawing/2014/main" id="{54E71C23-C372-4A60-919E-A03B11F4ABD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184" y="4643439"/>
            <a:ext cx="6559549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000" b="1">
                <a:ea typeface="ＭＳ Ｐゴシック" pitchFamily="84" charset="-128"/>
              </a:rPr>
              <a:t>PowerPoint</a:t>
            </a:r>
            <a:r>
              <a:rPr lang="en-US" sz="2000" b="1" baseline="30000">
                <a:ea typeface="ＭＳ Ｐゴシック" pitchFamily="84" charset="-128"/>
              </a:rPr>
              <a:t>®</a:t>
            </a:r>
            <a:r>
              <a:rPr lang="en-US" sz="2000" b="1">
                <a:ea typeface="ＭＳ Ｐゴシック" pitchFamily="84" charset="-128"/>
              </a:rPr>
              <a:t> Lectures for</a:t>
            </a:r>
            <a:endParaRPr lang="en-US" sz="1600" b="1">
              <a:ea typeface="ＭＳ Ｐゴシック" pitchFamily="84" charset="-128"/>
            </a:endParaRPr>
          </a:p>
          <a:p>
            <a:pPr>
              <a:defRPr/>
            </a:pPr>
            <a:r>
              <a:rPr lang="en-US" sz="1600" b="1" i="1">
                <a:ea typeface="ＭＳ Ｐゴシック" pitchFamily="84" charset="-128"/>
              </a:rPr>
              <a:t>Campbell Essential Biology, </a:t>
            </a:r>
            <a:r>
              <a:rPr lang="en-US" sz="1600" b="1">
                <a:ea typeface="ＭＳ Ｐゴシック" pitchFamily="84" charset="-128"/>
              </a:rPr>
              <a:t>Fifth Edition,</a:t>
            </a:r>
            <a:r>
              <a:rPr lang="en-US" sz="1600" b="1" i="1">
                <a:ea typeface="ＭＳ Ｐゴシック" pitchFamily="84" charset="-128"/>
              </a:rPr>
              <a:t> </a:t>
            </a:r>
            <a:r>
              <a:rPr lang="en-US" sz="1600" b="1">
                <a:ea typeface="ＭＳ Ｐゴシック" pitchFamily="84" charset="-128"/>
              </a:rPr>
              <a:t>and</a:t>
            </a:r>
            <a:endParaRPr lang="en-US" sz="1600" b="1">
              <a:latin typeface="Times New Roman" pitchFamily="84" charset="0"/>
              <a:ea typeface="ＭＳ Ｐゴシック" pitchFamily="84" charset="-128"/>
            </a:endParaRPr>
          </a:p>
          <a:p>
            <a:pPr>
              <a:defRPr/>
            </a:pPr>
            <a:r>
              <a:rPr lang="en-US" sz="1600" b="1" i="1">
                <a:ea typeface="ＭＳ Ｐゴシック" pitchFamily="84" charset="-128"/>
              </a:rPr>
              <a:t>Campbell Essential Biology with Physiology, </a:t>
            </a:r>
            <a:r>
              <a:rPr lang="en-US" sz="1600" b="1">
                <a:ea typeface="ＭＳ Ｐゴシック" pitchFamily="84" charset="-128"/>
              </a:rPr>
              <a:t>Fourth Edition</a:t>
            </a:r>
            <a:endParaRPr lang="en-US" sz="1600" b="1" i="1">
              <a:ea typeface="ＭＳ Ｐゴシック" pitchFamily="84" charset="-128"/>
            </a:endParaRPr>
          </a:p>
          <a:p>
            <a:pPr>
              <a:defRPr/>
            </a:pPr>
            <a:r>
              <a:rPr lang="en-US" sz="1600" b="1" i="1">
                <a:latin typeface="Times New Roman" pitchFamily="84" charset="0"/>
                <a:ea typeface="ＭＳ Ｐゴシック" pitchFamily="84" charset="-128"/>
              </a:rPr>
              <a:t>   – </a:t>
            </a:r>
            <a:r>
              <a:rPr lang="en-US" sz="1600" b="1">
                <a:latin typeface="Times New Roman" pitchFamily="84" charset="0"/>
                <a:ea typeface="ＭＳ Ｐゴシック" pitchFamily="84" charset="-128"/>
              </a:rPr>
              <a:t>Eric J. Simon, Jean L. Dickey, and Jane B. Reece</a:t>
            </a:r>
          </a:p>
        </p:txBody>
      </p:sp>
      <p:sp>
        <p:nvSpPr>
          <p:cNvPr id="577571" name="Rectangle 35"/>
          <p:cNvSpPr>
            <a:spLocks noGrp="1" noChangeArrowheads="1"/>
          </p:cNvSpPr>
          <p:nvPr>
            <p:ph type="ctrTitle"/>
          </p:nvPr>
        </p:nvSpPr>
        <p:spPr>
          <a:xfrm>
            <a:off x="275168" y="336248"/>
            <a:ext cx="11612033" cy="784830"/>
          </a:xfrm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anchor="ctr"/>
          <a:lstStyle>
            <a:lvl1pPr marL="0" indent="0">
              <a:defRPr sz="50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7576" name="Rectangle 40"/>
          <p:cNvSpPr>
            <a:spLocks noGrp="1" noChangeArrowheads="1"/>
          </p:cNvSpPr>
          <p:nvPr>
            <p:ph type="subTitle" idx="1"/>
          </p:nvPr>
        </p:nvSpPr>
        <p:spPr>
          <a:xfrm>
            <a:off x="317501" y="1531938"/>
            <a:ext cx="11569700" cy="707886"/>
          </a:xfrm>
        </p:spPr>
        <p:txBody>
          <a:bodyPr/>
          <a:lstStyle>
            <a:lvl1pPr>
              <a:buFont typeface="Wingdings" charset="2"/>
              <a:buNone/>
              <a:defRPr sz="4000" b="1">
                <a:latin typeface="Times New Roman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80716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1"/>
            <a:ext cx="11480800" cy="3080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151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46331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9801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685801"/>
            <a:ext cx="5638800" cy="2585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685801"/>
            <a:ext cx="5638800" cy="2585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81342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0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263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0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263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2007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6078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228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65768"/>
            <a:ext cx="4011084" cy="3693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9577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169126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98006"/>
            <a:ext cx="7315200" cy="3693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108600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65655" y="685801"/>
            <a:ext cx="5419945" cy="2968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2098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71339" y="76201"/>
            <a:ext cx="1514261" cy="3146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0809" y="76201"/>
            <a:ext cx="5081391" cy="3146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03607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355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52322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18686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933" y="50801"/>
            <a:ext cx="11379200" cy="646331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able Placeholder 7"/>
          <p:cNvSpPr>
            <a:spLocks noGrp="1"/>
          </p:cNvSpPr>
          <p:nvPr>
            <p:ph type="tbl" sz="quarter" idx="13"/>
          </p:nvPr>
        </p:nvSpPr>
        <p:spPr>
          <a:xfrm>
            <a:off x="812800" y="1981200"/>
            <a:ext cx="10769600" cy="52322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CF6BE4E-69D1-4902-8EF5-F2CB64D59135}"/>
              </a:ext>
            </a:extLst>
          </p:cNvPr>
          <p:cNvSpPr>
            <a:spLocks noGrp="1" noChangeArrowheads="1"/>
          </p:cNvSpPr>
          <p:nvPr>
            <p:ph type="dt" sz="half" idx="14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B01C59-E52D-4EFA-8117-2A17DCEFAB45}"/>
              </a:ext>
            </a:extLst>
          </p:cNvPr>
          <p:cNvSpPr>
            <a:spLocks noGrp="1" noChangeArrowheads="1"/>
          </p:cNvSpPr>
          <p:nvPr>
            <p:ph type="ftr" sz="quarter" idx="15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FA9286-B4E5-47E9-AD3B-791032E581F1}"/>
              </a:ext>
            </a:extLst>
          </p:cNvPr>
          <p:cNvSpPr>
            <a:spLocks noGrp="1" noChangeArrowheads="1"/>
          </p:cNvSpPr>
          <p:nvPr>
            <p:ph type="sldNum" sz="quarter" idx="16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fld id="{C47CA436-16AE-43D0-8CED-31C2F59F54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1837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14"/>
          <p:cNvSpPr>
            <a:spLocks noChangeShapeType="1"/>
          </p:cNvSpPr>
          <p:nvPr userDrawn="1"/>
        </p:nvSpPr>
        <p:spPr bwMode="auto">
          <a:xfrm>
            <a:off x="406400" y="6553200"/>
            <a:ext cx="11379200" cy="0"/>
          </a:xfrm>
          <a:prstGeom prst="line">
            <a:avLst/>
          </a:prstGeom>
          <a:noFill/>
          <a:ln w="25400">
            <a:solidFill>
              <a:srgbClr val="BD3A2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1800"/>
          </a:p>
        </p:txBody>
      </p:sp>
      <p:sp>
        <p:nvSpPr>
          <p:cNvPr id="5" name="Rectangle 33"/>
          <p:cNvSpPr>
            <a:spLocks noChangeArrowheads="1"/>
          </p:cNvSpPr>
          <p:nvPr userDrawn="1"/>
        </p:nvSpPr>
        <p:spPr bwMode="auto">
          <a:xfrm>
            <a:off x="0" y="0"/>
            <a:ext cx="12192000" cy="996950"/>
          </a:xfrm>
          <a:prstGeom prst="rect">
            <a:avLst/>
          </a:prstGeom>
          <a:gradFill rotWithShape="0">
            <a:gsLst>
              <a:gs pos="0">
                <a:srgbClr val="5D2F49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2400"/>
          </a:p>
        </p:txBody>
      </p:sp>
      <p:pic>
        <p:nvPicPr>
          <p:cNvPr id="6" name="Picture 24" descr="72602Campbell5e_cvr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5" y="952501"/>
            <a:ext cx="5084233" cy="414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3"/>
          <p:cNvSpPr>
            <a:spLocks noChangeArrowheads="1"/>
          </p:cNvSpPr>
          <p:nvPr userDrawn="1"/>
        </p:nvSpPr>
        <p:spPr bwMode="gray">
          <a:xfrm>
            <a:off x="0" y="6400800"/>
            <a:ext cx="12194117" cy="457200"/>
          </a:xfrm>
          <a:prstGeom prst="rect">
            <a:avLst/>
          </a:prstGeom>
          <a:solidFill>
            <a:srgbClr val="008B5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2400"/>
          </a:p>
        </p:txBody>
      </p:sp>
      <p:sp>
        <p:nvSpPr>
          <p:cNvPr id="8" name="Rectangle 33"/>
          <p:cNvSpPr>
            <a:spLocks noChangeArrowheads="1"/>
          </p:cNvSpPr>
          <p:nvPr userDrawn="1"/>
        </p:nvSpPr>
        <p:spPr bwMode="auto">
          <a:xfrm>
            <a:off x="0" y="5600700"/>
            <a:ext cx="12192000" cy="8001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4B7278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endParaRPr lang="en-US" altLang="en-US" sz="2400"/>
          </a:p>
        </p:txBody>
      </p:sp>
      <p:pic>
        <p:nvPicPr>
          <p:cNvPr id="9" name="Picture 18" descr="72602Campbell4e_cvr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6668" y="1390650"/>
            <a:ext cx="6227233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4" descr="Pearson_Bound_White"/>
          <p:cNvPicPr>
            <a:picLocks noChangeAspect="1" noChangeArrowheads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9418" y="6356351"/>
            <a:ext cx="2038349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5" descr="Pearson_Strap_Bound_White"/>
          <p:cNvPicPr>
            <a:picLocks noChangeAspect="1" noChangeArrowheads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6356351"/>
            <a:ext cx="2349500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 Box 34"/>
          <p:cNvSpPr txBox="1">
            <a:spLocks noChangeArrowheads="1"/>
          </p:cNvSpPr>
          <p:nvPr userDrawn="1"/>
        </p:nvSpPr>
        <p:spPr bwMode="auto">
          <a:xfrm>
            <a:off x="9224434" y="6184901"/>
            <a:ext cx="296756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>
              <a:defRPr/>
            </a:pPr>
            <a:r>
              <a:rPr lang="en-US" sz="1000">
                <a:solidFill>
                  <a:schemeClr val="bg1"/>
                </a:solidFill>
                <a:latin typeface="Times New Roman" pitchFamily="18" charset="0"/>
              </a:rPr>
              <a:t>© 2013 Pearson Education, Inc.</a:t>
            </a:r>
          </a:p>
        </p:txBody>
      </p:sp>
      <p:sp>
        <p:nvSpPr>
          <p:cNvPr id="13" name="Rectangle 36"/>
          <p:cNvSpPr>
            <a:spLocks noChangeArrowheads="1"/>
          </p:cNvSpPr>
          <p:nvPr userDrawn="1"/>
        </p:nvSpPr>
        <p:spPr bwMode="auto">
          <a:xfrm>
            <a:off x="122767" y="5995880"/>
            <a:ext cx="3718903" cy="416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008B5D"/>
                </a:solidFill>
              </a14:hiddenFill>
            </a:ext>
            <a:ext uri="{91240B29-F687-4F45-9708-019B960494DF}">
              <a14:hiddenLine xmlns:a14="http://schemas.microsoft.com/office/drawing/2010/main" w="349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kumimoji="1" lang="en-US" altLang="en-US" sz="2100" b="1">
                <a:solidFill>
                  <a:schemeClr val="bg1"/>
                </a:solidFill>
                <a:latin typeface="Times New Roman" pitchFamily="18" charset="0"/>
              </a:rPr>
              <a:t>Lectures by Edward J. Zalisko</a:t>
            </a:r>
          </a:p>
        </p:txBody>
      </p:sp>
      <p:sp>
        <p:nvSpPr>
          <p:cNvPr id="14" name="Text Box 39"/>
          <p:cNvSpPr txBox="1">
            <a:spLocks noChangeArrowheads="1"/>
          </p:cNvSpPr>
          <p:nvPr userDrawn="1"/>
        </p:nvSpPr>
        <p:spPr bwMode="auto">
          <a:xfrm>
            <a:off x="112184" y="4643439"/>
            <a:ext cx="6559549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>
              <a:defRPr/>
            </a:pPr>
            <a:r>
              <a:rPr lang="en-US" sz="2000" b="1">
                <a:ea typeface="ＭＳ Ｐゴシック" pitchFamily="34" charset="-128"/>
              </a:rPr>
              <a:t>PowerPoint</a:t>
            </a:r>
            <a:r>
              <a:rPr lang="en-US" sz="2000" b="1" baseline="30000">
                <a:ea typeface="ＭＳ Ｐゴシック" pitchFamily="34" charset="-128"/>
              </a:rPr>
              <a:t>®</a:t>
            </a:r>
            <a:r>
              <a:rPr lang="en-US" sz="2000" b="1">
                <a:ea typeface="ＭＳ Ｐゴシック" pitchFamily="34" charset="-128"/>
              </a:rPr>
              <a:t> Lectures for</a:t>
            </a:r>
            <a:endParaRPr lang="en-US" sz="1600" b="1">
              <a:ea typeface="ＭＳ Ｐゴシック" pitchFamily="34" charset="-128"/>
            </a:endParaRPr>
          </a:p>
          <a:p>
            <a:pPr>
              <a:defRPr/>
            </a:pPr>
            <a:r>
              <a:rPr lang="en-US" sz="1600" b="1" i="1">
                <a:ea typeface="ＭＳ Ｐゴシック" pitchFamily="34" charset="-128"/>
              </a:rPr>
              <a:t>Campbell Essential Biology, </a:t>
            </a:r>
            <a:r>
              <a:rPr lang="en-US" sz="1600" b="1">
                <a:ea typeface="ＭＳ Ｐゴシック" pitchFamily="34" charset="-128"/>
              </a:rPr>
              <a:t>Fifth Edition,</a:t>
            </a:r>
            <a:r>
              <a:rPr lang="en-US" sz="1600" b="1" i="1">
                <a:ea typeface="ＭＳ Ｐゴシック" pitchFamily="34" charset="-128"/>
              </a:rPr>
              <a:t> </a:t>
            </a:r>
            <a:r>
              <a:rPr lang="en-US" sz="1600" b="1">
                <a:ea typeface="ＭＳ Ｐゴシック" pitchFamily="34" charset="-128"/>
              </a:rPr>
              <a:t>and</a:t>
            </a:r>
            <a:endParaRPr lang="en-US" sz="1600" b="1">
              <a:latin typeface="Times New Roman" pitchFamily="18" charset="0"/>
              <a:ea typeface="ＭＳ Ｐゴシック" pitchFamily="34" charset="-128"/>
            </a:endParaRPr>
          </a:p>
          <a:p>
            <a:pPr>
              <a:defRPr/>
            </a:pPr>
            <a:r>
              <a:rPr lang="en-US" sz="1600" b="1" i="1">
                <a:ea typeface="ＭＳ Ｐゴシック" pitchFamily="34" charset="-128"/>
              </a:rPr>
              <a:t>Campbell Essential Biology with Physiology, </a:t>
            </a:r>
            <a:r>
              <a:rPr lang="en-US" sz="1600" b="1">
                <a:ea typeface="ＭＳ Ｐゴシック" pitchFamily="34" charset="-128"/>
              </a:rPr>
              <a:t>Fourth Edition</a:t>
            </a:r>
            <a:endParaRPr lang="en-US" sz="1600" b="1" i="1">
              <a:ea typeface="ＭＳ Ｐゴシック" pitchFamily="34" charset="-128"/>
            </a:endParaRPr>
          </a:p>
          <a:p>
            <a:pPr>
              <a:defRPr/>
            </a:pPr>
            <a:r>
              <a:rPr lang="en-US" sz="1600" b="1" i="1">
                <a:latin typeface="Times New Roman" pitchFamily="18" charset="0"/>
                <a:ea typeface="ＭＳ Ｐゴシック" pitchFamily="34" charset="-128"/>
              </a:rPr>
              <a:t>   – </a:t>
            </a:r>
            <a:r>
              <a:rPr lang="en-US" sz="1600" b="1">
                <a:latin typeface="Times New Roman" pitchFamily="18" charset="0"/>
                <a:ea typeface="ＭＳ Ｐゴシック" pitchFamily="34" charset="-128"/>
              </a:rPr>
              <a:t>Eric J. Simon, Jean L. Dickey, and Jane B. Reece</a:t>
            </a:r>
          </a:p>
        </p:txBody>
      </p:sp>
      <p:sp>
        <p:nvSpPr>
          <p:cNvPr id="577571" name="Rectangle 35"/>
          <p:cNvSpPr>
            <a:spLocks noGrp="1" noChangeArrowheads="1"/>
          </p:cNvSpPr>
          <p:nvPr>
            <p:ph type="ctrTitle"/>
          </p:nvPr>
        </p:nvSpPr>
        <p:spPr>
          <a:xfrm>
            <a:off x="275168" y="336248"/>
            <a:ext cx="11612033" cy="784830"/>
          </a:xfrm>
          <a:effectLst>
            <a:outerShdw blurRad="63500" dist="38099" dir="2700000" algn="ctr" rotWithShape="0">
              <a:srgbClr val="000000">
                <a:alpha val="74998"/>
              </a:srgbClr>
            </a:outerShdw>
          </a:effectLst>
        </p:spPr>
        <p:txBody>
          <a:bodyPr anchor="ctr"/>
          <a:lstStyle>
            <a:lvl1pPr marL="0" indent="0">
              <a:defRPr sz="50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7576" name="Rectangle 40"/>
          <p:cNvSpPr>
            <a:spLocks noGrp="1" noChangeArrowheads="1"/>
          </p:cNvSpPr>
          <p:nvPr>
            <p:ph type="subTitle" idx="1"/>
          </p:nvPr>
        </p:nvSpPr>
        <p:spPr>
          <a:xfrm>
            <a:off x="317501" y="1531938"/>
            <a:ext cx="11569700" cy="707886"/>
          </a:xfrm>
        </p:spPr>
        <p:txBody>
          <a:bodyPr/>
          <a:lstStyle>
            <a:lvl1pPr>
              <a:buFont typeface="Wingdings" charset="2"/>
              <a:buNone/>
              <a:defRPr sz="4000" b="1">
                <a:latin typeface="Times New Roman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517743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85801"/>
            <a:ext cx="11480800" cy="3080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5861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46331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006790"/>
            <a:ext cx="10363200" cy="40011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601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685801"/>
            <a:ext cx="5638800" cy="2585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685801"/>
            <a:ext cx="5638800" cy="2585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89982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355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13210"/>
            <a:ext cx="5386917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263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713210"/>
            <a:ext cx="5389033" cy="4616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2636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93855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41901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8802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65768"/>
            <a:ext cx="4011084" cy="3693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9577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3252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998006"/>
            <a:ext cx="7315200" cy="36933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584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0777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443661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65655" y="685801"/>
            <a:ext cx="5419945" cy="2968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35007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71339" y="76201"/>
            <a:ext cx="1514261" cy="31464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30809" y="76201"/>
            <a:ext cx="5081391" cy="31464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073619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53553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52322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283442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177" y="132523"/>
            <a:ext cx="11390811" cy="95886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177" y="1227908"/>
            <a:ext cx="11390811" cy="52649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928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14536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70C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Clr>
          <a:srgbClr val="0070C0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ChangeArrowheads="1"/>
          </p:cNvSpPr>
          <p:nvPr/>
        </p:nvSpPr>
        <p:spPr bwMode="auto">
          <a:xfrm>
            <a:off x="88900" y="6581776"/>
            <a:ext cx="38608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900">
                <a:solidFill>
                  <a:srgbClr val="000000"/>
                </a:solidFill>
                <a:ea typeface="ＭＳ Ｐゴシック" panose="020B0600070205080204" pitchFamily="34" charset="-128"/>
              </a:rPr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55558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panose="020B0600070205080204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2">
            <a:extLst>
              <a:ext uri="{FF2B5EF4-FFF2-40B4-BE49-F238E27FC236}">
                <a16:creationId xmlns:a16="http://schemas.microsoft.com/office/drawing/2014/main" id="{F06BE1F1-429D-440B-B551-3FD9B3A59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70933" y="50801"/>
            <a:ext cx="113792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6">
            <a:extLst>
              <a:ext uri="{FF2B5EF4-FFF2-40B4-BE49-F238E27FC236}">
                <a16:creationId xmlns:a16="http://schemas.microsoft.com/office/drawing/2014/main" id="{35146F6C-717C-414A-A538-77E657423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685801"/>
            <a:ext cx="11480800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en-US"/>
              <a:t>Click to edit Master text styles</a:t>
            </a:r>
          </a:p>
          <a:p>
            <a:pPr lvl="2"/>
            <a:r>
              <a:rPr lang="en-US" altLang="en-US"/>
              <a:t>Second level</a:t>
            </a:r>
          </a:p>
          <a:p>
            <a:pPr lvl="3"/>
            <a:r>
              <a:rPr lang="en-US" altLang="en-US"/>
              <a:t>Third level</a:t>
            </a:r>
          </a:p>
          <a:p>
            <a:pPr lvl="4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70176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333375" indent="-331788" algn="l" rtl="0" eaLnBrk="0" fontAlgn="base" hangingPunct="0">
        <a:spcBef>
          <a:spcPct val="45000"/>
        </a:spcBef>
        <a:spcAft>
          <a:spcPct val="20000"/>
        </a:spcAft>
        <a:buClr>
          <a:srgbClr val="715363"/>
        </a:buClr>
        <a:buFont typeface="Times" panose="02020603050405020304" pitchFamily="18" charset="0"/>
        <a:buChar char="•"/>
        <a:defRPr sz="2800">
          <a:solidFill>
            <a:schemeClr val="tx1"/>
          </a:solidFill>
          <a:latin typeface="Arial" charset="0"/>
          <a:ea typeface="+mn-ea"/>
          <a:cs typeface="+mn-cs"/>
        </a:defRPr>
      </a:lvl2pPr>
      <a:lvl3pPr marL="895350" indent="-365125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600">
          <a:solidFill>
            <a:schemeClr val="tx1"/>
          </a:solidFill>
          <a:latin typeface="Arial" charset="0"/>
          <a:ea typeface="+mn-ea"/>
          <a:cs typeface="+mn-cs"/>
        </a:defRPr>
      </a:lvl3pPr>
      <a:lvl4pPr marL="1717675" indent="-395288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400">
          <a:solidFill>
            <a:schemeClr val="tx1"/>
          </a:solidFill>
          <a:latin typeface="Arial" charset="0"/>
          <a:ea typeface="+mn-ea"/>
          <a:cs typeface="+mn-cs"/>
        </a:defRPr>
      </a:lvl4pPr>
      <a:lvl5pPr marL="2508250" indent="-363538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29654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6pPr>
      <a:lvl7pPr marL="34226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7pPr>
      <a:lvl8pPr marL="38798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8pPr>
      <a:lvl9pPr marL="43370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50801"/>
            <a:ext cx="1137920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685801"/>
            <a:ext cx="11480800" cy="296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4473B8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altLang="en-US"/>
              <a:t>Click to edit Master text styles</a:t>
            </a:r>
          </a:p>
          <a:p>
            <a:pPr lvl="2"/>
            <a:r>
              <a:rPr lang="en-US" altLang="en-US"/>
              <a:t>Second level</a:t>
            </a:r>
          </a:p>
          <a:p>
            <a:pPr lvl="3"/>
            <a:r>
              <a:rPr lang="en-US" altLang="en-US"/>
              <a:t>Third level</a:t>
            </a:r>
          </a:p>
          <a:p>
            <a:pPr lvl="4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1590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imes New Roman" charset="0"/>
          <a:ea typeface="Arial" charset="0"/>
          <a:cs typeface="Arial" charset="0"/>
        </a:defRPr>
      </a:lvl5pPr>
      <a:lvl6pPr marL="9080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chemeClr val="tx2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333375" indent="-331788" algn="l" rtl="0" eaLnBrk="0" fontAlgn="base" hangingPunct="0">
        <a:spcBef>
          <a:spcPct val="45000"/>
        </a:spcBef>
        <a:spcAft>
          <a:spcPct val="20000"/>
        </a:spcAft>
        <a:buClr>
          <a:srgbClr val="5D2F49"/>
        </a:buClr>
        <a:buFont typeface="Times" panose="02020603050405020304" pitchFamily="18" charset="0"/>
        <a:buChar char="•"/>
        <a:defRPr sz="2800">
          <a:solidFill>
            <a:schemeClr val="tx1"/>
          </a:solidFill>
          <a:latin typeface="Arial" charset="0"/>
          <a:ea typeface="+mn-ea"/>
          <a:cs typeface="+mn-cs"/>
        </a:defRPr>
      </a:lvl2pPr>
      <a:lvl3pPr marL="895350" indent="-365125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600">
          <a:solidFill>
            <a:schemeClr val="tx1"/>
          </a:solidFill>
          <a:latin typeface="Arial" charset="0"/>
          <a:ea typeface="+mn-ea"/>
          <a:cs typeface="+mn-cs"/>
        </a:defRPr>
      </a:lvl3pPr>
      <a:lvl4pPr marL="1717675" indent="-395288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400">
          <a:solidFill>
            <a:schemeClr val="tx1"/>
          </a:solidFill>
          <a:latin typeface="Arial" charset="0"/>
          <a:ea typeface="+mn-ea"/>
          <a:cs typeface="+mn-cs"/>
        </a:defRPr>
      </a:lvl4pPr>
      <a:lvl5pPr marL="2508250" indent="-363538" algn="l" rtl="0" eaLnBrk="0" fontAlgn="base" hangingPunct="0">
        <a:spcBef>
          <a:spcPct val="45000"/>
        </a:spcBef>
        <a:spcAft>
          <a:spcPct val="20000"/>
        </a:spcAft>
        <a:buClr>
          <a:srgbClr val="4B7278"/>
        </a:buClr>
        <a:buChar char="–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29654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6pPr>
      <a:lvl7pPr marL="34226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7pPr>
      <a:lvl8pPr marL="38798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8pPr>
      <a:lvl9pPr marL="4337050" indent="-363538" algn="l" rtl="0" fontAlgn="base">
        <a:spcBef>
          <a:spcPct val="45000"/>
        </a:spcBef>
        <a:spcAft>
          <a:spcPct val="20000"/>
        </a:spcAft>
        <a:buClr>
          <a:schemeClr val="tx1"/>
        </a:buClr>
        <a:buChar char="–"/>
        <a:defRPr sz="2000">
          <a:solidFill>
            <a:schemeClr val="tx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jp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gif"/><Relationship Id="rId4" Type="http://schemas.openxmlformats.org/officeDocument/2006/relationships/image" Target="../media/image66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361A33-57FE-98FA-4794-FC87A827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6EF8923-8CA8-5E58-C93B-34A96E86B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081" y="1181101"/>
            <a:ext cx="7431088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690C1EA5-1DD3-4E82-F12A-73E152B4F741}"/>
              </a:ext>
            </a:extLst>
          </p:cNvPr>
          <p:cNvSpPr txBox="1">
            <a:spLocks/>
          </p:cNvSpPr>
          <p:nvPr/>
        </p:nvSpPr>
        <p:spPr bwMode="auto">
          <a:xfrm>
            <a:off x="2155825" y="219075"/>
            <a:ext cx="8229600" cy="1443038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25000" lnSpcReduction="20000"/>
          </a:bodyPr>
          <a:lstStyle>
            <a:lvl1pPr marL="0" indent="0" algn="ctr" rtl="0" eaLnBrk="0" fontAlgn="base" hangingPunct="0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4400" b="1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7600" dirty="0">
                <a:solidFill>
                  <a:srgbClr val="FF0000"/>
                </a:solidFill>
                <a:latin typeface="Cambria" panose="02040503050406030204" pitchFamily="18" charset="0"/>
              </a:rPr>
              <a:t>Unifying Concepts of Animal </a:t>
            </a:r>
            <a:br>
              <a:rPr lang="en-US" altLang="en-US" sz="17600" dirty="0">
                <a:solidFill>
                  <a:srgbClr val="FF0000"/>
                </a:solidFill>
                <a:latin typeface="Cambria" panose="02040503050406030204" pitchFamily="18" charset="0"/>
              </a:rPr>
            </a:br>
            <a:r>
              <a:rPr lang="en-US" altLang="en-US" sz="17600" dirty="0">
                <a:solidFill>
                  <a:srgbClr val="FF0000"/>
                </a:solidFill>
                <a:latin typeface="Cambria" panose="02040503050406030204" pitchFamily="18" charset="0"/>
              </a:rPr>
              <a:t>Structure and Function</a:t>
            </a:r>
          </a:p>
          <a:p>
            <a:pPr algn="r" ea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9600" dirty="0">
                <a:solidFill>
                  <a:srgbClr val="FF0000"/>
                </a:solidFill>
                <a:latin typeface="Cambria" panose="02040503050406030204" pitchFamily="18" charset="0"/>
              </a:rPr>
              <a:t>Unit 5; Chapter 21</a:t>
            </a:r>
          </a:p>
        </p:txBody>
      </p:sp>
    </p:spTree>
    <p:extLst>
      <p:ext uri="{BB962C8B-B14F-4D97-AF65-F5344CB8AC3E}">
        <p14:creationId xmlns:p14="http://schemas.microsoft.com/office/powerpoint/2010/main" val="3126741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C5450-98DD-A242-F1B6-126DCFBE2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Learning Objectives 1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B09F5A-9BA1-D6CF-D6BF-2DE5D8B15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Define and compare anatomy and physiology and explain why the two are usually studied together.</a:t>
            </a:r>
          </a:p>
          <a:p>
            <a:r>
              <a:rPr lang="en-US" altLang="zh-CN" dirty="0"/>
              <a:t>Define tissues, organs, and organ systems and describe the relationships among them.</a:t>
            </a:r>
          </a:p>
          <a:p>
            <a:r>
              <a:rPr lang="en-US" altLang="zh-CN" dirty="0"/>
              <a:t>Describe the four main categories of animal tissues, noting examples of each and distinguishing between their structures and functions.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FC3DF8-1FD1-03EB-56EA-3F90D881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461806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2866196C-A5DB-FA25-87D3-2EC6A080DBD5}"/>
              </a:ext>
            </a:extLst>
          </p:cNvPr>
          <p:cNvGrpSpPr/>
          <p:nvPr/>
        </p:nvGrpSpPr>
        <p:grpSpPr>
          <a:xfrm>
            <a:off x="0" y="136525"/>
            <a:ext cx="8548687" cy="6584950"/>
            <a:chOff x="1820864" y="293688"/>
            <a:chExt cx="8548687" cy="6584950"/>
          </a:xfrm>
        </p:grpSpPr>
        <p:pic>
          <p:nvPicPr>
            <p:cNvPr id="6" name="Picture 2" descr="21_01Hierarchy_5-U">
              <a:extLst>
                <a:ext uri="{FF2B5EF4-FFF2-40B4-BE49-F238E27FC236}">
                  <a16:creationId xmlns:a16="http://schemas.microsoft.com/office/drawing/2014/main" id="{F12E27CE-7206-30D7-1DC2-848E40EE72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0864" y="293688"/>
              <a:ext cx="8548687" cy="658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94B47955-3E94-D349-37FA-C983E929C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5226" y="817563"/>
              <a:ext cx="1508125" cy="495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Cellular Level: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Muscle cell</a:t>
              </a:r>
              <a:endParaRPr lang="en-US" altLang="en-US" sz="18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33ED07B7-B6E4-738B-24BE-6775ED6B3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4225" y="2036763"/>
              <a:ext cx="1816100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Tissue Level: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Cardiac muscle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（心肌）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04867F60-34D6-1D90-0C5B-CFD2AB18E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1826" y="4360863"/>
              <a:ext cx="141287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Organ Level: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Heart</a:t>
              </a:r>
              <a:endParaRPr lang="en-US" altLang="en-US" sz="18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77557E7E-45E1-5ADD-7B04-2986B655DE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5226" y="5707063"/>
              <a:ext cx="2308225" cy="482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System Level: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Circulatory system</a:t>
              </a:r>
              <a:endParaRPr lang="en-US" altLang="en-US" sz="18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3F4A11A4-EDF1-6F3B-587C-DFAED0D3B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3120" y="4602163"/>
              <a:ext cx="1806431" cy="1327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Organism Level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400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(Whole Body Level):</a:t>
              </a:r>
              <a:br>
                <a:rPr lang="en-US" altLang="en-US" sz="1400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Multiple organ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systems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functioning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together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CEC5C5EF-B6FA-A9EA-FAB8-0F4DAFC8F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3164" y="293688"/>
              <a:ext cx="4116387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altLang="en-US" sz="3200" b="1" dirty="0">
                <a:solidFill>
                  <a:srgbClr val="FF0000"/>
                </a:solidFill>
                <a:latin typeface="Cambria" panose="02040503050406030204" pitchFamily="18" charset="0"/>
              </a:endParaRP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9149119-DC8C-3B21-1DD2-B290803C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4787" y="132523"/>
            <a:ext cx="3949202" cy="958863"/>
          </a:xfrm>
        </p:spPr>
        <p:txBody>
          <a:bodyPr/>
          <a:lstStyle/>
          <a:p>
            <a:pPr algn="r"/>
            <a:r>
              <a:rPr lang="en-US" altLang="zh-CN" dirty="0"/>
              <a:t>Structural Hierarchy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CEFB87-8C05-4F36-9E61-1FA2BC456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0018" y="1227909"/>
            <a:ext cx="3153970" cy="5264966"/>
          </a:xfrm>
        </p:spPr>
        <p:txBody>
          <a:bodyPr/>
          <a:lstStyle/>
          <a:p>
            <a:r>
              <a:rPr lang="en-US" altLang="zh-CN" dirty="0"/>
              <a:t>Cells</a:t>
            </a:r>
          </a:p>
          <a:p>
            <a:r>
              <a:rPr lang="en-US" altLang="zh-CN" dirty="0"/>
              <a:t>Tissues (</a:t>
            </a:r>
            <a:r>
              <a:rPr lang="zh-CN" altLang="en-US" dirty="0"/>
              <a:t>组织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Orangs (</a:t>
            </a:r>
            <a:r>
              <a:rPr lang="zh-CN" altLang="en-US" dirty="0"/>
              <a:t>器官</a:t>
            </a:r>
            <a:r>
              <a:rPr lang="en-US" altLang="zh-CN" dirty="0"/>
              <a:t>)</a:t>
            </a:r>
          </a:p>
          <a:p>
            <a:r>
              <a:rPr lang="en-US" altLang="zh-CN" dirty="0"/>
              <a:t>Organ Systems</a:t>
            </a:r>
          </a:p>
          <a:p>
            <a:r>
              <a:rPr lang="en-US" altLang="zh-CN" dirty="0"/>
              <a:t>Organism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C8A80A-1523-54F7-C163-20231B3C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748083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18037D-69A4-3E8B-9B3E-6D7F7B8AE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Anatomy and Physiology: Structure Fits Function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E15DB-FC6D-56AB-1CD4-1141E4AA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Anatomy (</a:t>
            </a:r>
            <a:r>
              <a:rPr lang="zh-CN" altLang="en-US" dirty="0"/>
              <a:t>解剖学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is the study of the </a:t>
            </a:r>
            <a:r>
              <a:rPr lang="en-US" altLang="zh-CN" dirty="0">
                <a:highlight>
                  <a:srgbClr val="FFFF00"/>
                </a:highlight>
              </a:rPr>
              <a:t>structure</a:t>
            </a:r>
            <a:r>
              <a:rPr lang="en-US" altLang="zh-CN" dirty="0"/>
              <a:t> of an organism’s parts.</a:t>
            </a:r>
          </a:p>
          <a:p>
            <a:r>
              <a:rPr lang="en-US" altLang="zh-CN" dirty="0"/>
              <a:t>Physiology (</a:t>
            </a:r>
            <a:r>
              <a:rPr lang="zh-CN" altLang="en-US" dirty="0"/>
              <a:t>生理学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is the study of the </a:t>
            </a:r>
            <a:r>
              <a:rPr lang="en-US" altLang="zh-CN" dirty="0">
                <a:highlight>
                  <a:srgbClr val="FFFF00"/>
                </a:highlight>
              </a:rPr>
              <a:t>function</a:t>
            </a:r>
            <a:r>
              <a:rPr lang="en-US" altLang="zh-CN" dirty="0"/>
              <a:t> of those parts.</a:t>
            </a:r>
          </a:p>
          <a:p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16F27D0-553C-84AA-14EA-FCAAE7B2745C}"/>
              </a:ext>
            </a:extLst>
          </p:cNvPr>
          <p:cNvGrpSpPr>
            <a:grpSpLocks noChangeAspect="1"/>
          </p:cNvGrpSpPr>
          <p:nvPr/>
        </p:nvGrpSpPr>
        <p:grpSpPr>
          <a:xfrm>
            <a:off x="1915613" y="2481208"/>
            <a:ext cx="8360774" cy="4376791"/>
            <a:chOff x="1820864" y="1458913"/>
            <a:chExt cx="8548687" cy="4475162"/>
          </a:xfrm>
        </p:grpSpPr>
        <p:pic>
          <p:nvPicPr>
            <p:cNvPr id="6" name="Picture 2" descr="21_02_FormFunction_3-U">
              <a:extLst>
                <a:ext uri="{FF2B5EF4-FFF2-40B4-BE49-F238E27FC236}">
                  <a16:creationId xmlns:a16="http://schemas.microsoft.com/office/drawing/2014/main" id="{20ACC9BC-F937-0B23-C05E-1776205CF0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0864" y="1458913"/>
              <a:ext cx="8548687" cy="4475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D7082FAF-D87C-27CE-9974-EFE5DDB091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8026" y="4700588"/>
              <a:ext cx="30194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(a) At the organism level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F7869C13-58DF-5C7E-25A9-0DD356458A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4726" y="2452688"/>
              <a:ext cx="23844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(b) At the organ level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D7919FDD-C2B1-ADF7-3C27-F3A3B94A13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2026" y="5475288"/>
              <a:ext cx="2511425" cy="29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(c) At the cellular level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872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998726-092F-FD3F-AC9B-B9FCAFA4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Tissues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72C103-7AA4-B210-C46B-D456AACD4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An integrated group of </a:t>
            </a:r>
            <a:r>
              <a:rPr lang="en-US" altLang="zh-CN" dirty="0">
                <a:highlight>
                  <a:srgbClr val="FFFF00"/>
                </a:highlight>
              </a:rPr>
              <a:t>similar</a:t>
            </a:r>
            <a:r>
              <a:rPr lang="en-US" altLang="zh-CN" dirty="0"/>
              <a:t> cells, performs a </a:t>
            </a:r>
            <a:r>
              <a:rPr lang="en-US" altLang="zh-CN" dirty="0">
                <a:highlight>
                  <a:srgbClr val="FFFF00"/>
                </a:highlight>
              </a:rPr>
              <a:t>specific</a:t>
            </a:r>
            <a:r>
              <a:rPr lang="en-US" altLang="zh-CN" dirty="0"/>
              <a:t> function, enabled by its special overall structure.</a:t>
            </a:r>
          </a:p>
          <a:p>
            <a:r>
              <a:rPr lang="en-US" altLang="zh-CN" dirty="0"/>
              <a:t>Four main categories of tissue:</a:t>
            </a:r>
          </a:p>
          <a:p>
            <a:pPr lvl="1"/>
            <a:r>
              <a:rPr lang="en-US" altLang="zh-CN" dirty="0"/>
              <a:t>Epithelial Tissue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zh-CN" altLang="en-US" dirty="0"/>
              <a:t>上皮组织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Connective Tissue (</a:t>
            </a:r>
            <a:r>
              <a:rPr lang="zh-CN" altLang="en-US" dirty="0"/>
              <a:t>结缔组织</a:t>
            </a:r>
            <a:r>
              <a:rPr lang="en-US" altLang="zh-CN" dirty="0"/>
              <a:t>) </a:t>
            </a:r>
          </a:p>
          <a:p>
            <a:pPr lvl="1"/>
            <a:r>
              <a:rPr lang="en-US" altLang="zh-CN" dirty="0"/>
              <a:t>Muscle Tissue </a:t>
            </a:r>
          </a:p>
          <a:p>
            <a:pPr lvl="1"/>
            <a:r>
              <a:rPr lang="en-US" altLang="zh-CN" dirty="0"/>
              <a:t>Nervous Tissue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0FBC72-3800-DCB5-6227-55E37343E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2200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B6B95-2782-3490-5F49-38D1D042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Epithelial Tissue (</a:t>
            </a:r>
            <a:r>
              <a:rPr lang="zh-CN" altLang="en-US" dirty="0"/>
              <a:t>上皮组织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4CF0E8-D4F9-7C4D-343A-9B95A04C1E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5065415" cy="5264966"/>
          </a:xfrm>
        </p:spPr>
        <p:txBody>
          <a:bodyPr>
            <a:normAutofit fontScale="92500" lnSpcReduction="10000"/>
          </a:bodyPr>
          <a:lstStyle/>
          <a:p>
            <a:r>
              <a:rPr lang="en-US" altLang="zh-CN" dirty="0"/>
              <a:t>Also known as </a:t>
            </a:r>
            <a:r>
              <a:rPr lang="en-US" altLang="zh-CN" b="1" dirty="0">
                <a:solidFill>
                  <a:srgbClr val="FF0000"/>
                </a:solidFill>
              </a:rPr>
              <a:t>epithelium</a:t>
            </a:r>
          </a:p>
          <a:p>
            <a:r>
              <a:rPr lang="en-US" altLang="zh-CN" dirty="0"/>
              <a:t>Covers the surface of the body and lines organs and cavities within the body</a:t>
            </a:r>
          </a:p>
          <a:p>
            <a:r>
              <a:rPr lang="en-US" altLang="zh-CN" dirty="0"/>
              <a:t>Continuously renewed</a:t>
            </a:r>
          </a:p>
          <a:p>
            <a:pPr lvl="1"/>
            <a:r>
              <a:rPr lang="en-US" altLang="zh-CN" dirty="0"/>
              <a:t>Divide rapidly</a:t>
            </a:r>
          </a:p>
          <a:p>
            <a:pPr lvl="1"/>
            <a:r>
              <a:rPr lang="en-US" altLang="zh-CN" dirty="0"/>
              <a:t>Environmental exposure</a:t>
            </a:r>
          </a:p>
          <a:p>
            <a:pPr lvl="1"/>
            <a:r>
              <a:rPr lang="en-US" altLang="zh-CN" dirty="0"/>
              <a:t>80% of all cancers</a:t>
            </a:r>
          </a:p>
          <a:p>
            <a:pPr lvl="2"/>
            <a:r>
              <a:rPr lang="en-US" altLang="zh-CN" dirty="0"/>
              <a:t>Carcinomas</a:t>
            </a:r>
          </a:p>
          <a:p>
            <a:pPr lvl="2"/>
            <a:r>
              <a:rPr lang="en-US" altLang="zh-CN" dirty="0"/>
              <a:t>The five most common cancers—breast, prostate, lung, colon, and rectum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838E5D-EC52-D76E-8A9D-DE2A101B4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293B73-C992-2A9D-BED4-EC725A860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592" y="1091386"/>
            <a:ext cx="6743408" cy="57666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6F8599E-33BE-F146-F50E-DAB98EAD9417}"/>
              </a:ext>
            </a:extLst>
          </p:cNvPr>
          <p:cNvSpPr txBox="1"/>
          <p:nvPr/>
        </p:nvSpPr>
        <p:spPr>
          <a:xfrm>
            <a:off x="10465513" y="5934670"/>
            <a:ext cx="17264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As a single thin and leaky layer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217C94C-7E02-D435-A0CB-ACAFAA2D9878}"/>
              </a:ext>
            </a:extLst>
          </p:cNvPr>
          <p:cNvSpPr txBox="1"/>
          <p:nvPr/>
        </p:nvSpPr>
        <p:spPr>
          <a:xfrm>
            <a:off x="9489829" y="904743"/>
            <a:ext cx="27021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As tightly linked layered protective barrier</a:t>
            </a:r>
          </a:p>
        </p:txBody>
      </p:sp>
    </p:spTree>
    <p:extLst>
      <p:ext uri="{BB962C8B-B14F-4D97-AF65-F5344CB8AC3E}">
        <p14:creationId xmlns:p14="http://schemas.microsoft.com/office/powerpoint/2010/main" val="3588307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4201F-0A2B-D72C-1DD7-7BD8F0825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3927275" cy="5264966"/>
          </a:xfrm>
        </p:spPr>
        <p:txBody>
          <a:bodyPr/>
          <a:lstStyle/>
          <a:p>
            <a:r>
              <a:rPr lang="en-US" altLang="zh-CN" dirty="0"/>
              <a:t>To join (connective) and support other tissues</a:t>
            </a:r>
          </a:p>
          <a:p>
            <a:r>
              <a:rPr lang="en-US" altLang="zh-CN" dirty="0"/>
              <a:t>A sparse population of cells in an extracellular matrix (</a:t>
            </a:r>
            <a:r>
              <a:rPr lang="zh-CN" altLang="en-US" dirty="0"/>
              <a:t>细胞外间质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ECF91A-8900-E628-0340-729AFCE6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D3239AD-56EF-29D6-61CD-1AA826714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453" y="236306"/>
            <a:ext cx="7881547" cy="662169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677C2538-3893-9E27-A7B8-A36AFF67D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Connective Tissue </a:t>
            </a:r>
            <a:br>
              <a:rPr lang="en-US" altLang="zh-CN" dirty="0"/>
            </a:br>
            <a:r>
              <a:rPr lang="en-US" altLang="zh-CN" dirty="0"/>
              <a:t>(</a:t>
            </a:r>
            <a:r>
              <a:rPr lang="zh-CN" altLang="en-US" dirty="0"/>
              <a:t>结缔组织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369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31A41-B3BA-9E06-A164-913B58263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Loose Connective Tissue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02F04-6112-7EA2-B84E-ACEE394EC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Most widespread connective tissue in the bodies of vertebrates (animals with backbones, including humans)</a:t>
            </a:r>
          </a:p>
          <a:p>
            <a:r>
              <a:rPr lang="en-US" altLang="zh-CN" dirty="0"/>
              <a:t>Binds epithelia to underlying tissues</a:t>
            </a:r>
          </a:p>
          <a:p>
            <a:r>
              <a:rPr lang="en-US" altLang="zh-CN" dirty="0"/>
              <a:t>Provides strength and elasticity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B59CC7-CA67-CB33-21FF-134D9D1A1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30732" name="Picture 12" descr="See the source image">
            <a:extLst>
              <a:ext uri="{FF2B5EF4-FFF2-40B4-BE49-F238E27FC236}">
                <a16:creationId xmlns:a16="http://schemas.microsoft.com/office/drawing/2014/main" id="{BE15DE95-0B6D-47E9-B763-841E8B79A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51" y="3741926"/>
            <a:ext cx="2750949" cy="2750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 descr="21_04aLooseConnect-U">
            <a:extLst>
              <a:ext uri="{FF2B5EF4-FFF2-40B4-BE49-F238E27FC236}">
                <a16:creationId xmlns:a16="http://schemas.microsoft.com/office/drawing/2014/main" id="{2585477D-BDD6-F5F4-90C2-3C1750F91A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079" y="3390079"/>
            <a:ext cx="3138755" cy="3102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4">
            <a:extLst>
              <a:ext uri="{FF2B5EF4-FFF2-40B4-BE49-F238E27FC236}">
                <a16:creationId xmlns:a16="http://schemas.microsoft.com/office/drawing/2014/main" id="{7B45C0C0-11F0-9B28-88DE-9B650DE6F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0894" y="2623318"/>
            <a:ext cx="3413125" cy="6985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itchFamily="18" charset="0"/>
                <a:sym typeface="Symbol" pitchFamily="84" charset="2"/>
              </a:rPr>
              <a:t>Loose connective tissue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000000">
                    <a:lumMod val="95000"/>
                    <a:lumOff val="5000"/>
                  </a:srgbClr>
                </a:solidFill>
                <a:latin typeface="Cambria" pitchFamily="18" charset="0"/>
                <a:sym typeface="Symbol" pitchFamily="84" charset="2"/>
              </a:rPr>
              <a:t>(under the skin)</a:t>
            </a:r>
          </a:p>
        </p:txBody>
      </p:sp>
      <p:sp>
        <p:nvSpPr>
          <p:cNvPr id="14" name="Text Box 5">
            <a:extLst>
              <a:ext uri="{FF2B5EF4-FFF2-40B4-BE49-F238E27FC236}">
                <a16:creationId xmlns:a16="http://schemas.microsoft.com/office/drawing/2014/main" id="{E526EC24-4894-B0AF-A23E-17F985661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9931" y="4410737"/>
            <a:ext cx="2310517" cy="47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Cell: fibroblasts</a:t>
            </a:r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4B9AC2F2-AFE6-510B-97BC-36FEA656E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2490" y="5304720"/>
            <a:ext cx="2248435" cy="76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Collagen fiber</a:t>
            </a: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胶原纤维</a:t>
            </a:r>
            <a:r>
              <a:rPr lang="en-US" altLang="zh-CN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  <a:endParaRPr lang="en-US" altLang="en-US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16" name="Line 7">
            <a:extLst>
              <a:ext uri="{FF2B5EF4-FFF2-40B4-BE49-F238E27FC236}">
                <a16:creationId xmlns:a16="http://schemas.microsoft.com/office/drawing/2014/main" id="{B52EA9FD-6712-2AD5-9B18-031E67FA6E4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3729" y="4647451"/>
            <a:ext cx="1028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Line 8">
            <a:extLst>
              <a:ext uri="{FF2B5EF4-FFF2-40B4-BE49-F238E27FC236}">
                <a16:creationId xmlns:a16="http://schemas.microsoft.com/office/drawing/2014/main" id="{1A107381-208C-D116-1872-5D1BE0D5C9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7597" y="5234505"/>
            <a:ext cx="1464392" cy="52928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06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1EB316-FEBF-E978-A925-271B5F55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Fibrous Connective Tissue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8AFF91-7202-C8C8-212D-D9A041A27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dense matrix of collagen</a:t>
            </a:r>
          </a:p>
          <a:p>
            <a:r>
              <a:rPr lang="en-US" altLang="zh-CN" dirty="0"/>
              <a:t>Forms tendons (</a:t>
            </a:r>
            <a:r>
              <a:rPr lang="zh-CN" altLang="en-US" dirty="0"/>
              <a:t>肌腱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and ligaments (</a:t>
            </a:r>
            <a:r>
              <a:rPr lang="zh-CN" altLang="en-US" dirty="0"/>
              <a:t>韧带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Tendons, attach muscles to bones</a:t>
            </a:r>
          </a:p>
          <a:p>
            <a:pPr lvl="1"/>
            <a:r>
              <a:rPr lang="en-US" altLang="zh-CN" dirty="0"/>
              <a:t>Ligaments, securely join bones together at joints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25AD81-0E4C-BB79-D0D2-6C4901261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21_04dFibrousConnect-U">
            <a:extLst>
              <a:ext uri="{FF2B5EF4-FFF2-40B4-BE49-F238E27FC236}">
                <a16:creationId xmlns:a16="http://schemas.microsoft.com/office/drawing/2014/main" id="{E0AD6B94-DC76-DA50-AFF6-A81A8701D4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436" y="3619750"/>
            <a:ext cx="3140289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F467F4CF-65C2-AC45-73EB-F98174704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0603" y="4599896"/>
            <a:ext cx="3859570" cy="8659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Fibrous connective tissue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(forming a tendon)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139FB871-6851-EB65-0B2C-BACB861E2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22975" y="3571306"/>
            <a:ext cx="2090256" cy="986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Cell: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Fibroblasts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1D42A030-4557-6D58-1C60-B594D9DF1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53907" y="5831136"/>
            <a:ext cx="199390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Collagen Fibers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FDB56FB2-E3C7-4D65-1F08-7C30369B5B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71988" y="3921374"/>
            <a:ext cx="1511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FEE5FD9-7A2E-52E5-0405-B18447F89F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41875" y="5397749"/>
            <a:ext cx="1181100" cy="393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6FFEF674-F84D-F9AE-D14E-33166B85941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064125" y="5194549"/>
            <a:ext cx="958850" cy="596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079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7BA615-10A8-9B9F-A5BC-941CF639D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Cartilage (</a:t>
            </a:r>
            <a:r>
              <a:rPr lang="zh-CN" altLang="en-US" dirty="0"/>
              <a:t>软骨</a:t>
            </a:r>
            <a:r>
              <a:rPr lang="en-US" altLang="zh-CN" dirty="0"/>
              <a:t>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25F38C-A5AF-942D-0C59-507FAE54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7245000" cy="5264966"/>
          </a:xfrm>
        </p:spPr>
        <p:txBody>
          <a:bodyPr/>
          <a:lstStyle/>
          <a:p>
            <a:r>
              <a:rPr lang="en-US" altLang="zh-CN" dirty="0"/>
              <a:t>Strong but flexible</a:t>
            </a:r>
          </a:p>
          <a:p>
            <a:r>
              <a:rPr lang="en-US" altLang="zh-CN" dirty="0"/>
              <a:t>Functions as a flexible, boneless skeleton</a:t>
            </a:r>
          </a:p>
          <a:p>
            <a:r>
              <a:rPr lang="en-US" altLang="zh-CN" dirty="0"/>
              <a:t>No blood vessels, so after injuries it heals very slowly</a:t>
            </a:r>
          </a:p>
          <a:p>
            <a:r>
              <a:rPr lang="en-US" altLang="zh-CN" dirty="0"/>
              <a:t>Ear, nose, voice box</a:t>
            </a:r>
          </a:p>
          <a:p>
            <a:r>
              <a:rPr lang="en-US" altLang="zh-CN" dirty="0"/>
              <a:t>Forms the </a:t>
            </a:r>
            <a:r>
              <a:rPr lang="en-US" altLang="zh-CN" dirty="0">
                <a:highlight>
                  <a:srgbClr val="FFFF00"/>
                </a:highlight>
              </a:rPr>
              <a:t>shock-absorbing pads</a:t>
            </a:r>
            <a:r>
              <a:rPr lang="en-US" altLang="zh-CN" dirty="0"/>
              <a:t> that cushion the ends of bones including the vertebrae (</a:t>
            </a:r>
            <a:r>
              <a:rPr lang="zh-CN" altLang="en-US" dirty="0"/>
              <a:t>脊椎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of the spinal column (</a:t>
            </a:r>
            <a:r>
              <a:rPr lang="zh-CN" altLang="en-US" dirty="0"/>
              <a:t>脊柱</a:t>
            </a:r>
            <a:r>
              <a:rPr lang="en-US" altLang="zh-CN" dirty="0"/>
              <a:t>)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9A14BC-870D-4447-2840-D58C57436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39952" name="Picture 16" descr="Spine">
            <a:extLst>
              <a:ext uri="{FF2B5EF4-FFF2-40B4-BE49-F238E27FC236}">
                <a16:creationId xmlns:a16="http://schemas.microsoft.com/office/drawing/2014/main" id="{129A8B40-DCC8-4D9D-B4DA-3081DEF71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000" y="3454400"/>
            <a:ext cx="34036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 descr="21_04eCartilage-U">
            <a:extLst>
              <a:ext uri="{FF2B5EF4-FFF2-40B4-BE49-F238E27FC236}">
                <a16:creationId xmlns:a16="http://schemas.microsoft.com/office/drawing/2014/main" id="{D9571467-6A4D-009F-17F9-BD74D3245F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000" y="937396"/>
            <a:ext cx="2562225" cy="2458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>
            <a:extLst>
              <a:ext uri="{FF2B5EF4-FFF2-40B4-BE49-F238E27FC236}">
                <a16:creationId xmlns:a16="http://schemas.microsoft.com/office/drawing/2014/main" id="{CF26C5D3-5839-7D40-C87D-9D4852EBF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362" y="132523"/>
            <a:ext cx="3235325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Cartilage </a:t>
            </a:r>
            <a:b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</a:b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(at the end of a bone)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8030104-FA16-AB31-9AA1-AB6854B98B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1962" y="2374086"/>
            <a:ext cx="1296861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Matrix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74F79CFE-B229-C02C-107B-DDAFA63FA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1962" y="1511156"/>
            <a:ext cx="781050" cy="395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Cells</a:t>
            </a:r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43178722-4ED0-EC56-CF14-0B6953B79F8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718139" y="2574186"/>
            <a:ext cx="762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" name="Group 8">
            <a:extLst>
              <a:ext uri="{FF2B5EF4-FFF2-40B4-BE49-F238E27FC236}">
                <a16:creationId xmlns:a16="http://schemas.microsoft.com/office/drawing/2014/main" id="{8ABD439B-AD17-FC60-0873-A0ED0F3BA257}"/>
              </a:ext>
            </a:extLst>
          </p:cNvPr>
          <p:cNvGrpSpPr>
            <a:grpSpLocks/>
          </p:cNvGrpSpPr>
          <p:nvPr/>
        </p:nvGrpSpPr>
        <p:grpSpPr bwMode="auto">
          <a:xfrm>
            <a:off x="9591139" y="1696152"/>
            <a:ext cx="889000" cy="457200"/>
            <a:chOff x="2968" y="1680"/>
            <a:chExt cx="560" cy="288"/>
          </a:xfrm>
        </p:grpSpPr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A2CD7EA2-F58D-6747-0412-7697138B8C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68" y="1680"/>
              <a:ext cx="560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7F6B5463-BDE2-6696-32F5-8AF2B6CF86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04" y="1680"/>
              <a:ext cx="42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8782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573073-0A86-79DB-0A6F-9E9C7C8E4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Bone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30F2C-C6B8-9012-5B7A-4E807D990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5452138" cy="5264966"/>
          </a:xfrm>
        </p:spPr>
        <p:txBody>
          <a:bodyPr/>
          <a:lstStyle/>
          <a:p>
            <a:r>
              <a:rPr lang="en-US" altLang="zh-CN" dirty="0"/>
              <a:t>A rigid connective tissue</a:t>
            </a:r>
          </a:p>
          <a:p>
            <a:r>
              <a:rPr lang="en-US" altLang="zh-CN" dirty="0"/>
              <a:t>A dense matrix of collagen fibers hardened with deposits of calcium salts</a:t>
            </a:r>
          </a:p>
          <a:p>
            <a:r>
              <a:rPr lang="en-US" altLang="zh-CN" dirty="0"/>
              <a:t>Osteoblasts vs. osteoclasts</a:t>
            </a:r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BEDC9AE-3A40-3187-271F-F3213F3F1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21_04fBone-U">
            <a:extLst>
              <a:ext uri="{FF2B5EF4-FFF2-40B4-BE49-F238E27FC236}">
                <a16:creationId xmlns:a16="http://schemas.microsoft.com/office/drawing/2014/main" id="{A5016B4D-10E4-47BF-81AD-8876E76905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853346" y="222696"/>
            <a:ext cx="2877986" cy="28808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272169DD-82BB-4ADE-A427-7EF1F1DFE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7663" y="2062302"/>
            <a:ext cx="72072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Cells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49F6A248-DA6F-482D-8809-9885795DC2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4662" y="1410235"/>
            <a:ext cx="1659326" cy="652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Matrix</a:t>
            </a: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573685CC-8645-4F6E-9898-EED420C3E628}"/>
              </a:ext>
            </a:extLst>
          </p:cNvPr>
          <p:cNvGrpSpPr>
            <a:grpSpLocks/>
          </p:cNvGrpSpPr>
          <p:nvPr/>
        </p:nvGrpSpPr>
        <p:grpSpPr bwMode="auto">
          <a:xfrm>
            <a:off x="9543397" y="1778440"/>
            <a:ext cx="820348" cy="45719"/>
            <a:chOff x="3136" y="1992"/>
            <a:chExt cx="344" cy="0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703B4A24-DACC-423E-94D4-61FC10D532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6" y="1992"/>
              <a:ext cx="336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7D67A3DE-C897-4158-8D4E-D96F8B38BB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" y="1992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9C13913A-2174-4046-8B23-E19D51C329B5}"/>
              </a:ext>
            </a:extLst>
          </p:cNvPr>
          <p:cNvGrpSpPr>
            <a:grpSpLocks/>
          </p:cNvGrpSpPr>
          <p:nvPr/>
        </p:nvGrpSpPr>
        <p:grpSpPr bwMode="auto">
          <a:xfrm>
            <a:off x="8367493" y="2254223"/>
            <a:ext cx="1747169" cy="291481"/>
            <a:chOff x="2676" y="2328"/>
            <a:chExt cx="804" cy="64"/>
          </a:xfrm>
        </p:grpSpPr>
        <p:grpSp>
          <p:nvGrpSpPr>
            <p:cNvPr id="13" name="Group 11">
              <a:extLst>
                <a:ext uri="{FF2B5EF4-FFF2-40B4-BE49-F238E27FC236}">
                  <a16:creationId xmlns:a16="http://schemas.microsoft.com/office/drawing/2014/main" id="{93AA611F-0919-4965-A2C3-574A321D7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76" y="2328"/>
              <a:ext cx="792" cy="64"/>
              <a:chOff x="2688" y="2328"/>
              <a:chExt cx="792" cy="64"/>
            </a:xfrm>
          </p:grpSpPr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C18D6F3B-AAE0-46BE-9C32-C9784EBC66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328"/>
                <a:ext cx="792" cy="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Line 13">
                <a:extLst>
                  <a:ext uri="{FF2B5EF4-FFF2-40B4-BE49-F238E27FC236}">
                    <a16:creationId xmlns:a16="http://schemas.microsoft.com/office/drawing/2014/main" id="{3944BD14-8F43-46AF-B733-81FF14368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52" y="2328"/>
                <a:ext cx="728" cy="64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2935168A-A9ED-4021-A28F-F59D035104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2328"/>
              <a:ext cx="792" cy="64"/>
              <a:chOff x="2688" y="2328"/>
              <a:chExt cx="792" cy="64"/>
            </a:xfrm>
          </p:grpSpPr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AE33B318-E01E-4CBC-9B4A-8548C1749F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88" y="2328"/>
                <a:ext cx="7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CC9D12E9-FD49-43C1-AC87-4F3111931C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52" y="2328"/>
                <a:ext cx="728" cy="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9" name="Picture 2" descr="Treating cartilage damage - Causes">
            <a:extLst>
              <a:ext uri="{FF2B5EF4-FFF2-40B4-BE49-F238E27FC236}">
                <a16:creationId xmlns:a16="http://schemas.microsoft.com/office/drawing/2014/main" id="{39DFB15A-B413-43D6-9357-2ABF91894F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601" y="3225138"/>
            <a:ext cx="6041387" cy="363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6380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Adipose Tissue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5434377" cy="5264966"/>
          </a:xfrm>
        </p:spPr>
        <p:txBody>
          <a:bodyPr/>
          <a:lstStyle/>
          <a:p>
            <a:r>
              <a:rPr lang="en-US" altLang="zh-CN" dirty="0"/>
              <a:t>Stores fat in closely packed cells of a sparse matrix</a:t>
            </a:r>
          </a:p>
          <a:p>
            <a:r>
              <a:rPr lang="en-US" altLang="zh-CN" dirty="0"/>
              <a:t>Insulates and cushions the body</a:t>
            </a:r>
          </a:p>
          <a:p>
            <a:r>
              <a:rPr lang="en-US" altLang="zh-CN" dirty="0"/>
              <a:t>Lipid droplets, lipid-rich cellular organelles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7" name="Picture 2" descr="21_04bAdipose-U">
            <a:extLst>
              <a:ext uri="{FF2B5EF4-FFF2-40B4-BE49-F238E27FC236}">
                <a16:creationId xmlns:a16="http://schemas.microsoft.com/office/drawing/2014/main" id="{49750816-E9EC-409F-B3B5-28B9D80002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96199" y="1949450"/>
            <a:ext cx="3457575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4">
            <a:extLst>
              <a:ext uri="{FF2B5EF4-FFF2-40B4-BE49-F238E27FC236}">
                <a16:creationId xmlns:a16="http://schemas.microsoft.com/office/drawing/2014/main" id="{1B9A20AF-C2D7-4D80-946B-9683069A1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73" y="1376872"/>
            <a:ext cx="23082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Adipose Tissue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44825515-DC13-463C-85DD-B1F569E5B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415" y="3002756"/>
            <a:ext cx="1538923" cy="741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Fat</a:t>
            </a: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droplets</a:t>
            </a:r>
          </a:p>
        </p:txBody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B32EDA08-44AD-4CC8-BCDA-A6AD8D9465F0}"/>
              </a:ext>
            </a:extLst>
          </p:cNvPr>
          <p:cNvGrpSpPr>
            <a:grpSpLocks/>
          </p:cNvGrpSpPr>
          <p:nvPr/>
        </p:nvGrpSpPr>
        <p:grpSpPr bwMode="auto">
          <a:xfrm>
            <a:off x="7526338" y="3373438"/>
            <a:ext cx="1117600" cy="571500"/>
            <a:chOff x="2376" y="1616"/>
            <a:chExt cx="704" cy="360"/>
          </a:xfrm>
        </p:grpSpPr>
        <p:sp>
          <p:nvSpPr>
            <p:cNvPr id="11" name="Line 7">
              <a:extLst>
                <a:ext uri="{FF2B5EF4-FFF2-40B4-BE49-F238E27FC236}">
                  <a16:creationId xmlns:a16="http://schemas.microsoft.com/office/drawing/2014/main" id="{D52FBFCF-A1E2-4DA3-8944-F57BBC6E30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1616"/>
              <a:ext cx="70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A789E353-92CA-495D-A5D4-9E41D22C5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6" y="1616"/>
              <a:ext cx="552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595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Blood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Cells suspended in a liquid matrix called </a:t>
            </a:r>
            <a:r>
              <a:rPr lang="en-US" altLang="zh-CN" b="1" dirty="0">
                <a:solidFill>
                  <a:srgbClr val="FF0000"/>
                </a:solidFill>
              </a:rPr>
              <a:t>plasma</a:t>
            </a:r>
          </a:p>
          <a:p>
            <a:r>
              <a:rPr lang="en-US" altLang="zh-CN" dirty="0"/>
              <a:t>Transport substances in the plasma</a:t>
            </a:r>
          </a:p>
          <a:p>
            <a:r>
              <a:rPr lang="en-US" altLang="zh-CN" dirty="0"/>
              <a:t>Seal broken blood vessels</a:t>
            </a:r>
            <a:endParaRPr lang="zh-CN" altLang="en-US" dirty="0"/>
          </a:p>
          <a:p>
            <a:r>
              <a:rPr lang="en-US" altLang="zh-CN" dirty="0"/>
              <a:t>In immunity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21_04cBlood-U">
            <a:extLst>
              <a:ext uri="{FF2B5EF4-FFF2-40B4-BE49-F238E27FC236}">
                <a16:creationId xmlns:a16="http://schemas.microsoft.com/office/drawing/2014/main" id="{E9400C97-1E1C-46F4-9C93-0F838BDD27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19028" y="2881552"/>
            <a:ext cx="3759201" cy="3781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5">
            <a:extLst>
              <a:ext uri="{FF2B5EF4-FFF2-40B4-BE49-F238E27FC236}">
                <a16:creationId xmlns:a16="http://schemas.microsoft.com/office/drawing/2014/main" id="{63340AC6-3837-40CE-B4DA-BF19AE1FF0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776" y="5538789"/>
            <a:ext cx="1568451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Plasma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3FCA658-0B3E-4FCD-A850-57EBD9FD75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52" y="3585367"/>
            <a:ext cx="3160714" cy="1182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White blood cells</a:t>
            </a:r>
          </a:p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(WBC)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93B337E9-221E-4D35-8BC0-185AE808B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1948" y="4484953"/>
            <a:ext cx="2747964" cy="8249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Red blood cells</a:t>
            </a:r>
          </a:p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(RBC)</a:t>
            </a: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FD11B6A-03F4-4935-B953-7C01DDF3ED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2110" y="5214938"/>
            <a:ext cx="1529466" cy="6503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0B8B2FB5-EDE0-4116-8D3E-4D64347A6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1500" y="4891087"/>
            <a:ext cx="1358902" cy="635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Group 10">
            <a:extLst>
              <a:ext uri="{FF2B5EF4-FFF2-40B4-BE49-F238E27FC236}">
                <a16:creationId xmlns:a16="http://schemas.microsoft.com/office/drawing/2014/main" id="{E122C503-A11F-470B-BA1F-275DF730E351}"/>
              </a:ext>
            </a:extLst>
          </p:cNvPr>
          <p:cNvGrpSpPr>
            <a:grpSpLocks/>
          </p:cNvGrpSpPr>
          <p:nvPr/>
        </p:nvGrpSpPr>
        <p:grpSpPr bwMode="auto">
          <a:xfrm>
            <a:off x="7623269" y="3971926"/>
            <a:ext cx="2336800" cy="749300"/>
            <a:chOff x="2112" y="1512"/>
            <a:chExt cx="1472" cy="472"/>
          </a:xfrm>
        </p:grpSpPr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B127AA79-1AA4-4169-95F6-D81DD4C66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512"/>
              <a:ext cx="776" cy="4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16DB29DC-0C52-47F4-AEBF-29BDD57B81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512"/>
              <a:ext cx="1472" cy="4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4541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Muscle Tissue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4328455" cy="5264966"/>
          </a:xfrm>
        </p:spPr>
        <p:txBody>
          <a:bodyPr/>
          <a:lstStyle/>
          <a:p>
            <a:r>
              <a:rPr lang="en-US" altLang="zh-CN" dirty="0"/>
              <a:t>Consists of bundles of long, thin, cylindrical </a:t>
            </a:r>
            <a:r>
              <a:rPr lang="en-US" altLang="zh-CN" b="1" dirty="0">
                <a:solidFill>
                  <a:srgbClr val="FF0000"/>
                </a:solidFill>
              </a:rPr>
              <a:t>cells</a:t>
            </a:r>
            <a:r>
              <a:rPr lang="en-US" altLang="zh-CN" dirty="0"/>
              <a:t> called </a:t>
            </a:r>
            <a:r>
              <a:rPr lang="en-US" altLang="zh-CN" dirty="0">
                <a:highlight>
                  <a:srgbClr val="FFFF00"/>
                </a:highlight>
              </a:rPr>
              <a:t>muscle fibers</a:t>
            </a:r>
          </a:p>
          <a:p>
            <a:r>
              <a:rPr lang="en-US" altLang="zh-CN" dirty="0"/>
              <a:t>The most abundant tissue in most animals</a:t>
            </a:r>
          </a:p>
          <a:p>
            <a:r>
              <a:rPr lang="en-US" altLang="zh-CN" dirty="0"/>
              <a:t>Three types</a:t>
            </a:r>
          </a:p>
          <a:p>
            <a:endParaRPr lang="en-US" altLang="zh-C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491037" y="890588"/>
            <a:ext cx="7700963" cy="5802042"/>
            <a:chOff x="2324101" y="890588"/>
            <a:chExt cx="7700963" cy="5802042"/>
          </a:xfrm>
        </p:grpSpPr>
        <p:pic>
          <p:nvPicPr>
            <p:cNvPr id="6" name="Picture 2" descr="21_05_MuscleTiss-U">
              <a:extLst>
                <a:ext uri="{FF2B5EF4-FFF2-40B4-BE49-F238E27FC236}">
                  <a16:creationId xmlns:a16="http://schemas.microsoft.com/office/drawing/2014/main" id="{A1E7D4E2-D0BE-41EF-95D2-DC3E0184EEE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324101" y="890588"/>
              <a:ext cx="7700963" cy="58020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1261CA05-CC9A-4811-A207-6647AA8FB7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861" y="1323774"/>
              <a:ext cx="2690661" cy="543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Skeletal muscle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B17961AE-B3DD-4CB0-A54D-85D2388828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94332" y="3099400"/>
              <a:ext cx="2285567" cy="914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Cardiac muscle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 dirty="0">
                  <a:solidFill>
                    <a:srgbClr val="FF0000"/>
                  </a:solidFill>
                  <a:latin typeface="Cambria" panose="02040503050406030204" pitchFamily="18" charset="0"/>
                  <a:ea typeface="楷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心肌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)</a:t>
              </a:r>
              <a:endParaRPr lang="en-US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24D946B0-0206-4619-8895-A850574FE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4074" y="5663014"/>
              <a:ext cx="2155825" cy="824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FF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Smooth muscle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b="1" dirty="0">
                  <a:solidFill>
                    <a:srgbClr val="FF0000"/>
                  </a:solidFill>
                  <a:latin typeface="Cambria" panose="02040503050406030204" pitchFamily="18" charset="0"/>
                  <a:ea typeface="楷体" panose="02010609060101010101" pitchFamily="49" charset="-122"/>
                  <a:sym typeface="Symbol" panose="05050102010706020507" pitchFamily="18" charset="2"/>
                </a:rPr>
                <a:t>     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(</a:t>
              </a:r>
              <a:r>
                <a:rPr lang="zh-CN" altLang="en-US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平滑肌</a:t>
              </a:r>
              <a:r>
                <a:rPr lang="en-US" altLang="zh-CN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)</a:t>
              </a:r>
              <a:endParaRPr lang="en-US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9816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Skeletal Muscle (</a:t>
            </a:r>
            <a:r>
              <a:rPr lang="zh-CN" altLang="en-US" dirty="0"/>
              <a:t>骨骼肌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227909"/>
            <a:ext cx="6445782" cy="5264966"/>
          </a:xfrm>
        </p:spPr>
        <p:txBody>
          <a:bodyPr/>
          <a:lstStyle/>
          <a:p>
            <a:r>
              <a:rPr lang="en-US" altLang="zh-CN" dirty="0"/>
              <a:t>Attached to bones by tendons</a:t>
            </a:r>
          </a:p>
          <a:p>
            <a:r>
              <a:rPr lang="en-US" altLang="zh-CN" dirty="0"/>
              <a:t>Responsible for voluntary movements 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Striated</a:t>
            </a:r>
            <a:r>
              <a:rPr lang="en-US" altLang="zh-CN" dirty="0"/>
              <a:t> because the contractile proteins form a banded pattern (</a:t>
            </a:r>
            <a:r>
              <a:rPr lang="en-US" altLang="zh-CN" dirty="0">
                <a:solidFill>
                  <a:srgbClr val="FF0000"/>
                </a:solidFill>
              </a:rPr>
              <a:t>sarcomere</a:t>
            </a:r>
            <a:r>
              <a:rPr lang="en-US" altLang="zh-CN" dirty="0"/>
              <a:t> as basic unit)</a:t>
            </a:r>
          </a:p>
          <a:p>
            <a:r>
              <a:rPr lang="en-US" altLang="zh-CN" dirty="0"/>
              <a:t>Multinucleated, developed by fusion</a:t>
            </a:r>
          </a:p>
          <a:p>
            <a:r>
              <a:rPr lang="en-US" altLang="zh-CN" dirty="0"/>
              <a:t>Muscle regeneration (repair)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0D43D6F6-278C-469E-AF28-E26490A4117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28960" y="878658"/>
            <a:ext cx="5051146" cy="5614217"/>
            <a:chOff x="4886325" y="1935163"/>
            <a:chExt cx="4086319" cy="4541837"/>
          </a:xfrm>
        </p:grpSpPr>
        <p:pic>
          <p:nvPicPr>
            <p:cNvPr id="6" name="Picture 2" descr="21_05aSkeletalMusc-U">
              <a:extLst>
                <a:ext uri="{FF2B5EF4-FFF2-40B4-BE49-F238E27FC236}">
                  <a16:creationId xmlns:a16="http://schemas.microsoft.com/office/drawing/2014/main" id="{F1C941C0-3965-406C-8846-1E575DA00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6325" y="1935163"/>
              <a:ext cx="4011613" cy="45418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7" name="Group 1">
              <a:extLst>
                <a:ext uri="{FF2B5EF4-FFF2-40B4-BE49-F238E27FC236}">
                  <a16:creationId xmlns:a16="http://schemas.microsoft.com/office/drawing/2014/main" id="{D4FD7AA6-3D03-4CF5-A439-23B7DCF2E8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33950" y="1957388"/>
              <a:ext cx="4038694" cy="2668587"/>
              <a:chOff x="4933950" y="1957388"/>
              <a:chExt cx="4038694" cy="2668587"/>
            </a:xfrm>
          </p:grpSpPr>
          <p:sp>
            <p:nvSpPr>
              <p:cNvPr id="8" name="Text Box 5">
                <a:extLst>
                  <a:ext uri="{FF2B5EF4-FFF2-40B4-BE49-F238E27FC236}">
                    <a16:creationId xmlns:a16="http://schemas.microsoft.com/office/drawing/2014/main" id="{ADA4F5F6-A7F3-48CA-869D-9CBD85D280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33950" y="1957388"/>
                <a:ext cx="1584325" cy="787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Unit of</a:t>
                </a:r>
              </a:p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muscle</a:t>
                </a:r>
              </a:p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contraction</a:t>
                </a:r>
              </a:p>
            </p:txBody>
          </p:sp>
          <p:sp>
            <p:nvSpPr>
              <p:cNvPr id="9" name="Text Box 6">
                <a:extLst>
                  <a:ext uri="{FF2B5EF4-FFF2-40B4-BE49-F238E27FC236}">
                    <a16:creationId xmlns:a16="http://schemas.microsoft.com/office/drawing/2014/main" id="{160B4266-C950-4773-9382-7B973C78AB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77231" y="1987943"/>
                <a:ext cx="1395413" cy="817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Muscle fiber</a:t>
                </a:r>
              </a:p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(cell)</a:t>
                </a:r>
              </a:p>
            </p:txBody>
          </p:sp>
          <p:sp>
            <p:nvSpPr>
              <p:cNvPr id="10" name="Text Box 7">
                <a:extLst>
                  <a:ext uri="{FF2B5EF4-FFF2-40B4-BE49-F238E27FC236}">
                    <a16:creationId xmlns:a16="http://schemas.microsoft.com/office/drawing/2014/main" id="{365AA24B-BB68-4DAC-8EFB-084155D095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27872" y="4184650"/>
                <a:ext cx="830263" cy="247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altLang="en-US" b="1" dirty="0">
                    <a:solidFill>
                      <a:srgbClr val="000000"/>
                    </a:solidFill>
                    <a:latin typeface="Cambria" panose="02040503050406030204" pitchFamily="18" charset="0"/>
                    <a:sym typeface="Symbol" panose="05050102010706020507" pitchFamily="18" charset="2"/>
                  </a:rPr>
                  <a:t>Nuclei</a:t>
                </a:r>
              </a:p>
            </p:txBody>
          </p:sp>
          <p:grpSp>
            <p:nvGrpSpPr>
              <p:cNvPr id="11" name="Group 8">
                <a:extLst>
                  <a:ext uri="{FF2B5EF4-FFF2-40B4-BE49-F238E27FC236}">
                    <a16:creationId xmlns:a16="http://schemas.microsoft.com/office/drawing/2014/main" id="{761ED82B-E94E-4659-A472-CC973C204F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664325" y="3965575"/>
                <a:ext cx="1447800" cy="660400"/>
                <a:chOff x="2736" y="2008"/>
                <a:chExt cx="912" cy="416"/>
              </a:xfrm>
            </p:grpSpPr>
            <p:sp>
              <p:nvSpPr>
                <p:cNvPr id="22" name="Line 9">
                  <a:extLst>
                    <a:ext uri="{FF2B5EF4-FFF2-40B4-BE49-F238E27FC236}">
                      <a16:creationId xmlns:a16="http://schemas.microsoft.com/office/drawing/2014/main" id="{F426BD43-6D62-4E80-8365-E0718508A9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216" y="2008"/>
                  <a:ext cx="432" cy="216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Line 10">
                  <a:extLst>
                    <a:ext uri="{FF2B5EF4-FFF2-40B4-BE49-F238E27FC236}">
                      <a16:creationId xmlns:a16="http://schemas.microsoft.com/office/drawing/2014/main" id="{6A5CCA4A-4385-43DD-B867-FA0C8D08CB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36" y="2224"/>
                  <a:ext cx="912" cy="2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490512BC-626B-4AD9-8347-FB1D8459AF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18125" y="2676525"/>
                <a:ext cx="400050" cy="577850"/>
                <a:chOff x="1888" y="1196"/>
                <a:chExt cx="252" cy="364"/>
              </a:xfrm>
            </p:grpSpPr>
            <p:sp>
              <p:nvSpPr>
                <p:cNvPr id="18" name="Line 12">
                  <a:extLst>
                    <a:ext uri="{FF2B5EF4-FFF2-40B4-BE49-F238E27FC236}">
                      <a16:creationId xmlns:a16="http://schemas.microsoft.com/office/drawing/2014/main" id="{B3337DFC-7221-432C-A8E3-7857593152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2040" y="1472"/>
                  <a:ext cx="64" cy="8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" name="Line 13">
                  <a:extLst>
                    <a:ext uri="{FF2B5EF4-FFF2-40B4-BE49-F238E27FC236}">
                      <a16:creationId xmlns:a16="http://schemas.microsoft.com/office/drawing/2014/main" id="{62143AC2-A526-49FE-8091-399251F511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040" y="1448"/>
                  <a:ext cx="40" cy="2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Line 14">
                  <a:extLst>
                    <a:ext uri="{FF2B5EF4-FFF2-40B4-BE49-F238E27FC236}">
                      <a16:creationId xmlns:a16="http://schemas.microsoft.com/office/drawing/2014/main" id="{72D35FC2-8A98-4AF4-B600-2D0F554692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0" y="1448"/>
                  <a:ext cx="60" cy="9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1" name="Line 15">
                  <a:extLst>
                    <a:ext uri="{FF2B5EF4-FFF2-40B4-BE49-F238E27FC236}">
                      <a16:creationId xmlns:a16="http://schemas.microsoft.com/office/drawing/2014/main" id="{B989D97F-D0F2-4C46-A831-B251E7CAF0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88" y="1196"/>
                  <a:ext cx="176" cy="26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3" name="Group 16">
                <a:extLst>
                  <a:ext uri="{FF2B5EF4-FFF2-40B4-BE49-F238E27FC236}">
                    <a16:creationId xmlns:a16="http://schemas.microsoft.com/office/drawing/2014/main" id="{A59926E5-13D7-4601-88E5-DB11E07DB1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18275" y="2428875"/>
                <a:ext cx="996950" cy="603250"/>
                <a:chOff x="2644" y="1040"/>
                <a:chExt cx="628" cy="380"/>
              </a:xfrm>
            </p:grpSpPr>
            <p:sp>
              <p:nvSpPr>
                <p:cNvPr id="14" name="Line 17">
                  <a:extLst>
                    <a:ext uri="{FF2B5EF4-FFF2-40B4-BE49-F238E27FC236}">
                      <a16:creationId xmlns:a16="http://schemas.microsoft.com/office/drawing/2014/main" id="{1F7B7401-5A87-4ECA-91FB-7355200B78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644" y="1048"/>
                  <a:ext cx="280" cy="23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" name="Line 18">
                  <a:extLst>
                    <a:ext uri="{FF2B5EF4-FFF2-40B4-BE49-F238E27FC236}">
                      <a16:creationId xmlns:a16="http://schemas.microsoft.com/office/drawing/2014/main" id="{DAEEBB3A-699F-492A-95EB-6DF0249695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20" y="1048"/>
                  <a:ext cx="272" cy="304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" name="Line 19">
                  <a:extLst>
                    <a:ext uri="{FF2B5EF4-FFF2-40B4-BE49-F238E27FC236}">
                      <a16:creationId xmlns:a16="http://schemas.microsoft.com/office/drawing/2014/main" id="{FA59B5A7-EC38-4273-8434-E9CC5B53EA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12" y="1352"/>
                  <a:ext cx="80" cy="6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7" name="Line 20">
                  <a:extLst>
                    <a:ext uri="{FF2B5EF4-FFF2-40B4-BE49-F238E27FC236}">
                      <a16:creationId xmlns:a16="http://schemas.microsoft.com/office/drawing/2014/main" id="{0F42E852-79A0-4B3C-8D80-B7940C3C71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56" y="1040"/>
                  <a:ext cx="216" cy="1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endParaRPr lang="en-US" sz="240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69375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Cardiac Muscle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5338001" cy="5264966"/>
          </a:xfrm>
        </p:spPr>
        <p:txBody>
          <a:bodyPr/>
          <a:lstStyle/>
          <a:p>
            <a:r>
              <a:rPr lang="en-US" altLang="zh-CN" dirty="0"/>
              <a:t>Only in heart tissue, for the heart contraction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Striated</a:t>
            </a:r>
            <a:r>
              <a:rPr lang="en-US" altLang="zh-CN" dirty="0"/>
              <a:t> and branched</a:t>
            </a:r>
          </a:p>
          <a:p>
            <a:r>
              <a:rPr lang="en-US" altLang="zh-CN" dirty="0"/>
              <a:t>Single nucleus</a:t>
            </a:r>
          </a:p>
          <a:p>
            <a:r>
              <a:rPr lang="en-US" altLang="zh-CN" dirty="0"/>
              <a:t>Involuntary</a:t>
            </a:r>
          </a:p>
          <a:p>
            <a:r>
              <a:rPr lang="en-US" altLang="zh-CN" dirty="0"/>
              <a:t>Unable to regenerate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21_05bCardiacMusc-U">
            <a:extLst>
              <a:ext uri="{FF2B5EF4-FFF2-40B4-BE49-F238E27FC236}">
                <a16:creationId xmlns:a16="http://schemas.microsoft.com/office/drawing/2014/main" id="{CE30C83A-DF85-490B-9076-CB979ACBD0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39606" y="1091387"/>
            <a:ext cx="4838438" cy="4549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002E7918-DE7A-4FBD-B834-984EDEF598F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405201" y="1960185"/>
            <a:ext cx="1393349" cy="612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Muscle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fiber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20AFD954-5758-4C89-80AF-27CA655E57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262096" y="1131648"/>
            <a:ext cx="2815947" cy="73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Junction between </a:t>
            </a:r>
            <a:b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</a:b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two cells</a:t>
            </a:r>
          </a:p>
        </p:txBody>
      </p:sp>
      <p:sp>
        <p:nvSpPr>
          <p:cNvPr id="10" name="Line 9">
            <a:extLst>
              <a:ext uri="{FF2B5EF4-FFF2-40B4-BE49-F238E27FC236}">
                <a16:creationId xmlns:a16="http://schemas.microsoft.com/office/drawing/2014/main" id="{E41A5B0D-BC8E-4729-920C-CE000056F60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497271" y="2420012"/>
            <a:ext cx="1128833" cy="15257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D578EB47-3C54-4A43-8A4B-74949F96B3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9116900" y="1809734"/>
            <a:ext cx="490797" cy="196645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69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Smooth Muscle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5344523" cy="5264966"/>
          </a:xfrm>
        </p:spPr>
        <p:txBody>
          <a:bodyPr/>
          <a:lstStyle/>
          <a:p>
            <a:r>
              <a:rPr lang="en-US" altLang="zh-CN" dirty="0"/>
              <a:t>Lack of obvious stripes</a:t>
            </a:r>
          </a:p>
          <a:p>
            <a:r>
              <a:rPr lang="en-US" altLang="zh-CN" dirty="0"/>
              <a:t>Can contract slowly for a long period of time</a:t>
            </a:r>
          </a:p>
          <a:p>
            <a:r>
              <a:rPr lang="en-US" altLang="zh-CN" dirty="0"/>
              <a:t>In the walls of viscera (various organs such as intestines) and blood vessels </a:t>
            </a:r>
          </a:p>
          <a:p>
            <a:r>
              <a:rPr lang="en-US" altLang="zh-CN" dirty="0"/>
              <a:t>Involuntary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6635751" y="1227909"/>
            <a:ext cx="4349749" cy="4657070"/>
            <a:chOff x="7092951" y="2473325"/>
            <a:chExt cx="2920999" cy="3127375"/>
          </a:xfrm>
        </p:grpSpPr>
        <p:pic>
          <p:nvPicPr>
            <p:cNvPr id="6" name="Picture 2" descr="21_05cSmoothMusc-U">
              <a:extLst>
                <a:ext uri="{FF2B5EF4-FFF2-40B4-BE49-F238E27FC236}">
                  <a16:creationId xmlns:a16="http://schemas.microsoft.com/office/drawing/2014/main" id="{065CF5B5-40C7-472A-A21B-290BCC0DF7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092951" y="2473325"/>
              <a:ext cx="2773363" cy="3127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521D84A6-EEE6-4782-A9B1-C42A527683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48514" y="2482850"/>
              <a:ext cx="1381125" cy="242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Muscle fiber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91FEDA00-9325-49BC-98F1-0823F4874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40800" y="2479676"/>
              <a:ext cx="1073150" cy="28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Nucleus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71C40953-F584-4E2C-8AD8-AB90B9B184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4625" y="2744788"/>
              <a:ext cx="228600" cy="673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5C0825CE-F03C-440F-8BC9-0CB41F58C9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47125" y="2744788"/>
              <a:ext cx="571500" cy="584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83070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Nervous Tissue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227909"/>
            <a:ext cx="5155610" cy="5264966"/>
          </a:xfrm>
        </p:spPr>
        <p:txBody>
          <a:bodyPr/>
          <a:lstStyle/>
          <a:p>
            <a:r>
              <a:rPr lang="en-US" altLang="zh-CN" dirty="0"/>
              <a:t>For information transmission and body coordination</a:t>
            </a:r>
          </a:p>
          <a:p>
            <a:r>
              <a:rPr lang="en-US" altLang="zh-CN" dirty="0"/>
              <a:t>In brain and spinal cord (</a:t>
            </a:r>
            <a:r>
              <a:rPr lang="zh-CN" altLang="en-US" dirty="0"/>
              <a:t>脊髓</a:t>
            </a:r>
            <a:r>
              <a:rPr lang="en-US" altLang="zh-CN" dirty="0"/>
              <a:t>) and nerves connect to the rest of the body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Neuron (</a:t>
            </a:r>
            <a:r>
              <a:rPr lang="zh-CN" altLang="en-US" dirty="0"/>
              <a:t>神经元</a:t>
            </a:r>
            <a:r>
              <a:rPr lang="en-US" altLang="zh-CN" dirty="0"/>
              <a:t>), or nerve cell as the basic unit</a:t>
            </a:r>
          </a:p>
          <a:p>
            <a:r>
              <a:rPr lang="en-US" altLang="zh-CN" dirty="0"/>
              <a:t>Neurons function in circuits.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2" descr="21_06_NervousTiss-U">
            <a:extLst>
              <a:ext uri="{FF2B5EF4-FFF2-40B4-BE49-F238E27FC236}">
                <a16:creationId xmlns:a16="http://schemas.microsoft.com/office/drawing/2014/main" id="{B3942C50-AA3E-4D11-AFFD-307209FF1E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562600" y="610394"/>
            <a:ext cx="6548437" cy="600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36115095-39E3-43CB-9F7D-D0C2245D8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1597819"/>
            <a:ext cx="186372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Signal-receiving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extensions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45EFB4BE-3CAA-400F-869F-5AE4CC5C5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7962" y="1562894"/>
            <a:ext cx="13176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Cell body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E47090A4-82FF-4D0C-9A64-3ED1D833E4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66437" y="924719"/>
            <a:ext cx="6318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Brain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5A389FA3-16E4-4CBA-92DC-F676224D0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68037" y="3871119"/>
            <a:ext cx="6318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Nerve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CDADDB5A-16B4-4E0B-8420-20E1FDA8E2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4375" y="1323181"/>
            <a:ext cx="1317625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Spinal cord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7AA2A25C-BA3A-4CD5-B522-BA496446A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137" y="4175919"/>
            <a:ext cx="1393825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Signal-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transmitting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extension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5DE89037-CFC1-441A-AFAD-13474F843AC7}"/>
              </a:ext>
            </a:extLst>
          </p:cNvPr>
          <p:cNvGrpSpPr>
            <a:grpSpLocks/>
          </p:cNvGrpSpPr>
          <p:nvPr/>
        </p:nvGrpSpPr>
        <p:grpSpPr bwMode="auto">
          <a:xfrm>
            <a:off x="10120311" y="772319"/>
            <a:ext cx="673100" cy="285750"/>
            <a:chOff x="3688" y="248"/>
            <a:chExt cx="424" cy="180"/>
          </a:xfrm>
        </p:grpSpPr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23B9608D-3AF0-4EC7-80BE-5474F1A30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88" y="248"/>
              <a:ext cx="416" cy="17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392C5838-499C-4A56-92FE-8371AAABCB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96" y="252"/>
              <a:ext cx="416" cy="17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064D4D4-0D21-4A45-B35C-046684E99D96}"/>
              </a:ext>
            </a:extLst>
          </p:cNvPr>
          <p:cNvGrpSpPr>
            <a:grpSpLocks/>
          </p:cNvGrpSpPr>
          <p:nvPr/>
        </p:nvGrpSpPr>
        <p:grpSpPr bwMode="auto">
          <a:xfrm>
            <a:off x="10107611" y="1470819"/>
            <a:ext cx="685800" cy="0"/>
            <a:chOff x="3680" y="688"/>
            <a:chExt cx="432" cy="0"/>
          </a:xfrm>
        </p:grpSpPr>
        <p:sp>
          <p:nvSpPr>
            <p:cNvPr id="32" name="Line 14">
              <a:extLst>
                <a:ext uri="{FF2B5EF4-FFF2-40B4-BE49-F238E27FC236}">
                  <a16:creationId xmlns:a16="http://schemas.microsoft.com/office/drawing/2014/main" id="{3B6D53B2-5428-45D6-A5BB-4BE0A81522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0" y="688"/>
              <a:ext cx="424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Line 15">
              <a:extLst>
                <a:ext uri="{FF2B5EF4-FFF2-40B4-BE49-F238E27FC236}">
                  <a16:creationId xmlns:a16="http://schemas.microsoft.com/office/drawing/2014/main" id="{CA5C724D-9F34-4DD4-93EC-18BA864FAE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88" y="688"/>
              <a:ext cx="4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" name="Group 16">
            <a:extLst>
              <a:ext uri="{FF2B5EF4-FFF2-40B4-BE49-F238E27FC236}">
                <a16:creationId xmlns:a16="http://schemas.microsoft.com/office/drawing/2014/main" id="{265516DA-E7E8-4DED-970E-058915679BA2}"/>
              </a:ext>
            </a:extLst>
          </p:cNvPr>
          <p:cNvGrpSpPr>
            <a:grpSpLocks/>
          </p:cNvGrpSpPr>
          <p:nvPr/>
        </p:nvGrpSpPr>
        <p:grpSpPr bwMode="auto">
          <a:xfrm>
            <a:off x="10310811" y="3274219"/>
            <a:ext cx="577850" cy="723900"/>
            <a:chOff x="3808" y="1824"/>
            <a:chExt cx="364" cy="456"/>
          </a:xfrm>
        </p:grpSpPr>
        <p:sp>
          <p:nvSpPr>
            <p:cNvPr id="30" name="Line 17">
              <a:extLst>
                <a:ext uri="{FF2B5EF4-FFF2-40B4-BE49-F238E27FC236}">
                  <a16:creationId xmlns:a16="http://schemas.microsoft.com/office/drawing/2014/main" id="{96CF4AC8-8A31-4C0A-821C-FFC0EBBB72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08" y="1824"/>
              <a:ext cx="360" cy="44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Line 18">
              <a:extLst>
                <a:ext uri="{FF2B5EF4-FFF2-40B4-BE49-F238E27FC236}">
                  <a16:creationId xmlns:a16="http://schemas.microsoft.com/office/drawing/2014/main" id="{7A0C7FC8-D866-4D13-B41D-1F20DDE33F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12" y="1832"/>
              <a:ext cx="360" cy="4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FBD525D1-3A59-48EA-B845-1F785E6B9096}"/>
              </a:ext>
            </a:extLst>
          </p:cNvPr>
          <p:cNvGrpSpPr>
            <a:grpSpLocks/>
          </p:cNvGrpSpPr>
          <p:nvPr/>
        </p:nvGrpSpPr>
        <p:grpSpPr bwMode="auto">
          <a:xfrm>
            <a:off x="6684961" y="4569619"/>
            <a:ext cx="1301750" cy="203200"/>
            <a:chOff x="1524" y="2640"/>
            <a:chExt cx="820" cy="128"/>
          </a:xfrm>
        </p:grpSpPr>
        <p:sp>
          <p:nvSpPr>
            <p:cNvPr id="28" name="Line 20">
              <a:extLst>
                <a:ext uri="{FF2B5EF4-FFF2-40B4-BE49-F238E27FC236}">
                  <a16:creationId xmlns:a16="http://schemas.microsoft.com/office/drawing/2014/main" id="{190A855F-087C-4AB0-B5D1-6A2FEC9D24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6" y="2640"/>
              <a:ext cx="808" cy="128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21">
              <a:extLst>
                <a:ext uri="{FF2B5EF4-FFF2-40B4-BE49-F238E27FC236}">
                  <a16:creationId xmlns:a16="http://schemas.microsoft.com/office/drawing/2014/main" id="{B4E857C5-D880-4EA9-A23A-7FE4F5175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24" y="2640"/>
              <a:ext cx="808" cy="1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22">
            <a:extLst>
              <a:ext uri="{FF2B5EF4-FFF2-40B4-BE49-F238E27FC236}">
                <a16:creationId xmlns:a16="http://schemas.microsoft.com/office/drawing/2014/main" id="{C8D75B44-28B5-49C7-87EA-E93BAF5E3CE3}"/>
              </a:ext>
            </a:extLst>
          </p:cNvPr>
          <p:cNvGrpSpPr>
            <a:grpSpLocks/>
          </p:cNvGrpSpPr>
          <p:nvPr/>
        </p:nvGrpSpPr>
        <p:grpSpPr bwMode="auto">
          <a:xfrm>
            <a:off x="8120061" y="1851819"/>
            <a:ext cx="44450" cy="1308100"/>
            <a:chOff x="2428" y="928"/>
            <a:chExt cx="28" cy="824"/>
          </a:xfrm>
        </p:grpSpPr>
        <p:sp>
          <p:nvSpPr>
            <p:cNvPr id="26" name="Line 23">
              <a:extLst>
                <a:ext uri="{FF2B5EF4-FFF2-40B4-BE49-F238E27FC236}">
                  <a16:creationId xmlns:a16="http://schemas.microsoft.com/office/drawing/2014/main" id="{A278E3E4-F0E7-471B-A34E-D20CC05648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8" y="936"/>
              <a:ext cx="24" cy="816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69E6D530-C8A7-48DD-B982-452E797B8E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2" y="928"/>
              <a:ext cx="24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25">
            <a:extLst>
              <a:ext uri="{FF2B5EF4-FFF2-40B4-BE49-F238E27FC236}">
                <a16:creationId xmlns:a16="http://schemas.microsoft.com/office/drawing/2014/main" id="{C3299880-015D-4FF0-A521-1A75E5565FC6}"/>
              </a:ext>
            </a:extLst>
          </p:cNvPr>
          <p:cNvGrpSpPr>
            <a:grpSpLocks/>
          </p:cNvGrpSpPr>
          <p:nvPr/>
        </p:nvGrpSpPr>
        <p:grpSpPr bwMode="auto">
          <a:xfrm>
            <a:off x="7288211" y="1940719"/>
            <a:ext cx="292100" cy="869950"/>
            <a:chOff x="1904" y="984"/>
            <a:chExt cx="184" cy="548"/>
          </a:xfrm>
        </p:grpSpPr>
        <p:grpSp>
          <p:nvGrpSpPr>
            <p:cNvPr id="20" name="Group 26">
              <a:extLst>
                <a:ext uri="{FF2B5EF4-FFF2-40B4-BE49-F238E27FC236}">
                  <a16:creationId xmlns:a16="http://schemas.microsoft.com/office/drawing/2014/main" id="{352FCE17-35E6-471C-9D09-130F0DF46E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4" y="996"/>
              <a:ext cx="184" cy="536"/>
              <a:chOff x="1904" y="984"/>
              <a:chExt cx="184" cy="536"/>
            </a:xfrm>
          </p:grpSpPr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22C9584F-D638-4EDD-81E4-8DF3B67101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984"/>
                <a:ext cx="64" cy="53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BA0ABE2E-008B-4973-95B0-B0B51AA50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984"/>
                <a:ext cx="184" cy="280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9">
              <a:extLst>
                <a:ext uri="{FF2B5EF4-FFF2-40B4-BE49-F238E27FC236}">
                  <a16:creationId xmlns:a16="http://schemas.microsoft.com/office/drawing/2014/main" id="{E3AA62D4-6405-4A60-BC97-A6F967A77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04" y="984"/>
              <a:ext cx="184" cy="536"/>
              <a:chOff x="1904" y="984"/>
              <a:chExt cx="184" cy="536"/>
            </a:xfrm>
          </p:grpSpPr>
          <p:sp>
            <p:nvSpPr>
              <p:cNvPr id="22" name="Line 30">
                <a:extLst>
                  <a:ext uri="{FF2B5EF4-FFF2-40B4-BE49-F238E27FC236}">
                    <a16:creationId xmlns:a16="http://schemas.microsoft.com/office/drawing/2014/main" id="{4234F2CE-5C69-4BBE-A42B-8E410A4623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984"/>
                <a:ext cx="64" cy="5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Line 31">
                <a:extLst>
                  <a:ext uri="{FF2B5EF4-FFF2-40B4-BE49-F238E27FC236}">
                    <a16:creationId xmlns:a16="http://schemas.microsoft.com/office/drawing/2014/main" id="{9A93F81A-87A0-42A9-BF2B-1612A4754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984"/>
                <a:ext cx="184" cy="2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054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Organ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  <a:endParaRPr lang="en-US" b="1" dirty="0"/>
          </a:p>
        </p:txBody>
      </p:sp>
      <p:pic>
        <p:nvPicPr>
          <p:cNvPr id="6" name="Picture 2" descr="21_07_SmIntestineTiss-U">
            <a:extLst>
              <a:ext uri="{FF2B5EF4-FFF2-40B4-BE49-F238E27FC236}">
                <a16:creationId xmlns:a16="http://schemas.microsoft.com/office/drawing/2014/main" id="{9DB3E98F-B9A2-4FFB-ADB8-90CB5DC2F8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527800" y="273050"/>
            <a:ext cx="5664200" cy="6387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494138A3-A7F6-4520-989E-5493A1BA4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026" y="1965325"/>
            <a:ext cx="168592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Small intestine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(cut open)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82308814-E425-4546-B936-ABD40E62A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7488" y="4594225"/>
            <a:ext cx="33702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Connective tissue</a:t>
            </a:r>
          </a:p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(containing blood</a:t>
            </a:r>
          </a:p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and lymph vessels </a:t>
            </a:r>
            <a:r>
              <a: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(</a:t>
            </a:r>
            <a:r>
              <a:rPr lang="zh-CN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淋巴管</a:t>
            </a:r>
            <a:r>
              <a:rPr lang="en-US" altLang="zh-CN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rPr>
              <a:t>)</a:t>
            </a: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)</a:t>
            </a:r>
            <a:endParaRPr lang="en-US" altLang="en-US" sz="1800" b="1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F4C1DABA-B62B-4DD8-91D4-0FD2782EE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5254" y="5686425"/>
            <a:ext cx="3082497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Smooth muscle tissue </a:t>
            </a:r>
          </a:p>
          <a:p>
            <a:pPr algn="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(two layers)</a:t>
            </a:r>
            <a:endParaRPr lang="en-US" altLang="en-US" sz="1800" b="1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4EC53700-3957-49F0-A379-3F0CD6E77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4726" y="6067425"/>
            <a:ext cx="1050925" cy="54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Epithelial</a:t>
            </a:r>
            <a:b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</a:b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tissue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Text Box 8">
            <a:extLst>
              <a:ext uri="{FF2B5EF4-FFF2-40B4-BE49-F238E27FC236}">
                <a16:creationId xmlns:a16="http://schemas.microsoft.com/office/drawing/2014/main" id="{65ACFB0B-4CCF-449F-8340-FF9CA14D9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6" y="6296025"/>
            <a:ext cx="205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Connective tissue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247B3EBC-EC19-4890-B6D3-7BD26FA14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1026" y="4098925"/>
            <a:ext cx="190182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800" b="1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Epithelial tissue</a:t>
            </a:r>
            <a:endParaRPr lang="en-US" altLang="en-US" sz="1800" b="1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3" name="Line 10">
            <a:extLst>
              <a:ext uri="{FF2B5EF4-FFF2-40B4-BE49-F238E27FC236}">
                <a16:creationId xmlns:a16="http://schemas.microsoft.com/office/drawing/2014/main" id="{43E119F6-3953-4465-97D1-9E9135C91E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4900" y="4225925"/>
            <a:ext cx="698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0674AECD-C8F0-4F22-A18B-54E273D911A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515600" y="6435725"/>
            <a:ext cx="5715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2">
            <a:extLst>
              <a:ext uri="{FF2B5EF4-FFF2-40B4-BE49-F238E27FC236}">
                <a16:creationId xmlns:a16="http://schemas.microsoft.com/office/drawing/2014/main" id="{5756B2B7-4BFE-4D02-9ABE-C49AD6DE5180}"/>
              </a:ext>
            </a:extLst>
          </p:cNvPr>
          <p:cNvGrpSpPr>
            <a:grpSpLocks/>
          </p:cNvGrpSpPr>
          <p:nvPr/>
        </p:nvGrpSpPr>
        <p:grpSpPr bwMode="auto">
          <a:xfrm>
            <a:off x="8724900" y="4302125"/>
            <a:ext cx="590550" cy="1320800"/>
            <a:chOff x="2480" y="2624"/>
            <a:chExt cx="372" cy="832"/>
          </a:xfrm>
        </p:grpSpPr>
        <p:sp>
          <p:nvSpPr>
            <p:cNvPr id="26" name="Line 13">
              <a:extLst>
                <a:ext uri="{FF2B5EF4-FFF2-40B4-BE49-F238E27FC236}">
                  <a16:creationId xmlns:a16="http://schemas.microsoft.com/office/drawing/2014/main" id="{B32D610E-D18A-4CBA-86C7-D224000945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" y="2624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14">
              <a:extLst>
                <a:ext uri="{FF2B5EF4-FFF2-40B4-BE49-F238E27FC236}">
                  <a16:creationId xmlns:a16="http://schemas.microsoft.com/office/drawing/2014/main" id="{CC10DDE0-6447-4A31-AEEB-4C813D7DED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6" y="2624"/>
              <a:ext cx="0" cy="8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Line 15">
              <a:extLst>
                <a:ext uri="{FF2B5EF4-FFF2-40B4-BE49-F238E27FC236}">
                  <a16:creationId xmlns:a16="http://schemas.microsoft.com/office/drawing/2014/main" id="{0FA74C73-25CC-468F-A644-72F204438E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3456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00077EB5-640C-4F74-9631-1B314740C4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0" y="3040"/>
              <a:ext cx="29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7">
            <a:extLst>
              <a:ext uri="{FF2B5EF4-FFF2-40B4-BE49-F238E27FC236}">
                <a16:creationId xmlns:a16="http://schemas.microsoft.com/office/drawing/2014/main" id="{F288F14F-29F6-4683-845E-BA53368B518A}"/>
              </a:ext>
            </a:extLst>
          </p:cNvPr>
          <p:cNvGrpSpPr>
            <a:grpSpLocks/>
          </p:cNvGrpSpPr>
          <p:nvPr/>
        </p:nvGrpSpPr>
        <p:grpSpPr bwMode="auto">
          <a:xfrm>
            <a:off x="8699500" y="5661025"/>
            <a:ext cx="615950" cy="685800"/>
            <a:chOff x="2464" y="3480"/>
            <a:chExt cx="388" cy="432"/>
          </a:xfrm>
        </p:grpSpPr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0E8C228A-855C-4F90-B9CB-1B8E468C50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" y="3480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3914EBC3-2110-4689-894B-EFC520F91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6" y="3480"/>
              <a:ext cx="0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CF54D0F6-1018-4CC1-BF43-8E37B6F485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3912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0C45DB5B-D9C2-49D0-9DCB-E058F980B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3576"/>
              <a:ext cx="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22">
            <a:extLst>
              <a:ext uri="{FF2B5EF4-FFF2-40B4-BE49-F238E27FC236}">
                <a16:creationId xmlns:a16="http://schemas.microsoft.com/office/drawing/2014/main" id="{0D738CC5-AF9E-4E78-866B-66B75FAA1EC5}"/>
              </a:ext>
            </a:extLst>
          </p:cNvPr>
          <p:cNvGrpSpPr>
            <a:grpSpLocks/>
          </p:cNvGrpSpPr>
          <p:nvPr/>
        </p:nvGrpSpPr>
        <p:grpSpPr bwMode="auto">
          <a:xfrm>
            <a:off x="8712200" y="6372225"/>
            <a:ext cx="603250" cy="114300"/>
            <a:chOff x="2472" y="3928"/>
            <a:chExt cx="380" cy="72"/>
          </a:xfrm>
        </p:grpSpPr>
        <p:sp>
          <p:nvSpPr>
            <p:cNvPr id="18" name="Line 23">
              <a:extLst>
                <a:ext uri="{FF2B5EF4-FFF2-40B4-BE49-F238E27FC236}">
                  <a16:creationId xmlns:a16="http://schemas.microsoft.com/office/drawing/2014/main" id="{3D536BD6-9E51-4E68-9CF9-D14C90DDE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2" y="3928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24">
              <a:extLst>
                <a:ext uri="{FF2B5EF4-FFF2-40B4-BE49-F238E27FC236}">
                  <a16:creationId xmlns:a16="http://schemas.microsoft.com/office/drawing/2014/main" id="{F3D83A69-F779-44F3-B2D8-B4F5476B70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6" y="3928"/>
              <a:ext cx="0" cy="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5">
              <a:extLst>
                <a:ext uri="{FF2B5EF4-FFF2-40B4-BE49-F238E27FC236}">
                  <a16:creationId xmlns:a16="http://schemas.microsoft.com/office/drawing/2014/main" id="{9E084DD3-E796-42E2-B8B9-98A58AAC20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2" y="4000"/>
              <a:ext cx="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6">
              <a:extLst>
                <a:ext uri="{FF2B5EF4-FFF2-40B4-BE49-F238E27FC236}">
                  <a16:creationId xmlns:a16="http://schemas.microsoft.com/office/drawing/2014/main" id="{4C64AEF6-9269-47F9-AF68-9F693ABB0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3968"/>
              <a:ext cx="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7922624" cy="5264966"/>
          </a:xfrm>
        </p:spPr>
        <p:txBody>
          <a:bodyPr/>
          <a:lstStyle/>
          <a:p>
            <a:r>
              <a:rPr lang="en-US" altLang="zh-CN" dirty="0"/>
              <a:t>An organ consists of two or more tissues packaged into one working unit that performs a specific function. </a:t>
            </a:r>
          </a:p>
          <a:p>
            <a:pPr lvl="1"/>
            <a:r>
              <a:rPr lang="en-US" altLang="zh-CN" dirty="0"/>
              <a:t>The heart, liver, stomach, brain, and small intestines, etc. </a:t>
            </a:r>
            <a:endParaRPr lang="zh-CN" altLang="en-US" dirty="0"/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383177" y="3583224"/>
            <a:ext cx="11390811" cy="958863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Organ Systems</a:t>
            </a:r>
            <a:endParaRPr lang="zh-CN" altLang="en-US" dirty="0"/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383818" y="4469955"/>
            <a:ext cx="5172861" cy="14703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Organ systems are teams of organs that work together and perform vital body functions.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188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Skeletal System: Supports Body and Anchors Muscles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9" name="Picture 2" descr="21_08aSkeletal-U">
            <a:extLst>
              <a:ext uri="{FF2B5EF4-FFF2-40B4-BE49-F238E27FC236}">
                <a16:creationId xmlns:a16="http://schemas.microsoft.com/office/drawing/2014/main" id="{D9B07082-4AE8-4D6F-A1DA-84B2648056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751418" y="1091386"/>
            <a:ext cx="4689162" cy="576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5">
            <a:extLst>
              <a:ext uri="{FF2B5EF4-FFF2-40B4-BE49-F238E27FC236}">
                <a16:creationId xmlns:a16="http://schemas.microsoft.com/office/drawing/2014/main" id="{79BF0AC3-08B8-4A11-8714-818686983B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033" y="2547577"/>
            <a:ext cx="1068633" cy="33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Cartilage</a:t>
            </a:r>
            <a:endParaRPr lang="en-US" altLang="en-US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9270D8A3-F13E-43D0-933B-C8F7B3603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3659" y="1715468"/>
            <a:ext cx="624082" cy="330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Bone</a:t>
            </a:r>
            <a:endParaRPr lang="en-US" altLang="en-US" b="1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5DB5FF93-78F4-4029-902C-4ACBA3C781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59600" y="1914946"/>
            <a:ext cx="499966" cy="61235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B9C4513A-9A44-4A6D-91C6-B4D02253F4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78600" y="2747055"/>
            <a:ext cx="1108941" cy="19934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632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Muscular System: Moves the Body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21_08dMuscular-U">
            <a:extLst>
              <a:ext uri="{FF2B5EF4-FFF2-40B4-BE49-F238E27FC236}">
                <a16:creationId xmlns:a16="http://schemas.microsoft.com/office/drawing/2014/main" id="{2CA44BA1-A523-42D1-8E75-37FFB34DB8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04912" y="1227909"/>
            <a:ext cx="9374187" cy="5264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FE9C5AFE-EF62-4FBE-AF14-45275DA32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3296" y="1858509"/>
            <a:ext cx="2276350" cy="32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b="1" dirty="0">
                <a:solidFill>
                  <a:srgbClr val="000000"/>
                </a:solidFill>
                <a:latin typeface="Cambria" panose="02040503050406030204" pitchFamily="18" charset="0"/>
                <a:sym typeface="Symbol" panose="05050102010706020507" pitchFamily="18" charset="2"/>
              </a:rPr>
              <a:t>Skeletal muscles</a:t>
            </a:r>
            <a:endParaRPr lang="en-US" altLang="en-US" b="1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Line 7">
            <a:extLst>
              <a:ext uri="{FF2B5EF4-FFF2-40B4-BE49-F238E27FC236}">
                <a16:creationId xmlns:a16="http://schemas.microsoft.com/office/drawing/2014/main" id="{468DF592-9692-4BF8-BF1D-37EF83F3A4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73320" y="2223634"/>
            <a:ext cx="579161" cy="102248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Line 8">
            <a:extLst>
              <a:ext uri="{FF2B5EF4-FFF2-40B4-BE49-F238E27FC236}">
                <a16:creationId xmlns:a16="http://schemas.microsoft.com/office/drawing/2014/main" id="{40E8ABEF-5B5A-43B1-A67C-0E1C8A448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2481" y="2241145"/>
            <a:ext cx="431759" cy="152313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8771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32523"/>
            <a:ext cx="12192000" cy="958863"/>
          </a:xfrm>
        </p:spPr>
        <p:txBody>
          <a:bodyPr/>
          <a:lstStyle/>
          <a:p>
            <a:pPr algn="ctr"/>
            <a:r>
              <a:rPr lang="en-US" altLang="zh-CN" dirty="0"/>
              <a:t>Circulatory System: Transports Substances throughout Body</a:t>
            </a:r>
            <a:br>
              <a:rPr lang="en-US" altLang="zh-CN" dirty="0"/>
            </a:br>
            <a:r>
              <a:rPr lang="en-US" altLang="zh-CN" dirty="0"/>
              <a:t>Respiratory System: Exchanges O</a:t>
            </a:r>
            <a:r>
              <a:rPr lang="en-US" altLang="zh-CN" baseline="-25000" dirty="0"/>
              <a:t>2</a:t>
            </a:r>
            <a:r>
              <a:rPr lang="en-US" altLang="zh-CN" dirty="0"/>
              <a:t> and CO</a:t>
            </a:r>
            <a:r>
              <a:rPr lang="en-US" altLang="zh-CN" baseline="-25000" dirty="0"/>
              <a:t>2</a:t>
            </a:r>
            <a:r>
              <a:rPr lang="en-US" altLang="zh-CN" dirty="0"/>
              <a:t> between Blood and Air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83177" y="1374775"/>
            <a:ext cx="4535488" cy="5118100"/>
            <a:chOff x="4095750" y="1028700"/>
            <a:chExt cx="4535488" cy="5118100"/>
          </a:xfrm>
        </p:grpSpPr>
        <p:pic>
          <p:nvPicPr>
            <p:cNvPr id="6" name="Picture 2" descr="21_08bCirculatory-U">
              <a:extLst>
                <a:ext uri="{FF2B5EF4-FFF2-40B4-BE49-F238E27FC236}">
                  <a16:creationId xmlns:a16="http://schemas.microsoft.com/office/drawing/2014/main" id="{27B109B0-EA2D-453D-AFCF-58068980D6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095750" y="1028700"/>
              <a:ext cx="4535488" cy="5118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E8550CD7-30E5-4E1B-BDDC-86369D895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0057" y="4428718"/>
              <a:ext cx="1800225" cy="317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Blood vessels</a:t>
              </a:r>
              <a:endParaRPr lang="en-US" altLang="en-US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B333DF6E-71F5-446C-9249-752BBAA2FD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4288" y="2443549"/>
              <a:ext cx="658812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Heart</a:t>
              </a:r>
              <a:endPara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733BA1E-84EF-45B8-8745-B5F633A13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54688" y="2640013"/>
              <a:ext cx="168910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0" name="Group 8">
              <a:extLst>
                <a:ext uri="{FF2B5EF4-FFF2-40B4-BE49-F238E27FC236}">
                  <a16:creationId xmlns:a16="http://schemas.microsoft.com/office/drawing/2014/main" id="{AB4F5590-BFD2-4888-A78A-EF0C44B592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24588" y="3821113"/>
              <a:ext cx="863600" cy="1117600"/>
              <a:chOff x="2792" y="2248"/>
              <a:chExt cx="544" cy="704"/>
            </a:xfrm>
          </p:grpSpPr>
          <p:sp>
            <p:nvSpPr>
              <p:cNvPr id="11" name="Line 9">
                <a:extLst>
                  <a:ext uri="{FF2B5EF4-FFF2-40B4-BE49-F238E27FC236}">
                    <a16:creationId xmlns:a16="http://schemas.microsoft.com/office/drawing/2014/main" id="{FC158F75-9662-4E20-A27B-474DAB52A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92" y="2248"/>
                <a:ext cx="544" cy="4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Line 10">
                <a:extLst>
                  <a:ext uri="{FF2B5EF4-FFF2-40B4-BE49-F238E27FC236}">
                    <a16:creationId xmlns:a16="http://schemas.microsoft.com/office/drawing/2014/main" id="{0F31354F-DECE-4B23-9EC4-E7F7078B8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2" y="2744"/>
                <a:ext cx="528" cy="2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3" name="Group 12"/>
          <p:cNvGrpSpPr/>
          <p:nvPr/>
        </p:nvGrpSpPr>
        <p:grpSpPr>
          <a:xfrm>
            <a:off x="5423988" y="1308946"/>
            <a:ext cx="6350000" cy="5183929"/>
            <a:chOff x="2811463" y="1100139"/>
            <a:chExt cx="6350000" cy="5183929"/>
          </a:xfrm>
        </p:grpSpPr>
        <p:pic>
          <p:nvPicPr>
            <p:cNvPr id="14" name="Picture 2" descr="21_08cRespiratory-U">
              <a:extLst>
                <a:ext uri="{FF2B5EF4-FFF2-40B4-BE49-F238E27FC236}">
                  <a16:creationId xmlns:a16="http://schemas.microsoft.com/office/drawing/2014/main" id="{4B1B927E-3D07-40D7-AF98-50CB402F76E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503613" y="1100139"/>
              <a:ext cx="5657850" cy="518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" name="Text Box 5">
              <a:extLst>
                <a:ext uri="{FF2B5EF4-FFF2-40B4-BE49-F238E27FC236}">
                  <a16:creationId xmlns:a16="http://schemas.microsoft.com/office/drawing/2014/main" id="{A2594654-9091-494D-ADFA-50D0B50BE3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1463" y="1933575"/>
              <a:ext cx="237490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Nasal cavity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（鼻腔）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C37A0C8F-1816-4534-A557-FEE4FB085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7564" y="3171825"/>
              <a:ext cx="12922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Bronchus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（支气管）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Text Box 7">
              <a:extLst>
                <a:ext uri="{FF2B5EF4-FFF2-40B4-BE49-F238E27FC236}">
                  <a16:creationId xmlns:a16="http://schemas.microsoft.com/office/drawing/2014/main" id="{3B1C64A8-AA72-4D97-8103-545DF89D42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8164" y="2257425"/>
              <a:ext cx="17240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Pharynx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（咽）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Text Box 8">
              <a:extLst>
                <a:ext uri="{FF2B5EF4-FFF2-40B4-BE49-F238E27FC236}">
                  <a16:creationId xmlns:a16="http://schemas.microsoft.com/office/drawing/2014/main" id="{0A6056D3-7D6F-4464-95F3-B91609A16F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35864" y="2765425"/>
              <a:ext cx="11144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Trachea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（气管）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Text Box 9">
              <a:extLst>
                <a:ext uri="{FF2B5EF4-FFF2-40B4-BE49-F238E27FC236}">
                  <a16:creationId xmlns:a16="http://schemas.microsoft.com/office/drawing/2014/main" id="{E0DE17AA-26EB-4DAD-AC9E-78A7522278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13639" y="2244725"/>
              <a:ext cx="8731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Larynx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（喉）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6AACCCA2-3625-4D6A-8D11-A148493CCB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15164" y="3895725"/>
              <a:ext cx="695325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Lung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FA5EDBC2-6694-480F-AEAA-4CB58BB9FE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37138" y="2016125"/>
              <a:ext cx="43180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D867B905-FDF8-46CA-A28D-1C129938EC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32338" y="2320925"/>
              <a:ext cx="876300" cy="101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13">
              <a:extLst>
                <a:ext uri="{FF2B5EF4-FFF2-40B4-BE49-F238E27FC236}">
                  <a16:creationId xmlns:a16="http://schemas.microsoft.com/office/drawing/2014/main" id="{0D30DE66-79C7-445C-91A2-D3CC553165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46738" y="2422525"/>
              <a:ext cx="176530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14">
              <a:extLst>
                <a:ext uri="{FF2B5EF4-FFF2-40B4-BE49-F238E27FC236}">
                  <a16:creationId xmlns:a16="http://schemas.microsoft.com/office/drawing/2014/main" id="{483C5807-5019-4A04-AC94-23ACBDC516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4038" y="2714625"/>
              <a:ext cx="1841500" cy="19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15">
              <a:extLst>
                <a:ext uri="{FF2B5EF4-FFF2-40B4-BE49-F238E27FC236}">
                  <a16:creationId xmlns:a16="http://schemas.microsoft.com/office/drawing/2014/main" id="{ED338C26-9B65-4D91-87A5-F066314395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634038" y="2968625"/>
              <a:ext cx="1485900" cy="355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16">
              <a:extLst>
                <a:ext uri="{FF2B5EF4-FFF2-40B4-BE49-F238E27FC236}">
                  <a16:creationId xmlns:a16="http://schemas.microsoft.com/office/drawing/2014/main" id="{E59CB514-FF60-4857-A77A-8B4D770096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75338" y="3451225"/>
              <a:ext cx="1079500" cy="571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654787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Digestive System: Breaks Down Food and Absorbs Nutrients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09875" y="1181877"/>
            <a:ext cx="6572251" cy="5676123"/>
            <a:chOff x="3375025" y="763588"/>
            <a:chExt cx="6572251" cy="5676123"/>
          </a:xfrm>
        </p:grpSpPr>
        <p:pic>
          <p:nvPicPr>
            <p:cNvPr id="6" name="Picture 2" descr="21_08eDigestive-U">
              <a:extLst>
                <a:ext uri="{FF2B5EF4-FFF2-40B4-BE49-F238E27FC236}">
                  <a16:creationId xmlns:a16="http://schemas.microsoft.com/office/drawing/2014/main" id="{E28D401B-4A44-43EB-8A0C-48B0AFD5850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375025" y="763588"/>
              <a:ext cx="6419850" cy="56761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1101A4E2-1FC9-40BA-B7F8-A82D17C09E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6076" y="4637088"/>
              <a:ext cx="1965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Large intestine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5478A560-155E-44C0-9789-BD7DBF478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1951" y="5176838"/>
              <a:ext cx="1965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Small intestine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60A5E518-2617-45C5-B9E1-AE4F8C7308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1" y="2478088"/>
              <a:ext cx="14827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Esophagus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（食道）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AE5ED883-2A03-447F-AA6A-032939B7C6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301" y="4256088"/>
              <a:ext cx="11398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Stomach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4C568061-665F-4F50-B1E2-236F5A8B1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8301" y="3656013"/>
              <a:ext cx="822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Liver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7ACC754F-8C7F-41F8-AB12-E1593AE76A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051" y="1855788"/>
              <a:ext cx="822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Mouth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A05C0191-92C9-4B9F-B695-24C31A7AB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69251" y="5922963"/>
              <a:ext cx="822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Anus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（肛门）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573D4791-8EFE-4DAE-A230-6E4150B18D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0350" y="2027238"/>
              <a:ext cx="939800" cy="2667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69D4D7EB-F0E6-48CD-AD7A-2E355FDE7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30926" y="2636838"/>
              <a:ext cx="1546225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054913AE-04D4-4EA5-823B-462D55F3D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23050" y="3830638"/>
              <a:ext cx="1282700" cy="3048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60134E12-6ABC-4EFA-9570-3E72DAC5E7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0050" y="4440238"/>
              <a:ext cx="113030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23D91DEE-CD31-4764-B2D7-E4C7C056B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50050" y="4808538"/>
              <a:ext cx="1155700" cy="11430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03CCA2BA-4C44-4522-B8A4-A5F172456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83350" y="5329238"/>
              <a:ext cx="1397000" cy="0"/>
            </a:xfrm>
            <a:prstGeom prst="line">
              <a:avLst/>
            </a:prstGeom>
            <a:noFill/>
            <a:ln w="25400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8957788D-48FA-4680-AD8D-63D74E2FA5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78550" y="6103938"/>
              <a:ext cx="1727200" cy="19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273779C-6D55-4867-B3B2-3242FDAF4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42100" y="3824288"/>
              <a:ext cx="12827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C97F480B-D015-4A5B-97D2-2A43CF2CC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0688" y="4440238"/>
              <a:ext cx="11303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E4C6421-C801-4746-96BD-A190867224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70688" y="4808538"/>
              <a:ext cx="115570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2CE40D82-E277-49A9-BB80-FF9DFBCF6E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03988" y="5329238"/>
              <a:ext cx="139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D57F18DA-50C1-42E8-B2DB-CD0328AAE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27813" y="2019300"/>
              <a:ext cx="939800" cy="266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F7D011ED-EC1A-4C2E-92A1-DFEB0CB75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56326" y="2636838"/>
              <a:ext cx="154622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834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Urinary System (</a:t>
            </a:r>
            <a:r>
              <a:rPr lang="zh-CN" altLang="en-US" dirty="0"/>
              <a:t>泌尿系统</a:t>
            </a:r>
            <a:r>
              <a:rPr lang="en-US" altLang="zh-CN" dirty="0"/>
              <a:t>): Rids Body of Certain Wastes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3394075" y="856034"/>
            <a:ext cx="5218302" cy="6001965"/>
            <a:chOff x="3924300" y="136525"/>
            <a:chExt cx="5581683" cy="6419918"/>
          </a:xfrm>
        </p:grpSpPr>
        <p:pic>
          <p:nvPicPr>
            <p:cNvPr id="6" name="Picture 2" descr="21_08fUrinary-U">
              <a:extLst>
                <a:ext uri="{FF2B5EF4-FFF2-40B4-BE49-F238E27FC236}">
                  <a16:creationId xmlns:a16="http://schemas.microsoft.com/office/drawing/2014/main" id="{E3307A2C-C421-479D-B5DB-1AF986E2DF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122770" y="136525"/>
              <a:ext cx="5383213" cy="64199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EDBB3FE6-86D8-4C00-BE2E-419C46333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40726" y="2451100"/>
              <a:ext cx="987425" cy="596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Urinary </a:t>
              </a:r>
              <a:b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</a:b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bladder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（膀胱）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60F8C711-0AAA-493D-BB9A-C4D537ACB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53426" y="3073400"/>
              <a:ext cx="974725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Urethra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（尿道）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ECAFFD01-803D-4F23-A7FA-D127CE27C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300" y="2641600"/>
              <a:ext cx="173355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Ureter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（尿管）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AB569C08-2F29-4B68-B7CC-3B3ADB6A5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1226" y="1905000"/>
              <a:ext cx="911225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Kidney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142C6D4-6E10-41C4-A96E-E342B8833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75300" y="2095500"/>
              <a:ext cx="9398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EC217B4C-31FD-47EE-8722-04C2EBEC9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7200" y="2819400"/>
              <a:ext cx="1104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EB06B29E-E3F5-4A64-81D5-3A84B02FEA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08800" y="2870200"/>
              <a:ext cx="1397000" cy="114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57B83A81-DCFA-4931-9A92-1FCAA6D75F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9900" y="3200400"/>
              <a:ext cx="1473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5305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587764" y="622570"/>
            <a:ext cx="8849680" cy="6235429"/>
            <a:chOff x="1575719" y="225425"/>
            <a:chExt cx="9151017" cy="6447749"/>
          </a:xfrm>
        </p:grpSpPr>
        <p:pic>
          <p:nvPicPr>
            <p:cNvPr id="6" name="Picture 2" descr="21_08gEndocrine-U">
              <a:extLst>
                <a:ext uri="{FF2B5EF4-FFF2-40B4-BE49-F238E27FC236}">
                  <a16:creationId xmlns:a16="http://schemas.microsoft.com/office/drawing/2014/main" id="{5B674E75-AF09-450C-988F-6DB50EEEE05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638425" y="225425"/>
              <a:ext cx="8078788" cy="6447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A3B327C0-ABE5-4CD8-9471-6E01D1BC8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781" y="5233580"/>
              <a:ext cx="236855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Testis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（睾丸）</a:t>
              </a:r>
              <a:r>
                <a:rPr lang="en-US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 </a:t>
              </a: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(male)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6912A37E-A5A6-414C-A8A4-C62AA0799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01161" y="3028949"/>
              <a:ext cx="1425575" cy="62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Ovary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（卵巢）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(female)</a:t>
              </a:r>
              <a:endParaRPr lang="en-US" altLang="en-US" sz="18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909A6C28-AC73-4A45-A8F0-363D6B3136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5719" y="1815647"/>
              <a:ext cx="3190875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Parathyroid gland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（甲状旁腺）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22DCB748-369B-4414-9F02-64CBD87648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781" y="2154239"/>
              <a:ext cx="269875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Thyroid gland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（甲状腺）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6E91F7D7-28DB-4224-B25B-FA53AFABC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9901" y="2527300"/>
              <a:ext cx="2665412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Adrenal gland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（肾上腺）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75FDDC59-15AA-464B-AC98-10F85DA20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05781" y="1518393"/>
              <a:ext cx="2657475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Pituitary gland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（脑垂体）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07A947E2-93E7-4BE1-9A35-CCC131E9C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809" y="1197394"/>
              <a:ext cx="2689225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Hypothalamus</a:t>
              </a:r>
              <a:r>
                <a:rPr lang="zh-CN" altLang="en-US" sz="18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（下丘脑）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2C02C1E1-C560-46C3-81AD-6BB19A3341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1514" y="2971800"/>
              <a:ext cx="2097087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Pancreas</a:t>
              </a:r>
              <a:r>
                <a:rPr lang="zh-CN" altLang="en-US" sz="18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（胰腺）</a:t>
              </a:r>
              <a:endParaRPr lang="en-US" altLang="en-US" sz="18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32563C3F-257A-4BD2-9490-60AEEBB878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1513" y="850900"/>
              <a:ext cx="143510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87A4FE0E-FBA6-475B-A968-FED275AD3B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4213" y="965200"/>
              <a:ext cx="1587500" cy="698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024BC436-B83B-4DFA-A3C4-ACDC4C3400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2514" y="1558926"/>
              <a:ext cx="1190625" cy="3841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4B55902A-FA36-4249-8A61-ED5886AFA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05313" y="1670050"/>
              <a:ext cx="1631950" cy="6286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23468B1D-6C76-45B5-A3F0-5BE9A6854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5313" y="2679700"/>
              <a:ext cx="1358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09E3EC66-7D94-4923-9C19-C3EEC86E4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1913" y="2933700"/>
              <a:ext cx="1955800" cy="19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A410EC1F-9622-43A9-9824-AF5DF47CE9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5613" y="3949700"/>
              <a:ext cx="1803400" cy="146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6FFE1C33-2F19-401C-B268-C98A2301E5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20114" y="3225801"/>
              <a:ext cx="752475" cy="47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Endocrine System (</a:t>
            </a:r>
            <a:r>
              <a:rPr lang="zh-CN" altLang="en-US" dirty="0"/>
              <a:t>内分泌系统</a:t>
            </a:r>
            <a:r>
              <a:rPr lang="en-US" altLang="zh-CN" dirty="0"/>
              <a:t>): Secretes Hormones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0353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Reproductive System: Produces Gametes and Offspring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1783805" y="647701"/>
            <a:ext cx="9463236" cy="6210300"/>
            <a:chOff x="1730374" y="225425"/>
            <a:chExt cx="9739007" cy="6391275"/>
          </a:xfrm>
        </p:grpSpPr>
        <p:pic>
          <p:nvPicPr>
            <p:cNvPr id="6" name="Picture 2" descr="21_08hReproductive-U">
              <a:extLst>
                <a:ext uri="{FF2B5EF4-FFF2-40B4-BE49-F238E27FC236}">
                  <a16:creationId xmlns:a16="http://schemas.microsoft.com/office/drawing/2014/main" id="{0DC7BBAF-2233-4D3E-BD92-B3C90EF3B5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225425"/>
              <a:ext cx="8548687" cy="639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CB4A2DD5-728B-4734-8713-7D5D24177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35951" y="2986088"/>
              <a:ext cx="20669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Seminal vesicles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（精囊）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9A8C1142-BAF1-4065-A22D-7E79437A6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49623" y="3729832"/>
              <a:ext cx="2919758" cy="284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Prostate gland (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前列腺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)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A089AEE-6467-4BCE-894F-F28051BE7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4901" y="4148138"/>
              <a:ext cx="18002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Vas deferens (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输精管</a:t>
              </a:r>
              <a:r>
                <a:rPr lang="en-US" altLang="zh-CN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)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91A1A482-4EF7-470A-96EF-751D886D0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53476" y="4965700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Urethra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" name="Text Box 9">
              <a:extLst>
                <a:ext uri="{FF2B5EF4-FFF2-40B4-BE49-F238E27FC236}">
                  <a16:creationId xmlns:a16="http://schemas.microsoft.com/office/drawing/2014/main" id="{BE8F73E3-697E-42C3-97A7-04E49343DF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0374" y="3883026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Oviduct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（输卵管）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6463106B-88EC-4C54-B389-91C7B7EEE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8475" y="5247715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Vagina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（阴道）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46A0C405-53EA-4775-80C3-C51D02CDC0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4670" y="4749799"/>
              <a:ext cx="9493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Uterus</a:t>
              </a:r>
              <a:endPara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EBD51A1C-D765-46B7-86C7-7AD41A81F6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975" y="4413217"/>
              <a:ext cx="7588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Ovary</a:t>
              </a:r>
              <a:endPara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05B734A-7B07-4E0B-B82A-07071179CF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82050" y="4587082"/>
              <a:ext cx="7588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Penis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（阴茎）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BBF1890B-CACA-4357-BEAD-E81DB3E62B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3176" y="6210300"/>
              <a:ext cx="75882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Testis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2F2035E2-BDF0-4FC5-B4F2-DBAEA3CD7D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100" y="4254500"/>
              <a:ext cx="457200" cy="139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D60B6205-0A92-4E0D-A113-7BF334F4D8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03500" y="4559300"/>
              <a:ext cx="77470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AA512D24-1D93-4200-AEBB-48A9F66D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79700" y="4559300"/>
              <a:ext cx="123190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56207ED1-0A3D-47C7-A8E6-6C3B721D25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17800" y="4978400"/>
              <a:ext cx="1181100" cy="266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99B74B60-6E4D-431D-92B8-C4D8A04B61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81900" y="3505200"/>
              <a:ext cx="685800" cy="647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62D96FB6-13B0-49AC-BB4D-623549003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0300" y="3937000"/>
              <a:ext cx="1054100" cy="444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603A8B4A-BC60-4B4E-BACF-3469ADF012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797800" y="4343400"/>
              <a:ext cx="876300" cy="177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A29B2257-C8B2-4061-9F7C-9CE8A8540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31100" y="4787900"/>
              <a:ext cx="1181100" cy="444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26468C1B-28C4-4A90-9907-2C86445A36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0300" y="5118100"/>
              <a:ext cx="1231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30317541-DFF1-485D-B261-2FEBEDC66D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77100" y="5130800"/>
              <a:ext cx="406400" cy="1066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84793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Integumentary System: Protects Body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548063" y="1119188"/>
            <a:ext cx="5095875" cy="5738812"/>
            <a:chOff x="4497389" y="661988"/>
            <a:chExt cx="5095875" cy="5738812"/>
          </a:xfrm>
        </p:grpSpPr>
        <p:pic>
          <p:nvPicPr>
            <p:cNvPr id="5" name="Picture 2" descr="21_08iIntegument-U">
              <a:extLst>
                <a:ext uri="{FF2B5EF4-FFF2-40B4-BE49-F238E27FC236}">
                  <a16:creationId xmlns:a16="http://schemas.microsoft.com/office/drawing/2014/main" id="{1CFCD792-E977-4751-9FA8-F44D7332468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497389" y="661988"/>
              <a:ext cx="5095875" cy="57388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5">
              <a:extLst>
                <a:ext uri="{FF2B5EF4-FFF2-40B4-BE49-F238E27FC236}">
                  <a16:creationId xmlns:a16="http://schemas.microsoft.com/office/drawing/2014/main" id="{8D3BDAF5-16D1-4280-AE58-F933CDF72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8176" y="2747963"/>
              <a:ext cx="5175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Nail</a:t>
              </a:r>
              <a:endPara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7" name="Text Box 6">
              <a:extLst>
                <a:ext uri="{FF2B5EF4-FFF2-40B4-BE49-F238E27FC236}">
                  <a16:creationId xmlns:a16="http://schemas.microsoft.com/office/drawing/2014/main" id="{07CC295D-53C7-4995-B237-46194BBA5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28076" y="1668463"/>
              <a:ext cx="5175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Hair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7">
              <a:extLst>
                <a:ext uri="{FF2B5EF4-FFF2-40B4-BE49-F238E27FC236}">
                  <a16:creationId xmlns:a16="http://schemas.microsoft.com/office/drawing/2014/main" id="{DDB4D4FA-2BE6-4B8E-B0F4-175878EDA7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45576" y="2417763"/>
              <a:ext cx="517525" cy="279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Skin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3275A864-A59F-4138-A380-DD32E4426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29350" y="2836863"/>
              <a:ext cx="1104900" cy="38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49DAF787-8384-4666-8B46-C0C09922FF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18450" y="1808163"/>
              <a:ext cx="762000" cy="190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077938A7-D752-4B80-84D5-A77F8A1313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26450" y="2570163"/>
              <a:ext cx="571500" cy="469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61035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Lymphatic (</a:t>
            </a:r>
            <a:r>
              <a:rPr lang="zh-CN" altLang="en-US" dirty="0"/>
              <a:t>淋巴</a:t>
            </a:r>
            <a:r>
              <a:rPr lang="en-US" altLang="zh-CN" dirty="0"/>
              <a:t>) and Immune System: Defends Against Disease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5" name="Group 4"/>
          <p:cNvGrpSpPr>
            <a:grpSpLocks noChangeAspect="1"/>
          </p:cNvGrpSpPr>
          <p:nvPr/>
        </p:nvGrpSpPr>
        <p:grpSpPr>
          <a:xfrm>
            <a:off x="3327417" y="622300"/>
            <a:ext cx="5537166" cy="6235700"/>
            <a:chOff x="3619500" y="225425"/>
            <a:chExt cx="5675313" cy="6391275"/>
          </a:xfrm>
        </p:grpSpPr>
        <p:pic>
          <p:nvPicPr>
            <p:cNvPr id="6" name="Picture 2" descr="21_08jLymphImmune-U">
              <a:extLst>
                <a:ext uri="{FF2B5EF4-FFF2-40B4-BE49-F238E27FC236}">
                  <a16:creationId xmlns:a16="http://schemas.microsoft.com/office/drawing/2014/main" id="{0F5AB0DD-B1BD-4C90-9EBE-59FC96C914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283075" y="225425"/>
              <a:ext cx="5011738" cy="639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1A3DBE21-7F4A-4DB6-9DE0-452F27210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5564" y="4076700"/>
              <a:ext cx="1304925" cy="62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Lymphatic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vessels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F38D99CD-AB87-49EE-ABEA-504AF40949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9500" y="2806700"/>
              <a:ext cx="27447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Lymph nodes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（淋巴结）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0FE9A851-88C7-4964-A57A-5BE88BB1E8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5288" y="1663700"/>
              <a:ext cx="193040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Thymus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（胸腺）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EF72CA60-9C89-453D-B551-AF7F4D18E6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076" y="2197100"/>
              <a:ext cx="1662113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Spleen</a:t>
              </a:r>
              <a:r>
                <a:rPr lang="zh-CN" altLang="en-US" sz="2000" b="1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（脾脏）</a:t>
              </a:r>
              <a:endParaRPr lang="en-US" altLang="en-US" sz="20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Symbol" panose="05050102010706020507" pitchFamily="18" charset="2"/>
              </a:endParaRP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4554BE3-3467-484D-A9D1-2D8E02384B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42038" y="1828800"/>
              <a:ext cx="1866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773023DF-94ED-4C85-80DA-A0668CED5C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15038" y="2362200"/>
              <a:ext cx="2374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Group 11">
              <a:extLst>
                <a:ext uri="{FF2B5EF4-FFF2-40B4-BE49-F238E27FC236}">
                  <a16:creationId xmlns:a16="http://schemas.microsoft.com/office/drawing/2014/main" id="{584C00B8-A07E-4DE1-872B-F4D8A9997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83338" y="2870200"/>
              <a:ext cx="1892300" cy="139700"/>
              <a:chOff x="2624" y="1752"/>
              <a:chExt cx="1192" cy="88"/>
            </a:xfrm>
          </p:grpSpPr>
          <p:sp>
            <p:nvSpPr>
              <p:cNvPr id="17" name="Line 12">
                <a:extLst>
                  <a:ext uri="{FF2B5EF4-FFF2-40B4-BE49-F238E27FC236}">
                    <a16:creationId xmlns:a16="http://schemas.microsoft.com/office/drawing/2014/main" id="{18C1B4FE-C8E6-414D-9F38-BFAEAE509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4" y="1808"/>
                <a:ext cx="1192" cy="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Line 13">
                <a:extLst>
                  <a:ext uri="{FF2B5EF4-FFF2-40B4-BE49-F238E27FC236}">
                    <a16:creationId xmlns:a16="http://schemas.microsoft.com/office/drawing/2014/main" id="{82F6F582-7B4B-43AC-B0CE-66CF09E96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24" y="1752"/>
                <a:ext cx="1024" cy="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4">
              <a:extLst>
                <a:ext uri="{FF2B5EF4-FFF2-40B4-BE49-F238E27FC236}">
                  <a16:creationId xmlns:a16="http://schemas.microsoft.com/office/drawing/2014/main" id="{52313D29-6DF9-4528-ACAF-538FFC073D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4938" y="3670300"/>
              <a:ext cx="1371600" cy="1485900"/>
              <a:chOff x="2688" y="2256"/>
              <a:chExt cx="864" cy="936"/>
            </a:xfrm>
          </p:grpSpPr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3B98825F-3910-4417-8C3C-98B514B5E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88" y="2256"/>
                <a:ext cx="864" cy="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DBCE2E1A-3848-4395-A522-367A30407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8" y="2600"/>
                <a:ext cx="856" cy="5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988126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Nervous System: Processes Sensory Information and Controls Responses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133265" y="1266825"/>
            <a:ext cx="5925470" cy="5591175"/>
            <a:chOff x="4788568" y="633414"/>
            <a:chExt cx="5925470" cy="5591175"/>
          </a:xfrm>
        </p:grpSpPr>
        <p:pic>
          <p:nvPicPr>
            <p:cNvPr id="6" name="Picture 2" descr="21_08kNervous-U">
              <a:extLst>
                <a:ext uri="{FF2B5EF4-FFF2-40B4-BE49-F238E27FC236}">
                  <a16:creationId xmlns:a16="http://schemas.microsoft.com/office/drawing/2014/main" id="{555F9458-76F9-4EB3-BDB6-3A5077D68B4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4788568" y="633414"/>
              <a:ext cx="5169821" cy="5591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D12964EC-2CA6-4F32-A6CF-94947B863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93100" y="1409700"/>
              <a:ext cx="2420938" cy="660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Sense organ (ear)</a:t>
              </a:r>
              <a:endParaRPr lang="en-US" altLang="en-US" sz="2000" b="1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9AEB5825-578D-41C7-9C48-5D2B36772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86775" y="2095500"/>
              <a:ext cx="1492250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 dirty="0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Spinal cord</a:t>
              </a:r>
              <a:r>
                <a:rPr lang="zh-CN" altLang="en-US" sz="2000" b="1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Symbol" panose="05050102010706020507" pitchFamily="18" charset="2"/>
                </a:rPr>
                <a:t>（脊髓）</a:t>
              </a:r>
              <a:endParaRPr lang="en-US" altLang="en-US" sz="20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7">
              <a:extLst>
                <a:ext uri="{FF2B5EF4-FFF2-40B4-BE49-F238E27FC236}">
                  <a16:creationId xmlns:a16="http://schemas.microsoft.com/office/drawing/2014/main" id="{6548E4B7-C3F1-42A4-AA26-22AC048086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4401" y="2616200"/>
              <a:ext cx="962025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Nerves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0" name="Text Box 8">
              <a:extLst>
                <a:ext uri="{FF2B5EF4-FFF2-40B4-BE49-F238E27FC236}">
                  <a16:creationId xmlns:a16="http://schemas.microsoft.com/office/drawing/2014/main" id="{C4CDB6F5-8A4A-47B5-8A29-388CC0C24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1" y="800100"/>
              <a:ext cx="733425" cy="342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sz="2000" b="1">
                  <a:solidFill>
                    <a:srgbClr val="000000"/>
                  </a:solidFill>
                  <a:latin typeface="Cambria" panose="02040503050406030204" pitchFamily="18" charset="0"/>
                  <a:sym typeface="Symbol" panose="05050102010706020507" pitchFamily="18" charset="2"/>
                </a:rPr>
                <a:t>Brain</a:t>
              </a:r>
              <a:endParaRPr lang="en-US" altLang="en-US" sz="2000" b="1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0ED979C3-A913-4F5F-B2EF-A9A4A9E4BC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86575" y="2743200"/>
              <a:ext cx="1600200" cy="774700"/>
              <a:chOff x="3080" y="1728"/>
              <a:chExt cx="1008" cy="488"/>
            </a:xfrm>
          </p:grpSpPr>
          <p:sp>
            <p:nvSpPr>
              <p:cNvPr id="15" name="Line 10">
                <a:extLst>
                  <a:ext uri="{FF2B5EF4-FFF2-40B4-BE49-F238E27FC236}">
                    <a16:creationId xmlns:a16="http://schemas.microsoft.com/office/drawing/2014/main" id="{C26AB821-52A8-40DA-839E-13CA8D435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0" y="1728"/>
                <a:ext cx="928" cy="4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Line 11">
                <a:extLst>
                  <a:ext uri="{FF2B5EF4-FFF2-40B4-BE49-F238E27FC236}">
                    <a16:creationId xmlns:a16="http://schemas.microsoft.com/office/drawing/2014/main" id="{AAD9EC80-240D-4D24-9F4F-EC8AEE915C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0" y="1728"/>
                <a:ext cx="1008" cy="3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1B252811-37E5-452B-B759-C96D655047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1275" y="2260600"/>
              <a:ext cx="2095500" cy="482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Line 13">
              <a:extLst>
                <a:ext uri="{FF2B5EF4-FFF2-40B4-BE49-F238E27FC236}">
                  <a16:creationId xmlns:a16="http://schemas.microsoft.com/office/drawing/2014/main" id="{5434CF1B-2C05-46B2-8FAD-F1B1A492B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97675" y="1562100"/>
              <a:ext cx="1447800" cy="228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C384D21-9F6C-404E-A08F-FD83C620F9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56375" y="965200"/>
              <a:ext cx="1701800" cy="508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59231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8714" y="1250951"/>
            <a:ext cx="7431087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Subtitle 2"/>
          <p:cNvSpPr txBox="1">
            <a:spLocks/>
          </p:cNvSpPr>
          <p:nvPr/>
        </p:nvSpPr>
        <p:spPr bwMode="auto">
          <a:xfrm>
            <a:off x="2155825" y="219075"/>
            <a:ext cx="8229600" cy="304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fontAlgn="base">
              <a:lnSpc>
                <a:spcPts val="54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anose="02040503050406030204" pitchFamily="18" charset="0"/>
              </a:rPr>
              <a:t>Nervous, Sensory, and</a:t>
            </a:r>
            <a:br>
              <a:rPr lang="en-US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anose="02040503050406030204" pitchFamily="18" charset="0"/>
              </a:rPr>
            </a:br>
            <a:r>
              <a:rPr lang="en-US" alt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" panose="02040503050406030204" pitchFamily="18" charset="0"/>
              </a:rPr>
              <a:t>Locomotor Systems</a:t>
            </a:r>
          </a:p>
          <a:p>
            <a:pPr algn="r" fontAlgn="base">
              <a:lnSpc>
                <a:spcPts val="5400"/>
              </a:lnSpc>
              <a:spcBef>
                <a:spcPct val="0"/>
              </a:spcBef>
              <a:spcAft>
                <a:spcPct val="0"/>
              </a:spcAft>
              <a:buClr>
                <a:srgbClr val="0070C0"/>
              </a:buClr>
            </a:pP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</a:rPr>
              <a:t>Unit 5; Chapter 2</a:t>
            </a:r>
            <a:r>
              <a:rPr lang="en-US" altLang="zh-CN" b="1" dirty="0">
                <a:solidFill>
                  <a:srgbClr val="FF0000"/>
                </a:solidFill>
                <a:latin typeface="Cambria" panose="02040503050406030204" pitchFamily="18" charset="0"/>
                <a:ea typeface="宋体" panose="02010600030101010101" pitchFamily="2" charset="-122"/>
              </a:rPr>
              <a:t>7</a:t>
            </a:r>
            <a:endParaRPr lang="en-US" altLang="en-US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Learning Objectives 2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Describe the structures and functions of neurons, nervous tissue, and organs, and how they are organized into and work together in the central and peripheral nervous systems.</a:t>
            </a:r>
          </a:p>
          <a:p>
            <a:r>
              <a:rPr lang="en-US" altLang="zh-CN" dirty="0"/>
              <a:t>Describe how electrical signals are sent through a neuron and into a receiving cell, including the cellular structures and chemicals needed, and how drugs can alter transmission of electrical signals.</a:t>
            </a:r>
          </a:p>
          <a:p>
            <a:r>
              <a:rPr lang="en-US" altLang="zh-CN" dirty="0"/>
              <a:t>Describe the organization, structures, and functions of the central, peripheral, and autonomic nervous systems.</a:t>
            </a:r>
          </a:p>
          <a:p>
            <a:r>
              <a:rPr lang="en-US" altLang="zh-CN" dirty="0"/>
              <a:t>Describe the structures and functions of the brain.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304325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83177" y="493714"/>
            <a:ext cx="10899776" cy="6364286"/>
            <a:chOff x="1820864" y="392115"/>
            <a:chExt cx="10899776" cy="6364286"/>
          </a:xfrm>
        </p:grpSpPr>
        <p:pic>
          <p:nvPicPr>
            <p:cNvPr id="6" name="Picture 2" descr="27_02MotorNeuron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392115"/>
              <a:ext cx="8548687" cy="58722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1868489" y="404813"/>
              <a:ext cx="1774825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Signal direction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4156076" y="452438"/>
              <a:ext cx="2614613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Dendrites  </a:t>
              </a:r>
              <a:r>
                <a:rPr lang="en-US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树突）</a:t>
              </a:r>
              <a:endParaRPr lang="en-US" altLang="en-US" sz="18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2122489" y="4849813"/>
              <a:ext cx="936625" cy="3095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Nucleus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4892676" y="2004220"/>
              <a:ext cx="2203447" cy="576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Cell Body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5919789" y="3617913"/>
              <a:ext cx="974725" cy="538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Signal</a:t>
              </a:r>
              <a:b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pathway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648780" y="3678238"/>
              <a:ext cx="3071860" cy="703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Synaptic Terminals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Synapse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4560889" y="4113213"/>
              <a:ext cx="1330325" cy="512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Supporting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cell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5016500" y="5511801"/>
              <a:ext cx="4078853" cy="463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latin typeface="Cambria" panose="02040503050406030204" pitchFamily="18" charset="0"/>
                </a:rPr>
                <a:t>Myelin Sheath, Speed up Transmission 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406231" y="6108701"/>
              <a:ext cx="2928938" cy="6477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</a:rPr>
                <a:t>Axon</a:t>
              </a:r>
              <a:r>
                <a:rPr lang="en-US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zh-CN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轴突</a:t>
              </a:r>
              <a:r>
                <a:rPr lang="en-US" altLang="zh-CN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Nerve Fiber </a:t>
              </a:r>
            </a:p>
          </p:txBody>
        </p:sp>
        <p:grpSp>
          <p:nvGrpSpPr>
            <p:cNvPr id="16" name="Group 13"/>
            <p:cNvGrpSpPr>
              <a:grpSpLocks/>
            </p:cNvGrpSpPr>
            <p:nvPr/>
          </p:nvGrpSpPr>
          <p:grpSpPr bwMode="auto">
            <a:xfrm>
              <a:off x="3911600" y="838200"/>
              <a:ext cx="546100" cy="279400"/>
              <a:chOff x="1504" y="528"/>
              <a:chExt cx="344" cy="176"/>
            </a:xfrm>
          </p:grpSpPr>
          <p:sp>
            <p:nvSpPr>
              <p:cNvPr id="39" name="Line 14"/>
              <p:cNvSpPr>
                <a:spLocks noChangeShapeType="1"/>
              </p:cNvSpPr>
              <p:nvPr/>
            </p:nvSpPr>
            <p:spPr bwMode="auto">
              <a:xfrm flipH="1">
                <a:off x="1504" y="528"/>
                <a:ext cx="344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Line 15"/>
              <p:cNvSpPr>
                <a:spLocks noChangeShapeType="1"/>
              </p:cNvSpPr>
              <p:nvPr/>
            </p:nvSpPr>
            <p:spPr bwMode="auto">
              <a:xfrm>
                <a:off x="1848" y="528"/>
                <a:ext cx="0" cy="17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H="1">
              <a:off x="4089400" y="2222500"/>
              <a:ext cx="64770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V="1">
              <a:off x="2832100" y="3035300"/>
              <a:ext cx="736600" cy="186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5245100" y="5041900"/>
              <a:ext cx="393700" cy="457200"/>
              <a:chOff x="2344" y="3176"/>
              <a:chExt cx="248" cy="288"/>
            </a:xfrm>
          </p:grpSpPr>
          <p:sp>
            <p:nvSpPr>
              <p:cNvPr id="37" name="Line 19"/>
              <p:cNvSpPr>
                <a:spLocks noChangeShapeType="1"/>
              </p:cNvSpPr>
              <p:nvPr/>
            </p:nvSpPr>
            <p:spPr bwMode="auto">
              <a:xfrm flipV="1">
                <a:off x="2344" y="3208"/>
                <a:ext cx="0" cy="2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Line 20"/>
              <p:cNvSpPr>
                <a:spLocks noChangeShapeType="1"/>
              </p:cNvSpPr>
              <p:nvPr/>
            </p:nvSpPr>
            <p:spPr bwMode="auto">
              <a:xfrm flipV="1">
                <a:off x="2344" y="3176"/>
                <a:ext cx="24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" name="Group 21"/>
            <p:cNvGrpSpPr>
              <a:grpSpLocks/>
            </p:cNvGrpSpPr>
            <p:nvPr/>
          </p:nvGrpSpPr>
          <p:grpSpPr bwMode="auto">
            <a:xfrm>
              <a:off x="5956300" y="4152900"/>
              <a:ext cx="774700" cy="622300"/>
              <a:chOff x="2792" y="2616"/>
              <a:chExt cx="488" cy="392"/>
            </a:xfrm>
          </p:grpSpPr>
          <p:sp>
            <p:nvSpPr>
              <p:cNvPr id="34" name="Line 22"/>
              <p:cNvSpPr>
                <a:spLocks noChangeShapeType="1"/>
              </p:cNvSpPr>
              <p:nvPr/>
            </p:nvSpPr>
            <p:spPr bwMode="auto">
              <a:xfrm flipH="1">
                <a:off x="2792" y="2616"/>
                <a:ext cx="48" cy="3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Line 23"/>
              <p:cNvSpPr>
                <a:spLocks noChangeShapeType="1"/>
              </p:cNvSpPr>
              <p:nvPr/>
            </p:nvSpPr>
            <p:spPr bwMode="auto">
              <a:xfrm>
                <a:off x="2840" y="2616"/>
                <a:ext cx="200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Line 24"/>
              <p:cNvSpPr>
                <a:spLocks noChangeShapeType="1"/>
              </p:cNvSpPr>
              <p:nvPr/>
            </p:nvSpPr>
            <p:spPr bwMode="auto">
              <a:xfrm>
                <a:off x="2840" y="2616"/>
                <a:ext cx="44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1" name="Group 25"/>
            <p:cNvGrpSpPr>
              <a:grpSpLocks/>
            </p:cNvGrpSpPr>
            <p:nvPr/>
          </p:nvGrpSpPr>
          <p:grpSpPr bwMode="auto">
            <a:xfrm>
              <a:off x="9347200" y="4381500"/>
              <a:ext cx="482600" cy="698500"/>
              <a:chOff x="4928" y="2760"/>
              <a:chExt cx="304" cy="440"/>
            </a:xfrm>
          </p:grpSpPr>
          <p:sp>
            <p:nvSpPr>
              <p:cNvPr id="32" name="Line 26"/>
              <p:cNvSpPr>
                <a:spLocks noChangeShapeType="1"/>
              </p:cNvSpPr>
              <p:nvPr/>
            </p:nvSpPr>
            <p:spPr bwMode="auto">
              <a:xfrm flipH="1">
                <a:off x="4928" y="2760"/>
                <a:ext cx="304" cy="2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27"/>
              <p:cNvSpPr>
                <a:spLocks noChangeShapeType="1"/>
              </p:cNvSpPr>
              <p:nvPr/>
            </p:nvSpPr>
            <p:spPr bwMode="auto">
              <a:xfrm flipH="1">
                <a:off x="5024" y="2760"/>
                <a:ext cx="208" cy="4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Group 28"/>
            <p:cNvGrpSpPr>
              <a:grpSpLocks/>
            </p:cNvGrpSpPr>
            <p:nvPr/>
          </p:nvGrpSpPr>
          <p:grpSpPr bwMode="auto">
            <a:xfrm>
              <a:off x="5016500" y="4629150"/>
              <a:ext cx="406400" cy="285750"/>
              <a:chOff x="2200" y="2916"/>
              <a:chExt cx="256" cy="180"/>
            </a:xfrm>
          </p:grpSpPr>
          <p:sp>
            <p:nvSpPr>
              <p:cNvPr id="28" name="Line 29"/>
              <p:cNvSpPr>
                <a:spLocks noChangeShapeType="1"/>
              </p:cNvSpPr>
              <p:nvPr/>
            </p:nvSpPr>
            <p:spPr bwMode="auto">
              <a:xfrm flipV="1">
                <a:off x="2200" y="2980"/>
                <a:ext cx="0" cy="1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30"/>
              <p:cNvSpPr>
                <a:spLocks noChangeShapeType="1"/>
              </p:cNvSpPr>
              <p:nvPr/>
            </p:nvSpPr>
            <p:spPr bwMode="auto">
              <a:xfrm>
                <a:off x="2200" y="2984"/>
                <a:ext cx="25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Line 31"/>
              <p:cNvSpPr>
                <a:spLocks noChangeShapeType="1"/>
              </p:cNvSpPr>
              <p:nvPr/>
            </p:nvSpPr>
            <p:spPr bwMode="auto">
              <a:xfrm>
                <a:off x="2456" y="2980"/>
                <a:ext cx="0" cy="1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Line 32"/>
              <p:cNvSpPr>
                <a:spLocks noChangeShapeType="1"/>
              </p:cNvSpPr>
              <p:nvPr/>
            </p:nvSpPr>
            <p:spPr bwMode="auto">
              <a:xfrm flipV="1">
                <a:off x="2320" y="2916"/>
                <a:ext cx="0" cy="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" name="Group 33"/>
            <p:cNvGrpSpPr>
              <a:grpSpLocks/>
            </p:cNvGrpSpPr>
            <p:nvPr/>
          </p:nvGrpSpPr>
          <p:grpSpPr bwMode="auto">
            <a:xfrm>
              <a:off x="4203700" y="5695950"/>
              <a:ext cx="5359400" cy="400050"/>
              <a:chOff x="1688" y="3588"/>
              <a:chExt cx="3376" cy="252"/>
            </a:xfrm>
          </p:grpSpPr>
          <p:sp>
            <p:nvSpPr>
              <p:cNvPr id="24" name="Line 34"/>
              <p:cNvSpPr>
                <a:spLocks noChangeShapeType="1"/>
              </p:cNvSpPr>
              <p:nvPr/>
            </p:nvSpPr>
            <p:spPr bwMode="auto">
              <a:xfrm>
                <a:off x="1688" y="3588"/>
                <a:ext cx="0" cy="1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Line 35"/>
              <p:cNvSpPr>
                <a:spLocks noChangeShapeType="1"/>
              </p:cNvSpPr>
              <p:nvPr/>
            </p:nvSpPr>
            <p:spPr bwMode="auto">
              <a:xfrm>
                <a:off x="1688" y="3704"/>
                <a:ext cx="33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Line 36"/>
              <p:cNvSpPr>
                <a:spLocks noChangeShapeType="1"/>
              </p:cNvSpPr>
              <p:nvPr/>
            </p:nvSpPr>
            <p:spPr bwMode="auto">
              <a:xfrm flipV="1">
                <a:off x="5064" y="3588"/>
                <a:ext cx="0" cy="12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Line 37"/>
              <p:cNvSpPr>
                <a:spLocks noChangeShapeType="1"/>
              </p:cNvSpPr>
              <p:nvPr/>
            </p:nvSpPr>
            <p:spPr bwMode="auto">
              <a:xfrm>
                <a:off x="3368" y="3704"/>
                <a:ext cx="0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4636" y="132523"/>
            <a:ext cx="6039352" cy="958863"/>
          </a:xfrm>
        </p:spPr>
        <p:txBody>
          <a:bodyPr/>
          <a:lstStyle/>
          <a:p>
            <a:r>
              <a:rPr lang="en-US" altLang="zh-CN" dirty="0"/>
              <a:t>Neurons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4636" y="1227909"/>
            <a:ext cx="6039352" cy="5264966"/>
          </a:xfrm>
        </p:spPr>
        <p:txBody>
          <a:bodyPr/>
          <a:lstStyle/>
          <a:p>
            <a:r>
              <a:rPr lang="en-US" altLang="zh-CN" dirty="0"/>
              <a:t>Functional units of the nervous system, vary widely in shape.</a:t>
            </a:r>
          </a:p>
          <a:p>
            <a:r>
              <a:rPr lang="en-US" altLang="zh-CN" dirty="0"/>
              <a:t>Carry electrical signals from one part of the body to another.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83252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Electrical Properties and Signals of Neurons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By charged ions, not electrons</a:t>
            </a:r>
          </a:p>
          <a:p>
            <a:r>
              <a:rPr lang="en-US" altLang="zh-CN" b="1" dirty="0">
                <a:solidFill>
                  <a:srgbClr val="FF0000"/>
                </a:solidFill>
              </a:rPr>
              <a:t>Resting membrane potential</a:t>
            </a:r>
            <a:r>
              <a:rPr lang="en-US" altLang="zh-CN" dirty="0"/>
              <a:t> (voltage across the membrane)</a:t>
            </a:r>
          </a:p>
          <a:p>
            <a:pPr lvl="1"/>
            <a:r>
              <a:rPr lang="en-US" altLang="zh-CN" dirty="0"/>
              <a:t>Due to differential distribution of charged ions (K</a:t>
            </a:r>
            <a:r>
              <a:rPr lang="en-US" altLang="zh-CN" baseline="30000" dirty="0"/>
              <a:t>+</a:t>
            </a:r>
            <a:r>
              <a:rPr lang="en-US" altLang="zh-CN" dirty="0"/>
              <a:t> mainly)</a:t>
            </a:r>
          </a:p>
          <a:p>
            <a:pPr lvl="1"/>
            <a:r>
              <a:rPr lang="en-US" altLang="zh-CN" dirty="0"/>
              <a:t>Negative inside (negatively polarized)</a:t>
            </a:r>
          </a:p>
          <a:p>
            <a:pPr lvl="1"/>
            <a:r>
              <a:rPr lang="en-US" altLang="zh-CN" dirty="0"/>
              <a:t>A universal property for nearly all cells</a:t>
            </a:r>
          </a:p>
          <a:p>
            <a:r>
              <a:rPr lang="en-US" altLang="zh-CN" dirty="0"/>
              <a:t>In </a:t>
            </a:r>
            <a:r>
              <a:rPr lang="en-US" altLang="zh-CN" b="1" dirty="0">
                <a:solidFill>
                  <a:srgbClr val="FF0000"/>
                </a:solidFill>
              </a:rPr>
              <a:t>excitable</a:t>
            </a:r>
            <a:r>
              <a:rPr lang="en-US" altLang="zh-CN" dirty="0"/>
              <a:t> cells, neurons, muscles, etc., changes of membrane potentials are employed to send electrical signal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Action potential</a:t>
            </a:r>
            <a:r>
              <a:rPr lang="en-US" altLang="zh-CN" dirty="0"/>
              <a:t>, a transient signal that can propagate on the axon and thus can be used to transmitted information in long distance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57958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http://animatlab.com/portals/0/Images/AnimatLab/NB_IonFlow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5148" y="2830779"/>
            <a:ext cx="5456884" cy="402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Generation of Action Potential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227909"/>
            <a:ext cx="7498854" cy="5264966"/>
          </a:xfrm>
        </p:spPr>
        <p:txBody>
          <a:bodyPr/>
          <a:lstStyle/>
          <a:p>
            <a:r>
              <a:rPr lang="en-US" altLang="zh-CN" dirty="0"/>
              <a:t>By inputs from synapses or sensory receptors</a:t>
            </a:r>
          </a:p>
          <a:p>
            <a:r>
              <a:rPr lang="en-US" altLang="zh-CN" dirty="0"/>
              <a:t>Na</a:t>
            </a:r>
            <a:r>
              <a:rPr lang="en-US" altLang="zh-CN" baseline="30000" dirty="0"/>
              <a:t>+</a:t>
            </a:r>
            <a:r>
              <a:rPr lang="en-US" altLang="zh-CN" dirty="0"/>
              <a:t> in and with a delay K</a:t>
            </a:r>
            <a:r>
              <a:rPr lang="en-US" altLang="zh-CN" baseline="30000" dirty="0"/>
              <a:t>+</a:t>
            </a:r>
            <a:r>
              <a:rPr lang="en-US" altLang="zh-CN" dirty="0"/>
              <a:t> out</a:t>
            </a:r>
          </a:p>
          <a:p>
            <a:r>
              <a:rPr lang="en-US" altLang="zh-CN" dirty="0"/>
              <a:t>All-or-none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032" y="0"/>
            <a:ext cx="43099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675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Propagation of Action Potential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6540137" cy="5264966"/>
          </a:xfrm>
        </p:spPr>
        <p:txBody>
          <a:bodyPr/>
          <a:lstStyle/>
          <a:p>
            <a:r>
              <a:rPr lang="en-US" altLang="zh-CN" dirty="0"/>
              <a:t>Like a “domino effect”</a:t>
            </a:r>
          </a:p>
          <a:p>
            <a:r>
              <a:rPr lang="en-US" altLang="zh-CN" dirty="0"/>
              <a:t>By eliciting action potential in the neighboring membrane down the axon</a:t>
            </a:r>
          </a:p>
          <a:p>
            <a:r>
              <a:rPr lang="en-US" altLang="zh-CN" dirty="0"/>
              <a:t>Unidirectional</a:t>
            </a:r>
          </a:p>
          <a:p>
            <a:r>
              <a:rPr lang="en-US" altLang="zh-CN" dirty="0"/>
              <a:t>Transmission velocity increased by myelin sheath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54" y="0"/>
            <a:ext cx="51364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6437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Synaptic Transmission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synapse (</a:t>
            </a:r>
            <a:r>
              <a:rPr lang="zh-CN" altLang="en-US" dirty="0"/>
              <a:t>突触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altLang="zh-CN" dirty="0"/>
              <a:t>is a </a:t>
            </a:r>
            <a:r>
              <a:rPr lang="en-US" altLang="zh-CN" b="1" dirty="0">
                <a:solidFill>
                  <a:srgbClr val="FF0000"/>
                </a:solidFill>
              </a:rPr>
              <a:t>relay point</a:t>
            </a:r>
            <a:r>
              <a:rPr lang="en-US" altLang="zh-CN" dirty="0"/>
              <a:t> between two neurons or between a neuron and an effector cell (e.g. muscle fibers).</a:t>
            </a:r>
          </a:p>
          <a:p>
            <a:r>
              <a:rPr lang="en-US" altLang="zh-CN" dirty="0"/>
              <a:t>Two types</a:t>
            </a:r>
          </a:p>
          <a:p>
            <a:pPr lvl="1"/>
            <a:r>
              <a:rPr lang="en-US" altLang="zh-CN" dirty="0"/>
              <a:t>Electrical synapses</a:t>
            </a:r>
          </a:p>
          <a:p>
            <a:pPr lvl="2"/>
            <a:r>
              <a:rPr lang="en-US" altLang="zh-CN" dirty="0"/>
              <a:t>Continuous by gap junction </a:t>
            </a:r>
          </a:p>
          <a:p>
            <a:pPr lvl="2"/>
            <a:r>
              <a:rPr lang="en-US" altLang="zh-CN" dirty="0"/>
              <a:t>fast and bidirectional coupling</a:t>
            </a:r>
          </a:p>
          <a:p>
            <a:pPr lvl="1"/>
            <a:r>
              <a:rPr lang="en-US" altLang="zh-CN" dirty="0"/>
              <a:t>Chemical synapses</a:t>
            </a:r>
          </a:p>
          <a:p>
            <a:pPr lvl="2"/>
            <a:r>
              <a:rPr lang="en-US" altLang="zh-CN" dirty="0"/>
              <a:t>Separated by synaptic cleft </a:t>
            </a:r>
          </a:p>
          <a:p>
            <a:pPr lvl="2"/>
            <a:r>
              <a:rPr lang="en-US" altLang="zh-CN" dirty="0"/>
              <a:t>Unidirectional</a:t>
            </a:r>
          </a:p>
          <a:p>
            <a:pPr lvl="2"/>
            <a:r>
              <a:rPr lang="en-US" altLang="zh-CN" dirty="0"/>
              <a:t>Diverse effects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sp>
        <p:nvSpPr>
          <p:cNvPr id="5" name="Rectangle 4"/>
          <p:cNvSpPr/>
          <p:nvPr/>
        </p:nvSpPr>
        <p:spPr>
          <a:xfrm>
            <a:off x="2637184" y="6427113"/>
            <a:ext cx="955481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zh-CN" sz="1100" dirty="0"/>
              <a:t>By Mariana Ruiz </a:t>
            </a:r>
            <a:r>
              <a:rPr lang="en-US" altLang="zh-CN" sz="1100" dirty="0" err="1"/>
              <a:t>LadyofHats</a:t>
            </a:r>
            <a:r>
              <a:rPr lang="en-US" altLang="zh-CN" sz="1100" dirty="0"/>
              <a:t> - the diagram </a:t>
            </a:r>
            <a:r>
              <a:rPr lang="en-US" altLang="zh-CN" sz="1100" dirty="0" err="1"/>
              <a:t>i</a:t>
            </a:r>
            <a:r>
              <a:rPr lang="en-US" altLang="zh-CN" sz="1100" dirty="0"/>
              <a:t> made myself using the information on this websites as source: [1], [2], [3], and[4]. Made with Adobe Illustrator. Image renamed from File:Gap cell </a:t>
            </a:r>
            <a:r>
              <a:rPr lang="en-US" altLang="zh-CN" sz="1100" dirty="0" err="1"/>
              <a:t>junction.svg</a:t>
            </a:r>
            <a:r>
              <a:rPr lang="en-US" altLang="zh-CN" sz="1100" dirty="0"/>
              <a:t>, Public Domain, https://commons.wikimedia.org/w/index.php?curid=6027074</a:t>
            </a:r>
            <a:endParaRPr lang="zh-CN" altLang="en-US" sz="1100" dirty="0"/>
          </a:p>
        </p:txBody>
      </p:sp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215" y="2334383"/>
            <a:ext cx="5820773" cy="409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328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7114" y="132523"/>
            <a:ext cx="6556874" cy="958863"/>
          </a:xfrm>
        </p:spPr>
        <p:txBody>
          <a:bodyPr/>
          <a:lstStyle/>
          <a:p>
            <a:r>
              <a:rPr lang="en-US" altLang="zh-CN" dirty="0"/>
              <a:t>Chemical Synapses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383177" y="1227909"/>
            <a:ext cx="8548687" cy="5387182"/>
            <a:chOff x="3225301" y="1333500"/>
            <a:chExt cx="8548687" cy="5387182"/>
          </a:xfrm>
        </p:grpSpPr>
        <p:pic>
          <p:nvPicPr>
            <p:cNvPr id="6" name="Picture 2" descr="27_05_SynapticCleft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225301" y="1333500"/>
              <a:ext cx="8548687" cy="5372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3296737" y="2905126"/>
              <a:ext cx="827088" cy="206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synapse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5166812" y="1357314"/>
              <a:ext cx="808038" cy="693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Synaptic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terminal of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sending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neuron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6417763" y="1617663"/>
              <a:ext cx="1370013" cy="355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Dendrite of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receiving neuron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3325312" y="3222625"/>
              <a:ext cx="596900" cy="325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Sending 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neuron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3565026" y="3609975"/>
              <a:ext cx="663575" cy="185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Vesicles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5576388" y="3475039"/>
              <a:ext cx="836613" cy="5540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Action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potential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arrives.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5708151" y="4605339"/>
              <a:ext cx="1036637" cy="676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Neuro-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transmitter is 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released into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synaptic cleft.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6648970" y="6069807"/>
              <a:ext cx="1311275" cy="650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Neurotransmitter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binds to receptor.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5246187" y="6330951"/>
              <a:ext cx="1366838" cy="358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Neurotransmitter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molecules</a:t>
              </a:r>
            </a:p>
          </p:txBody>
        </p:sp>
        <p:sp>
          <p:nvSpPr>
            <p:cNvPr id="16" name="Text Box 13"/>
            <p:cNvSpPr txBox="1">
              <a:spLocks noChangeArrowheads="1"/>
            </p:cNvSpPr>
            <p:nvPr/>
          </p:nvSpPr>
          <p:spPr bwMode="auto">
            <a:xfrm>
              <a:off x="4171451" y="6440488"/>
              <a:ext cx="973137" cy="195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Ion channels</a:t>
              </a: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3326901" y="6334125"/>
              <a:ext cx="973137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Receiving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neuron</a:t>
              </a:r>
            </a:p>
          </p:txBody>
        </p:sp>
        <p:sp>
          <p:nvSpPr>
            <p:cNvPr id="18" name="Text Box 15"/>
            <p:cNvSpPr txBox="1">
              <a:spLocks noChangeArrowheads="1"/>
            </p:cNvSpPr>
            <p:nvPr/>
          </p:nvSpPr>
          <p:spPr bwMode="auto">
            <a:xfrm>
              <a:off x="3315787" y="5588000"/>
              <a:ext cx="661988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Synaptic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cleft</a:t>
              </a:r>
            </a:p>
          </p:txBody>
        </p:sp>
        <p:sp>
          <p:nvSpPr>
            <p:cNvPr id="19" name="Text Box 16"/>
            <p:cNvSpPr txBox="1">
              <a:spLocks noChangeArrowheads="1"/>
            </p:cNvSpPr>
            <p:nvPr/>
          </p:nvSpPr>
          <p:spPr bwMode="auto">
            <a:xfrm>
              <a:off x="3560262" y="3913188"/>
              <a:ext cx="661988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Synaptic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terminal</a:t>
              </a: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4425450" y="4738689"/>
              <a:ext cx="1111250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Vesicle fuses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with plasma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membrane.</a:t>
              </a:r>
            </a:p>
          </p:txBody>
        </p:sp>
        <p:sp>
          <p:nvSpPr>
            <p:cNvPr id="21" name="Text Box 18"/>
            <p:cNvSpPr txBox="1">
              <a:spLocks noChangeArrowheads="1"/>
            </p:cNvSpPr>
            <p:nvPr/>
          </p:nvSpPr>
          <p:spPr bwMode="auto">
            <a:xfrm>
              <a:off x="8367213" y="3727450"/>
              <a:ext cx="1262063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Neurotransmitter</a:t>
              </a: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8195763" y="3975100"/>
              <a:ext cx="720725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Receptor</a:t>
              </a: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8303713" y="5727701"/>
              <a:ext cx="1350963" cy="684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Ion channel opens 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and triggers or 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inhibits a new </a:t>
              </a:r>
              <a:b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action potential.</a:t>
              </a: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10321425" y="5735638"/>
              <a:ext cx="1435100" cy="6143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Ion channel closes.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Neurotransmitter is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broken down and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released.</a:t>
              </a:r>
            </a:p>
          </p:txBody>
        </p:sp>
        <p:sp>
          <p:nvSpPr>
            <p:cNvPr id="25" name="Text Box 22"/>
            <p:cNvSpPr txBox="1">
              <a:spLocks noChangeArrowheads="1"/>
            </p:cNvSpPr>
            <p:nvPr/>
          </p:nvSpPr>
          <p:spPr bwMode="auto">
            <a:xfrm>
              <a:off x="8572001" y="4284663"/>
              <a:ext cx="339725" cy="1635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Ions</a:t>
              </a:r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5620837" y="2025650"/>
              <a:ext cx="368300" cy="177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 flipH="1">
              <a:off x="6078037" y="1873250"/>
              <a:ext cx="2921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8" name="Group 25"/>
            <p:cNvGrpSpPr>
              <a:grpSpLocks/>
            </p:cNvGrpSpPr>
            <p:nvPr/>
          </p:nvGrpSpPr>
          <p:grpSpPr bwMode="auto">
            <a:xfrm>
              <a:off x="4211137" y="3689350"/>
              <a:ext cx="571500" cy="431800"/>
              <a:chOff x="808" y="1904"/>
              <a:chExt cx="360" cy="272"/>
            </a:xfrm>
          </p:grpSpPr>
          <p:sp>
            <p:nvSpPr>
              <p:cNvPr id="59" name="Line 26"/>
              <p:cNvSpPr>
                <a:spLocks noChangeShapeType="1"/>
              </p:cNvSpPr>
              <p:nvPr/>
            </p:nvSpPr>
            <p:spPr bwMode="auto">
              <a:xfrm>
                <a:off x="808" y="1904"/>
                <a:ext cx="3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Line 27"/>
              <p:cNvSpPr>
                <a:spLocks noChangeShapeType="1"/>
              </p:cNvSpPr>
              <p:nvPr/>
            </p:nvSpPr>
            <p:spPr bwMode="auto">
              <a:xfrm>
                <a:off x="808" y="1904"/>
                <a:ext cx="264" cy="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3868237" y="4248150"/>
              <a:ext cx="342900" cy="241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3792037" y="5772150"/>
              <a:ext cx="266700" cy="215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1" name="Group 30"/>
            <p:cNvGrpSpPr>
              <a:grpSpLocks/>
            </p:cNvGrpSpPr>
            <p:nvPr/>
          </p:nvGrpSpPr>
          <p:grpSpPr bwMode="auto">
            <a:xfrm>
              <a:off x="4528637" y="6102350"/>
              <a:ext cx="711200" cy="330200"/>
              <a:chOff x="1008" y="3424"/>
              <a:chExt cx="448" cy="208"/>
            </a:xfrm>
          </p:grpSpPr>
          <p:sp>
            <p:nvSpPr>
              <p:cNvPr id="57" name="Line 31"/>
              <p:cNvSpPr>
                <a:spLocks noChangeShapeType="1"/>
              </p:cNvSpPr>
              <p:nvPr/>
            </p:nvSpPr>
            <p:spPr bwMode="auto">
              <a:xfrm flipH="1" flipV="1">
                <a:off x="1008" y="3544"/>
                <a:ext cx="152" cy="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Line 32"/>
              <p:cNvSpPr>
                <a:spLocks noChangeShapeType="1"/>
              </p:cNvSpPr>
              <p:nvPr/>
            </p:nvSpPr>
            <p:spPr bwMode="auto">
              <a:xfrm flipV="1">
                <a:off x="1160" y="3424"/>
                <a:ext cx="296" cy="2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Group 33"/>
            <p:cNvGrpSpPr>
              <a:grpSpLocks/>
            </p:cNvGrpSpPr>
            <p:nvPr/>
          </p:nvGrpSpPr>
          <p:grpSpPr bwMode="auto">
            <a:xfrm>
              <a:off x="5557337" y="5975350"/>
              <a:ext cx="190500" cy="342900"/>
              <a:chOff x="1656" y="3344"/>
              <a:chExt cx="120" cy="216"/>
            </a:xfrm>
          </p:grpSpPr>
          <p:sp>
            <p:nvSpPr>
              <p:cNvPr id="55" name="Line 34"/>
              <p:cNvSpPr>
                <a:spLocks noChangeShapeType="1"/>
              </p:cNvSpPr>
              <p:nvPr/>
            </p:nvSpPr>
            <p:spPr bwMode="auto">
              <a:xfrm flipH="1" flipV="1">
                <a:off x="1656" y="3376"/>
                <a:ext cx="72" cy="1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Line 35"/>
              <p:cNvSpPr>
                <a:spLocks noChangeShapeType="1"/>
              </p:cNvSpPr>
              <p:nvPr/>
            </p:nvSpPr>
            <p:spPr bwMode="auto">
              <a:xfrm flipV="1">
                <a:off x="1728" y="3344"/>
                <a:ext cx="48" cy="21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3" name="Line 36"/>
            <p:cNvSpPr>
              <a:spLocks noChangeShapeType="1"/>
            </p:cNvSpPr>
            <p:nvPr/>
          </p:nvSpPr>
          <p:spPr bwMode="auto">
            <a:xfrm>
              <a:off x="4795337" y="5226050"/>
              <a:ext cx="25400" cy="177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Line 37"/>
            <p:cNvSpPr>
              <a:spLocks noChangeShapeType="1"/>
            </p:cNvSpPr>
            <p:nvPr/>
          </p:nvSpPr>
          <p:spPr bwMode="auto">
            <a:xfrm flipH="1">
              <a:off x="5684337" y="5251450"/>
              <a:ext cx="279400" cy="25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Line 38"/>
            <p:cNvSpPr>
              <a:spLocks noChangeShapeType="1"/>
            </p:cNvSpPr>
            <p:nvPr/>
          </p:nvSpPr>
          <p:spPr bwMode="auto">
            <a:xfrm>
              <a:off x="8795837" y="4133850"/>
              <a:ext cx="3810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Line 39"/>
            <p:cNvSpPr>
              <a:spLocks noChangeShapeType="1"/>
            </p:cNvSpPr>
            <p:nvPr/>
          </p:nvSpPr>
          <p:spPr bwMode="auto">
            <a:xfrm>
              <a:off x="9151437" y="3867150"/>
              <a:ext cx="127000" cy="469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" name="Group 40"/>
            <p:cNvGrpSpPr>
              <a:grpSpLocks/>
            </p:cNvGrpSpPr>
            <p:nvPr/>
          </p:nvGrpSpPr>
          <p:grpSpPr bwMode="auto">
            <a:xfrm>
              <a:off x="5341438" y="3448050"/>
              <a:ext cx="233363" cy="190500"/>
              <a:chOff x="1520" y="1752"/>
              <a:chExt cx="147" cy="120"/>
            </a:xfrm>
          </p:grpSpPr>
          <p:sp>
            <p:nvSpPr>
              <p:cNvPr id="53" name="Oval 41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4" name="Text Box 42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38" name="Group 43"/>
            <p:cNvGrpSpPr>
              <a:grpSpLocks/>
            </p:cNvGrpSpPr>
            <p:nvPr/>
          </p:nvGrpSpPr>
          <p:grpSpPr bwMode="auto">
            <a:xfrm>
              <a:off x="4185738" y="4705350"/>
              <a:ext cx="233363" cy="190500"/>
              <a:chOff x="1520" y="1752"/>
              <a:chExt cx="147" cy="120"/>
            </a:xfrm>
          </p:grpSpPr>
          <p:sp>
            <p:nvSpPr>
              <p:cNvPr id="51" name="Oval 44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45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39" name="Group 46"/>
            <p:cNvGrpSpPr>
              <a:grpSpLocks/>
            </p:cNvGrpSpPr>
            <p:nvPr/>
          </p:nvGrpSpPr>
          <p:grpSpPr bwMode="auto">
            <a:xfrm>
              <a:off x="5468438" y="4578350"/>
              <a:ext cx="233363" cy="190500"/>
              <a:chOff x="1520" y="1752"/>
              <a:chExt cx="147" cy="120"/>
            </a:xfrm>
          </p:grpSpPr>
          <p:sp>
            <p:nvSpPr>
              <p:cNvPr id="49" name="Oval 47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50" name="Text Box 48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3</a:t>
                </a:r>
              </a:p>
            </p:txBody>
          </p:sp>
        </p:grpSp>
        <p:grpSp>
          <p:nvGrpSpPr>
            <p:cNvPr id="40" name="Group 49"/>
            <p:cNvGrpSpPr>
              <a:grpSpLocks/>
            </p:cNvGrpSpPr>
            <p:nvPr/>
          </p:nvGrpSpPr>
          <p:grpSpPr bwMode="auto">
            <a:xfrm>
              <a:off x="6395538" y="5975350"/>
              <a:ext cx="233363" cy="190500"/>
              <a:chOff x="1520" y="1752"/>
              <a:chExt cx="147" cy="120"/>
            </a:xfrm>
          </p:grpSpPr>
          <p:sp>
            <p:nvSpPr>
              <p:cNvPr id="47" name="Oval 50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8" name="Text Box 51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4</a:t>
                </a:r>
              </a:p>
            </p:txBody>
          </p:sp>
        </p:grpSp>
        <p:grpSp>
          <p:nvGrpSpPr>
            <p:cNvPr id="41" name="Group 52"/>
            <p:cNvGrpSpPr>
              <a:grpSpLocks/>
            </p:cNvGrpSpPr>
            <p:nvPr/>
          </p:nvGrpSpPr>
          <p:grpSpPr bwMode="auto">
            <a:xfrm>
              <a:off x="8059238" y="5708650"/>
              <a:ext cx="233363" cy="190500"/>
              <a:chOff x="1520" y="1752"/>
              <a:chExt cx="147" cy="120"/>
            </a:xfrm>
          </p:grpSpPr>
          <p:sp>
            <p:nvSpPr>
              <p:cNvPr id="45" name="Oval 53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6" name="Text Box 54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5</a:t>
                </a:r>
              </a:p>
            </p:txBody>
          </p:sp>
        </p:grpSp>
        <p:grpSp>
          <p:nvGrpSpPr>
            <p:cNvPr id="42" name="Group 55"/>
            <p:cNvGrpSpPr>
              <a:grpSpLocks/>
            </p:cNvGrpSpPr>
            <p:nvPr/>
          </p:nvGrpSpPr>
          <p:grpSpPr bwMode="auto">
            <a:xfrm>
              <a:off x="10078538" y="5708650"/>
              <a:ext cx="233363" cy="190500"/>
              <a:chOff x="1520" y="1752"/>
              <a:chExt cx="147" cy="120"/>
            </a:xfrm>
          </p:grpSpPr>
          <p:sp>
            <p:nvSpPr>
              <p:cNvPr id="43" name="Oval 56"/>
              <p:cNvSpPr>
                <a:spLocks noChangeArrowheads="1"/>
              </p:cNvSpPr>
              <p:nvPr/>
            </p:nvSpPr>
            <p:spPr bwMode="auto">
              <a:xfrm>
                <a:off x="1520" y="1752"/>
                <a:ext cx="128" cy="120"/>
              </a:xfrm>
              <a:prstGeom prst="ellipse">
                <a:avLst/>
              </a:prstGeom>
              <a:solidFill>
                <a:schemeClr val="bg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endParaRPr lang="en-US" altLang="en-US" sz="24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44" name="Text Box 57"/>
              <p:cNvSpPr txBox="1">
                <a:spLocks noChangeArrowheads="1"/>
              </p:cNvSpPr>
              <p:nvPr/>
            </p:nvSpPr>
            <p:spPr bwMode="auto">
              <a:xfrm>
                <a:off x="1556" y="1769"/>
                <a:ext cx="111" cy="1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0" fontAlgn="base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None/>
                </a:pPr>
                <a:r>
                  <a:rPr lang="en-US" altLang="en-US" sz="1200" b="1">
                    <a:solidFill>
                      <a:srgbClr val="FFFFFF"/>
                    </a:solidFill>
                    <a:latin typeface="Arial" panose="020B0604020202020204" pitchFamily="34" charset="0"/>
                  </a:rPr>
                  <a:t>6</a:t>
                </a:r>
              </a:p>
            </p:txBody>
          </p:sp>
        </p:grp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5213" y="1227909"/>
            <a:ext cx="6518775" cy="5264966"/>
          </a:xfrm>
        </p:spPr>
        <p:txBody>
          <a:bodyPr/>
          <a:lstStyle/>
          <a:p>
            <a:r>
              <a:rPr lang="en-US" altLang="zh-CN" dirty="0"/>
              <a:t>Action potential trigger Ca</a:t>
            </a:r>
            <a:r>
              <a:rPr lang="en-US" altLang="zh-CN" baseline="30000" dirty="0"/>
              <a:t>2+</a:t>
            </a:r>
            <a:r>
              <a:rPr lang="en-US" altLang="zh-CN" dirty="0"/>
              <a:t> influx </a:t>
            </a:r>
          </a:p>
          <a:p>
            <a:r>
              <a:rPr lang="en-US" altLang="zh-CN" dirty="0"/>
              <a:t>Rising Ca</a:t>
            </a:r>
            <a:r>
              <a:rPr lang="en-US" altLang="zh-CN" baseline="30000" dirty="0"/>
              <a:t>2+ </a:t>
            </a:r>
            <a:r>
              <a:rPr lang="en-US" altLang="zh-CN" dirty="0"/>
              <a:t>level triggers vesicle fusion, release chemicals (neurotransmitters)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34131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Neurotransmitter (</a:t>
            </a:r>
            <a:r>
              <a:rPr lang="zh-CN" altLang="en-US" dirty="0"/>
              <a:t>神经递质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8" y="1227909"/>
            <a:ext cx="6620510" cy="5264966"/>
          </a:xfrm>
        </p:spPr>
        <p:txBody>
          <a:bodyPr/>
          <a:lstStyle/>
          <a:p>
            <a:r>
              <a:rPr lang="en-US" altLang="zh-CN" dirty="0"/>
              <a:t>More than 100</a:t>
            </a:r>
          </a:p>
          <a:p>
            <a:r>
              <a:rPr lang="en-US" altLang="zh-CN" dirty="0"/>
              <a:t>Excitatory: acetylcholine, glutamate</a:t>
            </a:r>
          </a:p>
          <a:p>
            <a:r>
              <a:rPr lang="en-US" altLang="zh-CN" dirty="0"/>
              <a:t>Inhibitory: acetylcholine, GABA</a:t>
            </a:r>
          </a:p>
          <a:p>
            <a:r>
              <a:rPr lang="en-US" altLang="zh-CN" dirty="0"/>
              <a:t>Modulatory: dopamine, peptide (e.g., endorphins, natural pain killer)</a:t>
            </a:r>
          </a:p>
          <a:p>
            <a:r>
              <a:rPr lang="en-US" altLang="zh-CN" dirty="0"/>
              <a:t>Diverse ion channel receptors and GPCRs </a:t>
            </a:r>
          </a:p>
          <a:p>
            <a:r>
              <a:rPr lang="en-US" altLang="zh-CN" dirty="0"/>
              <a:t>Peptide neurotransmitters co-released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89046A-7F0D-4FD1-9DC4-EFF1A7C78A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687" y="0"/>
            <a:ext cx="51883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58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2D9684-25DD-C85E-D00F-6FB55853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Drugs in the Brain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51D938-0FD4-8D37-3D04-6BCE96E5D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/>
              <a:t>Common substances</a:t>
            </a:r>
            <a:r>
              <a:rPr lang="en-US" altLang="zh-CN" dirty="0"/>
              <a:t>, such as caffeine, nicotine, and alcohol</a:t>
            </a:r>
          </a:p>
          <a:p>
            <a:r>
              <a:rPr lang="en-US" altLang="zh-CN" b="1" dirty="0"/>
              <a:t>Prescription drugs</a:t>
            </a:r>
            <a:r>
              <a:rPr lang="en-US" altLang="zh-CN" dirty="0"/>
              <a:t>, used to treat psychological disorders often alter the effects of neurotransmitters.</a:t>
            </a:r>
          </a:p>
          <a:p>
            <a:pPr lvl="1"/>
            <a:r>
              <a:rPr lang="en-US" altLang="zh-CN" dirty="0"/>
              <a:t>The most commonly prescribed class of </a:t>
            </a:r>
            <a:r>
              <a:rPr lang="en-US" altLang="zh-CN" b="1" dirty="0">
                <a:solidFill>
                  <a:srgbClr val="FF0000"/>
                </a:solidFill>
              </a:rPr>
              <a:t>antidepressant</a:t>
            </a:r>
            <a:r>
              <a:rPr lang="en-US" altLang="zh-CN" dirty="0"/>
              <a:t> medications—the selective serotonin reuptake inhibitors (or SSRIs), Zoloft and Prozac— block the </a:t>
            </a:r>
            <a:r>
              <a:rPr lang="en-US" altLang="zh-CN" dirty="0">
                <a:solidFill>
                  <a:srgbClr val="FF0000"/>
                </a:solidFill>
              </a:rPr>
              <a:t>reuptake</a:t>
            </a:r>
            <a:r>
              <a:rPr lang="en-US" altLang="zh-CN" dirty="0"/>
              <a:t> of serotonin.</a:t>
            </a:r>
          </a:p>
          <a:p>
            <a:r>
              <a:rPr lang="en-US" altLang="zh-CN" b="1" dirty="0"/>
              <a:t>Illegal drugs</a:t>
            </a:r>
            <a:r>
              <a:rPr lang="en-US" altLang="zh-CN" dirty="0"/>
              <a:t>, stimulants such as amphetamines and cocaine increase the availability of norepinephrine and dopamine at synapses.</a:t>
            </a:r>
          </a:p>
          <a:p>
            <a:pPr lvl="1"/>
            <a:r>
              <a:rPr lang="en-US" altLang="zh-CN" dirty="0"/>
              <a:t>LSD, marijuana, opiates (morphine, codeine, and heroin), etc. 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AFC9E79-510A-0962-C5CD-5CB36D3B7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2836707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2254" y="132523"/>
            <a:ext cx="9911734" cy="958863"/>
          </a:xfrm>
        </p:spPr>
        <p:txBody>
          <a:bodyPr/>
          <a:lstStyle/>
          <a:p>
            <a:r>
              <a:rPr lang="en-US" altLang="zh-CN" dirty="0"/>
              <a:t>Integration by Cell Body</a:t>
            </a:r>
            <a:endParaRPr lang="zh-CN" alt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5772334" y="219673"/>
            <a:ext cx="6419666" cy="6418654"/>
            <a:chOff x="2541772" y="136525"/>
            <a:chExt cx="6419666" cy="6418654"/>
          </a:xfrm>
        </p:grpSpPr>
        <p:pic>
          <p:nvPicPr>
            <p:cNvPr id="6" name="Picture 2" descr="27_06_SynapticInputs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3254375" y="136525"/>
              <a:ext cx="5683250" cy="64186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2541772" y="2176674"/>
              <a:ext cx="1244600" cy="5048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Receiving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cell body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7831138" y="138114"/>
              <a:ext cx="1130300" cy="261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Dendrites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7862888" y="1593850"/>
              <a:ext cx="811212" cy="4841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Myelin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sheath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8247063" y="2738439"/>
              <a:ext cx="641350" cy="280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Axon</a:t>
              </a:r>
              <a:endParaRPr lang="en-US" altLang="en-US" sz="18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7224714" y="3011488"/>
              <a:ext cx="1214437" cy="565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Synaptic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terminals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 rot="-5400000">
              <a:off x="8043069" y="6146007"/>
              <a:ext cx="490538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</a:rPr>
                <a:t>SEM</a:t>
              </a: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V="1">
              <a:off x="3578227" y="1930399"/>
              <a:ext cx="1349374" cy="5048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1"/>
            <p:cNvGrpSpPr>
              <a:grpSpLocks/>
            </p:cNvGrpSpPr>
            <p:nvPr/>
          </p:nvGrpSpPr>
          <p:grpSpPr bwMode="auto">
            <a:xfrm>
              <a:off x="7302500" y="279400"/>
              <a:ext cx="495300" cy="622300"/>
              <a:chOff x="3640" y="176"/>
              <a:chExt cx="312" cy="392"/>
            </a:xfrm>
          </p:grpSpPr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 flipH="1">
                <a:off x="3640" y="176"/>
                <a:ext cx="312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Line 13"/>
              <p:cNvSpPr>
                <a:spLocks noChangeShapeType="1"/>
              </p:cNvSpPr>
              <p:nvPr/>
            </p:nvSpPr>
            <p:spPr bwMode="auto">
              <a:xfrm flipH="1">
                <a:off x="3648" y="176"/>
                <a:ext cx="304" cy="3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7518400" y="1981200"/>
              <a:ext cx="292100" cy="20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H="1" flipV="1">
              <a:off x="7937500" y="2438400"/>
              <a:ext cx="279400" cy="40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 flipH="1" flipV="1">
              <a:off x="6045200" y="2311400"/>
              <a:ext cx="1130300" cy="850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 flipV="1">
              <a:off x="6632576" y="2305050"/>
              <a:ext cx="542925" cy="8572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6115050" y="3327400"/>
              <a:ext cx="1041400" cy="2044700"/>
              <a:chOff x="2892" y="2096"/>
              <a:chExt cx="656" cy="1288"/>
            </a:xfrm>
          </p:grpSpPr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H="1">
                <a:off x="2892" y="2108"/>
                <a:ext cx="648" cy="736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Line 20"/>
              <p:cNvSpPr>
                <a:spLocks noChangeShapeType="1"/>
              </p:cNvSpPr>
              <p:nvPr/>
            </p:nvSpPr>
            <p:spPr bwMode="auto">
              <a:xfrm flipH="1">
                <a:off x="3176" y="2112"/>
                <a:ext cx="368" cy="1272"/>
              </a:xfrm>
              <a:prstGeom prst="line">
                <a:avLst/>
              </a:prstGeom>
              <a:noFill/>
              <a:ln w="25400">
                <a:solidFill>
                  <a:schemeClr val="bg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21"/>
              <p:cNvSpPr>
                <a:spLocks noChangeShapeType="1"/>
              </p:cNvSpPr>
              <p:nvPr/>
            </p:nvSpPr>
            <p:spPr bwMode="auto">
              <a:xfrm flipH="1">
                <a:off x="2904" y="2104"/>
                <a:ext cx="640" cy="7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Line 22"/>
              <p:cNvSpPr>
                <a:spLocks noChangeShapeType="1"/>
              </p:cNvSpPr>
              <p:nvPr/>
            </p:nvSpPr>
            <p:spPr bwMode="auto">
              <a:xfrm flipH="1">
                <a:off x="3180" y="2096"/>
                <a:ext cx="368" cy="127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6" name="Picture 25" descr="Neuroscience6e-Fig-05-20-0.jpg">
            <a:extLst>
              <a:ext uri="{FF2B5EF4-FFF2-40B4-BE49-F238E27FC236}">
                <a16:creationId xmlns:a16="http://schemas.microsoft.com/office/drawing/2014/main" id="{B1577C3D-7A99-470A-95CD-8FA1A8CF9D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462" y="1227909"/>
            <a:ext cx="4594110" cy="5630091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6492875"/>
            <a:ext cx="4114800" cy="365125"/>
          </a:xfrm>
        </p:spPr>
        <p:txBody>
          <a:bodyPr anchor="b"/>
          <a:lstStyle/>
          <a:p>
            <a:pPr algn="r"/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4771402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4EFD08-7224-642A-02F7-CE73758C3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Organization of the Nervous System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1F1765-9F06-5070-FF9E-063ADAFAF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6541084" cy="5264966"/>
          </a:xfrm>
        </p:spPr>
        <p:txBody>
          <a:bodyPr/>
          <a:lstStyle/>
          <a:p>
            <a:r>
              <a:rPr lang="en-US" altLang="zh-CN" dirty="0"/>
              <a:t>The nervous systems of most animals have two main anatomical divisions. </a:t>
            </a:r>
          </a:p>
          <a:p>
            <a:r>
              <a:rPr lang="en-US" altLang="zh-CN" dirty="0"/>
              <a:t>The central nervous system (CNS) </a:t>
            </a:r>
          </a:p>
          <a:p>
            <a:pPr lvl="1"/>
            <a:r>
              <a:rPr lang="en-US" altLang="zh-CN" dirty="0"/>
              <a:t>Brain and spinal cord </a:t>
            </a:r>
          </a:p>
          <a:p>
            <a:pPr lvl="1"/>
            <a:r>
              <a:rPr lang="en-US" altLang="zh-CN" dirty="0"/>
              <a:t>Control center of the nervous system </a:t>
            </a:r>
          </a:p>
          <a:p>
            <a:r>
              <a:rPr lang="en-US" altLang="zh-CN" dirty="0"/>
              <a:t>The peripheral nervous system (PNS)</a:t>
            </a:r>
          </a:p>
          <a:p>
            <a:pPr lvl="1"/>
            <a:r>
              <a:rPr lang="en-US" altLang="zh-CN" dirty="0"/>
              <a:t>Made up mostly of </a:t>
            </a:r>
            <a:r>
              <a:rPr lang="en-US" altLang="zh-CN" b="1" dirty="0">
                <a:solidFill>
                  <a:srgbClr val="FF0000"/>
                </a:solidFill>
              </a:rPr>
              <a:t>nerves</a:t>
            </a:r>
            <a:r>
              <a:rPr lang="en-US" altLang="zh-CN" dirty="0"/>
              <a:t> (bundles of axons wrapped in connective tissue) </a:t>
            </a:r>
          </a:p>
          <a:p>
            <a:pPr lvl="1"/>
            <a:r>
              <a:rPr lang="en-US" altLang="zh-CN" dirty="0"/>
              <a:t>Carry signals into and out of the CNS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65D8E5-D2AF-90A1-7595-D4051A741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5040835-6D27-1E0C-B784-D907D2AD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261" y="0"/>
            <a:ext cx="5267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570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9D8F4A-B2AD-5F74-A623-64DFAEE6D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Three Functions by Three Types of Neurons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20BAE-F453-85BD-AB54-FF2D51AB0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CB03DC-D6E5-077F-A640-763C4DE17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587647B-B7A1-D608-AD94-AD7F36391429}"/>
              </a:ext>
            </a:extLst>
          </p:cNvPr>
          <p:cNvGrpSpPr>
            <a:grpSpLocks noChangeAspect="1"/>
          </p:cNvGrpSpPr>
          <p:nvPr/>
        </p:nvGrpSpPr>
        <p:grpSpPr>
          <a:xfrm>
            <a:off x="2023584" y="1227910"/>
            <a:ext cx="8144832" cy="5264966"/>
            <a:chOff x="2671764" y="1550988"/>
            <a:chExt cx="6846887" cy="4425951"/>
          </a:xfrm>
        </p:grpSpPr>
        <p:pic>
          <p:nvPicPr>
            <p:cNvPr id="6" name="Picture 2" descr="27_01NervousSysOrg_3-U">
              <a:extLst>
                <a:ext uri="{FF2B5EF4-FFF2-40B4-BE49-F238E27FC236}">
                  <a16:creationId xmlns:a16="http://schemas.microsoft.com/office/drawing/2014/main" id="{8CE31857-8E66-8DF2-9022-B2242A6EEB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1764" y="1550988"/>
              <a:ext cx="6846887" cy="44259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5A30EEFD-B24C-4D3E-8B3B-055BBCE97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8989" y="1654176"/>
              <a:ext cx="2130425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0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Sensory Input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7EDAF50B-08E8-82FE-710A-66FDFA2D8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4376" y="2565401"/>
              <a:ext cx="1787525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0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Integration</a:t>
              </a: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B4CD2C7A-D899-CEE7-4E9D-9DEEBFB50C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2989" y="3673476"/>
              <a:ext cx="2130425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000" b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" panose="02040503050406030204" pitchFamily="18" charset="0"/>
                </a:rPr>
                <a:t>Motor Output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D585ED24-DBE0-53B7-755E-D558A42F3D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9388" y="2695576"/>
              <a:ext cx="1928812" cy="2968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Sensory receptor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B748027D-0F6C-5E32-E978-0201CA65B9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239" y="2652713"/>
              <a:ext cx="1304925" cy="538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  <a:t>Sensory </a:t>
              </a:r>
              <a:b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</a:br>
              <a: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  <a:t>neurons</a:t>
              </a:r>
            </a:p>
          </p:txBody>
        </p:sp>
        <p:sp>
          <p:nvSpPr>
            <p:cNvPr id="12" name="Text Box 9">
              <a:extLst>
                <a:ext uri="{FF2B5EF4-FFF2-40B4-BE49-F238E27FC236}">
                  <a16:creationId xmlns:a16="http://schemas.microsoft.com/office/drawing/2014/main" id="{A47D6F9F-EB20-091A-82B8-EE1ADD110A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6976" y="4689476"/>
              <a:ext cx="1533525" cy="5381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7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  <a:t>Motor</a:t>
              </a:r>
              <a:b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</a:br>
              <a: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  <a:t>neurons</a:t>
              </a:r>
            </a:p>
          </p:txBody>
        </p:sp>
        <p:sp>
          <p:nvSpPr>
            <p:cNvPr id="13" name="Text Box 10">
              <a:extLst>
                <a:ext uri="{FF2B5EF4-FFF2-40B4-BE49-F238E27FC236}">
                  <a16:creationId xmlns:a16="http://schemas.microsoft.com/office/drawing/2014/main" id="{BD229167-1DAA-E792-FEAD-1AB3652FAB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2588" y="5311776"/>
              <a:ext cx="1497012" cy="258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Effector cells</a:t>
              </a:r>
            </a:p>
          </p:txBody>
        </p:sp>
        <p:sp>
          <p:nvSpPr>
            <p:cNvPr id="14" name="Text Box 11">
              <a:extLst>
                <a:ext uri="{FF2B5EF4-FFF2-40B4-BE49-F238E27FC236}">
                  <a16:creationId xmlns:a16="http://schemas.microsoft.com/office/drawing/2014/main" id="{44440045-10CE-0668-0B29-A9000AAE8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5039" y="3176588"/>
              <a:ext cx="1495425" cy="260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FF0000"/>
                  </a:solidFill>
                  <a:latin typeface="Cambria" panose="02040503050406030204" pitchFamily="18" charset="0"/>
                </a:rPr>
                <a:t>Interneurons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（</a:t>
              </a:r>
              <a:r>
                <a:rPr lang="zh-CN" altLang="en-US" sz="1600" b="1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中间神经元） </a:t>
              </a:r>
              <a:endParaRPr lang="en-US" altLang="en-US" sz="1600" b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Text Box 12">
              <a:extLst>
                <a:ext uri="{FF2B5EF4-FFF2-40B4-BE49-F238E27FC236}">
                  <a16:creationId xmlns:a16="http://schemas.microsoft.com/office/drawing/2014/main" id="{EFFFA9DB-D004-D8E1-6451-2B679C7539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7388" y="4918076"/>
              <a:ext cx="2360612" cy="2587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Brain and spinal cord</a:t>
              </a:r>
            </a:p>
          </p:txBody>
        </p:sp>
        <p:sp>
          <p:nvSpPr>
            <p:cNvPr id="16" name="Text Box 13">
              <a:extLst>
                <a:ext uri="{FF2B5EF4-FFF2-40B4-BE49-F238E27FC236}">
                  <a16:creationId xmlns:a16="http://schemas.microsoft.com/office/drawing/2014/main" id="{A6A6FA2F-C7C1-81BE-FFFB-6B60D22B43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5988" y="5476876"/>
              <a:ext cx="2043112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Peripheral nervous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system (</a:t>
              </a:r>
              <a:r>
                <a:rPr lang="en-US" altLang="en-US" sz="1800" b="1" dirty="0">
                  <a:latin typeface="Cambria" panose="02040503050406030204" pitchFamily="18" charset="0"/>
                </a:rPr>
                <a:t>PNS</a:t>
              </a: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)</a:t>
              </a:r>
            </a:p>
          </p:txBody>
        </p:sp>
        <p:sp>
          <p:nvSpPr>
            <p:cNvPr id="17" name="Text Box 14">
              <a:extLst>
                <a:ext uri="{FF2B5EF4-FFF2-40B4-BE49-F238E27FC236}">
                  <a16:creationId xmlns:a16="http://schemas.microsoft.com/office/drawing/2014/main" id="{AAC69762-3002-EF32-D418-E5D6EF5684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5988" y="5476876"/>
              <a:ext cx="1852612" cy="5000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Central nervous</a:t>
              </a:r>
              <a:b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system (</a:t>
              </a:r>
              <a:r>
                <a:rPr lang="en-US" altLang="en-US" sz="1800" b="1" dirty="0">
                  <a:latin typeface="Cambria" panose="02040503050406030204" pitchFamily="18" charset="0"/>
                </a:rPr>
                <a:t>CNS</a:t>
              </a: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)</a:t>
              </a: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9EBBF859-F88D-A321-083F-FF7810B781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56200" y="2189163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336BF8CF-0187-8E4A-1809-D1B6F1C6E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86713" y="3762375"/>
              <a:ext cx="165100" cy="34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D0633065-4BF5-8AA0-9C83-B6CDEF8654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8100" y="4259263"/>
              <a:ext cx="0" cy="3683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Group 18">
              <a:extLst>
                <a:ext uri="{FF2B5EF4-FFF2-40B4-BE49-F238E27FC236}">
                  <a16:creationId xmlns:a16="http://schemas.microsoft.com/office/drawing/2014/main" id="{35513EE3-8717-8578-4B66-101AD2B54C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67250" y="5059363"/>
              <a:ext cx="2139950" cy="419100"/>
              <a:chOff x="1980" y="2920"/>
              <a:chExt cx="1348" cy="264"/>
            </a:xfrm>
          </p:grpSpPr>
          <p:sp>
            <p:nvSpPr>
              <p:cNvPr id="27" name="Line 19">
                <a:extLst>
                  <a:ext uri="{FF2B5EF4-FFF2-40B4-BE49-F238E27FC236}">
                    <a16:creationId xmlns:a16="http://schemas.microsoft.com/office/drawing/2014/main" id="{42A41075-491B-9C2C-95BE-DE714B2E85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0" y="2920"/>
                <a:ext cx="0" cy="1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Line 20">
                <a:extLst>
                  <a:ext uri="{FF2B5EF4-FFF2-40B4-BE49-F238E27FC236}">
                    <a16:creationId xmlns:a16="http://schemas.microsoft.com/office/drawing/2014/main" id="{EDE40332-CE75-2CE3-C452-39D5A8397E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4" y="3048"/>
                <a:ext cx="134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21">
                <a:extLst>
                  <a:ext uri="{FF2B5EF4-FFF2-40B4-BE49-F238E27FC236}">
                    <a16:creationId xmlns:a16="http://schemas.microsoft.com/office/drawing/2014/main" id="{7A9470BA-FCC3-D15C-F585-9BE875A29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28" y="2920"/>
                <a:ext cx="0" cy="1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Line 22">
                <a:extLst>
                  <a:ext uri="{FF2B5EF4-FFF2-40B4-BE49-F238E27FC236}">
                    <a16:creationId xmlns:a16="http://schemas.microsoft.com/office/drawing/2014/main" id="{12BC46D6-C7DB-7A95-3880-13317790A4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6" y="3044"/>
                <a:ext cx="0" cy="1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Group 23">
              <a:extLst>
                <a:ext uri="{FF2B5EF4-FFF2-40B4-BE49-F238E27FC236}">
                  <a16:creationId xmlns:a16="http://schemas.microsoft.com/office/drawing/2014/main" id="{5813A068-48D9-AE1B-C8FB-B97AAF292E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34200" y="5059363"/>
              <a:ext cx="2527300" cy="419100"/>
              <a:chOff x="3408" y="2920"/>
              <a:chExt cx="1592" cy="264"/>
            </a:xfrm>
          </p:grpSpPr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2177F5AE-BB02-2B8B-4368-A1E67F93F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920"/>
                <a:ext cx="0" cy="1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1B217643-CBB0-B5B2-385E-CD24F945D7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3048"/>
                <a:ext cx="159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Line 26">
                <a:extLst>
                  <a:ext uri="{FF2B5EF4-FFF2-40B4-BE49-F238E27FC236}">
                    <a16:creationId xmlns:a16="http://schemas.microsoft.com/office/drawing/2014/main" id="{7869E89D-A8A9-F9C2-F7B4-C39A9D3D3B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00" y="2920"/>
                <a:ext cx="0" cy="1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Line 27">
                <a:extLst>
                  <a:ext uri="{FF2B5EF4-FFF2-40B4-BE49-F238E27FC236}">
                    <a16:creationId xmlns:a16="http://schemas.microsoft.com/office/drawing/2014/main" id="{FD692E98-A560-50BC-B7EE-526A31A21F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00" y="3048"/>
                <a:ext cx="0" cy="1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035764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C23C9-9FEC-358A-5A16-E4DAB4253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Peripheral Nervous System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2EC53C-A132-D7A7-C229-6939F592B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5532633" cy="5264966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Two functional components</a:t>
            </a:r>
          </a:p>
          <a:p>
            <a:r>
              <a:rPr lang="en-US" altLang="zh-CN" dirty="0"/>
              <a:t>Motor system</a:t>
            </a:r>
          </a:p>
          <a:p>
            <a:pPr lvl="1"/>
            <a:r>
              <a:rPr lang="en-US" altLang="zh-CN" dirty="0"/>
              <a:t>carries signals </a:t>
            </a:r>
            <a:r>
              <a:rPr lang="en-US" altLang="zh-CN" b="1" dirty="0">
                <a:solidFill>
                  <a:srgbClr val="FF0000"/>
                </a:solidFill>
              </a:rPr>
              <a:t>to and from </a:t>
            </a:r>
            <a:r>
              <a:rPr lang="en-US" altLang="zh-CN" dirty="0"/>
              <a:t>skeletal muscles</a:t>
            </a:r>
          </a:p>
          <a:p>
            <a:pPr lvl="1"/>
            <a:r>
              <a:rPr lang="en-US" altLang="zh-CN" dirty="0"/>
              <a:t>mainly in response to external stimuli</a:t>
            </a:r>
          </a:p>
          <a:p>
            <a:pPr lvl="1"/>
            <a:r>
              <a:rPr lang="en-US" altLang="zh-CN" dirty="0"/>
              <a:t>voluntary</a:t>
            </a:r>
          </a:p>
          <a:p>
            <a:r>
              <a:rPr lang="en-US" altLang="zh-CN" dirty="0"/>
              <a:t>Autonomic nervous system</a:t>
            </a:r>
          </a:p>
          <a:p>
            <a:pPr lvl="1"/>
            <a:r>
              <a:rPr lang="en-US" altLang="zh-CN" b="1" dirty="0">
                <a:solidFill>
                  <a:srgbClr val="FF0000"/>
                </a:solidFill>
              </a:rPr>
              <a:t>sense and regulate</a:t>
            </a:r>
            <a:r>
              <a:rPr lang="en-US" altLang="zh-CN" dirty="0"/>
              <a:t> internal environment</a:t>
            </a:r>
          </a:p>
          <a:p>
            <a:pPr lvl="1"/>
            <a:r>
              <a:rPr lang="en-US" altLang="zh-CN" dirty="0"/>
              <a:t>involuntary</a:t>
            </a:r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72DDD30-CF9E-E446-58A4-BC8AACFE1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E269F7-5CBA-BBD7-1499-EE78A426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5810" y="1227909"/>
            <a:ext cx="6276190" cy="44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966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D1D15-1FA2-7C34-242F-345511047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Autonomic Nervous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E03E8-FB58-E9A5-A334-EAA2235A6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By controlling </a:t>
            </a:r>
            <a:r>
              <a:rPr lang="en-US" dirty="0">
                <a:highlight>
                  <a:srgbClr val="FFFF00"/>
                </a:highlight>
              </a:rPr>
              <a:t>smooth and cardiac muscles</a:t>
            </a:r>
            <a:r>
              <a:rPr lang="en-US" dirty="0"/>
              <a:t> and the </a:t>
            </a:r>
            <a:r>
              <a:rPr lang="en-US" dirty="0">
                <a:highlight>
                  <a:srgbClr val="FFFF00"/>
                </a:highlight>
              </a:rPr>
              <a:t>glands</a:t>
            </a:r>
            <a:r>
              <a:rPr lang="en-US" dirty="0"/>
              <a:t> of several body systems: digestive, cardiovascular, excretory, and endocrine systems</a:t>
            </a:r>
          </a:p>
          <a:p>
            <a:r>
              <a:rPr lang="en-US" dirty="0"/>
              <a:t>Two sets of neurons with </a:t>
            </a:r>
            <a:r>
              <a:rPr lang="en-US" dirty="0">
                <a:highlight>
                  <a:srgbClr val="FFFF00"/>
                </a:highlight>
              </a:rPr>
              <a:t>opposing</a:t>
            </a:r>
            <a:r>
              <a:rPr lang="en-US" dirty="0"/>
              <a:t> effects on most body organs</a:t>
            </a:r>
          </a:p>
          <a:p>
            <a:pPr lvl="1"/>
            <a:r>
              <a:rPr lang="en-US" dirty="0"/>
              <a:t>The parasympathetic division (</a:t>
            </a:r>
            <a:r>
              <a:rPr lang="zh-CN" altLang="en-US" dirty="0"/>
              <a:t>副交感神经系统</a:t>
            </a:r>
            <a:r>
              <a:rPr lang="en-US" altLang="zh-CN" dirty="0"/>
              <a:t>)</a:t>
            </a:r>
            <a:r>
              <a:rPr lang="en-US" dirty="0"/>
              <a:t>, “rest and digest”</a:t>
            </a:r>
          </a:p>
          <a:p>
            <a:pPr lvl="2"/>
            <a:r>
              <a:rPr lang="en-US" dirty="0"/>
              <a:t>for activities related to long-term needs of the body</a:t>
            </a:r>
          </a:p>
          <a:p>
            <a:pPr lvl="2"/>
            <a:r>
              <a:rPr lang="en-US" dirty="0">
                <a:highlight>
                  <a:srgbClr val="FFFF00"/>
                </a:highlight>
              </a:rPr>
              <a:t>Stimulate</a:t>
            </a:r>
            <a:r>
              <a:rPr lang="en-US" dirty="0"/>
              <a:t> the digestive organs, </a:t>
            </a:r>
            <a:r>
              <a:rPr lang="en-US" dirty="0">
                <a:highlight>
                  <a:srgbClr val="FFFF00"/>
                </a:highlight>
              </a:rPr>
              <a:t>maintain</a:t>
            </a:r>
            <a:r>
              <a:rPr lang="en-US" dirty="0"/>
              <a:t> an active immune response, </a:t>
            </a:r>
            <a:r>
              <a:rPr lang="en-US" dirty="0">
                <a:highlight>
                  <a:srgbClr val="FFFF00"/>
                </a:highlight>
              </a:rPr>
              <a:t>decrease</a:t>
            </a:r>
            <a:r>
              <a:rPr lang="en-US" dirty="0"/>
              <a:t> the heart rate, </a:t>
            </a:r>
            <a:r>
              <a:rPr lang="en-US" dirty="0">
                <a:highlight>
                  <a:srgbClr val="FFFF00"/>
                </a:highlight>
              </a:rPr>
              <a:t>narrow</a:t>
            </a:r>
            <a:r>
              <a:rPr lang="en-US" dirty="0"/>
              <a:t> the bronchi, which correlates with a </a:t>
            </a:r>
            <a:r>
              <a:rPr lang="en-US" dirty="0">
                <a:highlight>
                  <a:srgbClr val="FFFF00"/>
                </a:highlight>
              </a:rPr>
              <a:t>decreased</a:t>
            </a:r>
            <a:r>
              <a:rPr lang="en-US" dirty="0"/>
              <a:t> breathing rate</a:t>
            </a:r>
          </a:p>
          <a:p>
            <a:pPr lvl="1"/>
            <a:r>
              <a:rPr lang="en-US" dirty="0"/>
              <a:t>The sympathetic division (</a:t>
            </a:r>
            <a:r>
              <a:rPr lang="zh-CN" altLang="en-US" dirty="0"/>
              <a:t>交感神经系统</a:t>
            </a:r>
            <a:r>
              <a:rPr lang="en-US" altLang="zh-CN" dirty="0"/>
              <a:t>)</a:t>
            </a:r>
            <a:r>
              <a:rPr lang="en-US" dirty="0"/>
              <a:t>, “fight or flight”</a:t>
            </a:r>
          </a:p>
          <a:p>
            <a:pPr lvl="2"/>
            <a:r>
              <a:rPr lang="en-US" dirty="0"/>
              <a:t>for intense, energy-consuming activities</a:t>
            </a:r>
          </a:p>
          <a:p>
            <a:pPr lvl="2"/>
            <a:r>
              <a:rPr lang="en-US" dirty="0">
                <a:highlight>
                  <a:srgbClr val="00FF00"/>
                </a:highlight>
              </a:rPr>
              <a:t>Inhibit</a:t>
            </a:r>
            <a:r>
              <a:rPr lang="en-US" dirty="0"/>
              <a:t> the digestive organs, </a:t>
            </a:r>
            <a:r>
              <a:rPr lang="en-US" dirty="0">
                <a:highlight>
                  <a:srgbClr val="00FF00"/>
                </a:highlight>
              </a:rPr>
              <a:t>increase</a:t>
            </a:r>
            <a:r>
              <a:rPr lang="en-US" dirty="0"/>
              <a:t> the heart rate, </a:t>
            </a:r>
            <a:r>
              <a:rPr lang="en-US" dirty="0">
                <a:highlight>
                  <a:srgbClr val="00FF00"/>
                </a:highlight>
              </a:rPr>
              <a:t>dilate</a:t>
            </a:r>
            <a:r>
              <a:rPr lang="en-US" dirty="0"/>
              <a:t> the bronchi, </a:t>
            </a:r>
            <a:r>
              <a:rPr lang="en-US" dirty="0">
                <a:highlight>
                  <a:srgbClr val="00FF00"/>
                </a:highlight>
              </a:rPr>
              <a:t>increase</a:t>
            </a:r>
            <a:r>
              <a:rPr lang="en-US" dirty="0"/>
              <a:t> breathing rate, </a:t>
            </a:r>
            <a:r>
              <a:rPr lang="en-US" dirty="0">
                <a:highlight>
                  <a:srgbClr val="00FF00"/>
                </a:highlight>
              </a:rPr>
              <a:t>secrete</a:t>
            </a:r>
            <a:r>
              <a:rPr lang="en-US" dirty="0"/>
              <a:t> the hormones epinephrine (also called adrenaline) and norepinephrine by adrenal gland (endocrine system)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417529-3570-A01B-BD1A-A0EE80EAB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596133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274B27-2567-5B30-C1CA-1C8AA1FE5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Central Nervous System (CNS)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2EF7C4-8CB2-65CF-96AB-F4CCEE00C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brain</a:t>
            </a:r>
          </a:p>
          <a:p>
            <a:pPr lvl="1"/>
            <a:r>
              <a:rPr lang="en-US" altLang="zh-CN" dirty="0"/>
              <a:t>as the master control center for the nervous system</a:t>
            </a:r>
          </a:p>
          <a:p>
            <a:pPr lvl="1"/>
            <a:r>
              <a:rPr lang="en-US" altLang="zh-CN" dirty="0"/>
              <a:t>integrates data from the sense organs</a:t>
            </a:r>
          </a:p>
          <a:p>
            <a:pPr lvl="1"/>
            <a:r>
              <a:rPr lang="en-US" altLang="zh-CN" dirty="0"/>
              <a:t>sends out commands from motor control centers</a:t>
            </a:r>
          </a:p>
          <a:p>
            <a:r>
              <a:rPr lang="en-US" altLang="zh-CN" dirty="0"/>
              <a:t>The spinal cord </a:t>
            </a:r>
          </a:p>
          <a:p>
            <a:pPr lvl="1"/>
            <a:r>
              <a:rPr lang="en-US" altLang="zh-CN" dirty="0"/>
              <a:t>A bundle of nerve fibers running through the bony spinal column </a:t>
            </a:r>
          </a:p>
          <a:p>
            <a:pPr lvl="1"/>
            <a:r>
              <a:rPr lang="en-US" altLang="zh-CN" dirty="0"/>
              <a:t>A communication conduit between the brain and the rest of the body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C3F9742-54B1-9DEA-C727-5C812B873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7400934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C0DDE-D71E-BFAC-37F0-8B8ED592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Fluid-filled</a:t>
            </a:r>
            <a:r>
              <a:rPr lang="zh-CN" altLang="en-US" dirty="0"/>
              <a:t> </a:t>
            </a:r>
            <a:r>
              <a:rPr lang="en-US" altLang="zh-CN" dirty="0"/>
              <a:t>(“</a:t>
            </a:r>
            <a:r>
              <a:rPr lang="zh-CN" altLang="en-US" dirty="0"/>
              <a:t>进水</a:t>
            </a:r>
            <a:r>
              <a:rPr lang="en-US" altLang="zh-CN" dirty="0"/>
              <a:t>”)</a:t>
            </a:r>
            <a:r>
              <a:rPr lang="en-US" dirty="0"/>
              <a:t> Spaces (“</a:t>
            </a:r>
            <a:r>
              <a:rPr lang="zh-CN" altLang="en-US" dirty="0"/>
              <a:t>脑洞</a:t>
            </a:r>
            <a:r>
              <a:rPr lang="en-US" altLang="zh-CN" dirty="0"/>
              <a:t>”) </a:t>
            </a:r>
            <a:r>
              <a:rPr lang="en-US" dirty="0"/>
              <a:t>in CNS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B1ACB-B662-9E0C-6D05-576C89DC9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2E3BC3-539D-AE53-A1A0-F7C1FDBCC5C5}"/>
              </a:ext>
            </a:extLst>
          </p:cNvPr>
          <p:cNvGrpSpPr/>
          <p:nvPr/>
        </p:nvGrpSpPr>
        <p:grpSpPr>
          <a:xfrm>
            <a:off x="1821657" y="962079"/>
            <a:ext cx="9116419" cy="5530796"/>
            <a:chOff x="1820864" y="501769"/>
            <a:chExt cx="8548687" cy="5017970"/>
          </a:xfrm>
        </p:grpSpPr>
        <p:pic>
          <p:nvPicPr>
            <p:cNvPr id="6" name="Picture 2" descr="27_08FluidFilledSpaces-U">
              <a:extLst>
                <a:ext uri="{FF2B5EF4-FFF2-40B4-BE49-F238E27FC236}">
                  <a16:creationId xmlns:a16="http://schemas.microsoft.com/office/drawing/2014/main" id="{FF9D3E4D-9F5A-E76F-0A83-99B3A92C4B3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1139825"/>
              <a:ext cx="8548687" cy="43799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>
              <a:extLst>
                <a:ext uri="{FF2B5EF4-FFF2-40B4-BE49-F238E27FC236}">
                  <a16:creationId xmlns:a16="http://schemas.microsoft.com/office/drawing/2014/main" id="{1D9176FB-2ABA-8B14-533D-40E633504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9188" y="1147763"/>
              <a:ext cx="793750" cy="27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Brain</a:t>
              </a:r>
            </a:p>
          </p:txBody>
        </p:sp>
        <p:sp>
          <p:nvSpPr>
            <p:cNvPr id="8" name="Text Box 5">
              <a:extLst>
                <a:ext uri="{FF2B5EF4-FFF2-40B4-BE49-F238E27FC236}">
                  <a16:creationId xmlns:a16="http://schemas.microsoft.com/office/drawing/2014/main" id="{E032915B-B559-E0FA-E398-99B95407E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1200" y="501769"/>
              <a:ext cx="6968399" cy="9769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FF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Cerebrospinal fluid </a:t>
              </a:r>
              <a:r>
                <a:rPr lang="en-US" altLang="zh-CN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(</a:t>
              </a:r>
              <a:r>
                <a:rPr lang="zh-CN" altLang="en-US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脑脊液</a:t>
              </a:r>
              <a:r>
                <a:rPr lang="en-US" altLang="zh-CN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) 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+mn-lt"/>
                  <a:ea typeface="KaiTi" panose="02010609060101010101" pitchFamily="49" charset="-122"/>
                </a:rPr>
                <a:t>cushions the CNS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+mn-lt"/>
                  <a:ea typeface="KaiTi" panose="02010609060101010101" pitchFamily="49" charset="-122"/>
                </a:rPr>
                <a:t>supply nutrients, hormones, and white blood cells</a:t>
              </a:r>
              <a:endParaRPr lang="en-US" altLang="en-US" sz="1800" b="1" dirty="0">
                <a:solidFill>
                  <a:srgbClr val="FF0000"/>
                </a:solidFill>
                <a:latin typeface="+mn-lt"/>
                <a:ea typeface="KaiTi" panose="02010609060101010101" pitchFamily="49" charset="-122"/>
              </a:endParaRPr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46A0B7C2-346F-E950-0C56-9207FABD2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2639" y="2031206"/>
              <a:ext cx="2381250" cy="11445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FF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Meninges </a:t>
              </a:r>
              <a:r>
                <a:rPr lang="en-US" altLang="zh-CN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(</a:t>
              </a:r>
              <a:r>
                <a:rPr lang="zh-CN" altLang="en-US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脑膜</a:t>
              </a:r>
              <a:r>
                <a:rPr lang="en-US" altLang="zh-CN" sz="1800" b="1" dirty="0">
                  <a:solidFill>
                    <a:srgbClr val="FF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)</a:t>
              </a:r>
              <a:r>
                <a:rPr lang="zh-CN" altLang="en-US" sz="1800" b="1" dirty="0">
                  <a:solidFill>
                    <a:srgbClr val="FF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 </a:t>
              </a:r>
              <a:endParaRPr lang="en-US" altLang="zh-CN" sz="1800" b="1" dirty="0">
                <a:solidFill>
                  <a:srgbClr val="FF0000"/>
                </a:solidFill>
                <a:latin typeface="Cambria" panose="02040503050406030204" pitchFamily="18" charset="0"/>
                <a:ea typeface="KaiTi" panose="02010609060101010101" pitchFamily="49" charset="-122"/>
              </a:endParaRP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zh-CN" sz="1800" b="1" dirty="0">
                  <a:solidFill>
                    <a:srgbClr val="FF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protective layers</a:t>
              </a:r>
              <a:endParaRPr lang="en-US" alt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E2391380-38E6-50FA-FAA3-BC97DD719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68614" y="5248276"/>
              <a:ext cx="1335087" cy="2714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Spinal cord</a:t>
              </a:r>
            </a:p>
          </p:txBody>
        </p:sp>
        <p:sp>
          <p:nvSpPr>
            <p:cNvPr id="11" name="Text Box 8">
              <a:extLst>
                <a:ext uri="{FF2B5EF4-FFF2-40B4-BE49-F238E27FC236}">
                  <a16:creationId xmlns:a16="http://schemas.microsoft.com/office/drawing/2014/main" id="{B3AD6B1F-A302-2AFC-A165-B000C1345B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23164" y="4300539"/>
              <a:ext cx="1895475" cy="6048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Spinal cord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(cross section)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3B50A6CE-DA43-AEEE-FB02-6E401829AA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2900" y="1397000"/>
              <a:ext cx="330200" cy="393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3F313FEF-92F0-54D2-9F1C-0DB6AC4B2E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5400" y="1454150"/>
              <a:ext cx="4635500" cy="1643063"/>
              <a:chOff x="1456" y="916"/>
              <a:chExt cx="2920" cy="1035"/>
            </a:xfrm>
          </p:grpSpPr>
          <p:sp>
            <p:nvSpPr>
              <p:cNvPr id="23" name="Line 11">
                <a:extLst>
                  <a:ext uri="{FF2B5EF4-FFF2-40B4-BE49-F238E27FC236}">
                    <a16:creationId xmlns:a16="http://schemas.microsoft.com/office/drawing/2014/main" id="{7C68A946-B7EB-17AF-D713-8221291E6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56" y="916"/>
                <a:ext cx="1620" cy="8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Line 12">
                <a:extLst>
                  <a:ext uri="{FF2B5EF4-FFF2-40B4-BE49-F238E27FC236}">
                    <a16:creationId xmlns:a16="http://schemas.microsoft.com/office/drawing/2014/main" id="{A8C4F133-3737-97FD-1092-2FCE30832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6" y="919"/>
                <a:ext cx="1320" cy="10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8F5FE54-87D3-EBD9-1B79-210FB44D72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92800" y="2603500"/>
              <a:ext cx="1612900" cy="723900"/>
              <a:chOff x="2752" y="1640"/>
              <a:chExt cx="1016" cy="456"/>
            </a:xfrm>
          </p:grpSpPr>
          <p:sp>
            <p:nvSpPr>
              <p:cNvPr id="21" name="Line 14">
                <a:extLst>
                  <a:ext uri="{FF2B5EF4-FFF2-40B4-BE49-F238E27FC236}">
                    <a16:creationId xmlns:a16="http://schemas.microsoft.com/office/drawing/2014/main" id="{B4B680CD-7CA7-E4E5-6DBE-EA79311B4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52" y="1640"/>
                <a:ext cx="304" cy="2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15">
                <a:extLst>
                  <a:ext uri="{FF2B5EF4-FFF2-40B4-BE49-F238E27FC236}">
                    <a16:creationId xmlns:a16="http://schemas.microsoft.com/office/drawing/2014/main" id="{26D00431-B1F2-F3A9-C1F0-90A14E59AA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6" y="1640"/>
                <a:ext cx="712" cy="4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5" name="Group 16">
              <a:extLst>
                <a:ext uri="{FF2B5EF4-FFF2-40B4-BE49-F238E27FC236}">
                  <a16:creationId xmlns:a16="http://schemas.microsoft.com/office/drawing/2014/main" id="{936979F5-29F4-DB60-B432-8A56C42759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69200" y="3867150"/>
              <a:ext cx="1866900" cy="431800"/>
              <a:chOff x="3808" y="2436"/>
              <a:chExt cx="1176" cy="272"/>
            </a:xfrm>
          </p:grpSpPr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4CC6E733-2494-D250-B725-BC8F39821A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8" y="2436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857BFECD-5323-C6F1-2E5D-BB64717EEA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8" y="2560"/>
                <a:ext cx="1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" name="Line 19">
                <a:extLst>
                  <a:ext uri="{FF2B5EF4-FFF2-40B4-BE49-F238E27FC236}">
                    <a16:creationId xmlns:a16="http://schemas.microsoft.com/office/drawing/2014/main" id="{135F0CA2-A6FC-B01E-E0DE-F8673510D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84" y="2436"/>
                <a:ext cx="0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Line 20">
                <a:extLst>
                  <a:ext uri="{FF2B5EF4-FFF2-40B4-BE49-F238E27FC236}">
                    <a16:creationId xmlns:a16="http://schemas.microsoft.com/office/drawing/2014/main" id="{21F03E15-36F5-AFFA-CCB7-9ABBD7131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2" y="2564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Line 21">
              <a:extLst>
                <a:ext uri="{FF2B5EF4-FFF2-40B4-BE49-F238E27FC236}">
                  <a16:creationId xmlns:a16="http://schemas.microsoft.com/office/drawing/2014/main" id="{62DCD32A-5A22-9A14-9C06-68027963F2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2900" y="5372100"/>
              <a:ext cx="406400" cy="12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84885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4EAE-C416-9C99-7277-1E8AC49B2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Human Brain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C7FB3-F68D-1075-ED6D-69CCC83DA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4339294" cy="5264966"/>
          </a:xfrm>
        </p:spPr>
        <p:txBody>
          <a:bodyPr/>
          <a:lstStyle/>
          <a:p>
            <a:r>
              <a:rPr lang="en-US" dirty="0"/>
              <a:t>Up to 100 billion intricately </a:t>
            </a:r>
            <a:r>
              <a:rPr lang="en-US" b="1" dirty="0">
                <a:solidFill>
                  <a:srgbClr val="FF0000"/>
                </a:solidFill>
              </a:rPr>
              <a:t>organized</a:t>
            </a:r>
            <a:r>
              <a:rPr lang="en-US" dirty="0"/>
              <a:t> neurons</a:t>
            </a:r>
          </a:p>
          <a:p>
            <a:r>
              <a:rPr lang="en-US" dirty="0"/>
              <a:t>About 10 times more supporting cells (glial cells)</a:t>
            </a:r>
          </a:p>
          <a:p>
            <a:r>
              <a:rPr lang="en-US" dirty="0"/>
              <a:t>Three regions</a:t>
            </a:r>
          </a:p>
          <a:p>
            <a:pPr lvl="1"/>
            <a:r>
              <a:rPr lang="en-US" dirty="0"/>
              <a:t>Hindbrain</a:t>
            </a:r>
          </a:p>
          <a:p>
            <a:pPr lvl="1"/>
            <a:r>
              <a:rPr lang="en-US" dirty="0"/>
              <a:t>Midbrain</a:t>
            </a:r>
          </a:p>
          <a:p>
            <a:pPr lvl="1"/>
            <a:r>
              <a:rPr lang="en-US" dirty="0"/>
              <a:t>Forebrain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8CA18-7DDC-D430-7DE0-AFA72C99F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4A3763EA-7FC2-8FD5-CD0F-9C2773E98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0304" y="114421"/>
            <a:ext cx="7341696" cy="6629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2671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1A1D5-6FD0-97B5-19B1-8CEEEB05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2E94BF-95B7-87B5-5131-4F2EC97A7D0E}"/>
              </a:ext>
            </a:extLst>
          </p:cNvPr>
          <p:cNvGrpSpPr/>
          <p:nvPr/>
        </p:nvGrpSpPr>
        <p:grpSpPr>
          <a:xfrm>
            <a:off x="3637280" y="86360"/>
            <a:ext cx="8554720" cy="6685280"/>
            <a:chOff x="1605319" y="0"/>
            <a:chExt cx="8981361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875B78E-8CD4-86E0-8E92-E196F701A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05319" y="0"/>
              <a:ext cx="8981361" cy="6858000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813D26F-30BA-27D7-4B86-32065126808C}"/>
                </a:ext>
              </a:extLst>
            </p:cNvPr>
            <p:cNvSpPr/>
            <p:nvPr/>
          </p:nvSpPr>
          <p:spPr>
            <a:xfrm>
              <a:off x="1605319" y="0"/>
              <a:ext cx="648182" cy="2257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46C9B5-D966-6AC9-9410-9CDB60BCC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7135"/>
            <a:ext cx="4254671" cy="5264966"/>
          </a:xfrm>
        </p:spPr>
        <p:txBody>
          <a:bodyPr/>
          <a:lstStyle/>
          <a:p>
            <a:r>
              <a:rPr lang="en-US" sz="2000" dirty="0"/>
              <a:t>Forebrain</a:t>
            </a:r>
          </a:p>
          <a:p>
            <a:pPr lvl="1"/>
            <a:r>
              <a:rPr lang="en-US" sz="2000" dirty="0"/>
              <a:t>Cerebrum (</a:t>
            </a:r>
            <a:r>
              <a:rPr lang="zh-CN" altLang="en-US" sz="2000" dirty="0"/>
              <a:t>大脑</a:t>
            </a:r>
            <a:r>
              <a:rPr lang="en-US" altLang="zh-CN" sz="2000" dirty="0"/>
              <a:t>) </a:t>
            </a:r>
          </a:p>
          <a:p>
            <a:pPr lvl="2"/>
            <a:r>
              <a:rPr lang="en-US" sz="1800" dirty="0"/>
              <a:t>Cerebral cortex (</a:t>
            </a:r>
            <a:r>
              <a:rPr lang="zh-CN" altLang="en-US" sz="1800" dirty="0"/>
              <a:t>大脑皮层</a:t>
            </a:r>
            <a:r>
              <a:rPr lang="en-US" altLang="zh-CN" sz="1800" dirty="0"/>
              <a:t>)</a:t>
            </a:r>
          </a:p>
          <a:p>
            <a:pPr lvl="1"/>
            <a:r>
              <a:rPr lang="en-US" sz="2000" dirty="0"/>
              <a:t>Thalamus (</a:t>
            </a:r>
            <a:r>
              <a:rPr lang="zh-CN" altLang="en-US" sz="2000" dirty="0"/>
              <a:t>丘脑</a:t>
            </a:r>
            <a:r>
              <a:rPr lang="en-US" altLang="zh-CN" sz="2000" dirty="0"/>
              <a:t>)</a:t>
            </a:r>
          </a:p>
          <a:p>
            <a:pPr lvl="2"/>
            <a:r>
              <a:rPr lang="en-US" altLang="zh-CN" sz="1800" dirty="0"/>
              <a:t>Signal relay and allocation</a:t>
            </a:r>
          </a:p>
          <a:p>
            <a:pPr lvl="1"/>
            <a:r>
              <a:rPr lang="en-US" sz="2000" dirty="0"/>
              <a:t>Hypothalamus (</a:t>
            </a:r>
            <a:r>
              <a:rPr lang="zh-CN" altLang="en-US" sz="2000" dirty="0"/>
              <a:t>下丘脑</a:t>
            </a:r>
            <a:r>
              <a:rPr lang="en-US" altLang="zh-CN" sz="2000" dirty="0"/>
              <a:t>)</a:t>
            </a:r>
          </a:p>
          <a:p>
            <a:r>
              <a:rPr lang="en-US" sz="2000" dirty="0"/>
              <a:t>Midbrain</a:t>
            </a:r>
          </a:p>
          <a:p>
            <a:r>
              <a:rPr lang="en-US" sz="2000" dirty="0"/>
              <a:t>Hindbrain</a:t>
            </a:r>
          </a:p>
          <a:p>
            <a:pPr lvl="1"/>
            <a:r>
              <a:rPr lang="en-US" sz="2000" dirty="0"/>
              <a:t>Pons (</a:t>
            </a:r>
            <a:r>
              <a:rPr lang="zh-CN" altLang="en-US" sz="2000" dirty="0"/>
              <a:t>脑桥</a:t>
            </a:r>
            <a:r>
              <a:rPr lang="en-US" altLang="zh-CN" sz="2000" dirty="0"/>
              <a:t>) </a:t>
            </a:r>
          </a:p>
          <a:p>
            <a:pPr lvl="2"/>
            <a:r>
              <a:rPr lang="en-US" altLang="zh-CN" sz="1800" dirty="0"/>
              <a:t>Link to cerebellum </a:t>
            </a:r>
          </a:p>
          <a:p>
            <a:pPr lvl="1"/>
            <a:r>
              <a:rPr lang="en-US" sz="2000" dirty="0"/>
              <a:t>Medulla Oblongata (</a:t>
            </a:r>
            <a:r>
              <a:rPr lang="zh-CN" altLang="en-US" sz="2000" dirty="0"/>
              <a:t>延脑</a:t>
            </a:r>
            <a:r>
              <a:rPr lang="en-US" altLang="zh-CN" sz="2000" dirty="0"/>
              <a:t>)</a:t>
            </a:r>
          </a:p>
          <a:p>
            <a:pPr lvl="1"/>
            <a:r>
              <a:rPr lang="en-US" sz="2000" dirty="0"/>
              <a:t>Cerebellum (</a:t>
            </a:r>
            <a:r>
              <a:rPr lang="zh-CN" altLang="en-US" sz="2000" dirty="0"/>
              <a:t>小脑</a:t>
            </a:r>
            <a:r>
              <a:rPr lang="en-US" altLang="zh-CN" sz="2000" dirty="0"/>
              <a:t>)</a:t>
            </a:r>
          </a:p>
          <a:p>
            <a:pPr lvl="2"/>
            <a:r>
              <a:rPr lang="en-US" altLang="zh-CN" sz="1800" dirty="0"/>
              <a:t>Motor learning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61708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D26EC4-1442-3624-63EC-4F2478019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476" y="2310019"/>
            <a:ext cx="5650523" cy="45479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112ED6-225B-66C7-4D3A-1424FCCD1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Cerebral Cortex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55CA3-1537-FF64-DF8E-9F9E5AED6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6158299" cy="5264966"/>
          </a:xfrm>
        </p:spPr>
        <p:txBody>
          <a:bodyPr/>
          <a:lstStyle/>
          <a:p>
            <a:r>
              <a:rPr lang="en-US" dirty="0"/>
              <a:t>The outer layer of the cerebrum</a:t>
            </a:r>
          </a:p>
          <a:p>
            <a:pPr lvl="1"/>
            <a:r>
              <a:rPr lang="en-US" dirty="0"/>
              <a:t>a thin, highly folded (“wrinkled”) layer of tissue</a:t>
            </a:r>
          </a:p>
          <a:p>
            <a:r>
              <a:rPr lang="en-US" dirty="0"/>
              <a:t>Right and left hemispheres</a:t>
            </a:r>
          </a:p>
          <a:p>
            <a:r>
              <a:rPr lang="en-US" b="1" dirty="0">
                <a:solidFill>
                  <a:srgbClr val="FF0000"/>
                </a:solidFill>
              </a:rPr>
              <a:t>Contralateral</a:t>
            </a:r>
            <a:r>
              <a:rPr lang="en-US" dirty="0"/>
              <a:t> sensory perception</a:t>
            </a:r>
          </a:p>
          <a:p>
            <a:r>
              <a:rPr lang="en-US" b="1" dirty="0">
                <a:solidFill>
                  <a:srgbClr val="FF0000"/>
                </a:solidFill>
              </a:rPr>
              <a:t>Contralateral</a:t>
            </a:r>
            <a:r>
              <a:rPr lang="en-US" dirty="0"/>
              <a:t> voluntary movements control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2E0C2-41EB-0B93-A7E2-38972A637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1756547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486E3-9FC9-1A78-829F-E6D801501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Lobes and Functional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30131-2C9D-4FF9-9DBE-CCBCF57E4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Four lobes, each named for a nearby skull bone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4B6202-2B94-20F8-29E5-179D0CD4F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http://www.angelfire.com/ak5/bio20project/images/2b.jpeg">
            <a:extLst>
              <a:ext uri="{FF2B5EF4-FFF2-40B4-BE49-F238E27FC236}">
                <a16:creationId xmlns:a16="http://schemas.microsoft.com/office/drawing/2014/main" id="{2AC5BFB5-226F-DB9C-E6DC-A3CCDA229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252" y="0"/>
            <a:ext cx="2999748" cy="299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3CF084-555D-5236-8AB8-4981F39CE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331" y="1860821"/>
            <a:ext cx="6639109" cy="499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1828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8EAD1-83F0-1110-92DE-62EA1D29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know?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C429B-31E0-7EDB-B055-FED72AE8B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Initially, came from observations of patients with damage to one or more of these areas (strokes) and postmortem correlation</a:t>
            </a:r>
          </a:p>
          <a:p>
            <a:r>
              <a:rPr lang="en-US" dirty="0"/>
              <a:t>Functional mapping at neurosurgery </a:t>
            </a:r>
          </a:p>
          <a:p>
            <a:pPr lvl="1"/>
            <a:r>
              <a:rPr lang="en-US" dirty="0"/>
              <a:t>Language, motor control</a:t>
            </a:r>
          </a:p>
          <a:p>
            <a:r>
              <a:rPr lang="en-US" dirty="0"/>
              <a:t>Noninvasive brain imaging of normal subjects,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/>
              <a:t>e.g.</a:t>
            </a:r>
            <a:r>
              <a:rPr lang="zh-CN" altLang="en-US" dirty="0"/>
              <a:t> </a:t>
            </a:r>
            <a:r>
              <a:rPr lang="en-US" altLang="zh-CN" dirty="0"/>
              <a:t>EEG,</a:t>
            </a:r>
            <a:r>
              <a:rPr lang="zh-CN" altLang="en-US" dirty="0"/>
              <a:t> </a:t>
            </a:r>
            <a:r>
              <a:rPr lang="en-US" altLang="zh-CN" dirty="0"/>
              <a:t>fMRI, etc. </a:t>
            </a:r>
            <a:endParaRPr lang="en-US" dirty="0"/>
          </a:p>
          <a:p>
            <a:r>
              <a:rPr lang="en-US" dirty="0"/>
              <a:t>Electrophysiological analysis of comparable brain regions in non-human animals (in monkeys)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7B330-123E-B387-1269-E8115AFC4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203994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33376-5C78-C544-5746-95B2319C6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Gage, Personality, and Frontal </a:t>
            </a:r>
            <a:r>
              <a:rPr lang="en-US" altLang="zh-CN" dirty="0"/>
              <a:t>Lobe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2A0BB-B5F0-14F3-0467-1CB87B3B5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8CA8-3CC2-36D1-EF09-D0CC569CD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4C0E4-B5A4-C929-F07C-2573B64F8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582" y="1227910"/>
            <a:ext cx="9213690" cy="526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895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229B-2DE9-1D9E-BBBB-9B8ADE68D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Electroencephalogram (EEG)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8B105-5B7A-65EB-C6E5-BF69E676A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11390811" cy="3292477"/>
          </a:xfrm>
        </p:spPr>
        <p:txBody>
          <a:bodyPr/>
          <a:lstStyle/>
          <a:p>
            <a:r>
              <a:rPr lang="en-US" dirty="0"/>
              <a:t>Recordings of neural activity at the scalp</a:t>
            </a:r>
          </a:p>
          <a:p>
            <a:r>
              <a:rPr lang="en-US" dirty="0"/>
              <a:t>Event related potential (ERP) analysis</a:t>
            </a:r>
          </a:p>
          <a:p>
            <a:r>
              <a:rPr lang="en-US" dirty="0"/>
              <a:t>Good temporal resolution</a:t>
            </a:r>
          </a:p>
          <a:p>
            <a:r>
              <a:rPr lang="en-US" dirty="0"/>
              <a:t>Non-invasive</a:t>
            </a:r>
          </a:p>
          <a:p>
            <a:r>
              <a:rPr lang="en-US" dirty="0">
                <a:solidFill>
                  <a:srgbClr val="FF0000"/>
                </a:solidFill>
              </a:rPr>
              <a:t>Poor spatial resolution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3A556-0915-7FE9-A0DB-CFCDC6DA3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ED52F-A25A-2BA5-717B-BC0DEA70FA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488" y="0"/>
            <a:ext cx="3630512" cy="3429000"/>
          </a:xfrm>
          <a:prstGeom prst="rect">
            <a:avLst/>
          </a:prstGeom>
        </p:spPr>
      </p:pic>
      <p:pic>
        <p:nvPicPr>
          <p:cNvPr id="6" name="Picture 5" descr="Neuroscience6e-Box-28A-3R.jpg">
            <a:extLst>
              <a:ext uri="{FF2B5EF4-FFF2-40B4-BE49-F238E27FC236}">
                <a16:creationId xmlns:a16="http://schemas.microsoft.com/office/drawing/2014/main" id="{BB620B68-202F-B7FD-1508-A2D421E736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29" y="3429000"/>
            <a:ext cx="6686072" cy="3429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81AB01F-EA90-9ABF-52FA-4B92F9B2CED8}"/>
              </a:ext>
            </a:extLst>
          </p:cNvPr>
          <p:cNvSpPr txBox="1">
            <a:spLocks/>
          </p:cNvSpPr>
          <p:nvPr/>
        </p:nvSpPr>
        <p:spPr>
          <a:xfrm>
            <a:off x="383177" y="4918703"/>
            <a:ext cx="4701442" cy="1175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–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Greater </a:t>
            </a:r>
            <a:r>
              <a:rPr lang="en-US" dirty="0">
                <a:highlight>
                  <a:srgbClr val="FFFF00"/>
                </a:highlight>
              </a:rPr>
              <a:t>Synchronization</a:t>
            </a:r>
            <a:r>
              <a:rPr lang="en-US" dirty="0"/>
              <a:t> Stronger Signal</a:t>
            </a:r>
          </a:p>
        </p:txBody>
      </p:sp>
    </p:spTree>
    <p:extLst>
      <p:ext uri="{BB962C8B-B14F-4D97-AF65-F5344CB8AC3E}">
        <p14:creationId xmlns:p14="http://schemas.microsoft.com/office/powerpoint/2010/main" val="373373550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375E8-079D-CF28-C713-67C91AAFD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Neurological Disorders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285A5-FBBA-3A54-B5A5-72291E181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7140629" cy="526496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Alzheimer’s disease (AD) </a:t>
            </a:r>
            <a:r>
              <a:rPr lang="en-US" dirty="0"/>
              <a:t>is a form of mental deterioration, or dementia, characterized by confusion, memory loss, and a variety of other symptoms. </a:t>
            </a:r>
          </a:p>
          <a:p>
            <a:pPr lvl="1"/>
            <a:r>
              <a:rPr lang="en-US" dirty="0"/>
              <a:t>The loss of neurons in the temporal lobe (memory, face recognition)</a:t>
            </a:r>
          </a:p>
          <a:p>
            <a:r>
              <a:rPr lang="en-US" b="1" dirty="0">
                <a:solidFill>
                  <a:srgbClr val="FF0000"/>
                </a:solidFill>
              </a:rPr>
              <a:t>Major depression </a:t>
            </a:r>
            <a:r>
              <a:rPr lang="en-US" dirty="0"/>
              <a:t>may experience sadness, loss of interest in pleasurable activities, changes in body weight and sleep patterns, and </a:t>
            </a:r>
            <a:r>
              <a:rPr lang="en-US" dirty="0">
                <a:highlight>
                  <a:srgbClr val="FFFF00"/>
                </a:highlight>
              </a:rPr>
              <a:t>suicidal thoughts</a:t>
            </a:r>
            <a:r>
              <a:rPr 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A8DBC3-49D6-902F-4C93-39BB0072B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8D2DA27-349E-8571-3E4A-52A82DBF9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807" y="0"/>
            <a:ext cx="46681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795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0C38-0081-B60D-03F1-2F13FC53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B6AFF-389B-2E87-8BEB-53B6E75C8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List and describe the components of signal transduction, and explain how signal transduction is related to sensing and responding to external and internal conditions.</a:t>
            </a:r>
          </a:p>
          <a:p>
            <a:r>
              <a:rPr lang="en-US" dirty="0"/>
              <a:t>List and describe sensory systems that detect different environmental stimuli, including how sensory structures are related to their functions, and how alteration of structures leads to a loss of sensory function.</a:t>
            </a:r>
          </a:p>
          <a:p>
            <a:r>
              <a:rPr lang="en-US" dirty="0"/>
              <a:t>Describe the structures, arrangement, and functions of the components of bones and joints, and how skeletal injury and disorders occur and are treated.</a:t>
            </a:r>
          </a:p>
          <a:p>
            <a:r>
              <a:rPr lang="en-US" dirty="0"/>
              <a:t>Describe the structures, arrangement, and functions of the components of a muscle.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C4AC7-7145-1526-D9E8-C866CABF0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4151638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62C52-8537-26FB-9A93-0C3F302E7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Sensory Systems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FF467-EA9F-A420-99C5-BDFAC40A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report information to CNS, about the state of the organism itself and its surrounding environment</a:t>
            </a:r>
          </a:p>
          <a:p>
            <a:r>
              <a:rPr lang="en-US" dirty="0"/>
              <a:t>Visual system, auditory system, somatosensory system…</a:t>
            </a:r>
          </a:p>
          <a:p>
            <a:r>
              <a:rPr lang="en-US" dirty="0"/>
              <a:t>Depends on </a:t>
            </a:r>
            <a:r>
              <a:rPr lang="en-US" dirty="0">
                <a:highlight>
                  <a:srgbClr val="FFFF00"/>
                </a:highlight>
              </a:rPr>
              <a:t>sensory organs, sensory cells, sensory receptors</a:t>
            </a:r>
          </a:p>
          <a:p>
            <a:r>
              <a:rPr lang="en-US" b="1" dirty="0">
                <a:solidFill>
                  <a:srgbClr val="FF0000"/>
                </a:solidFill>
              </a:rPr>
              <a:t>Sensory transduction</a:t>
            </a:r>
            <a:r>
              <a:rPr lang="en-US" dirty="0"/>
              <a:t> is the </a:t>
            </a:r>
            <a:r>
              <a:rPr lang="en-US" dirty="0">
                <a:highlight>
                  <a:srgbClr val="FFFF00"/>
                </a:highlight>
              </a:rPr>
              <a:t>conversion</a:t>
            </a:r>
            <a:r>
              <a:rPr lang="en-US" dirty="0"/>
              <a:t> of a stimulus signal to an </a:t>
            </a:r>
            <a:r>
              <a:rPr lang="en-US" dirty="0">
                <a:highlight>
                  <a:srgbClr val="FFFF00"/>
                </a:highlight>
              </a:rPr>
              <a:t>electrical</a:t>
            </a:r>
            <a:r>
              <a:rPr lang="en-US" dirty="0"/>
              <a:t> signal by a sensory receptor cell.</a:t>
            </a:r>
          </a:p>
          <a:p>
            <a:r>
              <a:rPr lang="en-US" dirty="0"/>
              <a:t>Receptor potentials</a:t>
            </a:r>
          </a:p>
          <a:p>
            <a:pPr lvl="1"/>
            <a:r>
              <a:rPr lang="en-US" dirty="0"/>
              <a:t>changes in membrane potentials caused by sensory stimuli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vary in intensity</a:t>
            </a:r>
            <a:r>
              <a:rPr lang="en-US" dirty="0"/>
              <a:t>, depending on the strength of the stimulus</a:t>
            </a:r>
          </a:p>
          <a:p>
            <a:endParaRPr lang="en-US" dirty="0"/>
          </a:p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09CBB2-7B18-F028-E027-DA5669F1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6908258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14" name="Picture 2" descr="27_16_TasteBud-U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9776" y="136525"/>
            <a:ext cx="8170863" cy="658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5715" name="Text Box 4"/>
          <p:cNvSpPr txBox="1">
            <a:spLocks noChangeArrowheads="1"/>
          </p:cNvSpPr>
          <p:nvPr/>
        </p:nvSpPr>
        <p:spPr bwMode="auto">
          <a:xfrm>
            <a:off x="5799139" y="844551"/>
            <a:ext cx="942975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Sugar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molecule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(stimulus)</a:t>
            </a:r>
          </a:p>
        </p:txBody>
      </p:sp>
      <p:sp>
        <p:nvSpPr>
          <p:cNvPr id="115716" name="Text Box 5"/>
          <p:cNvSpPr txBox="1">
            <a:spLocks noChangeArrowheads="1"/>
          </p:cNvSpPr>
          <p:nvPr/>
        </p:nvSpPr>
        <p:spPr bwMode="auto">
          <a:xfrm>
            <a:off x="7983539" y="358776"/>
            <a:ext cx="942975" cy="271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Receptor</a:t>
            </a:r>
          </a:p>
        </p:txBody>
      </p:sp>
      <p:sp>
        <p:nvSpPr>
          <p:cNvPr id="115717" name="Text Box 6"/>
          <p:cNvSpPr txBox="1">
            <a:spLocks noChangeArrowheads="1"/>
          </p:cNvSpPr>
          <p:nvPr/>
        </p:nvSpPr>
        <p:spPr bwMode="auto">
          <a:xfrm>
            <a:off x="8940800" y="817564"/>
            <a:ext cx="1144588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Membrane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of sensory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receptor cell</a:t>
            </a:r>
          </a:p>
        </p:txBody>
      </p:sp>
      <p:sp>
        <p:nvSpPr>
          <p:cNvPr id="115718" name="Text Box 7"/>
          <p:cNvSpPr txBox="1">
            <a:spLocks noChangeArrowheads="1"/>
          </p:cNvSpPr>
          <p:nvPr/>
        </p:nvSpPr>
        <p:spPr bwMode="auto">
          <a:xfrm>
            <a:off x="7251699" y="2491078"/>
            <a:ext cx="3013077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Signal transduction pathway</a:t>
            </a:r>
          </a:p>
        </p:txBody>
      </p:sp>
      <p:sp>
        <p:nvSpPr>
          <p:cNvPr id="115719" name="Text Box 8"/>
          <p:cNvSpPr txBox="1">
            <a:spLocks noChangeArrowheads="1"/>
          </p:cNvSpPr>
          <p:nvPr/>
        </p:nvSpPr>
        <p:spPr bwMode="auto">
          <a:xfrm>
            <a:off x="6608764" y="3540126"/>
            <a:ext cx="776287" cy="72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mbria" panose="02040503050406030204" pitchFamily="18" charset="0"/>
              </a:rPr>
              <a:t>Sensory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mbria" panose="02040503050406030204" pitchFamily="18" charset="0"/>
              </a:rPr>
              <a:t>receptor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mbria" panose="02040503050406030204" pitchFamily="18" charset="0"/>
              </a:rPr>
              <a:t>cell</a:t>
            </a:r>
          </a:p>
        </p:txBody>
      </p:sp>
      <p:sp>
        <p:nvSpPr>
          <p:cNvPr id="115720" name="Text Box 9"/>
          <p:cNvSpPr txBox="1">
            <a:spLocks noChangeArrowheads="1"/>
          </p:cNvSpPr>
          <p:nvPr/>
        </p:nvSpPr>
        <p:spPr bwMode="auto">
          <a:xfrm>
            <a:off x="7308850" y="4283075"/>
            <a:ext cx="1042988" cy="471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Receptor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potential</a:t>
            </a:r>
          </a:p>
        </p:txBody>
      </p:sp>
      <p:sp>
        <p:nvSpPr>
          <p:cNvPr id="115721" name="Text Box 10"/>
          <p:cNvSpPr txBox="1">
            <a:spLocks noChangeArrowheads="1"/>
          </p:cNvSpPr>
          <p:nvPr/>
        </p:nvSpPr>
        <p:spPr bwMode="auto">
          <a:xfrm>
            <a:off x="8342314" y="4013200"/>
            <a:ext cx="293687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Ion</a:t>
            </a:r>
          </a:p>
        </p:txBody>
      </p:sp>
      <p:sp>
        <p:nvSpPr>
          <p:cNvPr id="115722" name="Text Box 11"/>
          <p:cNvSpPr txBox="1">
            <a:spLocks noChangeArrowheads="1"/>
          </p:cNvSpPr>
          <p:nvPr/>
        </p:nvSpPr>
        <p:spPr bwMode="auto">
          <a:xfrm>
            <a:off x="7977189" y="2874963"/>
            <a:ext cx="860425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Ion</a:t>
            </a:r>
          </a:p>
          <a:p>
            <a:pPr algn="ctr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channels</a:t>
            </a:r>
          </a:p>
        </p:txBody>
      </p:sp>
      <p:sp>
        <p:nvSpPr>
          <p:cNvPr id="115723" name="Text Box 12"/>
          <p:cNvSpPr txBox="1">
            <a:spLocks noChangeArrowheads="1"/>
          </p:cNvSpPr>
          <p:nvPr/>
        </p:nvSpPr>
        <p:spPr bwMode="auto">
          <a:xfrm>
            <a:off x="4589464" y="3282951"/>
            <a:ext cx="784225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Sugar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molecule</a:t>
            </a:r>
          </a:p>
        </p:txBody>
      </p:sp>
      <p:sp>
        <p:nvSpPr>
          <p:cNvPr id="115724" name="Text Box 13"/>
          <p:cNvSpPr txBox="1">
            <a:spLocks noChangeArrowheads="1"/>
          </p:cNvSpPr>
          <p:nvPr/>
        </p:nvSpPr>
        <p:spPr bwMode="auto">
          <a:xfrm>
            <a:off x="1228722" y="4144169"/>
            <a:ext cx="1614491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mbria" panose="02040503050406030204" pitchFamily="18" charset="0"/>
              </a:rPr>
              <a:t>Taste bud</a:t>
            </a:r>
          </a:p>
        </p:txBody>
      </p:sp>
      <p:sp>
        <p:nvSpPr>
          <p:cNvPr id="115725" name="Text Box 14"/>
          <p:cNvSpPr txBox="1">
            <a:spLocks noChangeArrowheads="1"/>
          </p:cNvSpPr>
          <p:nvPr/>
        </p:nvSpPr>
        <p:spPr bwMode="auto">
          <a:xfrm>
            <a:off x="4513117" y="3814835"/>
            <a:ext cx="1441447" cy="690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Sensory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receptor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cells</a:t>
            </a:r>
          </a:p>
        </p:txBody>
      </p:sp>
      <p:sp>
        <p:nvSpPr>
          <p:cNvPr id="115726" name="Text Box 15"/>
          <p:cNvSpPr txBox="1">
            <a:spLocks noChangeArrowheads="1"/>
          </p:cNvSpPr>
          <p:nvPr/>
        </p:nvSpPr>
        <p:spPr bwMode="auto">
          <a:xfrm>
            <a:off x="3822700" y="6249989"/>
            <a:ext cx="1600200" cy="236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Sensory neuron</a:t>
            </a:r>
          </a:p>
        </p:txBody>
      </p:sp>
      <p:sp>
        <p:nvSpPr>
          <p:cNvPr id="115727" name="Text Box 16"/>
          <p:cNvSpPr txBox="1">
            <a:spLocks noChangeArrowheads="1"/>
          </p:cNvSpPr>
          <p:nvPr/>
        </p:nvSpPr>
        <p:spPr bwMode="auto">
          <a:xfrm>
            <a:off x="7388225" y="5789614"/>
            <a:ext cx="800100" cy="41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latin typeface="Cambria" panose="02040503050406030204" pitchFamily="18" charset="0"/>
              </a:rPr>
              <a:t>Sensory </a:t>
            </a:r>
            <a:br>
              <a:rPr lang="en-US" altLang="en-US" sz="1600" b="1" dirty="0">
                <a:latin typeface="Cambria" panose="02040503050406030204" pitchFamily="18" charset="0"/>
              </a:rPr>
            </a:br>
            <a:r>
              <a:rPr lang="en-US" altLang="en-US" sz="1600" b="1" dirty="0">
                <a:latin typeface="Cambria" panose="02040503050406030204" pitchFamily="18" charset="0"/>
              </a:rPr>
              <a:t>neuron</a:t>
            </a:r>
          </a:p>
        </p:txBody>
      </p:sp>
      <p:sp>
        <p:nvSpPr>
          <p:cNvPr id="115728" name="Text Box 17"/>
          <p:cNvSpPr txBox="1">
            <a:spLocks noChangeArrowheads="1"/>
          </p:cNvSpPr>
          <p:nvPr/>
        </p:nvSpPr>
        <p:spPr bwMode="auto">
          <a:xfrm>
            <a:off x="6916739" y="5375275"/>
            <a:ext cx="1482725" cy="261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000000"/>
                </a:solidFill>
                <a:latin typeface="Cambria" panose="02040503050406030204" pitchFamily="18" charset="0"/>
              </a:rPr>
              <a:t>Neurotransmitter</a:t>
            </a:r>
          </a:p>
        </p:txBody>
      </p:sp>
      <p:sp>
        <p:nvSpPr>
          <p:cNvPr id="115729" name="Text Box 18"/>
          <p:cNvSpPr txBox="1">
            <a:spLocks noChangeArrowheads="1"/>
          </p:cNvSpPr>
          <p:nvPr/>
        </p:nvSpPr>
        <p:spPr bwMode="auto">
          <a:xfrm>
            <a:off x="6194426" y="5872163"/>
            <a:ext cx="911225" cy="696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Action </a:t>
            </a:r>
            <a:b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</a:br>
            <a:r>
              <a:rPr lang="en-US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Cambria" panose="02040503050406030204" pitchFamily="18" charset="0"/>
              </a:rPr>
              <a:t>potential</a:t>
            </a:r>
          </a:p>
          <a:p>
            <a:pPr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mbria" panose="02040503050406030204" pitchFamily="18" charset="0"/>
              </a:rPr>
              <a:t>(to brain)</a:t>
            </a:r>
          </a:p>
        </p:txBody>
      </p:sp>
      <p:sp>
        <p:nvSpPr>
          <p:cNvPr id="115730" name="Line 19"/>
          <p:cNvSpPr>
            <a:spLocks noChangeShapeType="1"/>
          </p:cNvSpPr>
          <p:nvPr/>
        </p:nvSpPr>
        <p:spPr bwMode="auto">
          <a:xfrm>
            <a:off x="2692400" y="4330700"/>
            <a:ext cx="2794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31" name="Line 20"/>
          <p:cNvSpPr>
            <a:spLocks noChangeShapeType="1"/>
          </p:cNvSpPr>
          <p:nvPr/>
        </p:nvSpPr>
        <p:spPr bwMode="auto">
          <a:xfrm flipH="1" flipV="1">
            <a:off x="3365500" y="6299200"/>
            <a:ext cx="4064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32" name="Line 21"/>
          <p:cNvSpPr>
            <a:spLocks noChangeShapeType="1"/>
          </p:cNvSpPr>
          <p:nvPr/>
        </p:nvSpPr>
        <p:spPr bwMode="auto">
          <a:xfrm flipH="1">
            <a:off x="4267200" y="3441700"/>
            <a:ext cx="279400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733" name="Group 22"/>
          <p:cNvGrpSpPr>
            <a:grpSpLocks/>
          </p:cNvGrpSpPr>
          <p:nvPr/>
        </p:nvGrpSpPr>
        <p:grpSpPr bwMode="auto">
          <a:xfrm>
            <a:off x="3911600" y="4241800"/>
            <a:ext cx="571500" cy="482600"/>
            <a:chOff x="1504" y="2672"/>
            <a:chExt cx="360" cy="304"/>
          </a:xfrm>
        </p:grpSpPr>
        <p:sp>
          <p:nvSpPr>
            <p:cNvPr id="115757" name="Line 23"/>
            <p:cNvSpPr>
              <a:spLocks noChangeShapeType="1"/>
            </p:cNvSpPr>
            <p:nvPr/>
          </p:nvSpPr>
          <p:spPr bwMode="auto">
            <a:xfrm flipH="1">
              <a:off x="1504" y="2672"/>
              <a:ext cx="360" cy="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58" name="Line 24"/>
            <p:cNvSpPr>
              <a:spLocks noChangeShapeType="1"/>
            </p:cNvSpPr>
            <p:nvPr/>
          </p:nvSpPr>
          <p:spPr bwMode="auto">
            <a:xfrm flipH="1">
              <a:off x="1744" y="2672"/>
              <a:ext cx="120" cy="2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5734" name="Line 25"/>
          <p:cNvSpPr>
            <a:spLocks noChangeShapeType="1"/>
          </p:cNvSpPr>
          <p:nvPr/>
        </p:nvSpPr>
        <p:spPr bwMode="auto">
          <a:xfrm>
            <a:off x="7137400" y="6286500"/>
            <a:ext cx="109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35" name="Line 26"/>
          <p:cNvSpPr>
            <a:spLocks noChangeShapeType="1"/>
          </p:cNvSpPr>
          <p:nvPr/>
        </p:nvSpPr>
        <p:spPr bwMode="auto">
          <a:xfrm>
            <a:off x="8191500" y="5930900"/>
            <a:ext cx="584200" cy="127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736" name="Group 27"/>
          <p:cNvGrpSpPr>
            <a:grpSpLocks/>
          </p:cNvGrpSpPr>
          <p:nvPr/>
        </p:nvGrpSpPr>
        <p:grpSpPr bwMode="auto">
          <a:xfrm>
            <a:off x="8623300" y="5334000"/>
            <a:ext cx="482600" cy="152400"/>
            <a:chOff x="4472" y="3360"/>
            <a:chExt cx="304" cy="96"/>
          </a:xfrm>
        </p:grpSpPr>
        <p:sp>
          <p:nvSpPr>
            <p:cNvPr id="115755" name="Line 28"/>
            <p:cNvSpPr>
              <a:spLocks noChangeShapeType="1"/>
            </p:cNvSpPr>
            <p:nvPr/>
          </p:nvSpPr>
          <p:spPr bwMode="auto">
            <a:xfrm flipV="1">
              <a:off x="4472" y="3448"/>
              <a:ext cx="304" cy="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56" name="Line 29"/>
            <p:cNvSpPr>
              <a:spLocks noChangeShapeType="1"/>
            </p:cNvSpPr>
            <p:nvPr/>
          </p:nvSpPr>
          <p:spPr bwMode="auto">
            <a:xfrm flipV="1">
              <a:off x="4472" y="3360"/>
              <a:ext cx="30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5737" name="Line 30"/>
          <p:cNvSpPr>
            <a:spLocks noChangeShapeType="1"/>
          </p:cNvSpPr>
          <p:nvPr/>
        </p:nvSpPr>
        <p:spPr bwMode="auto">
          <a:xfrm flipV="1">
            <a:off x="8674100" y="3937000"/>
            <a:ext cx="177800" cy="177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38" name="Line 31"/>
          <p:cNvSpPr>
            <a:spLocks noChangeShapeType="1"/>
          </p:cNvSpPr>
          <p:nvPr/>
        </p:nvSpPr>
        <p:spPr bwMode="auto">
          <a:xfrm flipV="1">
            <a:off x="8877300" y="3111500"/>
            <a:ext cx="317500" cy="114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39" name="Line 32"/>
          <p:cNvSpPr>
            <a:spLocks noChangeShapeType="1"/>
          </p:cNvSpPr>
          <p:nvPr/>
        </p:nvSpPr>
        <p:spPr bwMode="auto">
          <a:xfrm>
            <a:off x="8877300" y="3225800"/>
            <a:ext cx="482600" cy="40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40" name="Line 33"/>
          <p:cNvSpPr>
            <a:spLocks noChangeShapeType="1"/>
          </p:cNvSpPr>
          <p:nvPr/>
        </p:nvSpPr>
        <p:spPr bwMode="auto">
          <a:xfrm flipH="1">
            <a:off x="8445500" y="990600"/>
            <a:ext cx="444500" cy="419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41" name="Line 34"/>
          <p:cNvSpPr>
            <a:spLocks noChangeShapeType="1"/>
          </p:cNvSpPr>
          <p:nvPr/>
        </p:nvSpPr>
        <p:spPr bwMode="auto">
          <a:xfrm flipH="1">
            <a:off x="7747000" y="558800"/>
            <a:ext cx="279400" cy="711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742" name="Line 35"/>
          <p:cNvSpPr>
            <a:spLocks noChangeShapeType="1"/>
          </p:cNvSpPr>
          <p:nvPr/>
        </p:nvSpPr>
        <p:spPr bwMode="auto">
          <a:xfrm>
            <a:off x="6807200" y="1371600"/>
            <a:ext cx="304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5743" name="Group 36"/>
          <p:cNvGrpSpPr>
            <a:grpSpLocks/>
          </p:cNvGrpSpPr>
          <p:nvPr/>
        </p:nvGrpSpPr>
        <p:grpSpPr bwMode="auto">
          <a:xfrm>
            <a:off x="7200900" y="711200"/>
            <a:ext cx="279400" cy="266700"/>
            <a:chOff x="3576" y="448"/>
            <a:chExt cx="176" cy="168"/>
          </a:xfrm>
        </p:grpSpPr>
        <p:sp>
          <p:nvSpPr>
            <p:cNvPr id="115753" name="Oval 37"/>
            <p:cNvSpPr>
              <a:spLocks noChangeArrowheads="1"/>
            </p:cNvSpPr>
            <p:nvPr/>
          </p:nvSpPr>
          <p:spPr bwMode="auto">
            <a:xfrm>
              <a:off x="3576" y="448"/>
              <a:ext cx="176" cy="16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240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5754" name="Text Box 38"/>
            <p:cNvSpPr txBox="1">
              <a:spLocks noChangeArrowheads="1"/>
            </p:cNvSpPr>
            <p:nvPr/>
          </p:nvSpPr>
          <p:spPr bwMode="auto">
            <a:xfrm>
              <a:off x="3621" y="466"/>
              <a:ext cx="114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FFFFFF"/>
                  </a:solidFill>
                  <a:latin typeface="Cambria" panose="02040503050406030204" pitchFamily="18" charset="0"/>
                </a:rPr>
                <a:t>1</a:t>
              </a:r>
            </a:p>
          </p:txBody>
        </p:sp>
      </p:grpSp>
      <p:grpSp>
        <p:nvGrpSpPr>
          <p:cNvPr id="115744" name="Group 39"/>
          <p:cNvGrpSpPr>
            <a:grpSpLocks/>
          </p:cNvGrpSpPr>
          <p:nvPr/>
        </p:nvGrpSpPr>
        <p:grpSpPr bwMode="auto">
          <a:xfrm>
            <a:off x="6858000" y="2476500"/>
            <a:ext cx="279400" cy="266700"/>
            <a:chOff x="3576" y="448"/>
            <a:chExt cx="176" cy="168"/>
          </a:xfrm>
        </p:grpSpPr>
        <p:sp>
          <p:nvSpPr>
            <p:cNvPr id="115751" name="Oval 40"/>
            <p:cNvSpPr>
              <a:spLocks noChangeArrowheads="1"/>
            </p:cNvSpPr>
            <p:nvPr/>
          </p:nvSpPr>
          <p:spPr bwMode="auto">
            <a:xfrm>
              <a:off x="3576" y="448"/>
              <a:ext cx="176" cy="16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240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5752" name="Text Box 41"/>
            <p:cNvSpPr txBox="1">
              <a:spLocks noChangeArrowheads="1"/>
            </p:cNvSpPr>
            <p:nvPr/>
          </p:nvSpPr>
          <p:spPr bwMode="auto">
            <a:xfrm>
              <a:off x="3621" y="466"/>
              <a:ext cx="114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FFFFFF"/>
                  </a:solidFill>
                  <a:latin typeface="Cambria" panose="02040503050406030204" pitchFamily="18" charset="0"/>
                </a:rPr>
                <a:t>2</a:t>
              </a:r>
            </a:p>
          </p:txBody>
        </p:sp>
      </p:grpSp>
      <p:grpSp>
        <p:nvGrpSpPr>
          <p:cNvPr id="115745" name="Group 42"/>
          <p:cNvGrpSpPr>
            <a:grpSpLocks/>
          </p:cNvGrpSpPr>
          <p:nvPr/>
        </p:nvGrpSpPr>
        <p:grpSpPr bwMode="auto">
          <a:xfrm>
            <a:off x="8686800" y="3327400"/>
            <a:ext cx="279400" cy="266700"/>
            <a:chOff x="3576" y="448"/>
            <a:chExt cx="176" cy="168"/>
          </a:xfrm>
        </p:grpSpPr>
        <p:sp>
          <p:nvSpPr>
            <p:cNvPr id="115749" name="Oval 43"/>
            <p:cNvSpPr>
              <a:spLocks noChangeArrowheads="1"/>
            </p:cNvSpPr>
            <p:nvPr/>
          </p:nvSpPr>
          <p:spPr bwMode="auto">
            <a:xfrm>
              <a:off x="3576" y="448"/>
              <a:ext cx="176" cy="16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240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5750" name="Text Box 44"/>
            <p:cNvSpPr txBox="1">
              <a:spLocks noChangeArrowheads="1"/>
            </p:cNvSpPr>
            <p:nvPr/>
          </p:nvSpPr>
          <p:spPr bwMode="auto">
            <a:xfrm>
              <a:off x="3621" y="466"/>
              <a:ext cx="114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FFFFFF"/>
                  </a:solidFill>
                  <a:latin typeface="Cambria" panose="02040503050406030204" pitchFamily="18" charset="0"/>
                </a:rPr>
                <a:t>3</a:t>
              </a:r>
            </a:p>
          </p:txBody>
        </p:sp>
      </p:grpSp>
      <p:grpSp>
        <p:nvGrpSpPr>
          <p:cNvPr id="115746" name="Group 45"/>
          <p:cNvGrpSpPr>
            <a:grpSpLocks/>
          </p:cNvGrpSpPr>
          <p:nvPr/>
        </p:nvGrpSpPr>
        <p:grpSpPr bwMode="auto">
          <a:xfrm>
            <a:off x="9410700" y="4762500"/>
            <a:ext cx="279400" cy="266700"/>
            <a:chOff x="3576" y="448"/>
            <a:chExt cx="176" cy="168"/>
          </a:xfrm>
        </p:grpSpPr>
        <p:sp>
          <p:nvSpPr>
            <p:cNvPr id="115747" name="Oval 46"/>
            <p:cNvSpPr>
              <a:spLocks noChangeArrowheads="1"/>
            </p:cNvSpPr>
            <p:nvPr/>
          </p:nvSpPr>
          <p:spPr bwMode="auto">
            <a:xfrm>
              <a:off x="3576" y="448"/>
              <a:ext cx="176" cy="168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endParaRPr lang="en-US" altLang="en-US" sz="240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sp>
          <p:nvSpPr>
            <p:cNvPr id="115748" name="Text Box 47"/>
            <p:cNvSpPr txBox="1">
              <a:spLocks noChangeArrowheads="1"/>
            </p:cNvSpPr>
            <p:nvPr/>
          </p:nvSpPr>
          <p:spPr bwMode="auto">
            <a:xfrm>
              <a:off x="3621" y="466"/>
              <a:ext cx="114" cy="1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FFFFFF"/>
                  </a:solidFill>
                  <a:latin typeface="Cambria" panose="02040503050406030204" pitchFamily="18" charset="0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A240-8B95-CCB2-A185-2E23B8F8D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Sensory Adaptation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79380-B453-7AC5-8F53-57F3BC7B1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tendency of some sensory receptors to become </a:t>
            </a:r>
            <a:r>
              <a:rPr lang="en-US" dirty="0">
                <a:highlight>
                  <a:srgbClr val="FFFF00"/>
                </a:highlight>
              </a:rPr>
              <a:t>less sensitive</a:t>
            </a:r>
            <a:r>
              <a:rPr lang="en-US" dirty="0"/>
              <a:t> when they are </a:t>
            </a:r>
            <a:r>
              <a:rPr lang="en-US" dirty="0">
                <a:highlight>
                  <a:srgbClr val="FFFF00"/>
                </a:highlight>
              </a:rPr>
              <a:t>stimulated repeatedly.</a:t>
            </a:r>
          </a:p>
          <a:p>
            <a:pPr lvl="1"/>
            <a:r>
              <a:rPr lang="en-US" dirty="0"/>
              <a:t>A strong order</a:t>
            </a:r>
          </a:p>
          <a:p>
            <a:pPr lvl="1"/>
            <a:r>
              <a:rPr lang="en-US" dirty="0"/>
              <a:t>Cold water in the swimming pool</a:t>
            </a:r>
          </a:p>
          <a:p>
            <a:pPr lvl="1"/>
            <a:r>
              <a:rPr lang="en-US" dirty="0"/>
              <a:t>Clothes stick to the skin</a:t>
            </a:r>
          </a:p>
          <a:p>
            <a:r>
              <a:rPr lang="en-US" dirty="0"/>
              <a:t>Keeps the body from continuously reacting to normal background stimuli.</a:t>
            </a:r>
          </a:p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CF8732-32B7-C1E4-7CF2-287904CF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2172089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B11D-8308-5E3C-3762-C225D5F0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Sensory Receptors in Five General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90BC-6013-BEB3-975C-B7171BAFF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type of signals to which they respond</a:t>
            </a:r>
          </a:p>
          <a:p>
            <a:pPr lvl="1"/>
            <a:r>
              <a:rPr lang="en-US" dirty="0"/>
              <a:t>Pain receptors (danger, damage, injury or disease)</a:t>
            </a:r>
          </a:p>
          <a:p>
            <a:pPr lvl="1"/>
            <a:r>
              <a:rPr lang="en-US" dirty="0"/>
              <a:t>Thermoreceptors (sensors for heat and cold) </a:t>
            </a:r>
          </a:p>
          <a:p>
            <a:pPr lvl="1"/>
            <a:r>
              <a:rPr lang="en-US" dirty="0"/>
              <a:t>Mechanoreceptors (sensors for touch, pressure, motion, and sound) </a:t>
            </a:r>
          </a:p>
          <a:p>
            <a:pPr lvl="1"/>
            <a:r>
              <a:rPr lang="en-US" dirty="0"/>
              <a:t>Chemoreceptors (sensors for chemicals, nose, taste buds, internal) </a:t>
            </a:r>
          </a:p>
          <a:p>
            <a:pPr lvl="1"/>
            <a:r>
              <a:rPr lang="en-US" dirty="0"/>
              <a:t>Electromagnetic receptors (sensors for energy such as light and electricity, magnetism)</a:t>
            </a:r>
          </a:p>
          <a:p>
            <a:r>
              <a:rPr lang="en-US" dirty="0"/>
              <a:t>For the five human senses: earing, smell, taste, touch, vision, and (6</a:t>
            </a:r>
            <a:r>
              <a:rPr lang="en-US" baseline="30000" dirty="0"/>
              <a:t>th</a:t>
            </a:r>
            <a:r>
              <a:rPr lang="en-US" dirty="0"/>
              <a:t> balance)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C3DBB0-990B-2A9C-7F02-22B5A9D94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7182475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3A3B-2F87-C4FA-46A4-4B359B10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177" y="132523"/>
            <a:ext cx="5923809" cy="958863"/>
          </a:xfrm>
        </p:spPr>
        <p:txBody>
          <a:bodyPr/>
          <a:lstStyle/>
          <a:p>
            <a:r>
              <a:rPr lang="en-US" dirty="0"/>
              <a:t>Receptors in Various Combinations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30735-BC60-AC6A-7A7A-12E3E9FAB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5712822" cy="5264966"/>
          </a:xfrm>
        </p:spPr>
        <p:txBody>
          <a:bodyPr/>
          <a:lstStyle/>
          <a:p>
            <a:r>
              <a:rPr lang="en-US" dirty="0"/>
              <a:t>Each receptor (shown here) serves as both a receptor cell and a sensory neuron</a:t>
            </a:r>
          </a:p>
          <a:p>
            <a:r>
              <a:rPr lang="en-US" dirty="0"/>
              <a:t>Differs in:</a:t>
            </a:r>
          </a:p>
          <a:p>
            <a:pPr lvl="1"/>
            <a:r>
              <a:rPr lang="en-US" dirty="0"/>
              <a:t>Types of stimulus</a:t>
            </a:r>
          </a:p>
          <a:p>
            <a:pPr lvl="2"/>
            <a:r>
              <a:rPr lang="en-US" dirty="0"/>
              <a:t>Specialization at “dendrites”</a:t>
            </a:r>
          </a:p>
          <a:p>
            <a:pPr lvl="1"/>
            <a:r>
              <a:rPr lang="en-US" dirty="0"/>
              <a:t>Threshold</a:t>
            </a:r>
          </a:p>
          <a:p>
            <a:pPr lvl="1"/>
            <a:r>
              <a:rPr lang="en-US" dirty="0"/>
              <a:t>Density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07018-8488-1F34-10A8-9B6E6E63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D4692C-7F7F-EA45-CE1D-7002C41FA6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191" y="71857"/>
            <a:ext cx="5923809" cy="6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194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45D7E0A-A6DD-FE59-A25F-59021DAD9E39}"/>
              </a:ext>
            </a:extLst>
          </p:cNvPr>
          <p:cNvSpPr txBox="1"/>
          <p:nvPr/>
        </p:nvSpPr>
        <p:spPr>
          <a:xfrm>
            <a:off x="0" y="6611779"/>
            <a:ext cx="77732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https://commons.wikimedia.org/wiki/File:Farbverlauf_Augenfarben.jpg#/media/File:Farbverlauf_Augenfarben.jpg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D4147-C4CD-C146-62A1-A5EBF5DE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Human Eye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476BB7-7838-A73E-5C5E-D3ED07DE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7126" y="2426862"/>
            <a:ext cx="8374874" cy="428538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69ED-9DEC-E5FD-800F-1E36429BBA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images of objects both near and far</a:t>
            </a:r>
          </a:p>
          <a:p>
            <a:r>
              <a:rPr lang="en-US" dirty="0"/>
              <a:t>Respond to minute amounts of light energy</a:t>
            </a:r>
          </a:p>
          <a:p>
            <a:r>
              <a:rPr lang="en-US" dirty="0"/>
              <a:t>Detect a multitude of colors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2FB13-9CF7-3E84-CDE6-C799FC492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5"/>
            <a:ext cx="4114800" cy="365125"/>
          </a:xfrm>
        </p:spPr>
        <p:txBody>
          <a:bodyPr/>
          <a:lstStyle/>
          <a:p>
            <a:pPr algn="r"/>
            <a:r>
              <a:rPr lang="en-US" dirty="0"/>
              <a:t>© 2016 Pearson Education, Inc.</a:t>
            </a:r>
          </a:p>
        </p:txBody>
      </p:sp>
      <p:pic>
        <p:nvPicPr>
          <p:cNvPr id="10" name="Picture 9" descr="A collage of different colored eyes&#10;&#10;AI-generated content may be incorrect.">
            <a:extLst>
              <a:ext uri="{FF2B5EF4-FFF2-40B4-BE49-F238E27FC236}">
                <a16:creationId xmlns:a16="http://schemas.microsoft.com/office/drawing/2014/main" id="{16AD7BB3-49E4-7ABE-00BF-7A644380C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4" y="3356125"/>
            <a:ext cx="3763792" cy="2426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765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194" name="Picture 2" descr="27_18HumanEye-U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20864" y="398465"/>
            <a:ext cx="8548687" cy="5872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6195" name="Text Box 4"/>
          <p:cNvSpPr txBox="1">
            <a:spLocks noChangeArrowheads="1"/>
          </p:cNvSpPr>
          <p:nvPr/>
        </p:nvSpPr>
        <p:spPr bwMode="auto">
          <a:xfrm>
            <a:off x="1820863" y="263525"/>
            <a:ext cx="969962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FF0000"/>
                </a:solidFill>
                <a:latin typeface="Cambria" panose="02040503050406030204" pitchFamily="18" charset="0"/>
              </a:rPr>
              <a:t>Sclera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巩膜</a:t>
            </a:r>
            <a:endParaRPr lang="en-US" altLang="en-US" sz="1600" b="1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136198" name="Text Box 7"/>
          <p:cNvSpPr txBox="1">
            <a:spLocks noChangeArrowheads="1"/>
          </p:cNvSpPr>
          <p:nvPr/>
        </p:nvSpPr>
        <p:spPr bwMode="auto">
          <a:xfrm>
            <a:off x="1439861" y="2017714"/>
            <a:ext cx="1319213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b="1" dirty="0">
                <a:solidFill>
                  <a:srgbClr val="FF0000"/>
                </a:solidFill>
                <a:latin typeface="Cambria" panose="02040503050406030204" pitchFamily="18" charset="0"/>
                <a:ea typeface="KaiTi" panose="02010609060101010101" pitchFamily="49" charset="-122"/>
              </a:rPr>
              <a:t>Cornea</a:t>
            </a: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角膜</a:t>
            </a:r>
            <a:endParaRPr lang="en-US" altLang="en-US" sz="16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199" name="Text Box 8"/>
          <p:cNvSpPr txBox="1">
            <a:spLocks noChangeArrowheads="1"/>
          </p:cNvSpPr>
          <p:nvPr/>
        </p:nvSpPr>
        <p:spPr bwMode="auto">
          <a:xfrm>
            <a:off x="1800226" y="2774950"/>
            <a:ext cx="43656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b="1">
                <a:solidFill>
                  <a:srgbClr val="FF0000"/>
                </a:solidFill>
                <a:latin typeface="Cambria" panose="02040503050406030204" pitchFamily="18" charset="0"/>
              </a:rPr>
              <a:t>Iris </a:t>
            </a:r>
            <a:r>
              <a:rPr lang="zh-CN" altLang="en-US" sz="1600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虹膜</a:t>
            </a:r>
            <a:endParaRPr lang="en-US" altLang="en-US" sz="1600" b="1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200" name="Text Box 9"/>
          <p:cNvSpPr txBox="1">
            <a:spLocks noChangeArrowheads="1"/>
          </p:cNvSpPr>
          <p:nvPr/>
        </p:nvSpPr>
        <p:spPr bwMode="auto">
          <a:xfrm>
            <a:off x="1232991" y="3240894"/>
            <a:ext cx="2007596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Pupil</a:t>
            </a:r>
            <a:r>
              <a:rPr lang="zh-CN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 瞳孔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FF0000"/>
                </a:solidFill>
                <a:latin typeface="Cambria" panose="02040503050406030204" pitchFamily="18" charset="0"/>
              </a:rPr>
              <a:t>  </a:t>
            </a:r>
            <a:endParaRPr lang="en-US" altLang="en-US" sz="19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136202" name="Text Box 11"/>
          <p:cNvSpPr txBox="1">
            <a:spLocks noChangeArrowheads="1"/>
          </p:cNvSpPr>
          <p:nvPr/>
        </p:nvSpPr>
        <p:spPr bwMode="auto">
          <a:xfrm>
            <a:off x="1800225" y="4762500"/>
            <a:ext cx="641350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Cambria" panose="02040503050406030204" pitchFamily="18" charset="0"/>
                <a:ea typeface="KaiTi" panose="02010609060101010101" pitchFamily="49" charset="-122"/>
              </a:rPr>
              <a:t>Lens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水晶体</a:t>
            </a:r>
            <a:endParaRPr lang="en-US" altLang="en-US" sz="16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204" name="Text Box 13"/>
          <p:cNvSpPr txBox="1">
            <a:spLocks noChangeArrowheads="1"/>
          </p:cNvSpPr>
          <p:nvPr/>
        </p:nvSpPr>
        <p:spPr bwMode="auto">
          <a:xfrm>
            <a:off x="8493126" y="5689600"/>
            <a:ext cx="127476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>
                <a:solidFill>
                  <a:srgbClr val="FF0000"/>
                </a:solidFill>
                <a:latin typeface="Cambria" panose="02040503050406030204" pitchFamily="18" charset="0"/>
              </a:rPr>
              <a:t>Blind spot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盲点</a:t>
            </a:r>
            <a:endParaRPr lang="en-US" altLang="en-US" sz="1600" b="1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205" name="Text Box 14"/>
          <p:cNvSpPr txBox="1">
            <a:spLocks noChangeArrowheads="1"/>
          </p:cNvSpPr>
          <p:nvPr/>
        </p:nvSpPr>
        <p:spPr bwMode="auto">
          <a:xfrm>
            <a:off x="9169401" y="2624138"/>
            <a:ext cx="1323975" cy="59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>
                <a:solidFill>
                  <a:srgbClr val="FF0000"/>
                </a:solidFill>
                <a:latin typeface="Cambria" panose="02040503050406030204" pitchFamily="18" charset="0"/>
              </a:rPr>
              <a:t>Optic nerve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b="1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视神经</a:t>
            </a:r>
            <a:endParaRPr lang="en-US" altLang="en-US" sz="1600" b="1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206" name="Text Box 15"/>
          <p:cNvSpPr txBox="1">
            <a:spLocks noChangeArrowheads="1"/>
          </p:cNvSpPr>
          <p:nvPr/>
        </p:nvSpPr>
        <p:spPr bwMode="auto">
          <a:xfrm>
            <a:off x="9398001" y="1206500"/>
            <a:ext cx="828675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b="1" dirty="0">
                <a:solidFill>
                  <a:srgbClr val="FF0000"/>
                </a:solidFill>
                <a:latin typeface="Cambria" panose="02040503050406030204" pitchFamily="18" charset="0"/>
              </a:rPr>
              <a:t>Retina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zh-CN" altLang="en-US" sz="1600" b="1" dirty="0">
                <a:solidFill>
                  <a:srgbClr val="FF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视网膜</a:t>
            </a:r>
            <a:endParaRPr lang="en-US" altLang="en-US" sz="1600" b="1" dirty="0">
              <a:solidFill>
                <a:srgbClr val="FF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6208" name="Line 17"/>
          <p:cNvSpPr>
            <a:spLocks noChangeShapeType="1"/>
          </p:cNvSpPr>
          <p:nvPr/>
        </p:nvSpPr>
        <p:spPr bwMode="auto">
          <a:xfrm>
            <a:off x="2673351" y="587376"/>
            <a:ext cx="2085975" cy="466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11" name="Line 20"/>
          <p:cNvSpPr>
            <a:spLocks noChangeShapeType="1"/>
          </p:cNvSpPr>
          <p:nvPr/>
        </p:nvSpPr>
        <p:spPr bwMode="auto">
          <a:xfrm>
            <a:off x="2828926" y="2317750"/>
            <a:ext cx="684213" cy="211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12" name="Line 21"/>
          <p:cNvSpPr>
            <a:spLocks noChangeShapeType="1"/>
          </p:cNvSpPr>
          <p:nvPr/>
        </p:nvSpPr>
        <p:spPr bwMode="auto">
          <a:xfrm flipV="1">
            <a:off x="2673351" y="2911475"/>
            <a:ext cx="1319213" cy="79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6213" name="Group 22"/>
          <p:cNvGrpSpPr>
            <a:grpSpLocks/>
          </p:cNvGrpSpPr>
          <p:nvPr/>
        </p:nvGrpSpPr>
        <p:grpSpPr bwMode="auto">
          <a:xfrm>
            <a:off x="2554288" y="3163888"/>
            <a:ext cx="1370012" cy="527050"/>
            <a:chOff x="649" y="1993"/>
            <a:chExt cx="863" cy="332"/>
          </a:xfrm>
        </p:grpSpPr>
        <p:sp>
          <p:nvSpPr>
            <p:cNvPr id="136222" name="Line 23"/>
            <p:cNvSpPr>
              <a:spLocks noChangeShapeType="1"/>
            </p:cNvSpPr>
            <p:nvPr/>
          </p:nvSpPr>
          <p:spPr bwMode="auto">
            <a:xfrm flipH="1">
              <a:off x="1347" y="1993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23" name="Line 24"/>
            <p:cNvSpPr>
              <a:spLocks noChangeShapeType="1"/>
            </p:cNvSpPr>
            <p:nvPr/>
          </p:nvSpPr>
          <p:spPr bwMode="auto">
            <a:xfrm>
              <a:off x="1351" y="1993"/>
              <a:ext cx="0" cy="3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24" name="Line 25"/>
            <p:cNvSpPr>
              <a:spLocks noChangeShapeType="1"/>
            </p:cNvSpPr>
            <p:nvPr/>
          </p:nvSpPr>
          <p:spPr bwMode="auto">
            <a:xfrm>
              <a:off x="1347" y="2325"/>
              <a:ext cx="16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25" name="Line 26"/>
            <p:cNvSpPr>
              <a:spLocks noChangeShapeType="1"/>
            </p:cNvSpPr>
            <p:nvPr/>
          </p:nvSpPr>
          <p:spPr bwMode="auto">
            <a:xfrm>
              <a:off x="649" y="2151"/>
              <a:ext cx="70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6215" name="Line 28"/>
          <p:cNvSpPr>
            <a:spLocks noChangeShapeType="1"/>
          </p:cNvSpPr>
          <p:nvPr/>
        </p:nvSpPr>
        <p:spPr bwMode="auto">
          <a:xfrm flipV="1">
            <a:off x="2506664" y="3798889"/>
            <a:ext cx="1881187" cy="1196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17" name="Line 30"/>
          <p:cNvSpPr>
            <a:spLocks noChangeShapeType="1"/>
          </p:cNvSpPr>
          <p:nvPr/>
        </p:nvSpPr>
        <p:spPr bwMode="auto">
          <a:xfrm flipH="1" flipV="1">
            <a:off x="8316913" y="4241800"/>
            <a:ext cx="550862" cy="14620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18" name="Line 31"/>
          <p:cNvSpPr>
            <a:spLocks noChangeShapeType="1"/>
          </p:cNvSpPr>
          <p:nvPr/>
        </p:nvSpPr>
        <p:spPr bwMode="auto">
          <a:xfrm flipH="1">
            <a:off x="9059864" y="3175000"/>
            <a:ext cx="479425" cy="730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19" name="Line 32"/>
          <p:cNvSpPr>
            <a:spLocks noChangeShapeType="1"/>
          </p:cNvSpPr>
          <p:nvPr/>
        </p:nvSpPr>
        <p:spPr bwMode="auto">
          <a:xfrm flipH="1">
            <a:off x="9407526" y="3175000"/>
            <a:ext cx="131763" cy="1270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20" name="Line 33"/>
          <p:cNvSpPr>
            <a:spLocks noChangeShapeType="1"/>
          </p:cNvSpPr>
          <p:nvPr/>
        </p:nvSpPr>
        <p:spPr bwMode="auto">
          <a:xfrm flipH="1">
            <a:off x="7034213" y="1709739"/>
            <a:ext cx="2011362" cy="1285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0767E-02A4-757A-A66B-E2B83C89C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</a:t>
            </a:r>
            <a:r>
              <a:rPr lang="en-US" dirty="0"/>
              <a:t>ight to the </a:t>
            </a:r>
            <a:r>
              <a:rPr lang="en-US" altLang="zh-CN" dirty="0"/>
              <a:t>R</a:t>
            </a:r>
            <a:r>
              <a:rPr lang="en-US" dirty="0"/>
              <a:t>etina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25FAF-13DE-EAB1-5908-405B5C442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5712823" cy="526496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Focus the light by </a:t>
            </a:r>
            <a:r>
              <a:rPr lang="en-US" b="1" dirty="0">
                <a:solidFill>
                  <a:srgbClr val="FF0000"/>
                </a:solidFill>
              </a:rPr>
              <a:t>light refraction</a:t>
            </a:r>
          </a:p>
          <a:p>
            <a:pPr lvl="1"/>
            <a:r>
              <a:rPr lang="en-US" dirty="0"/>
              <a:t>Cornea, fixed </a:t>
            </a:r>
          </a:p>
          <a:p>
            <a:pPr lvl="1"/>
            <a:r>
              <a:rPr lang="en-US" dirty="0"/>
              <a:t>Lens, adjustable </a:t>
            </a:r>
          </a:p>
          <a:p>
            <a:pPr lvl="2"/>
            <a:r>
              <a:rPr lang="en-US" dirty="0"/>
              <a:t>Accommodation, change shape of the lens by muscles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B7B96C-8EE3-9C54-834D-3BB4FED0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492875"/>
            <a:ext cx="4114800" cy="365125"/>
          </a:xfrm>
        </p:spPr>
        <p:txBody>
          <a:bodyPr/>
          <a:lstStyle/>
          <a:p>
            <a:pPr algn="r"/>
            <a:r>
              <a:rPr lang="en-US" dirty="0"/>
              <a:t>© 2016 Pearson Education, Inc.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63282-8529-3572-56F7-02ABABF52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578" y="491149"/>
            <a:ext cx="5936422" cy="6011839"/>
          </a:xfrm>
          <a:prstGeom prst="rect">
            <a:avLst/>
          </a:prstGeom>
        </p:spPr>
      </p:pic>
      <p:pic>
        <p:nvPicPr>
          <p:cNvPr id="1026" name="Picture 2" descr="Refraction - Definition, Refractive Index, Snell's Law">
            <a:extLst>
              <a:ext uri="{FF2B5EF4-FFF2-40B4-BE49-F238E27FC236}">
                <a16:creationId xmlns:a16="http://schemas.microsoft.com/office/drawing/2014/main" id="{8555E2A5-AEFC-FAA3-897C-85485D3DC9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3" t="24864" r="6057" b="4575"/>
          <a:stretch/>
        </p:blipFill>
        <p:spPr bwMode="auto">
          <a:xfrm>
            <a:off x="115382" y="3860392"/>
            <a:ext cx="1782440" cy="233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7DDCE6-6DBE-DF0C-0CFF-187F43368FE0}"/>
              </a:ext>
            </a:extLst>
          </p:cNvPr>
          <p:cNvSpPr txBox="1"/>
          <p:nvPr/>
        </p:nvSpPr>
        <p:spPr>
          <a:xfrm>
            <a:off x="2057400" y="6611779"/>
            <a:ext cx="609372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https://share.google/images/kiBbZDbCDJ85jxGAh</a:t>
            </a:r>
          </a:p>
        </p:txBody>
      </p:sp>
      <p:pic>
        <p:nvPicPr>
          <p:cNvPr id="1028" name="Picture 4" descr="57】遠近調節 - SOILｰSHOP生物教材製作所 / 自習室">
            <a:extLst>
              <a:ext uri="{FF2B5EF4-FFF2-40B4-BE49-F238E27FC236}">
                <a16:creationId xmlns:a16="http://schemas.microsoft.com/office/drawing/2014/main" id="{817E24CD-7548-2EAD-6558-B2001852A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497069"/>
            <a:ext cx="4152946" cy="3114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7057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9709C-BC1B-4B7F-2356-2AC5A8C8B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Light Detected by Photoreceptors: Rods and Cones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C7CFF-2A30-CB38-24C8-DAEA707D2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Rods</a:t>
            </a:r>
          </a:p>
          <a:p>
            <a:pPr lvl="1"/>
            <a:r>
              <a:rPr lang="en-US" dirty="0"/>
              <a:t>are extremely </a:t>
            </a:r>
            <a:r>
              <a:rPr lang="en-US" dirty="0">
                <a:highlight>
                  <a:srgbClr val="FFFF00"/>
                </a:highlight>
              </a:rPr>
              <a:t>sensitive</a:t>
            </a:r>
            <a:r>
              <a:rPr lang="en-US" dirty="0"/>
              <a:t> to light (vision in dim light)</a:t>
            </a:r>
          </a:p>
          <a:p>
            <a:pPr lvl="1"/>
            <a:r>
              <a:rPr lang="en-US" dirty="0"/>
              <a:t>perceive only </a:t>
            </a:r>
            <a:r>
              <a:rPr lang="en-US" dirty="0">
                <a:highlight>
                  <a:srgbClr val="C0C0C0"/>
                </a:highlight>
              </a:rPr>
              <a:t>shades of gray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distributed at the outer edges of the retina</a:t>
            </a:r>
          </a:p>
          <a:p>
            <a:r>
              <a:rPr lang="en-US" dirty="0"/>
              <a:t>Cones</a:t>
            </a:r>
          </a:p>
          <a:p>
            <a:pPr lvl="1"/>
            <a:r>
              <a:rPr lang="en-US" dirty="0"/>
              <a:t>are less sensitive to light</a:t>
            </a:r>
          </a:p>
          <a:p>
            <a:pPr lvl="1"/>
            <a:r>
              <a:rPr lang="en-US" dirty="0"/>
              <a:t>can </a:t>
            </a:r>
            <a:r>
              <a:rPr lang="en-US" dirty="0">
                <a:highlight>
                  <a:srgbClr val="FFFF00"/>
                </a:highlight>
              </a:rPr>
              <a:t>distinguish color</a:t>
            </a:r>
            <a:r>
              <a:rPr lang="en-US" dirty="0"/>
              <a:t> (but</a:t>
            </a:r>
            <a:r>
              <a:rPr lang="zh-CN" altLang="en-US" dirty="0"/>
              <a:t> </a:t>
            </a:r>
            <a:r>
              <a:rPr lang="en-US" altLang="zh-CN" dirty="0"/>
              <a:t>color-blind)</a:t>
            </a:r>
            <a:endParaRPr lang="en-US" dirty="0"/>
          </a:p>
          <a:p>
            <a:pPr lvl="1"/>
            <a:r>
              <a:rPr lang="en-US" dirty="0"/>
              <a:t>are distributed at the retina’s center of focus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3551A0-775C-90AC-DC2B-C905FCDE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63569-E4E2-CED9-F252-872E68D90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286" y="2425295"/>
            <a:ext cx="4885714" cy="2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3550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FAC27-416E-3EC2-D563-5E6CAAF1E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Cones and Color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49152-1C04-9801-ABAC-5BAD4D8C5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7686095" cy="5264966"/>
          </a:xfrm>
        </p:spPr>
        <p:txBody>
          <a:bodyPr/>
          <a:lstStyle/>
          <a:p>
            <a:r>
              <a:rPr lang="en-US" dirty="0"/>
              <a:t>Three types</a:t>
            </a:r>
          </a:p>
          <a:p>
            <a:pPr lvl="1"/>
            <a:r>
              <a:rPr lang="en-US" dirty="0"/>
              <a:t>Short-wavelength cones </a:t>
            </a:r>
            <a:r>
              <a:rPr lang="en-US" dirty="0">
                <a:highlight>
                  <a:srgbClr val="C0C0C0"/>
                </a:highlight>
              </a:rPr>
              <a:t>(</a:t>
            </a:r>
            <a:r>
              <a:rPr lang="en-US" strike="sngStrike" dirty="0">
                <a:highlight>
                  <a:srgbClr val="C0C0C0"/>
                </a:highlight>
              </a:rPr>
              <a:t>blue</a:t>
            </a:r>
            <a:r>
              <a:rPr lang="en-US" dirty="0">
                <a:highlight>
                  <a:srgbClr val="C0C0C0"/>
                </a:highlight>
              </a:rPr>
              <a:t>) </a:t>
            </a:r>
          </a:p>
          <a:p>
            <a:pPr lvl="1"/>
            <a:r>
              <a:rPr lang="en-US" dirty="0"/>
              <a:t>Medium-wavelength cones </a:t>
            </a:r>
            <a:r>
              <a:rPr lang="en-US" dirty="0">
                <a:highlight>
                  <a:srgbClr val="C0C0C0"/>
                </a:highlight>
              </a:rPr>
              <a:t>(</a:t>
            </a:r>
            <a:r>
              <a:rPr lang="en-US" strike="sngStrike" dirty="0">
                <a:highlight>
                  <a:srgbClr val="C0C0C0"/>
                </a:highlight>
              </a:rPr>
              <a:t>green</a:t>
            </a:r>
            <a:r>
              <a:rPr lang="en-US" dirty="0">
                <a:highlight>
                  <a:srgbClr val="C0C0C0"/>
                </a:highlight>
              </a:rPr>
              <a:t>)</a:t>
            </a:r>
          </a:p>
          <a:p>
            <a:pPr lvl="1"/>
            <a:r>
              <a:rPr lang="en-US" dirty="0"/>
              <a:t>Long-wavelength cones </a:t>
            </a:r>
            <a:r>
              <a:rPr lang="en-US" dirty="0">
                <a:highlight>
                  <a:srgbClr val="C0C0C0"/>
                </a:highlight>
              </a:rPr>
              <a:t>(</a:t>
            </a:r>
            <a:r>
              <a:rPr lang="en-US" strike="sngStrike" dirty="0">
                <a:highlight>
                  <a:srgbClr val="C0C0C0"/>
                </a:highlight>
              </a:rPr>
              <a:t>red</a:t>
            </a:r>
            <a:r>
              <a:rPr lang="en-US" dirty="0">
                <a:highlight>
                  <a:srgbClr val="C0C0C0"/>
                </a:highlight>
              </a:rPr>
              <a:t>)</a:t>
            </a:r>
          </a:p>
          <a:p>
            <a:r>
              <a:rPr lang="en-US" dirty="0"/>
              <a:t>“Color-blind”</a:t>
            </a:r>
          </a:p>
          <a:p>
            <a:r>
              <a:rPr lang="en-US" dirty="0"/>
              <a:t>Color detection by comparing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A8DFF5-F194-3423-B10F-C31BF8E5F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 descr="Neuroscience6e-Fig-11-14-0.jpg">
            <a:extLst>
              <a:ext uri="{FF2B5EF4-FFF2-40B4-BE49-F238E27FC236}">
                <a16:creationId xmlns:a16="http://schemas.microsoft.com/office/drawing/2014/main" id="{109B89CE-6A19-E2EE-E60D-DCE27D400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272" y="0"/>
            <a:ext cx="41227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469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3643313" y="1746252"/>
            <a:ext cx="8548687" cy="5111748"/>
            <a:chOff x="1820864" y="809627"/>
            <a:chExt cx="8548687" cy="5111748"/>
          </a:xfrm>
        </p:grpSpPr>
        <p:pic>
          <p:nvPicPr>
            <p:cNvPr id="6" name="Picture 2" descr="27_21_VisionPathway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809627"/>
              <a:ext cx="8548687" cy="5036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5221288" y="2319339"/>
              <a:ext cx="709612" cy="776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Optic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nerve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fibers</a:t>
              </a:r>
            </a:p>
          </p:txBody>
        </p:sp>
        <p:sp>
          <p:nvSpPr>
            <p:cNvPr id="8" name="Text Box 5"/>
            <p:cNvSpPr txBox="1">
              <a:spLocks noChangeArrowheads="1"/>
            </p:cNvSpPr>
            <p:nvPr/>
          </p:nvSpPr>
          <p:spPr bwMode="auto">
            <a:xfrm>
              <a:off x="7816851" y="817563"/>
              <a:ext cx="709613" cy="2524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Retina</a:t>
              </a: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>
              <a:off x="6894513" y="1238251"/>
              <a:ext cx="963612" cy="265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Neurons</a:t>
              </a: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8340725" y="1225550"/>
              <a:ext cx="1733550" cy="292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Photoreceptors</a:t>
              </a:r>
            </a:p>
          </p:txBody>
        </p:sp>
        <p:sp>
          <p:nvSpPr>
            <p:cNvPr id="11" name="Text Box 8"/>
            <p:cNvSpPr txBox="1">
              <a:spLocks noChangeArrowheads="1"/>
            </p:cNvSpPr>
            <p:nvPr/>
          </p:nvSpPr>
          <p:spPr bwMode="auto">
            <a:xfrm>
              <a:off x="8601076" y="1698625"/>
              <a:ext cx="608013" cy="292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Cone</a:t>
              </a: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9321801" y="1698625"/>
              <a:ext cx="481013" cy="292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Rod</a:t>
              </a:r>
            </a:p>
          </p:txBody>
        </p:sp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6067426" y="5629275"/>
              <a:ext cx="936625" cy="292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To brain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5067301" y="5127625"/>
              <a:ext cx="561975" cy="5032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Optic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nerve</a:t>
              </a: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>
              <a:off x="3989389" y="3765550"/>
              <a:ext cx="725487" cy="2984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Retina</a:t>
              </a:r>
              <a:endParaRPr lang="en-US" altLang="en-US" sz="1400" b="1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V="1">
              <a:off x="5308600" y="46609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V="1">
              <a:off x="4318000" y="3429000"/>
              <a:ext cx="0" cy="317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>
              <a:off x="5880100" y="2692400"/>
              <a:ext cx="355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>
              <a:off x="8953500" y="1955800"/>
              <a:ext cx="215900" cy="838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9575800" y="1955800"/>
              <a:ext cx="0" cy="25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1" name="Group 18"/>
            <p:cNvGrpSpPr>
              <a:grpSpLocks/>
            </p:cNvGrpSpPr>
            <p:nvPr/>
          </p:nvGrpSpPr>
          <p:grpSpPr bwMode="auto">
            <a:xfrm>
              <a:off x="6223000" y="1479550"/>
              <a:ext cx="2235200" cy="311150"/>
              <a:chOff x="2960" y="932"/>
              <a:chExt cx="1408" cy="196"/>
            </a:xfrm>
          </p:grpSpPr>
          <p:sp>
            <p:nvSpPr>
              <p:cNvPr id="32" name="Line 19"/>
              <p:cNvSpPr>
                <a:spLocks noChangeShapeType="1"/>
              </p:cNvSpPr>
              <p:nvPr/>
            </p:nvSpPr>
            <p:spPr bwMode="auto">
              <a:xfrm flipV="1">
                <a:off x="2964" y="1028"/>
                <a:ext cx="0" cy="1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20"/>
              <p:cNvSpPr>
                <a:spLocks noChangeShapeType="1"/>
              </p:cNvSpPr>
              <p:nvPr/>
            </p:nvSpPr>
            <p:spPr bwMode="auto">
              <a:xfrm>
                <a:off x="2960" y="1032"/>
                <a:ext cx="1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Line 21"/>
              <p:cNvSpPr>
                <a:spLocks noChangeShapeType="1"/>
              </p:cNvSpPr>
              <p:nvPr/>
            </p:nvSpPr>
            <p:spPr bwMode="auto">
              <a:xfrm>
                <a:off x="4368" y="1028"/>
                <a:ext cx="0" cy="1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Line 22"/>
              <p:cNvSpPr>
                <a:spLocks noChangeShapeType="1"/>
              </p:cNvSpPr>
              <p:nvPr/>
            </p:nvSpPr>
            <p:spPr bwMode="auto">
              <a:xfrm flipV="1">
                <a:off x="3672" y="932"/>
                <a:ext cx="0" cy="1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2" name="Group 23"/>
            <p:cNvGrpSpPr>
              <a:grpSpLocks/>
            </p:cNvGrpSpPr>
            <p:nvPr/>
          </p:nvGrpSpPr>
          <p:grpSpPr bwMode="auto">
            <a:xfrm>
              <a:off x="8534400" y="1466850"/>
              <a:ext cx="1270000" cy="323850"/>
              <a:chOff x="4416" y="924"/>
              <a:chExt cx="800" cy="204"/>
            </a:xfrm>
          </p:grpSpPr>
          <p:sp>
            <p:nvSpPr>
              <p:cNvPr id="28" name="Line 24"/>
              <p:cNvSpPr>
                <a:spLocks noChangeShapeType="1"/>
              </p:cNvSpPr>
              <p:nvPr/>
            </p:nvSpPr>
            <p:spPr bwMode="auto">
              <a:xfrm flipV="1">
                <a:off x="4416" y="1028"/>
                <a:ext cx="0" cy="1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25"/>
              <p:cNvSpPr>
                <a:spLocks noChangeShapeType="1"/>
              </p:cNvSpPr>
              <p:nvPr/>
            </p:nvSpPr>
            <p:spPr bwMode="auto">
              <a:xfrm>
                <a:off x="4416" y="1032"/>
                <a:ext cx="8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Line 26"/>
              <p:cNvSpPr>
                <a:spLocks noChangeShapeType="1"/>
              </p:cNvSpPr>
              <p:nvPr/>
            </p:nvSpPr>
            <p:spPr bwMode="auto">
              <a:xfrm>
                <a:off x="5216" y="1028"/>
                <a:ext cx="0" cy="1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Line 27"/>
              <p:cNvSpPr>
                <a:spLocks noChangeShapeType="1"/>
              </p:cNvSpPr>
              <p:nvPr/>
            </p:nvSpPr>
            <p:spPr bwMode="auto">
              <a:xfrm flipV="1">
                <a:off x="4816" y="924"/>
                <a:ext cx="0" cy="11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3" name="Group 28"/>
            <p:cNvGrpSpPr>
              <a:grpSpLocks/>
            </p:cNvGrpSpPr>
            <p:nvPr/>
          </p:nvGrpSpPr>
          <p:grpSpPr bwMode="auto">
            <a:xfrm>
              <a:off x="6235700" y="1060450"/>
              <a:ext cx="3873500" cy="292100"/>
              <a:chOff x="2968" y="668"/>
              <a:chExt cx="2440" cy="184"/>
            </a:xfrm>
          </p:grpSpPr>
          <p:sp>
            <p:nvSpPr>
              <p:cNvPr id="24" name="Line 29"/>
              <p:cNvSpPr>
                <a:spLocks noChangeShapeType="1"/>
              </p:cNvSpPr>
              <p:nvPr/>
            </p:nvSpPr>
            <p:spPr bwMode="auto">
              <a:xfrm flipV="1">
                <a:off x="2972" y="75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Line 30"/>
              <p:cNvSpPr>
                <a:spLocks noChangeShapeType="1"/>
              </p:cNvSpPr>
              <p:nvPr/>
            </p:nvSpPr>
            <p:spPr bwMode="auto">
              <a:xfrm>
                <a:off x="2968" y="760"/>
                <a:ext cx="24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" name="Line 31"/>
              <p:cNvSpPr>
                <a:spLocks noChangeShapeType="1"/>
              </p:cNvSpPr>
              <p:nvPr/>
            </p:nvSpPr>
            <p:spPr bwMode="auto">
              <a:xfrm>
                <a:off x="5408" y="756"/>
                <a:ext cx="0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Line 32"/>
              <p:cNvSpPr>
                <a:spLocks noChangeShapeType="1"/>
              </p:cNvSpPr>
              <p:nvPr/>
            </p:nvSpPr>
            <p:spPr bwMode="auto">
              <a:xfrm flipV="1">
                <a:off x="4184" y="668"/>
                <a:ext cx="0" cy="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5DC0BD0-5D26-FF1F-EEAA-3CEA8BFFF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altLang="zh-CN" dirty="0"/>
              <a:t>V</a:t>
            </a:r>
            <a:r>
              <a:rPr lang="en-US" dirty="0"/>
              <a:t>ision Pathway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2884C-1E85-3C55-F657-EDD8D0B0C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7052673" cy="5264966"/>
          </a:xfrm>
        </p:spPr>
        <p:txBody>
          <a:bodyPr/>
          <a:lstStyle/>
          <a:p>
            <a:r>
              <a:rPr lang="en-US" dirty="0"/>
              <a:t>Sensory transduction by light-absorbing pigments</a:t>
            </a:r>
          </a:p>
          <a:p>
            <a:r>
              <a:rPr lang="en-US" dirty="0"/>
              <a:t>Receptor potentials integrated by retinal neurons circuits </a:t>
            </a:r>
          </a:p>
          <a:p>
            <a:r>
              <a:rPr lang="en-US" dirty="0"/>
              <a:t>Action potentials in optic nerve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3AD8E-718E-B3E4-9097-7EA62F103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20095792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Imperfect Vision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989" y="1037881"/>
            <a:ext cx="7694022" cy="5820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2570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7A10D-0148-098B-9737-35A80C64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Human Ear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D649D1-088A-58F2-814A-EC375C5CA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766" y="1091386"/>
            <a:ext cx="10237434" cy="52649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72766" y="1227909"/>
            <a:ext cx="2840477" cy="13207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8982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The Middle and Inner Ear 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2860676" y="905010"/>
            <a:ext cx="8913311" cy="5952990"/>
            <a:chOff x="2860676" y="136525"/>
            <a:chExt cx="8913311" cy="5952990"/>
          </a:xfrm>
        </p:grpSpPr>
        <p:pic>
          <p:nvPicPr>
            <p:cNvPr id="6" name="Picture 2" descr="27_23bMiddleInnerEars-U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860676" y="136525"/>
              <a:ext cx="6469063" cy="5952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3065463" y="5097463"/>
              <a:ext cx="1204912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Eardrum</a:t>
              </a:r>
              <a:r>
                <a:rPr lang="en-US" altLang="en-US" sz="14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（</a:t>
              </a:r>
              <a:r>
                <a:rPr lang="zh-CN" altLang="en-US" sz="1400" b="1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耳膜）</a:t>
              </a:r>
              <a:endParaRPr lang="en-US" altLang="en-US" sz="1400" b="1">
                <a:solidFill>
                  <a:srgbClr val="000000"/>
                </a:solidFill>
                <a:latin typeface="Cambria" panose="020405030504060302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3194050" y="5639594"/>
              <a:ext cx="2279650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 dirty="0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Eustachian tube</a:t>
              </a:r>
              <a:r>
                <a:rPr lang="en-US" altLang="en-US" sz="1400" b="1" dirty="0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（</a:t>
              </a:r>
              <a:r>
                <a:rPr lang="zh-CN" altLang="en-US" sz="1400" b="1" dirty="0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耳咽管）</a:t>
              </a:r>
              <a:endParaRPr lang="en-US" altLang="en-US" sz="1400" b="1" dirty="0">
                <a:solidFill>
                  <a:srgbClr val="000000"/>
                </a:solidFill>
                <a:latin typeface="Cambria" panose="020405030504060302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9270048" y="5156993"/>
              <a:ext cx="2503939" cy="5119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 dirty="0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Cochlea（</a:t>
              </a:r>
              <a:r>
                <a:rPr lang="zh-CN" altLang="en-US" sz="2400" b="1" dirty="0">
                  <a:solidFill>
                    <a:srgbClr val="000000"/>
                  </a:solidFill>
                  <a:latin typeface="Cambria" panose="02040503050406030204" pitchFamily="18" charset="0"/>
                  <a:ea typeface="KaiTi" panose="02010609060101010101" pitchFamily="49" charset="-122"/>
                </a:rPr>
                <a:t>耳蜗）</a:t>
              </a:r>
              <a:endParaRPr lang="en-US" altLang="en-US" sz="2400" b="1" dirty="0">
                <a:solidFill>
                  <a:srgbClr val="000000"/>
                </a:solidFill>
                <a:latin typeface="Cambria" panose="020405030504060302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976563" y="754063"/>
              <a:ext cx="1204912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Cambria" panose="02040503050406030204" pitchFamily="18" charset="0"/>
                </a:rPr>
                <a:t>Hammer</a:t>
              </a:r>
            </a:p>
          </p:txBody>
        </p:sp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3903663" y="1135063"/>
              <a:ext cx="760412" cy="334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Cambria" panose="02040503050406030204" pitchFamily="18" charset="0"/>
                </a:rPr>
                <a:t>Anvil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4081463" y="284163"/>
              <a:ext cx="1003300" cy="3349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Cambria" panose="02040503050406030204" pitchFamily="18" charset="0"/>
                </a:rPr>
                <a:t>Stirrup</a:t>
              </a: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5364163" y="677863"/>
              <a:ext cx="1651000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>
                  <a:solidFill>
                    <a:srgbClr val="000000"/>
                  </a:solidFill>
                  <a:latin typeface="Cambria" panose="02040503050406030204" pitchFamily="18" charset="0"/>
                </a:rPr>
                <a:t>Skull bones</a:t>
              </a: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7866062" y="601664"/>
              <a:ext cx="2276477" cy="9175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2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Auditory nerve,</a:t>
              </a:r>
              <a:br>
                <a:rPr lang="en-US" altLang="en-US" sz="2200" b="1" dirty="0">
                  <a:solidFill>
                    <a:srgbClr val="000000"/>
                  </a:solidFill>
                  <a:latin typeface="Cambria" panose="02040503050406030204" pitchFamily="18" charset="0"/>
                </a:rPr>
              </a:br>
              <a:r>
                <a:rPr lang="en-US" altLang="en-US" sz="22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to brain</a:t>
              </a:r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657600" y="1066800"/>
              <a:ext cx="508000" cy="1435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4394200" y="1435100"/>
              <a:ext cx="241300" cy="152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4508500" y="596900"/>
              <a:ext cx="1308100" cy="2882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" name="Group 16"/>
            <p:cNvGrpSpPr>
              <a:grpSpLocks/>
            </p:cNvGrpSpPr>
            <p:nvPr/>
          </p:nvGrpSpPr>
          <p:grpSpPr bwMode="auto">
            <a:xfrm>
              <a:off x="5448300" y="1003300"/>
              <a:ext cx="635000" cy="1117600"/>
              <a:chOff x="2472" y="632"/>
              <a:chExt cx="400" cy="704"/>
            </a:xfrm>
          </p:grpSpPr>
          <p:sp>
            <p:nvSpPr>
              <p:cNvPr id="23" name="Line 17"/>
              <p:cNvSpPr>
                <a:spLocks noChangeShapeType="1"/>
              </p:cNvSpPr>
              <p:nvPr/>
            </p:nvSpPr>
            <p:spPr bwMode="auto">
              <a:xfrm flipH="1">
                <a:off x="2472" y="632"/>
                <a:ext cx="152" cy="7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Line 18"/>
              <p:cNvSpPr>
                <a:spLocks noChangeShapeType="1"/>
              </p:cNvSpPr>
              <p:nvPr/>
            </p:nvSpPr>
            <p:spPr bwMode="auto">
              <a:xfrm>
                <a:off x="2624" y="632"/>
                <a:ext cx="248" cy="3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>
              <a:off x="8458200" y="1511300"/>
              <a:ext cx="546100" cy="18415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 flipH="1" flipV="1">
              <a:off x="8636000" y="5105400"/>
              <a:ext cx="503874" cy="1954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V="1">
              <a:off x="6096000" y="5613400"/>
              <a:ext cx="584200" cy="20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 flipV="1">
              <a:off x="4013200" y="4013200"/>
              <a:ext cx="127000" cy="1104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85109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177" y="132523"/>
            <a:ext cx="4199937" cy="958863"/>
          </a:xfrm>
        </p:spPr>
        <p:txBody>
          <a:bodyPr/>
          <a:lstStyle/>
          <a:p>
            <a:r>
              <a:rPr lang="en-US" altLang="zh-CN" dirty="0"/>
              <a:t>In the Cochlea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4185649" cy="5264966"/>
          </a:xfrm>
        </p:spPr>
        <p:txBody>
          <a:bodyPr/>
          <a:lstStyle/>
          <a:p>
            <a:r>
              <a:rPr lang="en-US" altLang="zh-CN" dirty="0"/>
              <a:t>The organ of </a:t>
            </a:r>
            <a:r>
              <a:rPr lang="en-US" altLang="zh-CN" dirty="0" err="1"/>
              <a:t>Corti</a:t>
            </a:r>
            <a:endParaRPr lang="en-US" altLang="zh-CN" dirty="0"/>
          </a:p>
          <a:p>
            <a:r>
              <a:rPr lang="en-US" altLang="zh-CN" dirty="0"/>
              <a:t>Inner hair cells, the receptor cells of the ear</a:t>
            </a:r>
          </a:p>
          <a:p>
            <a:pPr lvl="1"/>
            <a:r>
              <a:rPr lang="en-US" altLang="zh-CN" dirty="0"/>
              <a:t>Mechanical force into electrical signals </a:t>
            </a:r>
          </a:p>
          <a:p>
            <a:pPr lvl="1"/>
            <a:r>
              <a:rPr lang="en-US" altLang="zh-CN" dirty="0"/>
              <a:t>Receptor potential</a:t>
            </a:r>
          </a:p>
          <a:p>
            <a:pPr lvl="1"/>
            <a:r>
              <a:rPr lang="en-US" altLang="zh-CN" dirty="0"/>
              <a:t>Do not regenerate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83114" y="184943"/>
            <a:ext cx="7608886" cy="6488114"/>
            <a:chOff x="2297114" y="136525"/>
            <a:chExt cx="7608886" cy="6488114"/>
          </a:xfrm>
        </p:grpSpPr>
        <p:pic>
          <p:nvPicPr>
            <p:cNvPr id="7" name="Picture 2" descr="27_24_OrganOfCorti-U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297114" y="136525"/>
              <a:ext cx="7597775" cy="6373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3989388" y="165100"/>
              <a:ext cx="1670050" cy="5349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Cross section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through Cochlea</a:t>
              </a:r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4160838" y="2668588"/>
              <a:ext cx="1503362" cy="254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Organ of Corti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611688" y="3170238"/>
              <a:ext cx="2108200" cy="27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Overlying membrane</a:t>
              </a: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4488007" y="3549133"/>
              <a:ext cx="1530085" cy="2674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 dirty="0">
                  <a:solidFill>
                    <a:srgbClr val="000000"/>
                  </a:solidFill>
                  <a:latin typeface="Arial" panose="020B0604020202020204" pitchFamily="34" charset="0"/>
                </a:rPr>
                <a:t>Outer Hair cells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4030663" y="3943350"/>
              <a:ext cx="120650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Supporting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cells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7375525" y="4491038"/>
              <a:ext cx="85725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Sensory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neurons</a:t>
              </a:r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4895850" y="6169026"/>
              <a:ext cx="1828800" cy="244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Basilar membrane</a:t>
              </a: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8326438" y="6118226"/>
              <a:ext cx="1579562" cy="506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To auditory</a:t>
              </a:r>
              <a:b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</a:b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nerve and brain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8053388" y="2254250"/>
              <a:ext cx="857250" cy="508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Auditory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nerve</a:t>
              </a:r>
            </a:p>
          </p:txBody>
        </p:sp>
        <p:sp>
          <p:nvSpPr>
            <p:cNvPr id="17" name="Text Box 13"/>
            <p:cNvSpPr txBox="1">
              <a:spLocks noChangeArrowheads="1"/>
            </p:cNvSpPr>
            <p:nvPr/>
          </p:nvSpPr>
          <p:spPr bwMode="auto">
            <a:xfrm>
              <a:off x="8102600" y="827088"/>
              <a:ext cx="585788" cy="27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Fluid</a:t>
              </a:r>
            </a:p>
          </p:txBody>
        </p:sp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7820025" y="265113"/>
              <a:ext cx="585788" cy="2714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600" b="1">
                  <a:solidFill>
                    <a:srgbClr val="000000"/>
                  </a:solidFill>
                  <a:latin typeface="Arial" panose="020B0604020202020204" pitchFamily="34" charset="0"/>
                </a:rPr>
                <a:t>Bone</a:t>
              </a:r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 flipH="1">
              <a:off x="7226300" y="381000"/>
              <a:ext cx="558800" cy="127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 flipH="1">
              <a:off x="7277100" y="939800"/>
              <a:ext cx="774700" cy="20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H="1" flipV="1">
              <a:off x="7607300" y="1930400"/>
              <a:ext cx="431800" cy="393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2" name="Group 18"/>
            <p:cNvGrpSpPr>
              <a:grpSpLocks/>
            </p:cNvGrpSpPr>
            <p:nvPr/>
          </p:nvGrpSpPr>
          <p:grpSpPr bwMode="auto">
            <a:xfrm>
              <a:off x="5588000" y="1676400"/>
              <a:ext cx="965200" cy="1092200"/>
              <a:chOff x="2560" y="1056"/>
              <a:chExt cx="608" cy="688"/>
            </a:xfrm>
          </p:grpSpPr>
          <p:sp>
            <p:nvSpPr>
              <p:cNvPr id="32" name="Line 19"/>
              <p:cNvSpPr>
                <a:spLocks noChangeShapeType="1"/>
              </p:cNvSpPr>
              <p:nvPr/>
            </p:nvSpPr>
            <p:spPr bwMode="auto">
              <a:xfrm flipV="1">
                <a:off x="2560" y="1056"/>
                <a:ext cx="488" cy="6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20"/>
              <p:cNvSpPr>
                <a:spLocks noChangeShapeType="1"/>
              </p:cNvSpPr>
              <p:nvPr/>
            </p:nvSpPr>
            <p:spPr bwMode="auto">
              <a:xfrm flipV="1">
                <a:off x="2560" y="1056"/>
                <a:ext cx="608" cy="6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3" name="Line 21"/>
            <p:cNvSpPr>
              <a:spLocks noChangeShapeType="1"/>
            </p:cNvSpPr>
            <p:nvPr/>
          </p:nvSpPr>
          <p:spPr bwMode="auto">
            <a:xfrm>
              <a:off x="6362700" y="3403600"/>
              <a:ext cx="152400" cy="419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4" name="Group 22"/>
            <p:cNvGrpSpPr>
              <a:grpSpLocks/>
            </p:cNvGrpSpPr>
            <p:nvPr/>
          </p:nvGrpSpPr>
          <p:grpSpPr bwMode="auto">
            <a:xfrm>
              <a:off x="4381500" y="4394200"/>
              <a:ext cx="393700" cy="482600"/>
              <a:chOff x="1800" y="2768"/>
              <a:chExt cx="248" cy="304"/>
            </a:xfrm>
          </p:grpSpPr>
          <p:sp>
            <p:nvSpPr>
              <p:cNvPr id="30" name="Line 23"/>
              <p:cNvSpPr>
                <a:spLocks noChangeShapeType="1"/>
              </p:cNvSpPr>
              <p:nvPr/>
            </p:nvSpPr>
            <p:spPr bwMode="auto">
              <a:xfrm>
                <a:off x="1800" y="2768"/>
                <a:ext cx="176" cy="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Line 24"/>
              <p:cNvSpPr>
                <a:spLocks noChangeShapeType="1"/>
              </p:cNvSpPr>
              <p:nvPr/>
            </p:nvSpPr>
            <p:spPr bwMode="auto">
              <a:xfrm>
                <a:off x="1800" y="2768"/>
                <a:ext cx="248" cy="2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" name="Group 25"/>
            <p:cNvGrpSpPr>
              <a:grpSpLocks/>
            </p:cNvGrpSpPr>
            <p:nvPr/>
          </p:nvGrpSpPr>
          <p:grpSpPr bwMode="auto">
            <a:xfrm>
              <a:off x="5283200" y="3797300"/>
              <a:ext cx="317500" cy="723900"/>
              <a:chOff x="2368" y="2392"/>
              <a:chExt cx="200" cy="456"/>
            </a:xfrm>
          </p:grpSpPr>
          <p:sp>
            <p:nvSpPr>
              <p:cNvPr id="28" name="Line 26"/>
              <p:cNvSpPr>
                <a:spLocks noChangeShapeType="1"/>
              </p:cNvSpPr>
              <p:nvPr/>
            </p:nvSpPr>
            <p:spPr bwMode="auto">
              <a:xfrm>
                <a:off x="2368" y="2392"/>
                <a:ext cx="0" cy="4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27"/>
              <p:cNvSpPr>
                <a:spLocks noChangeShapeType="1"/>
              </p:cNvSpPr>
              <p:nvPr/>
            </p:nvSpPr>
            <p:spPr bwMode="auto">
              <a:xfrm>
                <a:off x="2368" y="2392"/>
                <a:ext cx="200" cy="45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6" name="Line 28"/>
            <p:cNvSpPr>
              <a:spLocks noChangeShapeType="1"/>
            </p:cNvSpPr>
            <p:nvPr/>
          </p:nvSpPr>
          <p:spPr bwMode="auto">
            <a:xfrm flipH="1">
              <a:off x="7048500" y="4940300"/>
              <a:ext cx="355600" cy="584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Line 29"/>
            <p:cNvSpPr>
              <a:spLocks noChangeShapeType="1"/>
            </p:cNvSpPr>
            <p:nvPr/>
          </p:nvSpPr>
          <p:spPr bwMode="auto">
            <a:xfrm flipH="1" flipV="1">
              <a:off x="4559300" y="5829300"/>
              <a:ext cx="304800" cy="431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5" name="Picture 2" descr="Protection of auditory receptors and neurons: Evidence for interactive  damage | PNAS">
            <a:extLst>
              <a:ext uri="{FF2B5EF4-FFF2-40B4-BE49-F238E27FC236}">
                <a16:creationId xmlns:a16="http://schemas.microsoft.com/office/drawing/2014/main" id="{934E49E2-0DD9-4863-BC18-5AA9EEDE21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593416" y="4793456"/>
            <a:ext cx="3612121" cy="1968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Line 27"/>
          <p:cNvSpPr>
            <a:spLocks noChangeShapeType="1"/>
          </p:cNvSpPr>
          <p:nvPr/>
        </p:nvSpPr>
        <p:spPr bwMode="auto">
          <a:xfrm>
            <a:off x="7569199" y="3845718"/>
            <a:ext cx="711731" cy="7335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Box 7"/>
          <p:cNvSpPr txBox="1">
            <a:spLocks noChangeArrowheads="1"/>
          </p:cNvSpPr>
          <p:nvPr/>
        </p:nvSpPr>
        <p:spPr bwMode="auto">
          <a:xfrm>
            <a:off x="9612928" y="3561211"/>
            <a:ext cx="1530085" cy="267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>
              <a:spcBef>
                <a:spcPct val="45000"/>
              </a:spcBef>
              <a:spcAft>
                <a:spcPct val="20000"/>
              </a:spcAft>
              <a:buClr>
                <a:schemeClr val="tx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45000"/>
              </a:spcBef>
              <a:spcAft>
                <a:spcPct val="20000"/>
              </a:spcAft>
              <a:buClr>
                <a:srgbClr val="5D2F49"/>
              </a:buClr>
              <a:buFont typeface="Times" panose="02020603050405020304" pitchFamily="18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4B7278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Inner Hair cells</a:t>
            </a:r>
          </a:p>
        </p:txBody>
      </p:sp>
      <p:sp>
        <p:nvSpPr>
          <p:cNvPr id="36" name="Line 27"/>
          <p:cNvSpPr>
            <a:spLocks noChangeShapeType="1"/>
          </p:cNvSpPr>
          <p:nvPr/>
        </p:nvSpPr>
        <p:spPr bwMode="auto">
          <a:xfrm flipH="1">
            <a:off x="9106740" y="3926336"/>
            <a:ext cx="1131048" cy="99685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26415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Hearing Problems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3177" y="1227909"/>
            <a:ext cx="6670765" cy="5264966"/>
          </a:xfrm>
        </p:spPr>
        <p:txBody>
          <a:bodyPr/>
          <a:lstStyle/>
          <a:p>
            <a:r>
              <a:rPr lang="en-US" altLang="zh-CN" dirty="0"/>
              <a:t>Deafness, the inability to hear, can be caused by</a:t>
            </a:r>
          </a:p>
          <a:p>
            <a:pPr lvl="1"/>
            <a:r>
              <a:rPr lang="en-US" altLang="zh-CN" dirty="0"/>
              <a:t>middle ear infections</a:t>
            </a:r>
          </a:p>
          <a:p>
            <a:pPr lvl="1"/>
            <a:r>
              <a:rPr lang="en-US" altLang="zh-CN" dirty="0"/>
              <a:t>injury, such as a ruptured eardrum</a:t>
            </a:r>
            <a:endParaRPr lang="zh-CN" altLang="en-US" dirty="0"/>
          </a:p>
          <a:p>
            <a:pPr lvl="1"/>
            <a:r>
              <a:rPr lang="en-US" altLang="zh-CN" dirty="0"/>
              <a:t>stiffening of the middle-ear bones (a common age-related problem)</a:t>
            </a:r>
          </a:p>
          <a:p>
            <a:pPr lvl="1"/>
            <a:r>
              <a:rPr lang="en-US" altLang="zh-CN" dirty="0"/>
              <a:t>overexposure to loud noises</a:t>
            </a:r>
          </a:p>
          <a:p>
            <a:pPr lvl="1"/>
            <a:r>
              <a:rPr lang="en-US" altLang="zh-CN" dirty="0"/>
              <a:t>progressive and irreversible </a:t>
            </a:r>
          </a:p>
          <a:p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5" name="Picture 2" descr="Protection of auditory receptors and neurons: Evidence for interactive  damage | PNAS">
            <a:extLst>
              <a:ext uri="{FF2B5EF4-FFF2-40B4-BE49-F238E27FC236}">
                <a16:creationId xmlns:a16="http://schemas.microsoft.com/office/drawing/2014/main" id="{934E49E2-0DD9-4863-BC18-5AA9EEDE2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429" y="1091386"/>
            <a:ext cx="4480559" cy="5185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592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CF084-555D-5236-8AB8-4981F39CE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62" y="132523"/>
            <a:ext cx="8935276" cy="6725477"/>
          </a:xfrm>
          <a:prstGeom prst="rect">
            <a:avLst/>
          </a:prstGeo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50234237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Locomotor (Musculoskeletal)</a:t>
            </a:r>
            <a:r>
              <a:rPr lang="zh-CN" altLang="en-US" dirty="0"/>
              <a:t> </a:t>
            </a:r>
            <a:r>
              <a:rPr lang="en-US" altLang="zh-CN" dirty="0"/>
              <a:t>Systems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Movement, one of the most distinctive features of animals</a:t>
            </a:r>
          </a:p>
          <a:p>
            <a:r>
              <a:rPr lang="en-US" altLang="zh-CN" dirty="0"/>
              <a:t>The nervous system issues commands to the </a:t>
            </a:r>
            <a:r>
              <a:rPr lang="en-US" altLang="zh-CN" dirty="0">
                <a:highlight>
                  <a:srgbClr val="FFFF00"/>
                </a:highlight>
              </a:rPr>
              <a:t>muscular system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muscular system exerts the </a:t>
            </a:r>
            <a:r>
              <a:rPr lang="en-US" altLang="zh-CN" dirty="0">
                <a:highlight>
                  <a:srgbClr val="FFFF00"/>
                </a:highlight>
              </a:rPr>
              <a:t>forces</a:t>
            </a:r>
            <a:r>
              <a:rPr lang="en-US" altLang="zh-CN" dirty="0"/>
              <a:t> that make animals move by </a:t>
            </a:r>
            <a:r>
              <a:rPr lang="en-US" altLang="zh-CN" dirty="0">
                <a:highlight>
                  <a:srgbClr val="FFFF00"/>
                </a:highlight>
              </a:rPr>
              <a:t>acting on the skeletal system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121511091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17F2A-0F68-30C6-BED6-EC398555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Skeletal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EE2BC-1821-2203-24FF-908610636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7861716" cy="5264966"/>
          </a:xfrm>
        </p:spPr>
        <p:txBody>
          <a:bodyPr/>
          <a:lstStyle/>
          <a:p>
            <a:r>
              <a:rPr lang="en-US" dirty="0"/>
              <a:t>Support the whole body</a:t>
            </a:r>
          </a:p>
          <a:p>
            <a:pPr lvl="1"/>
            <a:r>
              <a:rPr lang="en-US" dirty="0">
                <a:highlight>
                  <a:srgbClr val="00FF00"/>
                </a:highlight>
              </a:rPr>
              <a:t>Trunk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Limbs</a:t>
            </a:r>
          </a:p>
          <a:p>
            <a:pPr lvl="1"/>
            <a:r>
              <a:rPr lang="en-US" dirty="0">
                <a:highlight>
                  <a:srgbClr val="00FFFF"/>
                </a:highlight>
              </a:rPr>
              <a:t>Cartilage</a:t>
            </a:r>
          </a:p>
          <a:p>
            <a:r>
              <a:rPr lang="en-US" dirty="0"/>
              <a:t>Anchoring by skeleton muscles </a:t>
            </a:r>
          </a:p>
          <a:p>
            <a:r>
              <a:rPr lang="en-US" dirty="0"/>
              <a:t>Protection of internal organs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D707C-D34D-D07F-C581-A98616C8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2AFC9-1279-7146-9FFE-E70E355A2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893" y="0"/>
            <a:ext cx="394710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6499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C83BE-05A8-A4BB-AA75-61911DD5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Types of Movable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2366D-36BE-B798-5C60-226528A85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bones of the skeleton are held together at </a:t>
            </a:r>
            <a:r>
              <a:rPr lang="en-US" dirty="0">
                <a:highlight>
                  <a:srgbClr val="FFFF00"/>
                </a:highlight>
              </a:rPr>
              <a:t>movable joints</a:t>
            </a:r>
            <a:r>
              <a:rPr lang="en-US" dirty="0"/>
              <a:t> by fibrous connective tissues, </a:t>
            </a:r>
            <a:r>
              <a:rPr lang="en-US" b="1" dirty="0">
                <a:solidFill>
                  <a:srgbClr val="FF0000"/>
                </a:solidFill>
              </a:rPr>
              <a:t>ligaments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DF1C25-2478-5977-EEC2-38CA50A9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A9E915-AF74-F548-4834-574855E24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77" y="2077845"/>
            <a:ext cx="11390476" cy="34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9221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43D5-2509-D094-212B-F12FFA46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Bones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2C621C-D556-1F6B-A094-284849FC4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E1851A-9141-CC22-1B2D-A94DDE668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834743" cy="657984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A292A-3E3E-6D63-91BB-81E9B9312C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6006737" cy="5264966"/>
          </a:xfrm>
        </p:spPr>
        <p:txBody>
          <a:bodyPr/>
          <a:lstStyle/>
          <a:p>
            <a:r>
              <a:rPr lang="en-US" dirty="0"/>
              <a:t>Fibrous connective tissue + Cartilage</a:t>
            </a:r>
          </a:p>
          <a:p>
            <a:r>
              <a:rPr lang="en-US" dirty="0"/>
              <a:t>Supported by blood vessels</a:t>
            </a:r>
          </a:p>
          <a:p>
            <a:r>
              <a:rPr lang="en-US" dirty="0"/>
              <a:t>The central cavity of a long bone contains </a:t>
            </a:r>
            <a:r>
              <a:rPr lang="en-US" dirty="0">
                <a:highlight>
                  <a:srgbClr val="FFFF00"/>
                </a:highlight>
              </a:rPr>
              <a:t>yellow bone marrow</a:t>
            </a:r>
            <a:r>
              <a:rPr lang="en-US" dirty="0"/>
              <a:t>, which is mostly stored fat.</a:t>
            </a:r>
          </a:p>
          <a:p>
            <a:r>
              <a:rPr lang="en-US" dirty="0"/>
              <a:t>The end of a long bone contains </a:t>
            </a:r>
            <a:r>
              <a:rPr lang="en-US" dirty="0">
                <a:highlight>
                  <a:srgbClr val="FF0000"/>
                </a:highlight>
              </a:rPr>
              <a:t>red bone marrow</a:t>
            </a:r>
            <a:r>
              <a:rPr lang="en-US" dirty="0"/>
              <a:t>, a specialized tissue that produces blood cells.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9495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1CC1A-5E74-D40D-26F5-881574F7D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Skeletal Diseases and Injuries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FFC0-EE94-80C6-4204-F4160113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8818950" cy="5264966"/>
          </a:xfrm>
        </p:spPr>
        <p:txBody>
          <a:bodyPr>
            <a:normAutofit/>
          </a:bodyPr>
          <a:lstStyle/>
          <a:p>
            <a:r>
              <a:rPr lang="en-US" dirty="0"/>
              <a:t>Broken bone, or fracture</a:t>
            </a:r>
          </a:p>
          <a:p>
            <a:pPr lvl="1"/>
            <a:r>
              <a:rPr lang="en-US" dirty="0"/>
              <a:t>the most commonly broken bone is the forearm </a:t>
            </a:r>
          </a:p>
          <a:p>
            <a:pPr lvl="1"/>
            <a:r>
              <a:rPr lang="en-US" dirty="0"/>
              <a:t>for people over 75, the hip</a:t>
            </a:r>
          </a:p>
          <a:p>
            <a:r>
              <a:rPr lang="en-US" dirty="0"/>
              <a:t>Arthritis (</a:t>
            </a:r>
            <a:r>
              <a:rPr lang="zh-CN" altLang="en-US" dirty="0"/>
              <a:t>关节炎</a:t>
            </a:r>
            <a:r>
              <a:rPr lang="en-US" altLang="zh-CN" dirty="0"/>
              <a:t>), </a:t>
            </a:r>
            <a:r>
              <a:rPr lang="en-US" dirty="0"/>
              <a:t>an inflammation (</a:t>
            </a:r>
            <a:r>
              <a:rPr lang="zh-CN" altLang="en-US" dirty="0"/>
              <a:t>发炎</a:t>
            </a:r>
            <a:r>
              <a:rPr lang="en-US" altLang="zh-CN" dirty="0"/>
              <a:t>)</a:t>
            </a:r>
            <a:r>
              <a:rPr lang="zh-CN" altLang="en-US" dirty="0"/>
              <a:t> </a:t>
            </a:r>
            <a:r>
              <a:rPr lang="en-US" dirty="0"/>
              <a:t>of the joints</a:t>
            </a:r>
          </a:p>
          <a:p>
            <a:r>
              <a:rPr lang="en-US" dirty="0"/>
              <a:t>Rheumatoid arthritis (</a:t>
            </a:r>
            <a:r>
              <a:rPr lang="zh-CN" altLang="en-US" dirty="0"/>
              <a:t>类风湿性关节炎</a:t>
            </a:r>
            <a:r>
              <a:rPr lang="en-US" altLang="zh-CN" dirty="0"/>
              <a:t>), </a:t>
            </a:r>
            <a:r>
              <a:rPr lang="en-US" dirty="0"/>
              <a:t>an autoimmune disease</a:t>
            </a:r>
          </a:p>
          <a:p>
            <a:r>
              <a:rPr lang="en-US" dirty="0"/>
              <a:t>Osteoporosis (</a:t>
            </a:r>
            <a:r>
              <a:rPr lang="zh-CN" altLang="en-US" dirty="0"/>
              <a:t>骨质疏松</a:t>
            </a:r>
            <a:r>
              <a:rPr lang="en-US" altLang="zh-CN" dirty="0"/>
              <a:t>), </a:t>
            </a:r>
            <a:r>
              <a:rPr lang="en-US" dirty="0"/>
              <a:t>bones become thinner and more porous</a:t>
            </a:r>
          </a:p>
          <a:p>
            <a:pPr lvl="1"/>
            <a:r>
              <a:rPr lang="en-US" dirty="0"/>
              <a:t>most common in women after menopause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B0FFA-0B2E-05AB-AACE-FA14096D4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B7EA5-994B-C94F-DE2C-76773C9C5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2127" y="533400"/>
            <a:ext cx="2989873" cy="595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8339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9A93-40E9-2D02-CCA5-724DBEAC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Muscular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53F03-86DF-5F1E-E7EC-6B0F5F95E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muscular system is made of </a:t>
            </a:r>
            <a:r>
              <a:rPr lang="en-US" dirty="0">
                <a:highlight>
                  <a:srgbClr val="FFFF00"/>
                </a:highlight>
              </a:rPr>
              <a:t>all the skeletal muscles</a:t>
            </a:r>
            <a:r>
              <a:rPr lang="en-US" dirty="0"/>
              <a:t> in the body.</a:t>
            </a:r>
          </a:p>
          <a:p>
            <a:r>
              <a:rPr lang="en-US" b="1" dirty="0">
                <a:solidFill>
                  <a:srgbClr val="FF0000"/>
                </a:solidFill>
              </a:rPr>
              <a:t>Tendons</a:t>
            </a:r>
            <a:r>
              <a:rPr lang="en-US" dirty="0"/>
              <a:t> connect muscles to bones.</a:t>
            </a:r>
          </a:p>
          <a:p>
            <a:r>
              <a:rPr lang="en-US" dirty="0">
                <a:highlight>
                  <a:srgbClr val="FFFF00"/>
                </a:highlight>
              </a:rPr>
              <a:t>Antagonistic pairs</a:t>
            </a:r>
            <a:r>
              <a:rPr lang="en-US" dirty="0"/>
              <a:t> of muscles produce opposite movements.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F270E1-86B5-8334-1D38-E8363E9B0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BB751-B4F3-337E-01B8-EAD47AF7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439" y="3151628"/>
            <a:ext cx="7114286" cy="3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6212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6ACD0-AE4C-B1A9-C5C6-5A1882E0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Cellular Basis of Muscle Contraction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54A53-C9D7-AAF6-C3D9-7786BB2C2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7" y="1227909"/>
            <a:ext cx="8288049" cy="5264966"/>
          </a:xfrm>
        </p:spPr>
        <p:txBody>
          <a:bodyPr/>
          <a:lstStyle/>
          <a:p>
            <a:r>
              <a:rPr lang="en-US" dirty="0"/>
              <a:t>Muscle fiber (cell) contains a bundle of smaller myofibrils.</a:t>
            </a:r>
          </a:p>
          <a:p>
            <a:r>
              <a:rPr lang="en-US" dirty="0"/>
              <a:t>A myofibril (an organelle) consists of </a:t>
            </a:r>
            <a:r>
              <a:rPr lang="en-US" dirty="0">
                <a:highlight>
                  <a:srgbClr val="FFFF00"/>
                </a:highlight>
              </a:rPr>
              <a:t>repeating units </a:t>
            </a:r>
            <a:r>
              <a:rPr lang="en-US" dirty="0"/>
              <a:t>called </a:t>
            </a:r>
            <a:r>
              <a:rPr lang="en-US" b="1" dirty="0">
                <a:solidFill>
                  <a:srgbClr val="FF0000"/>
                </a:solidFill>
              </a:rPr>
              <a:t>sarcomeres (contractile unit)</a:t>
            </a:r>
            <a:r>
              <a:rPr lang="en-US" dirty="0"/>
              <a:t>.</a:t>
            </a:r>
          </a:p>
          <a:p>
            <a:r>
              <a:rPr lang="en-US" b="1" dirty="0">
                <a:highlight>
                  <a:srgbClr val="FFFF00"/>
                </a:highlight>
              </a:rPr>
              <a:t>Striated</a:t>
            </a:r>
            <a:r>
              <a:rPr lang="en-US" dirty="0"/>
              <a:t>, because the myofibrils exhibit alternating </a:t>
            </a:r>
            <a:r>
              <a:rPr lang="en-US" sz="3600" b="1" dirty="0">
                <a:solidFill>
                  <a:schemeClr val="accent2"/>
                </a:solidFill>
              </a:rPr>
              <a:t>light</a:t>
            </a:r>
            <a:r>
              <a:rPr lang="en-US" dirty="0"/>
              <a:t> and </a:t>
            </a:r>
            <a:r>
              <a:rPr lang="en-US" sz="3600" b="1" dirty="0">
                <a:solidFill>
                  <a:srgbClr val="C00000"/>
                </a:solidFill>
              </a:rPr>
              <a:t>dark</a:t>
            </a:r>
            <a:r>
              <a:rPr lang="en-US" dirty="0"/>
              <a:t> bands when viewed with a light microscope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D4180-1DF3-995C-DDD2-9072D560C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D60A56-5AC2-145D-8EBB-FAB2EF2A2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1226" y="0"/>
            <a:ext cx="3520774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553234C-6A0E-F3D1-7B6D-6879DA9CBDA3}"/>
              </a:ext>
            </a:extLst>
          </p:cNvPr>
          <p:cNvSpPr/>
          <p:nvPr/>
        </p:nvSpPr>
        <p:spPr>
          <a:xfrm>
            <a:off x="10700657" y="0"/>
            <a:ext cx="1491343" cy="544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0119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8DC3B-499A-3E1F-FE80-BB2779884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sarcomere </a:t>
            </a:r>
            <a:r>
              <a:rPr lang="en-US" dirty="0">
                <a:highlight>
                  <a:srgbClr val="FFFF00"/>
                </a:highlight>
              </a:rPr>
              <a:t>contracts (shortens) </a:t>
            </a:r>
            <a:r>
              <a:rPr lang="en-US" dirty="0"/>
              <a:t>when its </a:t>
            </a:r>
            <a:r>
              <a:rPr lang="en-US" b="1" dirty="0">
                <a:solidFill>
                  <a:srgbClr val="FF0000"/>
                </a:solidFill>
              </a:rPr>
              <a:t>thin filaments slide past its thick filaments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9E4F1A0-B295-FFA6-63FE-BBD1FAADACCB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2351728"/>
            <a:ext cx="6988629" cy="4506271"/>
            <a:chOff x="2489200" y="987425"/>
            <a:chExt cx="7235826" cy="4665664"/>
          </a:xfrm>
        </p:grpSpPr>
        <p:pic>
          <p:nvPicPr>
            <p:cNvPr id="8" name="Picture 2" descr="27_31cContractileApparat-U">
              <a:extLst>
                <a:ext uri="{FF2B5EF4-FFF2-40B4-BE49-F238E27FC236}">
                  <a16:creationId xmlns:a16="http://schemas.microsoft.com/office/drawing/2014/main" id="{C8822D69-D905-02DC-FA3C-F8A445A4DC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2489200" y="987425"/>
              <a:ext cx="7213600" cy="4664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C093A870-6447-F287-9240-639891ABA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1576" y="2752725"/>
              <a:ext cx="69532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1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Light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100" b="1" dirty="0">
                  <a:solidFill>
                    <a:srgbClr val="000000"/>
                  </a:solidFill>
                  <a:latin typeface="Cambria" panose="02040503050406030204" pitchFamily="18" charset="0"/>
                </a:rPr>
                <a:t>band</a:t>
              </a: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458F08AD-9983-2B4F-4B0F-5618708428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97876" y="2740025"/>
              <a:ext cx="69532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Cambria" panose="02040503050406030204" pitchFamily="18" charset="0"/>
                </a:rPr>
                <a:t>Light</a:t>
              </a:r>
            </a:p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Cambria" panose="02040503050406030204" pitchFamily="18" charset="0"/>
                </a:rPr>
                <a:t>band</a:t>
              </a:r>
            </a:p>
          </p:txBody>
        </p:sp>
        <p:sp>
          <p:nvSpPr>
            <p:cNvPr id="11" name="Text Box 6">
              <a:extLst>
                <a:ext uri="{FF2B5EF4-FFF2-40B4-BE49-F238E27FC236}">
                  <a16:creationId xmlns:a16="http://schemas.microsoft.com/office/drawing/2014/main" id="{D50F99F5-AC15-A751-6AD9-31E637B041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6664" y="2886076"/>
              <a:ext cx="1436687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100" b="1">
                  <a:solidFill>
                    <a:srgbClr val="000000"/>
                  </a:solidFill>
                  <a:latin typeface="Cambria" panose="02040503050406030204" pitchFamily="18" charset="0"/>
                </a:rPr>
                <a:t>Dark band</a:t>
              </a:r>
            </a:p>
          </p:txBody>
        </p:sp>
        <p:sp>
          <p:nvSpPr>
            <p:cNvPr id="12" name="Text Box 7">
              <a:extLst>
                <a:ext uri="{FF2B5EF4-FFF2-40B4-BE49-F238E27FC236}">
                  <a16:creationId xmlns:a16="http://schemas.microsoft.com/office/drawing/2014/main" id="{B7ABD423-67F5-4767-DCF8-6F6D7AF740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9294020" y="2299495"/>
              <a:ext cx="585787" cy="2762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1800" b="1">
                  <a:solidFill>
                    <a:srgbClr val="000000"/>
                  </a:solidFill>
                  <a:latin typeface="Cambria" panose="02040503050406030204" pitchFamily="18" charset="0"/>
                </a:rPr>
                <a:t>TEM</a:t>
              </a:r>
            </a:p>
          </p:txBody>
        </p:sp>
        <p:sp>
          <p:nvSpPr>
            <p:cNvPr id="13" name="Text Box 8">
              <a:extLst>
                <a:ext uri="{FF2B5EF4-FFF2-40B4-BE49-F238E27FC236}">
                  <a16:creationId xmlns:a16="http://schemas.microsoft.com/office/drawing/2014/main" id="{213AC7E2-3562-41CF-BF0F-093433C30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6826" y="2676525"/>
              <a:ext cx="1382713" cy="1098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D9303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D9303F"/>
                  </a:solidFill>
                  <a:latin typeface="Cambria" panose="02040503050406030204" pitchFamily="18" charset="0"/>
                </a:rPr>
                <a:t>Thick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D9303F"/>
                  </a:solidFill>
                  <a:latin typeface="Cambria" panose="02040503050406030204" pitchFamily="18" charset="0"/>
                </a:rPr>
                <a:t>filaments 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D9303F"/>
                  </a:solidFill>
                  <a:latin typeface="Cambria" panose="02040503050406030204" pitchFamily="18" charset="0"/>
                </a:rPr>
                <a:t>(myosin)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96E68F94-DB54-9786-BB38-078D62355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1588" y="4114800"/>
              <a:ext cx="1338262" cy="9969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1B0D7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31B0D7"/>
                  </a:solidFill>
                  <a:latin typeface="Cambria" panose="02040503050406030204" pitchFamily="18" charset="0"/>
                </a:rPr>
                <a:t>Thin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31B0D7"/>
                  </a:solidFill>
                  <a:latin typeface="Cambria" panose="02040503050406030204" pitchFamily="18" charset="0"/>
                </a:rPr>
                <a:t>filaments </a:t>
              </a:r>
            </a:p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31B0D7"/>
                  </a:solidFill>
                  <a:latin typeface="Cambria" panose="02040503050406030204" pitchFamily="18" charset="0"/>
                </a:rPr>
                <a:t>(actin)</a:t>
              </a:r>
            </a:p>
          </p:txBody>
        </p:sp>
        <p:sp>
          <p:nvSpPr>
            <p:cNvPr id="15" name="Text Box 10">
              <a:extLst>
                <a:ext uri="{FF2B5EF4-FFF2-40B4-BE49-F238E27FC236}">
                  <a16:creationId xmlns:a16="http://schemas.microsoft.com/office/drawing/2014/main" id="{5EFEBD5C-744B-ABA5-59D5-E9D75FDA4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13488" y="5273676"/>
              <a:ext cx="1598612" cy="3794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  <a:buNone/>
              </a:pPr>
              <a:r>
                <a:rPr lang="en-US" altLang="en-US" sz="2400" b="1">
                  <a:solidFill>
                    <a:srgbClr val="000000"/>
                  </a:solidFill>
                  <a:latin typeface="Cambria" panose="02040503050406030204" pitchFamily="18" charset="0"/>
                </a:rPr>
                <a:t>Sarcomere</a:t>
              </a:r>
            </a:p>
          </p:txBody>
        </p:sp>
        <p:grpSp>
          <p:nvGrpSpPr>
            <p:cNvPr id="16" name="Group 11">
              <a:extLst>
                <a:ext uri="{FF2B5EF4-FFF2-40B4-BE49-F238E27FC236}">
                  <a16:creationId xmlns:a16="http://schemas.microsoft.com/office/drawing/2014/main" id="{4A33AD41-D66A-3C66-BBA8-FCACD98413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8100" y="3352800"/>
              <a:ext cx="787400" cy="381000"/>
              <a:chOff x="1464" y="2112"/>
              <a:chExt cx="496" cy="240"/>
            </a:xfrm>
          </p:grpSpPr>
          <p:sp>
            <p:nvSpPr>
              <p:cNvPr id="32" name="Line 12">
                <a:extLst>
                  <a:ext uri="{FF2B5EF4-FFF2-40B4-BE49-F238E27FC236}">
                    <a16:creationId xmlns:a16="http://schemas.microsoft.com/office/drawing/2014/main" id="{5A561328-0B1E-61C6-7FE1-838905F5D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64" y="2112"/>
                <a:ext cx="488" cy="9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Line 13">
                <a:extLst>
                  <a:ext uri="{FF2B5EF4-FFF2-40B4-BE49-F238E27FC236}">
                    <a16:creationId xmlns:a16="http://schemas.microsoft.com/office/drawing/2014/main" id="{BDE2F5CB-FAF9-631B-4FA3-05888ACF3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64" y="2208"/>
                <a:ext cx="496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7" name="Group 14">
              <a:extLst>
                <a:ext uri="{FF2B5EF4-FFF2-40B4-BE49-F238E27FC236}">
                  <a16:creationId xmlns:a16="http://schemas.microsoft.com/office/drawing/2014/main" id="{4EBE3157-D95C-FE57-21C2-F9E878F5A6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9700" y="4457700"/>
              <a:ext cx="673100" cy="381000"/>
              <a:chOff x="1528" y="2808"/>
              <a:chExt cx="424" cy="240"/>
            </a:xfrm>
          </p:grpSpPr>
          <p:sp>
            <p:nvSpPr>
              <p:cNvPr id="30" name="Line 15">
                <a:extLst>
                  <a:ext uri="{FF2B5EF4-FFF2-40B4-BE49-F238E27FC236}">
                    <a16:creationId xmlns:a16="http://schemas.microsoft.com/office/drawing/2014/main" id="{7327F01E-3268-3159-5BC6-58D366CAFB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28" y="2808"/>
                <a:ext cx="424" cy="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Line 16">
                <a:extLst>
                  <a:ext uri="{FF2B5EF4-FFF2-40B4-BE49-F238E27FC236}">
                    <a16:creationId xmlns:a16="http://schemas.microsoft.com/office/drawing/2014/main" id="{5BEBE226-72CC-DEFC-EA32-A401F062E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28" y="2896"/>
                <a:ext cx="424" cy="15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8372A6A1-822D-CFA7-06B6-CC0DA51FB8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4100" y="2882900"/>
              <a:ext cx="0" cy="25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1CF19B0-C26D-E6AD-AEA6-0681360322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5800" y="2882900"/>
              <a:ext cx="539750" cy="254000"/>
              <a:chOff x="2672" y="1816"/>
              <a:chExt cx="340" cy="160"/>
            </a:xfrm>
          </p:grpSpPr>
          <p:sp>
            <p:nvSpPr>
              <p:cNvPr id="28" name="Line 19">
                <a:extLst>
                  <a:ext uri="{FF2B5EF4-FFF2-40B4-BE49-F238E27FC236}">
                    <a16:creationId xmlns:a16="http://schemas.microsoft.com/office/drawing/2014/main" id="{D5885804-C56D-53D2-E56F-ADEB8BC7EE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2" y="1816"/>
                <a:ext cx="0" cy="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Line 20">
                <a:extLst>
                  <a:ext uri="{FF2B5EF4-FFF2-40B4-BE49-F238E27FC236}">
                    <a16:creationId xmlns:a16="http://schemas.microsoft.com/office/drawing/2014/main" id="{17B140F3-A306-37C0-76E4-CDE3D177D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76" y="1904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0" name="Group 21">
              <a:extLst>
                <a:ext uri="{FF2B5EF4-FFF2-40B4-BE49-F238E27FC236}">
                  <a16:creationId xmlns:a16="http://schemas.microsoft.com/office/drawing/2014/main" id="{74D4FEF0-2386-9E45-D47F-EA881DC977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9700" y="2882900"/>
              <a:ext cx="558800" cy="254000"/>
              <a:chOff x="3928" y="1816"/>
              <a:chExt cx="352" cy="160"/>
            </a:xfrm>
          </p:grpSpPr>
          <p:sp>
            <p:nvSpPr>
              <p:cNvPr id="26" name="Line 22">
                <a:extLst>
                  <a:ext uri="{FF2B5EF4-FFF2-40B4-BE49-F238E27FC236}">
                    <a16:creationId xmlns:a16="http://schemas.microsoft.com/office/drawing/2014/main" id="{2F0EB780-0DF7-9FF1-679E-ED3FFA707C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8" y="1904"/>
                <a:ext cx="35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Line 23">
                <a:extLst>
                  <a:ext uri="{FF2B5EF4-FFF2-40B4-BE49-F238E27FC236}">
                    <a16:creationId xmlns:a16="http://schemas.microsoft.com/office/drawing/2014/main" id="{DEB11DC7-354F-E2FF-BADD-CE86294E3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0" y="1816"/>
                <a:ext cx="0" cy="1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1" name="Line 24">
              <a:extLst>
                <a:ext uri="{FF2B5EF4-FFF2-40B4-BE49-F238E27FC236}">
                  <a16:creationId xmlns:a16="http://schemas.microsoft.com/office/drawing/2014/main" id="{1BC84C28-6865-1899-07C9-D43F65E21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82100" y="2882900"/>
              <a:ext cx="0" cy="254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Line 25">
              <a:extLst>
                <a:ext uri="{FF2B5EF4-FFF2-40B4-BE49-F238E27FC236}">
                  <a16:creationId xmlns:a16="http://schemas.microsoft.com/office/drawing/2014/main" id="{B95A6485-D552-899A-2B57-132D8DA07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08600" y="5257800"/>
              <a:ext cx="0" cy="393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45E9F20A-DC04-EEBE-4554-3F22E6C78E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39200" y="5257800"/>
              <a:ext cx="0" cy="3937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B26B182F-DCF9-AA15-E02C-A8064FD0A9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334000" y="5461000"/>
              <a:ext cx="850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0344A038-23C7-5452-2DC8-BB256917B1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62900" y="5461000"/>
              <a:ext cx="838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151DAF5-227C-EFEB-64FC-990BABF3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Sliding-filament Model of Muscle Contraction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26232-5C9D-2B98-5580-38F81C778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B3A35F-E6B2-062B-6D49-EDBC84863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289" y="2598532"/>
            <a:ext cx="5227322" cy="383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43791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7826-3DC2-A302-F392-07C22DBFB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Mechanism of Filament Sliding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A89C-8410-C55A-4C21-04380BFE8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C09F23F-2ECC-0001-18BB-6558A358BA61}"/>
              </a:ext>
            </a:extLst>
          </p:cNvPr>
          <p:cNvGrpSpPr/>
          <p:nvPr/>
        </p:nvGrpSpPr>
        <p:grpSpPr>
          <a:xfrm>
            <a:off x="1820864" y="908050"/>
            <a:ext cx="8548687" cy="5949950"/>
            <a:chOff x="1820864" y="696119"/>
            <a:chExt cx="8548687" cy="5949950"/>
          </a:xfrm>
        </p:grpSpPr>
        <p:pic>
          <p:nvPicPr>
            <p:cNvPr id="70" name="Picture 2" descr="27_33_SlidingFilament-U">
              <a:extLst>
                <a:ext uri="{FF2B5EF4-FFF2-40B4-BE49-F238E27FC236}">
                  <a16:creationId xmlns:a16="http://schemas.microsoft.com/office/drawing/2014/main" id="{D9E00DDD-D292-2C2D-152E-F4972EC7BE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1820864" y="696119"/>
              <a:ext cx="8548687" cy="5947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Text Box 4">
              <a:extLst>
                <a:ext uri="{FF2B5EF4-FFF2-40B4-BE49-F238E27FC236}">
                  <a16:creationId xmlns:a16="http://schemas.microsoft.com/office/drawing/2014/main" id="{F3CBF278-8056-89B1-4E2E-A268A9130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9950" y="788533"/>
              <a:ext cx="2066925" cy="261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Thick filament (myosin)</a:t>
              </a:r>
            </a:p>
          </p:txBody>
        </p:sp>
        <p:sp>
          <p:nvSpPr>
            <p:cNvPr id="72" name="Text Box 5">
              <a:extLst>
                <a:ext uri="{FF2B5EF4-FFF2-40B4-BE49-F238E27FC236}">
                  <a16:creationId xmlns:a16="http://schemas.microsoft.com/office/drawing/2014/main" id="{9152D906-6008-A8B7-913D-0C9C98145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9926" y="1416050"/>
              <a:ext cx="1152525" cy="4524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Thin filament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(actin)</a:t>
              </a:r>
            </a:p>
          </p:txBody>
        </p:sp>
        <p:sp>
          <p:nvSpPr>
            <p:cNvPr id="73" name="Text Box 6">
              <a:extLst>
                <a:ext uri="{FF2B5EF4-FFF2-40B4-BE49-F238E27FC236}">
                  <a16:creationId xmlns:a16="http://schemas.microsoft.com/office/drawing/2014/main" id="{4C0D3250-233B-6BDD-0614-7D4E9B6AB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8826" y="1212850"/>
              <a:ext cx="1241425" cy="604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Myosin head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(low-energy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configuration)</a:t>
              </a:r>
            </a:p>
          </p:txBody>
        </p:sp>
        <p:sp>
          <p:nvSpPr>
            <p:cNvPr id="74" name="Text Box 7">
              <a:extLst>
                <a:ext uri="{FF2B5EF4-FFF2-40B4-BE49-F238E27FC236}">
                  <a16:creationId xmlns:a16="http://schemas.microsoft.com/office/drawing/2014/main" id="{F7CE091E-AF71-CBEC-A371-0484D148B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37626" y="1212850"/>
              <a:ext cx="1241425" cy="6048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Myosin head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(high-energy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rPr>
                <a:t>configuration)</a:t>
              </a:r>
            </a:p>
          </p:txBody>
        </p:sp>
        <p:sp>
          <p:nvSpPr>
            <p:cNvPr id="75" name="Text Box 8">
              <a:extLst>
                <a:ext uri="{FF2B5EF4-FFF2-40B4-BE49-F238E27FC236}">
                  <a16:creationId xmlns:a16="http://schemas.microsoft.com/office/drawing/2014/main" id="{2FE7D480-51C5-2E5C-FB8B-B36934957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7726" y="1377950"/>
              <a:ext cx="339725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ATP</a:t>
              </a:r>
            </a:p>
          </p:txBody>
        </p:sp>
        <p:sp>
          <p:nvSpPr>
            <p:cNvPr id="76" name="Text Box 9">
              <a:extLst>
                <a:ext uri="{FF2B5EF4-FFF2-40B4-BE49-F238E27FC236}">
                  <a16:creationId xmlns:a16="http://schemas.microsoft.com/office/drawing/2014/main" id="{C89A063C-2921-8F44-9B37-9B163ECAA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1626" y="1352550"/>
              <a:ext cx="339725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ATP</a:t>
              </a:r>
            </a:p>
          </p:txBody>
        </p:sp>
        <p:sp>
          <p:nvSpPr>
            <p:cNvPr id="77" name="Text Box 10">
              <a:extLst>
                <a:ext uri="{FF2B5EF4-FFF2-40B4-BE49-F238E27FC236}">
                  <a16:creationId xmlns:a16="http://schemas.microsoft.com/office/drawing/2014/main" id="{500C39F5-5E05-FCCA-AC2A-A32601A25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5526" y="1352550"/>
              <a:ext cx="339725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ADP</a:t>
              </a:r>
            </a:p>
          </p:txBody>
        </p:sp>
        <p:sp>
          <p:nvSpPr>
            <p:cNvPr id="78" name="Text Box 11">
              <a:extLst>
                <a:ext uri="{FF2B5EF4-FFF2-40B4-BE49-F238E27FC236}">
                  <a16:creationId xmlns:a16="http://schemas.microsoft.com/office/drawing/2014/main" id="{78839450-5BF8-0E1B-7ABE-1F0D83407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85126" y="1352550"/>
              <a:ext cx="149225" cy="173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P</a:t>
              </a:r>
            </a:p>
          </p:txBody>
        </p:sp>
        <p:sp>
          <p:nvSpPr>
            <p:cNvPr id="79" name="Text Box 12">
              <a:extLst>
                <a:ext uri="{FF2B5EF4-FFF2-40B4-BE49-F238E27FC236}">
                  <a16:creationId xmlns:a16="http://schemas.microsoft.com/office/drawing/2014/main" id="{7C03BC06-0028-FA52-835E-A1DEEC021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426" y="2343150"/>
              <a:ext cx="3679825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ATP binds to a myosin head, which is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then released from an actin filament.</a:t>
              </a:r>
            </a:p>
          </p:txBody>
        </p:sp>
        <p:sp>
          <p:nvSpPr>
            <p:cNvPr id="80" name="Text Box 13">
              <a:extLst>
                <a:ext uri="{FF2B5EF4-FFF2-40B4-BE49-F238E27FC236}">
                  <a16:creationId xmlns:a16="http://schemas.microsoft.com/office/drawing/2014/main" id="{A859F936-C5BF-6C39-EBF6-07AD92414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6" y="2343150"/>
              <a:ext cx="3679825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The breakdown of ATP cocks the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myosin head.</a:t>
              </a:r>
            </a:p>
          </p:txBody>
        </p:sp>
        <p:sp>
          <p:nvSpPr>
            <p:cNvPr id="81" name="Text Box 14">
              <a:extLst>
                <a:ext uri="{FF2B5EF4-FFF2-40B4-BE49-F238E27FC236}">
                  <a16:creationId xmlns:a16="http://schemas.microsoft.com/office/drawing/2014/main" id="{347CCFBD-63A1-EF1B-1C00-7EBF62331D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126" y="5048250"/>
              <a:ext cx="3679825" cy="528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The myosin head attaches to an actin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binding site.</a:t>
              </a:r>
            </a:p>
          </p:txBody>
        </p:sp>
        <p:sp>
          <p:nvSpPr>
            <p:cNvPr id="82" name="Text Box 15">
              <a:extLst>
                <a:ext uri="{FF2B5EF4-FFF2-40B4-BE49-F238E27FC236}">
                  <a16:creationId xmlns:a16="http://schemas.microsoft.com/office/drawing/2014/main" id="{7048E63C-B149-B3A6-84AC-BF0EB5F2B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8126" y="5060950"/>
              <a:ext cx="3768725" cy="7699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The power stroke slides the actin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(thin) filament toward the center of the</a:t>
              </a:r>
              <a:b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sarcomere.</a:t>
              </a:r>
            </a:p>
          </p:txBody>
        </p:sp>
        <p:sp>
          <p:nvSpPr>
            <p:cNvPr id="83" name="Text Box 16">
              <a:extLst>
                <a:ext uri="{FF2B5EF4-FFF2-40B4-BE49-F238E27FC236}">
                  <a16:creationId xmlns:a16="http://schemas.microsoft.com/office/drawing/2014/main" id="{72085B1A-E98F-41C0-DB1A-B2E198D8C7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589" y="5901531"/>
              <a:ext cx="3286125" cy="7445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/>
            <a:lstStyle>
              <a:lvl1pPr>
                <a:spcBef>
                  <a:spcPct val="45000"/>
                </a:spcBef>
                <a:spcAft>
                  <a:spcPct val="20000"/>
                </a:spcAft>
                <a:buClr>
                  <a:schemeClr val="tx2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45000"/>
                </a:spcBef>
                <a:spcAft>
                  <a:spcPct val="20000"/>
                </a:spcAft>
                <a:buClr>
                  <a:srgbClr val="5D2F49"/>
                </a:buClr>
                <a:buFont typeface="Times" panose="02020603050405020304" pitchFamily="18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6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45000"/>
                </a:spcBef>
                <a:spcAft>
                  <a:spcPct val="20000"/>
                </a:spcAft>
                <a:buClr>
                  <a:srgbClr val="4B7278"/>
                </a:buClr>
                <a:buChar char="–"/>
                <a:defRPr sz="2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As long as ATP is available, the</a:t>
              </a:r>
              <a:b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process can be repeated until the</a:t>
              </a:r>
              <a:b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</a:br>
              <a:r>
                <a:rPr kumimoji="0" lang="en-US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ea typeface="ヒラギノ角ゴ Pro W3"/>
                  <a:cs typeface="ヒラギノ角ゴ Pro W3"/>
                </a:rPr>
                <a:t>muscle is fully contracted.</a:t>
              </a:r>
            </a:p>
          </p:txBody>
        </p:sp>
        <p:sp>
          <p:nvSpPr>
            <p:cNvPr id="84" name="Line 18">
              <a:extLst>
                <a:ext uri="{FF2B5EF4-FFF2-40B4-BE49-F238E27FC236}">
                  <a16:creationId xmlns:a16="http://schemas.microsoft.com/office/drawing/2014/main" id="{2997E7F6-0C72-1E53-86F3-58EFF2F60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775700" y="1371600"/>
              <a:ext cx="139700" cy="1778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sp>
          <p:nvSpPr>
            <p:cNvPr id="85" name="Line 19">
              <a:extLst>
                <a:ext uri="{FF2B5EF4-FFF2-40B4-BE49-F238E27FC236}">
                  <a16:creationId xmlns:a16="http://schemas.microsoft.com/office/drawing/2014/main" id="{0F3728E2-E28E-E9DC-7E56-8CD339FF6A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2600" y="1384300"/>
              <a:ext cx="254000" cy="1524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Arial" panose="020B0604020202020204" pitchFamily="34" charset="0"/>
              </a:endParaRPr>
            </a:p>
          </p:txBody>
        </p:sp>
        <p:grpSp>
          <p:nvGrpSpPr>
            <p:cNvPr id="86" name="Group 20">
              <a:extLst>
                <a:ext uri="{FF2B5EF4-FFF2-40B4-BE49-F238E27FC236}">
                  <a16:creationId xmlns:a16="http://schemas.microsoft.com/office/drawing/2014/main" id="{95190169-8781-7DE9-D6B0-230536F22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9600" y="2298700"/>
              <a:ext cx="317500" cy="304800"/>
              <a:chOff x="224" y="1392"/>
              <a:chExt cx="200" cy="192"/>
            </a:xfrm>
          </p:grpSpPr>
          <p:sp>
            <p:nvSpPr>
              <p:cNvPr id="99" name="Oval 21">
                <a:extLst>
                  <a:ext uri="{FF2B5EF4-FFF2-40B4-BE49-F238E27FC236}">
                    <a16:creationId xmlns:a16="http://schemas.microsoft.com/office/drawing/2014/main" id="{CB394D31-77AE-5D16-464F-16D4AB2E2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" y="1392"/>
                <a:ext cx="200" cy="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Text Box 22">
                <a:extLst>
                  <a:ext uri="{FF2B5EF4-FFF2-40B4-BE49-F238E27FC236}">
                    <a16:creationId xmlns:a16="http://schemas.microsoft.com/office/drawing/2014/main" id="{24EFB2D2-A586-0845-F48E-278678CC94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412"/>
                <a:ext cx="10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ヒラギノ角ゴ Pro W3"/>
                    <a:cs typeface="ヒラギノ角ゴ Pro W3"/>
                  </a:rPr>
                  <a:t>1</a:t>
                </a:r>
              </a:p>
            </p:txBody>
          </p:sp>
        </p:grpSp>
        <p:grpSp>
          <p:nvGrpSpPr>
            <p:cNvPr id="87" name="Group 23">
              <a:extLst>
                <a:ext uri="{FF2B5EF4-FFF2-40B4-BE49-F238E27FC236}">
                  <a16:creationId xmlns:a16="http://schemas.microsoft.com/office/drawing/2014/main" id="{177A0937-66A6-69C4-2909-2BC50C83A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0300" y="2298700"/>
              <a:ext cx="317500" cy="304800"/>
              <a:chOff x="224" y="1392"/>
              <a:chExt cx="200" cy="192"/>
            </a:xfrm>
          </p:grpSpPr>
          <p:sp>
            <p:nvSpPr>
              <p:cNvPr id="97" name="Oval 24">
                <a:extLst>
                  <a:ext uri="{FF2B5EF4-FFF2-40B4-BE49-F238E27FC236}">
                    <a16:creationId xmlns:a16="http://schemas.microsoft.com/office/drawing/2014/main" id="{1840BB8C-42FC-43B2-4A9F-ED0C6FC44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" y="1392"/>
                <a:ext cx="200" cy="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Text Box 25">
                <a:extLst>
                  <a:ext uri="{FF2B5EF4-FFF2-40B4-BE49-F238E27FC236}">
                    <a16:creationId xmlns:a16="http://schemas.microsoft.com/office/drawing/2014/main" id="{8CDF022F-02B7-2EDF-A7C1-429399CA68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412"/>
                <a:ext cx="10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ヒラギノ角ゴ Pro W3"/>
                    <a:cs typeface="ヒラギノ角ゴ Pro W3"/>
                  </a:rPr>
                  <a:t>2</a:t>
                </a:r>
              </a:p>
            </p:txBody>
          </p:sp>
        </p:grpSp>
        <p:grpSp>
          <p:nvGrpSpPr>
            <p:cNvPr id="88" name="Group 26">
              <a:extLst>
                <a:ext uri="{FF2B5EF4-FFF2-40B4-BE49-F238E27FC236}">
                  <a16:creationId xmlns:a16="http://schemas.microsoft.com/office/drawing/2014/main" id="{585934BE-29BE-0972-08C0-3294565DCC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92300" y="5003800"/>
              <a:ext cx="317500" cy="304800"/>
              <a:chOff x="224" y="1392"/>
              <a:chExt cx="200" cy="192"/>
            </a:xfrm>
          </p:grpSpPr>
          <p:sp>
            <p:nvSpPr>
              <p:cNvPr id="95" name="Oval 27">
                <a:extLst>
                  <a:ext uri="{FF2B5EF4-FFF2-40B4-BE49-F238E27FC236}">
                    <a16:creationId xmlns:a16="http://schemas.microsoft.com/office/drawing/2014/main" id="{979015C5-9AD9-C6EA-DA77-379BA25985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" y="1392"/>
                <a:ext cx="200" cy="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Text Box 28">
                <a:extLst>
                  <a:ext uri="{FF2B5EF4-FFF2-40B4-BE49-F238E27FC236}">
                    <a16:creationId xmlns:a16="http://schemas.microsoft.com/office/drawing/2014/main" id="{AB56A5F8-2019-33FD-EFA0-C0E709D527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412"/>
                <a:ext cx="10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ヒラギノ角ゴ Pro W3"/>
                    <a:cs typeface="ヒラギノ角ゴ Pro W3"/>
                  </a:rPr>
                  <a:t>3</a:t>
                </a:r>
              </a:p>
            </p:txBody>
          </p:sp>
        </p:grpSp>
        <p:grpSp>
          <p:nvGrpSpPr>
            <p:cNvPr id="89" name="Group 29">
              <a:extLst>
                <a:ext uri="{FF2B5EF4-FFF2-40B4-BE49-F238E27FC236}">
                  <a16:creationId xmlns:a16="http://schemas.microsoft.com/office/drawing/2014/main" id="{3E5FE8F1-982B-0B41-80B0-C2B9007B12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10300" y="5029200"/>
              <a:ext cx="317500" cy="304800"/>
              <a:chOff x="224" y="1392"/>
              <a:chExt cx="200" cy="192"/>
            </a:xfrm>
          </p:grpSpPr>
          <p:sp>
            <p:nvSpPr>
              <p:cNvPr id="93" name="Oval 30">
                <a:extLst>
                  <a:ext uri="{FF2B5EF4-FFF2-40B4-BE49-F238E27FC236}">
                    <a16:creationId xmlns:a16="http://schemas.microsoft.com/office/drawing/2014/main" id="{B46A3A8B-DB6E-AC37-4002-AA6F806F5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" y="1392"/>
                <a:ext cx="200" cy="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Text Box 31">
                <a:extLst>
                  <a:ext uri="{FF2B5EF4-FFF2-40B4-BE49-F238E27FC236}">
                    <a16:creationId xmlns:a16="http://schemas.microsoft.com/office/drawing/2014/main" id="{FC8B9A0F-4F13-3E9D-5F20-DD677B746A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412"/>
                <a:ext cx="10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ヒラギノ角ゴ Pro W3"/>
                    <a:cs typeface="ヒラギノ角ゴ Pro W3"/>
                  </a:rPr>
                  <a:t>4</a:t>
                </a:r>
              </a:p>
            </p:txBody>
          </p:sp>
        </p:grpSp>
        <p:grpSp>
          <p:nvGrpSpPr>
            <p:cNvPr id="90" name="Group 32">
              <a:extLst>
                <a:ext uri="{FF2B5EF4-FFF2-40B4-BE49-F238E27FC236}">
                  <a16:creationId xmlns:a16="http://schemas.microsoft.com/office/drawing/2014/main" id="{FD693E3D-0385-94A0-293A-76C3C3A12D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2763" y="5857081"/>
              <a:ext cx="317500" cy="304800"/>
              <a:chOff x="224" y="1392"/>
              <a:chExt cx="200" cy="192"/>
            </a:xfrm>
          </p:grpSpPr>
          <p:sp>
            <p:nvSpPr>
              <p:cNvPr id="91" name="Oval 33">
                <a:extLst>
                  <a:ext uri="{FF2B5EF4-FFF2-40B4-BE49-F238E27FC236}">
                    <a16:creationId xmlns:a16="http://schemas.microsoft.com/office/drawing/2014/main" id="{3B01B17C-BE9B-9DDA-4C53-E38082C62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" y="1392"/>
                <a:ext cx="200" cy="19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" panose="02040503050406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Text Box 34">
                <a:extLst>
                  <a:ext uri="{FF2B5EF4-FFF2-40B4-BE49-F238E27FC236}">
                    <a16:creationId xmlns:a16="http://schemas.microsoft.com/office/drawing/2014/main" id="{CAEDD969-1E33-A47C-4D6B-F02991ABA2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412"/>
                <a:ext cx="102" cy="14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/>
              <a:lstStyle>
                <a:lvl1pPr>
                  <a:spcBef>
                    <a:spcPct val="45000"/>
                  </a:spcBef>
                  <a:spcAft>
                    <a:spcPct val="20000"/>
                  </a:spcAft>
                  <a:buClr>
                    <a:schemeClr val="tx2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45000"/>
                  </a:spcBef>
                  <a:spcAft>
                    <a:spcPct val="20000"/>
                  </a:spcAft>
                  <a:buClr>
                    <a:srgbClr val="5D2F49"/>
                  </a:buClr>
                  <a:buFont typeface="Times" panose="02020603050405020304" pitchFamily="18" charset="0"/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45000"/>
                  </a:spcBef>
                  <a:spcAft>
                    <a:spcPct val="20000"/>
                  </a:spcAft>
                  <a:buClr>
                    <a:srgbClr val="4B7278"/>
                  </a:buClr>
                  <a:buChar char="–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kumimoji="0" lang="en-US" altLang="en-US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Cambria" panose="02040503050406030204" pitchFamily="18" charset="0"/>
                    <a:ea typeface="ヒラギノ角ゴ Pro W3"/>
                    <a:cs typeface="ヒラギノ角ゴ Pro W3"/>
                  </a:rPr>
                  <a:t>5</a:t>
                </a:r>
              </a:p>
            </p:txBody>
          </p:sp>
        </p:grp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C13107-F5A6-D63E-F7C7-B47B1547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</a:t>
            </a:r>
          </a:p>
        </p:txBody>
      </p:sp>
    </p:spTree>
    <p:extLst>
      <p:ext uri="{BB962C8B-B14F-4D97-AF65-F5344CB8AC3E}">
        <p14:creationId xmlns:p14="http://schemas.microsoft.com/office/powerpoint/2010/main" val="33536870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31DD9-80EE-2D3D-E21B-2C0B2FF01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Motor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3D972-8F02-2984-801C-7CCCB29AC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78" y="1227909"/>
            <a:ext cx="5674370" cy="5264966"/>
          </a:xfrm>
        </p:spPr>
        <p:txBody>
          <a:bodyPr/>
          <a:lstStyle/>
          <a:p>
            <a:r>
              <a:rPr lang="en-US" dirty="0"/>
              <a:t>A motor unit consists of a </a:t>
            </a:r>
            <a:r>
              <a:rPr lang="en-US" b="1" dirty="0">
                <a:solidFill>
                  <a:srgbClr val="FF0000"/>
                </a:solidFill>
              </a:rPr>
              <a:t>motor neuron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all the muscle fibers </a:t>
            </a:r>
            <a:r>
              <a:rPr lang="en-US" dirty="0"/>
              <a:t>it controls</a:t>
            </a:r>
          </a:p>
          <a:p>
            <a:r>
              <a:rPr lang="en-US" dirty="0"/>
              <a:t>Each motor neuron may serve just </a:t>
            </a:r>
            <a:r>
              <a:rPr lang="en-US" dirty="0">
                <a:highlight>
                  <a:srgbClr val="FFFF00"/>
                </a:highlight>
              </a:rPr>
              <a:t>one or up to several hundred fibers</a:t>
            </a:r>
            <a:r>
              <a:rPr lang="en-US" dirty="0"/>
              <a:t> scattered </a:t>
            </a:r>
            <a:r>
              <a:rPr lang="en-US" dirty="0">
                <a:highlight>
                  <a:srgbClr val="FFFF00"/>
                </a:highlight>
              </a:rPr>
              <a:t>throughout a muscle</a:t>
            </a:r>
            <a:r>
              <a:rPr lang="en-US" dirty="0"/>
              <a:t>.</a:t>
            </a:r>
          </a:p>
          <a:p>
            <a:r>
              <a:rPr lang="en-US" dirty="0"/>
              <a:t>Force of contraction depends on:</a:t>
            </a:r>
          </a:p>
          <a:p>
            <a:pPr lvl="1"/>
            <a:r>
              <a:rPr lang="en-US" dirty="0"/>
              <a:t>Number and types of motor units</a:t>
            </a:r>
          </a:p>
          <a:p>
            <a:pPr lvl="1"/>
            <a:r>
              <a:rPr lang="en-US" dirty="0"/>
              <a:t>Frequency of stimulation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AC56F-6045-C7B5-0A67-23DD3FA3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2016 Pearson Education, Inc.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7E3FB4-E686-53B6-88AA-9CFC4698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548" y="132522"/>
            <a:ext cx="6134452" cy="659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908095"/>
      </p:ext>
    </p:extLst>
  </p:cSld>
  <p:clrMapOvr>
    <a:masterClrMapping/>
  </p:clrMapOvr>
</p:sld>
</file>

<file path=ppt/theme/theme1.xml><?xml version="1.0" encoding="utf-8"?>
<a:theme xmlns:a="http://schemas.openxmlformats.org/drawingml/2006/main" name="CampbellEB6_Lecture_Desig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仿宋"/>
        <a:cs typeface=""/>
      </a:majorFont>
      <a:minorFont>
        <a:latin typeface="Arial"/>
        <a:ea typeface="仿宋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mpbellEB6_Lecture_Design" id="{B6DE6437-4D3C-4EDA-98E9-FA36A5B6B78F}" vid="{61AD6984-E196-4B60-B50C-5CFEAA8E5D4E}"/>
    </a:ext>
  </a:extLst>
</a:theme>
</file>

<file path=ppt/theme/theme2.xml><?xml version="1.0" encoding="utf-8"?>
<a:theme xmlns:a="http://schemas.openxmlformats.org/drawingml/2006/main" name="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4_CC4eActiveLectureQuestions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CC4eActiveLectureQuestions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4270</Words>
  <Application>Microsoft Office PowerPoint</Application>
  <PresentationFormat>Widescreen</PresentationFormat>
  <Paragraphs>817</Paragraphs>
  <Slides>82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82</vt:i4>
      </vt:variant>
    </vt:vector>
  </HeadingPairs>
  <TitlesOfParts>
    <vt:vector size="96" baseType="lpstr">
      <vt:lpstr>ＭＳ Ｐゴシック</vt:lpstr>
      <vt:lpstr>宋体</vt:lpstr>
      <vt:lpstr>KaiTi</vt:lpstr>
      <vt:lpstr>KaiTi</vt:lpstr>
      <vt:lpstr>等线</vt:lpstr>
      <vt:lpstr>Arial</vt:lpstr>
      <vt:lpstr>Cambria</vt:lpstr>
      <vt:lpstr>Times</vt:lpstr>
      <vt:lpstr>Times New Roman</vt:lpstr>
      <vt:lpstr>Wingdings</vt:lpstr>
      <vt:lpstr>CampbellEB6_Lecture_Design</vt:lpstr>
      <vt:lpstr>6_Blank</vt:lpstr>
      <vt:lpstr>4_CC4eActiveLectureQuestions</vt:lpstr>
      <vt:lpstr>1_CC4eActiveLectureQuestions</vt:lpstr>
      <vt:lpstr>PowerPoint Presentation</vt:lpstr>
      <vt:lpstr> Learning Objectives 1</vt:lpstr>
      <vt:lpstr>Structural Hierarchy </vt:lpstr>
      <vt:lpstr>Anatomy and Physiology: Structure Fits Function</vt:lpstr>
      <vt:lpstr>Tissues</vt:lpstr>
      <vt:lpstr>Epithelial Tissue (上皮组织)</vt:lpstr>
      <vt:lpstr>Connective Tissue  (结缔组织)</vt:lpstr>
      <vt:lpstr>Loose Connective Tissue </vt:lpstr>
      <vt:lpstr>Fibrous Connective Tissue</vt:lpstr>
      <vt:lpstr>Cartilage (软骨) </vt:lpstr>
      <vt:lpstr>Bone</vt:lpstr>
      <vt:lpstr>Adipose Tissue </vt:lpstr>
      <vt:lpstr>Blood</vt:lpstr>
      <vt:lpstr>Muscle Tissue</vt:lpstr>
      <vt:lpstr>Skeletal Muscle (骨骼肌)</vt:lpstr>
      <vt:lpstr>Cardiac Muscle</vt:lpstr>
      <vt:lpstr>Smooth Muscle</vt:lpstr>
      <vt:lpstr>Nervous Tissue</vt:lpstr>
      <vt:lpstr>Organ</vt:lpstr>
      <vt:lpstr>Skeletal System: Supports Body and Anchors Muscles </vt:lpstr>
      <vt:lpstr>Muscular System: Moves the Body</vt:lpstr>
      <vt:lpstr>Circulatory System: Transports Substances throughout Body Respiratory System: Exchanges O2 and CO2 between Blood and Air </vt:lpstr>
      <vt:lpstr>Digestive System: Breaks Down Food and Absorbs Nutrients </vt:lpstr>
      <vt:lpstr>Urinary System (泌尿系统): Rids Body of Certain Wastes </vt:lpstr>
      <vt:lpstr>Endocrine System (内分泌系统): Secretes Hormones </vt:lpstr>
      <vt:lpstr>Reproductive System: Produces Gametes and Offspring </vt:lpstr>
      <vt:lpstr>Integumentary System: Protects Body </vt:lpstr>
      <vt:lpstr>Lymphatic (淋巴) and Immune System: Defends Against Disease </vt:lpstr>
      <vt:lpstr>Nervous System: Processes Sensory Information and Controls Responses </vt:lpstr>
      <vt:lpstr>PowerPoint Presentation</vt:lpstr>
      <vt:lpstr>Learning Objectives 2</vt:lpstr>
      <vt:lpstr>Neurons</vt:lpstr>
      <vt:lpstr>Electrical Properties and Signals of Neurons</vt:lpstr>
      <vt:lpstr>Generation of Action Potential</vt:lpstr>
      <vt:lpstr>Propagation of Action Potential</vt:lpstr>
      <vt:lpstr>Synaptic Transmission </vt:lpstr>
      <vt:lpstr>Chemical Synapses</vt:lpstr>
      <vt:lpstr>Neurotransmitter (神经递质)</vt:lpstr>
      <vt:lpstr>Drugs in the Brain </vt:lpstr>
      <vt:lpstr>Integration by Cell Body</vt:lpstr>
      <vt:lpstr>Organization of the Nervous System</vt:lpstr>
      <vt:lpstr>Three Functions by Three Types of Neurons</vt:lpstr>
      <vt:lpstr>The Peripheral Nervous System </vt:lpstr>
      <vt:lpstr>The Autonomic Nervous System</vt:lpstr>
      <vt:lpstr>The Central Nervous System (CNS) </vt:lpstr>
      <vt:lpstr>Fluid-filled (“进水”) Spaces (“脑洞”) in CNS</vt:lpstr>
      <vt:lpstr>The Human Brain</vt:lpstr>
      <vt:lpstr>PowerPoint Presentation</vt:lpstr>
      <vt:lpstr>The Cerebral Cortex </vt:lpstr>
      <vt:lpstr>Four Lobes and Functional Areas</vt:lpstr>
      <vt:lpstr>How do we know?</vt:lpstr>
      <vt:lpstr>Gage, Personality, and Frontal Lobe Functions</vt:lpstr>
      <vt:lpstr>Electroencephalogram (EEG)</vt:lpstr>
      <vt:lpstr>Neurological Disorders</vt:lpstr>
      <vt:lpstr>Learning Objectives 3</vt:lpstr>
      <vt:lpstr>Sensory Systems</vt:lpstr>
      <vt:lpstr>PowerPoint Presentation</vt:lpstr>
      <vt:lpstr>Sensory Adaptation </vt:lpstr>
      <vt:lpstr>Sensory Receptors in Five General Categories</vt:lpstr>
      <vt:lpstr>Receptors in Various Combinations</vt:lpstr>
      <vt:lpstr>The Human Eye</vt:lpstr>
      <vt:lpstr>PowerPoint Presentation</vt:lpstr>
      <vt:lpstr>Light to the Retina</vt:lpstr>
      <vt:lpstr>Light Detected by Photoreceptors: Rods and Cones</vt:lpstr>
      <vt:lpstr>Cones and Color Vision</vt:lpstr>
      <vt:lpstr>The Vision Pathway</vt:lpstr>
      <vt:lpstr>Imperfect Vision</vt:lpstr>
      <vt:lpstr>The Human Ear</vt:lpstr>
      <vt:lpstr>The Middle and Inner Ear </vt:lpstr>
      <vt:lpstr>In the Cochlea</vt:lpstr>
      <vt:lpstr>Hearing Problems</vt:lpstr>
      <vt:lpstr>PowerPoint Presentation</vt:lpstr>
      <vt:lpstr>Locomotor (Musculoskeletal) Systems</vt:lpstr>
      <vt:lpstr>The Skeletal System</vt:lpstr>
      <vt:lpstr>Three Types of Movable Joints</vt:lpstr>
      <vt:lpstr>The Structure of Bones</vt:lpstr>
      <vt:lpstr>Skeletal Diseases and Injuries</vt:lpstr>
      <vt:lpstr>The Muscular System</vt:lpstr>
      <vt:lpstr>The Cellular Basis of Muscle Contraction</vt:lpstr>
      <vt:lpstr>The Sliding-filament Model of Muscle Contraction</vt:lpstr>
      <vt:lpstr>The Mechanism of Filament Sliding </vt:lpstr>
      <vt:lpstr>Motor Unit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2025-12-02T07:04:35Z</dcterms:created>
  <dcterms:modified xsi:type="dcterms:W3CDTF">2025-12-02T07:05:03Z</dcterms:modified>
</cp:coreProperties>
</file>