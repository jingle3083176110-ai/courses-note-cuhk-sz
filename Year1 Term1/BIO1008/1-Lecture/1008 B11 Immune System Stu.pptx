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2" r:id="rId1"/>
  </p:sldMasterIdLst>
  <p:notesMasterIdLst>
    <p:notesMasterId r:id="rId43"/>
  </p:notesMasterIdLst>
  <p:sldIdLst>
    <p:sldId id="1516" r:id="rId2"/>
    <p:sldId id="1517" r:id="rId3"/>
    <p:sldId id="1519" r:id="rId4"/>
    <p:sldId id="1521" r:id="rId5"/>
    <p:sldId id="1522" r:id="rId6"/>
    <p:sldId id="1545" r:id="rId7"/>
    <p:sldId id="1546" r:id="rId8"/>
    <p:sldId id="598" r:id="rId9"/>
    <p:sldId id="1525" r:id="rId10"/>
    <p:sldId id="1524" r:id="rId11"/>
    <p:sldId id="464" r:id="rId12"/>
    <p:sldId id="625" r:id="rId13"/>
    <p:sldId id="1530" r:id="rId14"/>
    <p:sldId id="1531" r:id="rId15"/>
    <p:sldId id="1532" r:id="rId16"/>
    <p:sldId id="1533" r:id="rId17"/>
    <p:sldId id="1534" r:id="rId18"/>
    <p:sldId id="1536" r:id="rId19"/>
    <p:sldId id="1539" r:id="rId20"/>
    <p:sldId id="1541" r:id="rId21"/>
    <p:sldId id="1542" r:id="rId22"/>
    <p:sldId id="1543" r:id="rId23"/>
    <p:sldId id="1538" r:id="rId24"/>
    <p:sldId id="1540" r:id="rId25"/>
    <p:sldId id="589" r:id="rId26"/>
    <p:sldId id="1544" r:id="rId27"/>
    <p:sldId id="619" r:id="rId28"/>
    <p:sldId id="620" r:id="rId29"/>
    <p:sldId id="626" r:id="rId30"/>
    <p:sldId id="1526" r:id="rId31"/>
    <p:sldId id="1528" r:id="rId32"/>
    <p:sldId id="1523" r:id="rId33"/>
    <p:sldId id="1529" r:id="rId34"/>
    <p:sldId id="623" r:id="rId35"/>
    <p:sldId id="629" r:id="rId36"/>
    <p:sldId id="1483" r:id="rId37"/>
    <p:sldId id="1500" r:id="rId38"/>
    <p:sldId id="1501" r:id="rId39"/>
    <p:sldId id="1497" r:id="rId40"/>
    <p:sldId id="628" r:id="rId41"/>
    <p:sldId id="1535" r:id="rId4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23" autoAdjust="0"/>
    <p:restoredTop sz="71583" autoAdjust="0"/>
  </p:normalViewPr>
  <p:slideViewPr>
    <p:cSldViewPr snapToGrid="0">
      <p:cViewPr varScale="1">
        <p:scale>
          <a:sx n="80" d="100"/>
          <a:sy n="80" d="100"/>
        </p:scale>
        <p:origin x="1686" y="84"/>
      </p:cViewPr>
      <p:guideLst/>
    </p:cSldViewPr>
  </p:slideViewPr>
  <p:outlineViewPr>
    <p:cViewPr>
      <p:scale>
        <a:sx n="33" d="100"/>
        <a:sy n="33" d="100"/>
      </p:scale>
      <p:origin x="0" y="-28628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151908-5784-447D-B0D2-45A25B061F31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C71EF6-A985-4B9B-AAB7-69D68CE635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3350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56811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64915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16936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87295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20703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2652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04597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528763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1528763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1528763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1528763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1528763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15287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15287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15287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15287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15287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08DDF46-DE2D-4485-841F-A81814E74BC0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15287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329688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17583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3892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89190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15403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6747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25333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04184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68976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99728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57334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80042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07645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927323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5287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27346EF-CDDE-4B78-AF14-D439B184A918}" type="slidenum">
              <a:rPr kumimoji="0" lang="en-US" alt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15287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874090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5287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27346EF-CDDE-4B78-AF14-D439B184A918}" type="slidenum">
              <a:rPr kumimoji="0" lang="en-US" alt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15287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810969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8377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059584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075493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459940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5287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27346EF-CDDE-4B78-AF14-D439B184A918}" type="slidenum">
              <a:rPr kumimoji="0" lang="en-US" alt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15287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681049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377513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3214532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9FBEC-42DE-E1C1-C773-47E857935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3981637-BB02-1301-9307-0013894BA9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396DA93-AF75-171A-96EA-B690FE4216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8207270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C13CD-2000-35AF-4ADA-F0E1315C0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FDC8FF2-3212-8200-711B-07EBCE5910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90B31F0-D828-EFAA-DB68-D6B561615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8554278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230335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9761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3177" y="1227909"/>
            <a:ext cx="11390811" cy="52649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1024713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163F0D25-61E9-4431-B0D3-B1DFEC712E9B}" type="datetime1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C69DE886-DA9C-4BB0-9CDA-E860E39C9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892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9693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383408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3177" y="132523"/>
            <a:ext cx="11390811" cy="958863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3177" y="1227908"/>
            <a:ext cx="11390811" cy="52649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4928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2016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3145361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8" r:id="rId2"/>
    <p:sldLayoutId id="2147483741" r:id="rId3"/>
    <p:sldLayoutId id="2147483743" r:id="rId4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rgbClr val="0070C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Clr>
          <a:srgbClr val="0070C0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Clr>
          <a:srgbClr val="0070C0"/>
        </a:buClr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Clr>
          <a:srgbClr val="0070C0"/>
        </a:buClr>
        <a:buFont typeface="Wingdings" panose="05000000000000000000" pitchFamily="2" charset="2"/>
        <a:buChar char="v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Clr>
          <a:srgbClr val="0070C0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Clr>
          <a:srgbClr val="0070C0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d.com/talks/philip_a_chan_how_close_are_we_to_eradicating_hiv?language=en#t-70307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gi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>
            <a:extLst>
              <a:ext uri="{FF2B5EF4-FFF2-40B4-BE49-F238E27FC236}">
                <a16:creationId xmlns:a16="http://schemas.microsoft.com/office/drawing/2014/main" id="{92B22A21-A8F4-230F-8530-B31211FCA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F7BA9A-E2E7-B2D6-2409-51FDB65C97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8714" y="1250951"/>
            <a:ext cx="7431087" cy="527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58950687-5AA1-7DBB-44C3-36FE66EDAFBB}"/>
              </a:ext>
            </a:extLst>
          </p:cNvPr>
          <p:cNvSpPr txBox="1">
            <a:spLocks/>
          </p:cNvSpPr>
          <p:nvPr/>
        </p:nvSpPr>
        <p:spPr bwMode="auto">
          <a:xfrm>
            <a:off x="2155825" y="219074"/>
            <a:ext cx="8229600" cy="2192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25000" lnSpcReduction="20000"/>
          </a:bodyPr>
          <a:lstStyle>
            <a:lvl1pPr marL="0" indent="0" algn="ctr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rgbClr val="0070C0"/>
              </a:buClr>
              <a:buFont typeface="Arial" panose="020B0604020202020204" pitchFamily="34" charset="0"/>
              <a:buNone/>
              <a:defRPr sz="4400" b="1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  <a:buClr>
                <a:srgbClr val="0070C0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  <a:buClr>
                <a:srgbClr val="0070C0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  <a:buClr>
                <a:srgbClr val="0070C0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  <a:buClr>
                <a:srgbClr val="0070C0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lang="en-US" altLang="en-US" sz="21600" dirty="0">
                <a:solidFill>
                  <a:srgbClr val="FF0000"/>
                </a:solidFill>
                <a:latin typeface="Cambria" pitchFamily="18" charset="0"/>
              </a:rPr>
              <a:t>The Body’s Defenses</a:t>
            </a:r>
          </a:p>
          <a:p>
            <a:pPr algn="r" eaLnBrk="1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lang="en-US" altLang="zh-CN" sz="21600" dirty="0">
                <a:solidFill>
                  <a:srgbClr val="FF0000"/>
                </a:solidFill>
                <a:latin typeface="Cambria" pitchFamily="18" charset="0"/>
              </a:rPr>
              <a:t>Immune System</a:t>
            </a:r>
            <a:endParaRPr lang="en-US" altLang="en-US" sz="21600" dirty="0">
              <a:solidFill>
                <a:srgbClr val="FF0000"/>
              </a:solidFill>
              <a:latin typeface="Cambria" pitchFamily="18" charset="0"/>
            </a:endParaRPr>
          </a:p>
          <a:p>
            <a:pPr algn="r" eaLnBrk="1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lang="en-US" altLang="en-US" sz="9600" dirty="0">
                <a:solidFill>
                  <a:srgbClr val="FF0000"/>
                </a:solidFill>
                <a:latin typeface="Cambria" panose="02040503050406030204" pitchFamily="18" charset="0"/>
              </a:rPr>
              <a:t>Unit 5; Chapter 24</a:t>
            </a:r>
          </a:p>
        </p:txBody>
      </p:sp>
    </p:spTree>
    <p:extLst>
      <p:ext uri="{BB962C8B-B14F-4D97-AF65-F5344CB8AC3E}">
        <p14:creationId xmlns:p14="http://schemas.microsoft.com/office/powerpoint/2010/main" val="149939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C87C40-1DBF-822A-8916-E8DFCD5FC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Learning Outcomes 1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2A1CA8-3DDE-EF22-8F75-08F7653DF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Define the immune system and distinguish between innate and adaptive immunity.</a:t>
            </a:r>
          </a:p>
          <a:p>
            <a:r>
              <a:rPr lang="en-US" altLang="zh-CN" dirty="0"/>
              <a:t>Compare and contrast external and internal innate defenses.	</a:t>
            </a:r>
          </a:p>
          <a:p>
            <a:r>
              <a:rPr lang="en-US" altLang="zh-CN" dirty="0"/>
              <a:t>Describe the inflammatory response, the role of histamine, and the effects of drugs such as ibuprofen.</a:t>
            </a:r>
          </a:p>
          <a:p>
            <a:r>
              <a:rPr lang="en-US" altLang="zh-CN" dirty="0"/>
              <a:t>Compare the circulatory and immune functions of the lymphatic system and explain how lymph is formed.</a:t>
            </a:r>
          </a:p>
          <a:p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CF03EB5-0BAA-8FDD-A762-74480A679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2631938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A5BACD-998A-EDFB-09EE-DFF63E920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The human immune system is a collection of organs, tissues, and cells that together perform the vital function of </a:t>
            </a:r>
            <a:r>
              <a:rPr lang="en-US" altLang="zh-CN" b="1" dirty="0">
                <a:solidFill>
                  <a:srgbClr val="FF0000"/>
                </a:solidFill>
              </a:rPr>
              <a:t>safeguarding the body </a:t>
            </a:r>
            <a:r>
              <a:rPr lang="en-US" altLang="zh-CN" dirty="0"/>
              <a:t>from a constant barrage of </a:t>
            </a:r>
            <a:r>
              <a:rPr lang="en-US" altLang="zh-CN" b="1" dirty="0">
                <a:solidFill>
                  <a:srgbClr val="FF0000"/>
                </a:solidFill>
              </a:rPr>
              <a:t>pathogens</a:t>
            </a:r>
            <a:r>
              <a:rPr lang="en-US" altLang="zh-CN" dirty="0"/>
              <a:t> (organisms causing disease).</a:t>
            </a:r>
          </a:p>
          <a:p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55430A3-3E12-1A04-9145-3DA6D1B52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Immune System (</a:t>
            </a:r>
            <a:r>
              <a:rPr lang="zh-CN" altLang="en-US" dirty="0"/>
              <a:t>免疫系统</a:t>
            </a:r>
            <a:r>
              <a:rPr lang="en-US" altLang="zh-CN" dirty="0"/>
              <a:t>) and Pathogens (</a:t>
            </a:r>
            <a:r>
              <a:rPr lang="zh-CN" altLang="en-US" dirty="0"/>
              <a:t>病原体</a:t>
            </a:r>
            <a:r>
              <a:rPr lang="en-US" altLang="zh-CN" dirty="0"/>
              <a:t>)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A75C771-6F7C-58B6-9089-F99EBDDD4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pic>
        <p:nvPicPr>
          <p:cNvPr id="5" name="Picture 2" descr="ventilation1">
            <a:extLst>
              <a:ext uri="{FF2B5EF4-FFF2-40B4-BE49-F238E27FC236}">
                <a16:creationId xmlns:a16="http://schemas.microsoft.com/office/drawing/2014/main" id="{7BFDC887-E375-2756-856D-D47246F29B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167" y="2816520"/>
            <a:ext cx="10113666" cy="3795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367C4E5-8293-41A6-8B50-21198A152658}"/>
              </a:ext>
            </a:extLst>
          </p:cNvPr>
          <p:cNvSpPr txBox="1"/>
          <p:nvPr/>
        </p:nvSpPr>
        <p:spPr>
          <a:xfrm>
            <a:off x="6095164" y="6611779"/>
            <a:ext cx="60968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000" dirty="0"/>
              <a:t>https://share.google/XcmbgoMcfm5MSvgxp</a:t>
            </a:r>
            <a:endParaRPr lang="zh-CN" altLang="en-US" sz="1000" dirty="0"/>
          </a:p>
        </p:txBody>
      </p:sp>
    </p:spTree>
    <p:extLst>
      <p:ext uri="{BB962C8B-B14F-4D97-AF65-F5344CB8AC3E}">
        <p14:creationId xmlns:p14="http://schemas.microsoft.com/office/powerpoint/2010/main" val="671252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F740A3-E23C-9F19-91BA-F514D3C0B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32F4B2-9338-F01D-FA73-761065A5DB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CF14F49-37A2-5E70-DEB8-A04A1CE9D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8446EDB-EDF6-D8F9-A2DB-C57A32431C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97782"/>
            <a:ext cx="12192000" cy="5862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422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D56A3A-BEF2-21A5-EBA2-EC542C9B0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Innate Defenses (</a:t>
            </a:r>
            <a:r>
              <a:rPr lang="zh-CN" altLang="en-US" dirty="0"/>
              <a:t>先天防御</a:t>
            </a:r>
            <a:r>
              <a:rPr lang="en-US" altLang="zh-CN" dirty="0"/>
              <a:t>)</a:t>
            </a:r>
            <a:r>
              <a:rPr lang="zh-CN" altLang="en-US" dirty="0"/>
              <a:t>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A6DC74-CB98-D4CA-2ED9-E7D4F76A4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Fully ready to respond </a:t>
            </a:r>
            <a:r>
              <a:rPr lang="en-US" altLang="zh-CN" b="1" dirty="0">
                <a:solidFill>
                  <a:srgbClr val="FF0000"/>
                </a:solidFill>
              </a:rPr>
              <a:t>before</a:t>
            </a:r>
            <a:r>
              <a:rPr lang="en-US" altLang="zh-CN" dirty="0"/>
              <a:t> an invader has been encountered.</a:t>
            </a:r>
          </a:p>
          <a:p>
            <a:pPr lvl="1"/>
            <a:r>
              <a:rPr lang="en-US" altLang="zh-CN" dirty="0"/>
              <a:t>Not adaptive: do not change much</a:t>
            </a:r>
          </a:p>
          <a:p>
            <a:pPr lvl="1"/>
            <a:r>
              <a:rPr lang="en-US" altLang="zh-CN" dirty="0"/>
              <a:t>Components attach pathogens indiscriminately (not specifically)</a:t>
            </a:r>
          </a:p>
          <a:p>
            <a:r>
              <a:rPr lang="en-US" altLang="zh-CN" dirty="0"/>
              <a:t>External barriers: external innate defenses </a:t>
            </a:r>
          </a:p>
          <a:p>
            <a:r>
              <a:rPr lang="en-US" altLang="zh-CN" dirty="0"/>
              <a:t>Internal defenses: internal innate defenses</a:t>
            </a:r>
          </a:p>
          <a:p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34E1B69-842B-1687-FDF8-0931853F7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1062505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D56A3A-BEF2-21A5-EBA2-EC542C9B0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Innate Defenses (</a:t>
            </a:r>
            <a:r>
              <a:rPr lang="zh-CN" altLang="en-US" dirty="0"/>
              <a:t>先天防御</a:t>
            </a:r>
            <a:r>
              <a:rPr lang="en-US" altLang="zh-CN" dirty="0"/>
              <a:t>):</a:t>
            </a:r>
            <a:r>
              <a:rPr lang="zh-CN" altLang="en-US" dirty="0"/>
              <a:t> </a:t>
            </a:r>
            <a:r>
              <a:rPr lang="en-US" altLang="zh-CN" dirty="0"/>
              <a:t>External Innate Defenses 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A6DC74-CB98-D4CA-2ED9-E7D4F76A4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Prevent infection</a:t>
            </a:r>
          </a:p>
          <a:p>
            <a:r>
              <a:rPr lang="en-US" altLang="zh-CN" dirty="0"/>
              <a:t>The body’s physical barriers:</a:t>
            </a:r>
          </a:p>
          <a:p>
            <a:pPr lvl="1"/>
            <a:r>
              <a:rPr lang="en-US" altLang="zh-CN" dirty="0"/>
              <a:t>A tough outer skin layer generally impenetrable to viruses and bacteria</a:t>
            </a:r>
          </a:p>
          <a:p>
            <a:pPr lvl="1"/>
            <a:r>
              <a:rPr lang="en-US" altLang="zh-CN" dirty="0"/>
              <a:t>Mucous membranes covered with sticky mucus</a:t>
            </a:r>
          </a:p>
          <a:p>
            <a:pPr lvl="1"/>
            <a:r>
              <a:rPr lang="en-US" altLang="zh-CN" dirty="0"/>
              <a:t>Wax in the ear canal, which traps particles before they can get deep inside</a:t>
            </a:r>
          </a:p>
          <a:p>
            <a:pPr lvl="1"/>
            <a:r>
              <a:rPr lang="en-US" altLang="zh-CN" dirty="0"/>
              <a:t>Secretions (</a:t>
            </a:r>
            <a:r>
              <a:rPr lang="zh-CN" altLang="en-US" dirty="0"/>
              <a:t>分泌物</a:t>
            </a:r>
            <a:r>
              <a:rPr lang="en-US" altLang="zh-CN" dirty="0"/>
              <a:t>)</a:t>
            </a:r>
            <a:r>
              <a:rPr lang="zh-CN" altLang="en-US" dirty="0"/>
              <a:t> </a:t>
            </a:r>
            <a:r>
              <a:rPr lang="en-US" altLang="zh-CN" dirty="0"/>
              <a:t>(such as tears, sweat, and saliva) with antimicrobial chemicals</a:t>
            </a:r>
          </a:p>
          <a:p>
            <a:pPr lvl="1"/>
            <a:r>
              <a:rPr lang="en-US" altLang="zh-CN" dirty="0"/>
              <a:t>Strong stomach acids that kill most pathogens ingested with food.</a:t>
            </a:r>
          </a:p>
          <a:p>
            <a:pPr lvl="1"/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34E1B69-842B-1687-FDF8-0931853F7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2588441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D56A3A-BEF2-21A5-EBA2-EC542C9B0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Innate Defenses (</a:t>
            </a:r>
            <a:r>
              <a:rPr lang="zh-CN" altLang="en-US" dirty="0"/>
              <a:t>先天防御</a:t>
            </a:r>
            <a:r>
              <a:rPr lang="en-US" altLang="zh-CN" dirty="0"/>
              <a:t>): Internal Innate Defenses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A6DC74-CB98-D4CA-2ED9-E7D4F76A4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The second line of defense</a:t>
            </a:r>
          </a:p>
          <a:p>
            <a:r>
              <a:rPr lang="en-US" altLang="zh-CN" dirty="0"/>
              <a:t>Depend on </a:t>
            </a:r>
          </a:p>
          <a:p>
            <a:pPr lvl="1"/>
            <a:r>
              <a:rPr lang="en-US" altLang="zh-CN" dirty="0"/>
              <a:t>White blood cells, two types</a:t>
            </a:r>
          </a:p>
          <a:p>
            <a:pPr lvl="2"/>
            <a:r>
              <a:rPr lang="en-US" altLang="zh-CN" dirty="0"/>
              <a:t>Phagocytic cells (also phagocytes) </a:t>
            </a:r>
            <a:r>
              <a:rPr lang="en-US" altLang="zh-CN" dirty="0">
                <a:highlight>
                  <a:srgbClr val="FFFF00"/>
                </a:highlight>
              </a:rPr>
              <a:t>engulf</a:t>
            </a:r>
            <a:r>
              <a:rPr lang="en-US" altLang="zh-CN" dirty="0"/>
              <a:t> foreign cells or molecules and debris from dead cells by </a:t>
            </a:r>
            <a:r>
              <a:rPr lang="en-US" altLang="zh-CN" dirty="0">
                <a:highlight>
                  <a:srgbClr val="FFFF00"/>
                </a:highlight>
              </a:rPr>
              <a:t>phagocytosis, or “cellular eating”  </a:t>
            </a:r>
          </a:p>
          <a:p>
            <a:pPr lvl="2"/>
            <a:r>
              <a:rPr lang="en-US" altLang="zh-CN" dirty="0"/>
              <a:t>Natural killer (NK) cells recognize </a:t>
            </a:r>
            <a:r>
              <a:rPr lang="en-US" altLang="zh-CN" dirty="0">
                <a:highlight>
                  <a:srgbClr val="FFFF00"/>
                </a:highlight>
              </a:rPr>
              <a:t>virus-infected</a:t>
            </a:r>
            <a:r>
              <a:rPr lang="en-US" altLang="zh-CN" dirty="0"/>
              <a:t> and </a:t>
            </a:r>
            <a:r>
              <a:rPr lang="en-US" altLang="zh-CN" b="1" dirty="0">
                <a:solidFill>
                  <a:srgbClr val="FF0000"/>
                </a:solidFill>
              </a:rPr>
              <a:t>cancerous</a:t>
            </a:r>
            <a:r>
              <a:rPr lang="en-US" altLang="zh-CN" dirty="0"/>
              <a:t> body cells. </a:t>
            </a:r>
          </a:p>
          <a:p>
            <a:pPr lvl="1"/>
            <a:r>
              <a:rPr lang="en-US" altLang="zh-CN" dirty="0"/>
              <a:t>Defensive proteins </a:t>
            </a:r>
          </a:p>
          <a:p>
            <a:pPr lvl="2"/>
            <a:r>
              <a:rPr lang="en-US" altLang="zh-CN" dirty="0"/>
              <a:t>prevent viral reproduction within body cells</a:t>
            </a:r>
          </a:p>
          <a:p>
            <a:pPr lvl="2"/>
            <a:r>
              <a:rPr lang="en-US" altLang="zh-CN" dirty="0"/>
              <a:t>destroy pathogens directly.</a:t>
            </a:r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34E1B69-842B-1687-FDF8-0931853F7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19894772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058" name="Picture 2" descr="https://i.pinimg.com/originals/bd/1c/22/bd1c22a4bb442010a9197d7aa4ce2596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3051" y="588715"/>
            <a:ext cx="8545899" cy="5793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44D5840-36EA-647E-B703-0A5B89EFC88A}"/>
              </a:ext>
            </a:extLst>
          </p:cNvPr>
          <p:cNvSpPr txBox="1"/>
          <p:nvPr/>
        </p:nvSpPr>
        <p:spPr>
          <a:xfrm>
            <a:off x="6098006" y="6611779"/>
            <a:ext cx="60939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000" dirty="0"/>
              <a:t>https://share.google/XMudzzQwHrouCilKd</a:t>
            </a:r>
          </a:p>
        </p:txBody>
      </p:sp>
    </p:spTree>
    <p:extLst>
      <p:ext uri="{BB962C8B-B14F-4D97-AF65-F5344CB8AC3E}">
        <p14:creationId xmlns:p14="http://schemas.microsoft.com/office/powerpoint/2010/main" val="2083160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Internal Innate Defenses: The Inflammatory Response (</a:t>
            </a:r>
            <a:r>
              <a:rPr lang="zh-CN" altLang="en-US" dirty="0"/>
              <a:t>炎症反应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 coordinated set of nonspecific defenses in response to injury or infection. ("setting on fire")</a:t>
            </a:r>
          </a:p>
          <a:p>
            <a:r>
              <a:rPr lang="en-US" altLang="zh-CN" dirty="0"/>
              <a:t>Red, swollen, painful, and warm to the touch</a:t>
            </a:r>
          </a:p>
          <a:p>
            <a:pPr marL="0" indent="0">
              <a:buNone/>
            </a:pP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804238" y="3181349"/>
            <a:ext cx="8548687" cy="3676651"/>
            <a:chOff x="1820864" y="1712913"/>
            <a:chExt cx="8548687" cy="3676651"/>
          </a:xfrm>
        </p:grpSpPr>
        <p:pic>
          <p:nvPicPr>
            <p:cNvPr id="6" name="Picture 63" descr="24_04_Inflammatory-U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1820864" y="1712913"/>
              <a:ext cx="8548687" cy="3636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Text Box 16"/>
            <p:cNvSpPr txBox="1">
              <a:spLocks noChangeArrowheads="1"/>
            </p:cNvSpPr>
            <p:nvPr/>
          </p:nvSpPr>
          <p:spPr bwMode="auto">
            <a:xfrm>
              <a:off x="3482976" y="1836739"/>
              <a:ext cx="1027113" cy="2238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400" b="1">
                  <a:solidFill>
                    <a:srgbClr val="000000"/>
                  </a:solidFill>
                  <a:latin typeface="Cambria" panose="02040503050406030204" pitchFamily="18" charset="0"/>
                </a:rPr>
                <a:t>Skin surface</a:t>
              </a:r>
            </a:p>
          </p:txBody>
        </p:sp>
        <p:sp>
          <p:nvSpPr>
            <p:cNvPr id="8" name="Text Box 18"/>
            <p:cNvSpPr txBox="1">
              <a:spLocks noChangeArrowheads="1"/>
            </p:cNvSpPr>
            <p:nvPr/>
          </p:nvSpPr>
          <p:spPr bwMode="auto">
            <a:xfrm>
              <a:off x="2246314" y="4508501"/>
              <a:ext cx="2181225" cy="665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400" b="1" dirty="0">
                  <a:solidFill>
                    <a:srgbClr val="000000"/>
                  </a:solidFill>
                  <a:latin typeface="Cambria" panose="02040503050406030204" pitchFamily="18" charset="0"/>
                </a:rPr>
                <a:t>Tissue injury; release of </a:t>
              </a:r>
              <a:br>
                <a:rPr lang="en-US" altLang="en-US" sz="1400" b="1" dirty="0">
                  <a:solidFill>
                    <a:srgbClr val="000000"/>
                  </a:solidFill>
                  <a:latin typeface="Cambria" panose="02040503050406030204" pitchFamily="18" charset="0"/>
                </a:rPr>
              </a:br>
              <a:r>
                <a:rPr lang="en-US" altLang="en-US" sz="1400" b="1" dirty="0">
                  <a:solidFill>
                    <a:srgbClr val="000000"/>
                  </a:solidFill>
                  <a:latin typeface="Cambria" panose="02040503050406030204" pitchFamily="18" charset="0"/>
                </a:rPr>
                <a:t>chemical signals such as 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400" b="1" dirty="0">
                  <a:solidFill>
                    <a:srgbClr val="000000"/>
                  </a:solidFill>
                  <a:highlight>
                    <a:srgbClr val="FFFF00"/>
                  </a:highlight>
                  <a:latin typeface="Cambria" panose="02040503050406030204" pitchFamily="18" charset="0"/>
                </a:rPr>
                <a:t>histamine</a:t>
              </a:r>
            </a:p>
          </p:txBody>
        </p:sp>
        <p:sp>
          <p:nvSpPr>
            <p:cNvPr id="9" name="Text Box 20"/>
            <p:cNvSpPr txBox="1">
              <a:spLocks noChangeArrowheads="1"/>
            </p:cNvSpPr>
            <p:nvPr/>
          </p:nvSpPr>
          <p:spPr bwMode="auto">
            <a:xfrm>
              <a:off x="3452814" y="2235200"/>
              <a:ext cx="681037" cy="211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400" b="1">
                  <a:solidFill>
                    <a:srgbClr val="000000"/>
                  </a:solidFill>
                  <a:latin typeface="Cambria" panose="02040503050406030204" pitchFamily="18" charset="0"/>
                </a:rPr>
                <a:t>Splinter</a:t>
              </a:r>
            </a:p>
          </p:txBody>
        </p:sp>
        <p:sp>
          <p:nvSpPr>
            <p:cNvPr id="10" name="Text Box 21"/>
            <p:cNvSpPr txBox="1">
              <a:spLocks noChangeArrowheads="1"/>
            </p:cNvSpPr>
            <p:nvPr/>
          </p:nvSpPr>
          <p:spPr bwMode="auto">
            <a:xfrm>
              <a:off x="3392489" y="2667000"/>
              <a:ext cx="681037" cy="211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400" b="1">
                  <a:solidFill>
                    <a:srgbClr val="000000"/>
                  </a:solidFill>
                  <a:latin typeface="Cambria" panose="02040503050406030204" pitchFamily="18" charset="0"/>
                </a:rPr>
                <a:t>Bacteria</a:t>
              </a:r>
            </a:p>
          </p:txBody>
        </p:sp>
        <p:sp>
          <p:nvSpPr>
            <p:cNvPr id="11" name="Text Box 22"/>
            <p:cNvSpPr txBox="1">
              <a:spLocks noChangeArrowheads="1"/>
            </p:cNvSpPr>
            <p:nvPr/>
          </p:nvSpPr>
          <p:spPr bwMode="auto">
            <a:xfrm>
              <a:off x="1933576" y="4148138"/>
              <a:ext cx="1109663" cy="188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400" b="1">
                  <a:solidFill>
                    <a:srgbClr val="000000"/>
                  </a:solidFill>
                  <a:latin typeface="Cambria" panose="02040503050406030204" pitchFamily="18" charset="0"/>
                </a:rPr>
                <a:t>Blood vessel</a:t>
              </a:r>
            </a:p>
          </p:txBody>
        </p:sp>
        <p:sp>
          <p:nvSpPr>
            <p:cNvPr id="12" name="Text Box 23"/>
            <p:cNvSpPr txBox="1">
              <a:spLocks noChangeArrowheads="1"/>
            </p:cNvSpPr>
            <p:nvPr/>
          </p:nvSpPr>
          <p:spPr bwMode="auto">
            <a:xfrm>
              <a:off x="3114675" y="3452814"/>
              <a:ext cx="1447800" cy="236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400" b="1">
                  <a:solidFill>
                    <a:srgbClr val="000000"/>
                  </a:solidFill>
                  <a:latin typeface="Cambria" panose="02040503050406030204" pitchFamily="18" charset="0"/>
                </a:rPr>
                <a:t>White blood cell</a:t>
              </a:r>
            </a:p>
          </p:txBody>
        </p:sp>
        <p:sp>
          <p:nvSpPr>
            <p:cNvPr id="13" name="Text Box 24"/>
            <p:cNvSpPr txBox="1">
              <a:spLocks noChangeArrowheads="1"/>
            </p:cNvSpPr>
            <p:nvPr/>
          </p:nvSpPr>
          <p:spPr bwMode="auto">
            <a:xfrm>
              <a:off x="3419475" y="3051175"/>
              <a:ext cx="838200" cy="388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400" b="1">
                  <a:solidFill>
                    <a:srgbClr val="000000"/>
                  </a:solidFill>
                  <a:latin typeface="Cambria" panose="02040503050406030204" pitchFamily="18" charset="0"/>
                </a:rPr>
                <a:t>Chemical</a:t>
              </a:r>
            </a:p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400" b="1">
                  <a:solidFill>
                    <a:srgbClr val="000000"/>
                  </a:solidFill>
                  <a:latin typeface="Cambria" panose="02040503050406030204" pitchFamily="18" charset="0"/>
                </a:rPr>
                <a:t>signals</a:t>
              </a:r>
            </a:p>
          </p:txBody>
        </p:sp>
        <p:grpSp>
          <p:nvGrpSpPr>
            <p:cNvPr id="14" name="Group 34"/>
            <p:cNvGrpSpPr>
              <a:grpSpLocks/>
            </p:cNvGrpSpPr>
            <p:nvPr/>
          </p:nvGrpSpPr>
          <p:grpSpPr bwMode="auto">
            <a:xfrm>
              <a:off x="7607300" y="4446588"/>
              <a:ext cx="317500" cy="317500"/>
              <a:chOff x="584" y="632"/>
              <a:chExt cx="200" cy="200"/>
            </a:xfrm>
          </p:grpSpPr>
          <p:sp>
            <p:nvSpPr>
              <p:cNvPr id="41" name="Oval 35"/>
              <p:cNvSpPr>
                <a:spLocks noChangeArrowheads="1"/>
              </p:cNvSpPr>
              <p:nvPr/>
            </p:nvSpPr>
            <p:spPr bwMode="auto">
              <a:xfrm>
                <a:off x="584" y="632"/>
                <a:ext cx="200" cy="200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45000"/>
                  </a:spcBef>
                  <a:spcAft>
                    <a:spcPct val="2000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45000"/>
                  </a:spcBef>
                  <a:spcAft>
                    <a:spcPct val="20000"/>
                  </a:spcAft>
                  <a:buClr>
                    <a:srgbClr val="5D2F49"/>
                  </a:buClr>
                  <a:buFont typeface="Times" panose="02020603050405020304" pitchFamily="18" charset="0"/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None/>
                </a:pPr>
                <a:endParaRPr lang="en-US" altLang="en-US" sz="2400">
                  <a:solidFill>
                    <a:srgbClr val="000000"/>
                  </a:solidFill>
                  <a:latin typeface="Cambria" panose="02040503050406030204" pitchFamily="18" charset="0"/>
                </a:endParaRPr>
              </a:p>
            </p:txBody>
          </p:sp>
          <p:sp>
            <p:nvSpPr>
              <p:cNvPr id="42" name="Text Box 36"/>
              <p:cNvSpPr txBox="1">
                <a:spLocks noChangeArrowheads="1"/>
              </p:cNvSpPr>
              <p:nvPr/>
            </p:nvSpPr>
            <p:spPr bwMode="auto">
              <a:xfrm>
                <a:off x="639" y="646"/>
                <a:ext cx="117" cy="1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/>
              <a:lstStyle>
                <a:lvl1pPr>
                  <a:spcBef>
                    <a:spcPct val="45000"/>
                  </a:spcBef>
                  <a:spcAft>
                    <a:spcPct val="2000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45000"/>
                  </a:spcBef>
                  <a:spcAft>
                    <a:spcPct val="20000"/>
                  </a:spcAft>
                  <a:buClr>
                    <a:srgbClr val="5D2F49"/>
                  </a:buClr>
                  <a:buFont typeface="Times" panose="02020603050405020304" pitchFamily="18" charset="0"/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None/>
                </a:pPr>
                <a:r>
                  <a:rPr lang="en-US" altLang="en-US" sz="1800" b="1">
                    <a:solidFill>
                      <a:srgbClr val="FFFFFF"/>
                    </a:solidFill>
                    <a:latin typeface="Cambria" panose="02040503050406030204" pitchFamily="18" charset="0"/>
                  </a:rPr>
                  <a:t>3</a:t>
                </a:r>
              </a:p>
            </p:txBody>
          </p:sp>
        </p:grpSp>
        <p:grpSp>
          <p:nvGrpSpPr>
            <p:cNvPr id="15" name="Group 37"/>
            <p:cNvGrpSpPr>
              <a:grpSpLocks/>
            </p:cNvGrpSpPr>
            <p:nvPr/>
          </p:nvGrpSpPr>
          <p:grpSpPr bwMode="auto">
            <a:xfrm>
              <a:off x="4660900" y="4446588"/>
              <a:ext cx="317500" cy="317500"/>
              <a:chOff x="584" y="632"/>
              <a:chExt cx="200" cy="200"/>
            </a:xfrm>
          </p:grpSpPr>
          <p:sp>
            <p:nvSpPr>
              <p:cNvPr id="39" name="Oval 38"/>
              <p:cNvSpPr>
                <a:spLocks noChangeArrowheads="1"/>
              </p:cNvSpPr>
              <p:nvPr/>
            </p:nvSpPr>
            <p:spPr bwMode="auto">
              <a:xfrm>
                <a:off x="584" y="632"/>
                <a:ext cx="200" cy="200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45000"/>
                  </a:spcBef>
                  <a:spcAft>
                    <a:spcPct val="2000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45000"/>
                  </a:spcBef>
                  <a:spcAft>
                    <a:spcPct val="20000"/>
                  </a:spcAft>
                  <a:buClr>
                    <a:srgbClr val="5D2F49"/>
                  </a:buClr>
                  <a:buFont typeface="Times" panose="02020603050405020304" pitchFamily="18" charset="0"/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None/>
                </a:pPr>
                <a:endParaRPr lang="en-US" altLang="en-US" sz="2400">
                  <a:solidFill>
                    <a:srgbClr val="000000"/>
                  </a:solidFill>
                  <a:latin typeface="Cambria" panose="02040503050406030204" pitchFamily="18" charset="0"/>
                </a:endParaRPr>
              </a:p>
            </p:txBody>
          </p:sp>
          <p:sp>
            <p:nvSpPr>
              <p:cNvPr id="40" name="Text Box 39"/>
              <p:cNvSpPr txBox="1">
                <a:spLocks noChangeArrowheads="1"/>
              </p:cNvSpPr>
              <p:nvPr/>
            </p:nvSpPr>
            <p:spPr bwMode="auto">
              <a:xfrm>
                <a:off x="639" y="646"/>
                <a:ext cx="117" cy="1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/>
              <a:lstStyle>
                <a:lvl1pPr>
                  <a:spcBef>
                    <a:spcPct val="45000"/>
                  </a:spcBef>
                  <a:spcAft>
                    <a:spcPct val="2000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45000"/>
                  </a:spcBef>
                  <a:spcAft>
                    <a:spcPct val="20000"/>
                  </a:spcAft>
                  <a:buClr>
                    <a:srgbClr val="5D2F49"/>
                  </a:buClr>
                  <a:buFont typeface="Times" panose="02020603050405020304" pitchFamily="18" charset="0"/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None/>
                </a:pPr>
                <a:r>
                  <a:rPr lang="en-US" altLang="en-US" sz="1800" b="1">
                    <a:solidFill>
                      <a:srgbClr val="FFFFFF"/>
                    </a:solidFill>
                    <a:latin typeface="Cambria" panose="02040503050406030204" pitchFamily="18" charset="0"/>
                  </a:rPr>
                  <a:t>2</a:t>
                </a:r>
              </a:p>
            </p:txBody>
          </p:sp>
        </p:grpSp>
        <p:grpSp>
          <p:nvGrpSpPr>
            <p:cNvPr id="16" name="Group 40"/>
            <p:cNvGrpSpPr>
              <a:grpSpLocks/>
            </p:cNvGrpSpPr>
            <p:nvPr/>
          </p:nvGrpSpPr>
          <p:grpSpPr bwMode="auto">
            <a:xfrm>
              <a:off x="1866900" y="4446588"/>
              <a:ext cx="317500" cy="317500"/>
              <a:chOff x="584" y="632"/>
              <a:chExt cx="200" cy="200"/>
            </a:xfrm>
          </p:grpSpPr>
          <p:sp>
            <p:nvSpPr>
              <p:cNvPr id="37" name="Oval 41"/>
              <p:cNvSpPr>
                <a:spLocks noChangeArrowheads="1"/>
              </p:cNvSpPr>
              <p:nvPr/>
            </p:nvSpPr>
            <p:spPr bwMode="auto">
              <a:xfrm>
                <a:off x="584" y="632"/>
                <a:ext cx="200" cy="200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45000"/>
                  </a:spcBef>
                  <a:spcAft>
                    <a:spcPct val="2000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45000"/>
                  </a:spcBef>
                  <a:spcAft>
                    <a:spcPct val="20000"/>
                  </a:spcAft>
                  <a:buClr>
                    <a:srgbClr val="5D2F49"/>
                  </a:buClr>
                  <a:buFont typeface="Times" panose="02020603050405020304" pitchFamily="18" charset="0"/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None/>
                </a:pPr>
                <a:endParaRPr lang="en-US" altLang="en-US" sz="2400">
                  <a:solidFill>
                    <a:srgbClr val="000000"/>
                  </a:solidFill>
                  <a:latin typeface="Cambria" panose="02040503050406030204" pitchFamily="18" charset="0"/>
                </a:endParaRPr>
              </a:p>
            </p:txBody>
          </p:sp>
          <p:sp>
            <p:nvSpPr>
              <p:cNvPr id="38" name="Text Box 42"/>
              <p:cNvSpPr txBox="1">
                <a:spLocks noChangeArrowheads="1"/>
              </p:cNvSpPr>
              <p:nvPr/>
            </p:nvSpPr>
            <p:spPr bwMode="auto">
              <a:xfrm>
                <a:off x="639" y="646"/>
                <a:ext cx="117" cy="1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/>
              <a:lstStyle>
                <a:lvl1pPr>
                  <a:spcBef>
                    <a:spcPct val="45000"/>
                  </a:spcBef>
                  <a:spcAft>
                    <a:spcPct val="2000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45000"/>
                  </a:spcBef>
                  <a:spcAft>
                    <a:spcPct val="20000"/>
                  </a:spcAft>
                  <a:buClr>
                    <a:srgbClr val="5D2F49"/>
                  </a:buClr>
                  <a:buFont typeface="Times" panose="02020603050405020304" pitchFamily="18" charset="0"/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None/>
                </a:pPr>
                <a:r>
                  <a:rPr lang="en-US" altLang="en-US" sz="1800" b="1">
                    <a:solidFill>
                      <a:srgbClr val="FFFFFF"/>
                    </a:solidFill>
                    <a:latin typeface="Cambria" panose="02040503050406030204" pitchFamily="18" charset="0"/>
                  </a:rPr>
                  <a:t>1</a:t>
                </a:r>
              </a:p>
            </p:txBody>
          </p:sp>
        </p:grpSp>
        <p:sp>
          <p:nvSpPr>
            <p:cNvPr id="17" name="Text Box 43"/>
            <p:cNvSpPr txBox="1">
              <a:spLocks noChangeArrowheads="1"/>
            </p:cNvSpPr>
            <p:nvPr/>
          </p:nvSpPr>
          <p:spPr bwMode="auto">
            <a:xfrm>
              <a:off x="4829175" y="1819275"/>
              <a:ext cx="838200" cy="388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400" b="1">
                  <a:solidFill>
                    <a:srgbClr val="000000"/>
                  </a:solidFill>
                  <a:latin typeface="Cambria" panose="02040503050406030204" pitchFamily="18" charset="0"/>
                </a:rPr>
                <a:t>Blood</a:t>
              </a:r>
              <a:br>
                <a:rPr lang="en-US" altLang="en-US" sz="1400" b="1">
                  <a:solidFill>
                    <a:srgbClr val="000000"/>
                  </a:solidFill>
                  <a:latin typeface="Cambria" panose="02040503050406030204" pitchFamily="18" charset="0"/>
                </a:rPr>
              </a:br>
              <a:r>
                <a:rPr lang="en-US" altLang="en-US" sz="1400" b="1">
                  <a:solidFill>
                    <a:srgbClr val="000000"/>
                  </a:solidFill>
                  <a:latin typeface="Cambria" panose="02040503050406030204" pitchFamily="18" charset="0"/>
                </a:rPr>
                <a:t>clot</a:t>
              </a: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6683375" y="1819275"/>
              <a:ext cx="838200" cy="211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400" b="1">
                  <a:solidFill>
                    <a:srgbClr val="000000"/>
                  </a:solidFill>
                  <a:latin typeface="Cambria" panose="02040503050406030204" pitchFamily="18" charset="0"/>
                </a:rPr>
                <a:t>Swelling</a:t>
              </a:r>
            </a:p>
          </p:txBody>
        </p:sp>
        <p:sp>
          <p:nvSpPr>
            <p:cNvPr id="19" name="Text Box 45"/>
            <p:cNvSpPr txBox="1">
              <a:spLocks noChangeArrowheads="1"/>
            </p:cNvSpPr>
            <p:nvPr/>
          </p:nvSpPr>
          <p:spPr bwMode="auto">
            <a:xfrm>
              <a:off x="6188075" y="2746375"/>
              <a:ext cx="1282700" cy="782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400" b="1">
                  <a:solidFill>
                    <a:srgbClr val="000000"/>
                  </a:solidFill>
                  <a:latin typeface="Cambria" panose="02040503050406030204" pitchFamily="18" charset="0"/>
                </a:rPr>
                <a:t>Phagocytic</a:t>
              </a:r>
              <a:br>
                <a:rPr lang="en-US" altLang="en-US" sz="1400" b="1">
                  <a:solidFill>
                    <a:srgbClr val="000000"/>
                  </a:solidFill>
                  <a:latin typeface="Cambria" panose="02040503050406030204" pitchFamily="18" charset="0"/>
                </a:rPr>
              </a:br>
              <a:r>
                <a:rPr lang="en-US" altLang="en-US" sz="1400" b="1">
                  <a:solidFill>
                    <a:srgbClr val="000000"/>
                  </a:solidFill>
                  <a:latin typeface="Cambria" panose="02040503050406030204" pitchFamily="18" charset="0"/>
                </a:rPr>
                <a:t>cells and</a:t>
              </a:r>
              <a:br>
                <a:rPr lang="en-US" altLang="en-US" sz="1400" b="1">
                  <a:solidFill>
                    <a:srgbClr val="000000"/>
                  </a:solidFill>
                  <a:latin typeface="Cambria" panose="02040503050406030204" pitchFamily="18" charset="0"/>
                </a:rPr>
              </a:br>
              <a:r>
                <a:rPr lang="en-US" altLang="en-US" sz="1400" b="1">
                  <a:solidFill>
                    <a:srgbClr val="000000"/>
                  </a:solidFill>
                  <a:latin typeface="Cambria" panose="02040503050406030204" pitchFamily="18" charset="0"/>
                </a:rPr>
                <a:t>fluid move into</a:t>
              </a:r>
              <a:br>
                <a:rPr lang="en-US" altLang="en-US" sz="1400" b="1">
                  <a:solidFill>
                    <a:srgbClr val="000000"/>
                  </a:solidFill>
                  <a:latin typeface="Cambria" panose="02040503050406030204" pitchFamily="18" charset="0"/>
                </a:rPr>
              </a:br>
              <a:r>
                <a:rPr lang="en-US" altLang="en-US" sz="1400" b="1">
                  <a:solidFill>
                    <a:srgbClr val="000000"/>
                  </a:solidFill>
                  <a:latin typeface="Cambria" panose="02040503050406030204" pitchFamily="18" charset="0"/>
                </a:rPr>
                <a:t>area</a:t>
              </a:r>
            </a:p>
          </p:txBody>
        </p:sp>
        <p:sp>
          <p:nvSpPr>
            <p:cNvPr id="20" name="Text Box 46"/>
            <p:cNvSpPr txBox="1">
              <a:spLocks noChangeArrowheads="1"/>
            </p:cNvSpPr>
            <p:nvPr/>
          </p:nvSpPr>
          <p:spPr bwMode="auto">
            <a:xfrm>
              <a:off x="9236075" y="2555875"/>
              <a:ext cx="1041400" cy="401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400" b="1">
                  <a:solidFill>
                    <a:srgbClr val="000000"/>
                  </a:solidFill>
                  <a:latin typeface="Cambria" panose="02040503050406030204" pitchFamily="18" charset="0"/>
                </a:rPr>
                <a:t>Phagocytic</a:t>
              </a:r>
              <a:br>
                <a:rPr lang="en-US" altLang="en-US" sz="1400" b="1">
                  <a:solidFill>
                    <a:srgbClr val="000000"/>
                  </a:solidFill>
                  <a:latin typeface="Cambria" panose="02040503050406030204" pitchFamily="18" charset="0"/>
                </a:rPr>
              </a:br>
              <a:r>
                <a:rPr lang="en-US" altLang="en-US" sz="1400" b="1">
                  <a:solidFill>
                    <a:srgbClr val="000000"/>
                  </a:solidFill>
                  <a:latin typeface="Cambria" panose="02040503050406030204" pitchFamily="18" charset="0"/>
                </a:rPr>
                <a:t>cells</a:t>
              </a:r>
            </a:p>
          </p:txBody>
        </p:sp>
        <p:sp>
          <p:nvSpPr>
            <p:cNvPr id="21" name="Text Box 47"/>
            <p:cNvSpPr txBox="1">
              <a:spLocks noChangeArrowheads="1"/>
            </p:cNvSpPr>
            <p:nvPr/>
          </p:nvSpPr>
          <p:spPr bwMode="auto">
            <a:xfrm>
              <a:off x="5040314" y="4521201"/>
              <a:ext cx="2371725" cy="868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400" b="1" dirty="0">
                  <a:solidFill>
                    <a:srgbClr val="000000"/>
                  </a:solidFill>
                  <a:latin typeface="Cambria" panose="02040503050406030204" pitchFamily="18" charset="0"/>
                </a:rPr>
                <a:t>Dilation and increased</a:t>
              </a:r>
              <a:br>
                <a:rPr lang="en-US" altLang="en-US" sz="1400" b="1" dirty="0">
                  <a:solidFill>
                    <a:srgbClr val="000000"/>
                  </a:solidFill>
                  <a:latin typeface="Cambria" panose="02040503050406030204" pitchFamily="18" charset="0"/>
                </a:rPr>
              </a:br>
              <a:r>
                <a:rPr lang="en-US" altLang="en-US" sz="1400" b="1" dirty="0">
                  <a:solidFill>
                    <a:srgbClr val="000000"/>
                  </a:solidFill>
                  <a:highlight>
                    <a:srgbClr val="FFFF00"/>
                  </a:highlight>
                  <a:latin typeface="Cambria" panose="02040503050406030204" pitchFamily="18" charset="0"/>
                </a:rPr>
                <a:t>leakiness</a:t>
              </a:r>
              <a:r>
                <a:rPr lang="en-US" altLang="en-US" sz="1400" b="1" dirty="0">
                  <a:solidFill>
                    <a:srgbClr val="000000"/>
                  </a:solidFill>
                  <a:latin typeface="Cambria" panose="02040503050406030204" pitchFamily="18" charset="0"/>
                </a:rPr>
                <a:t> of local blood</a:t>
              </a:r>
              <a:br>
                <a:rPr lang="en-US" altLang="en-US" sz="1400" b="1" dirty="0">
                  <a:solidFill>
                    <a:srgbClr val="000000"/>
                  </a:solidFill>
                  <a:latin typeface="Cambria" panose="02040503050406030204" pitchFamily="18" charset="0"/>
                </a:rPr>
              </a:br>
              <a:r>
                <a:rPr lang="en-US" altLang="en-US" sz="1400" b="1" dirty="0">
                  <a:solidFill>
                    <a:srgbClr val="000000"/>
                  </a:solidFill>
                  <a:latin typeface="Cambria" panose="02040503050406030204" pitchFamily="18" charset="0"/>
                </a:rPr>
                <a:t>vessels; migration of</a:t>
              </a:r>
              <a:br>
                <a:rPr lang="en-US" altLang="en-US" sz="1400" b="1" dirty="0">
                  <a:solidFill>
                    <a:srgbClr val="000000"/>
                  </a:solidFill>
                  <a:latin typeface="Cambria" panose="02040503050406030204" pitchFamily="18" charset="0"/>
                </a:rPr>
              </a:br>
              <a:r>
                <a:rPr lang="en-US" altLang="en-US" sz="1400" b="1" dirty="0">
                  <a:solidFill>
                    <a:srgbClr val="000000"/>
                  </a:solidFill>
                  <a:latin typeface="Cambria" panose="02040503050406030204" pitchFamily="18" charset="0"/>
                </a:rPr>
                <a:t>phagocytic cells to the area</a:t>
              </a:r>
            </a:p>
          </p:txBody>
        </p:sp>
        <p:sp>
          <p:nvSpPr>
            <p:cNvPr id="22" name="Text Box 48"/>
            <p:cNvSpPr txBox="1">
              <a:spLocks noChangeArrowheads="1"/>
            </p:cNvSpPr>
            <p:nvPr/>
          </p:nvSpPr>
          <p:spPr bwMode="auto">
            <a:xfrm>
              <a:off x="7974014" y="4508501"/>
              <a:ext cx="2181225" cy="665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400" b="1">
                  <a:solidFill>
                    <a:srgbClr val="000000"/>
                  </a:solidFill>
                  <a:latin typeface="Cambria" panose="02040503050406030204" pitchFamily="18" charset="0"/>
                </a:rPr>
                <a:t>Phagocytic cells engulf</a:t>
              </a:r>
              <a:br>
                <a:rPr lang="en-US" altLang="en-US" sz="1400" b="1">
                  <a:solidFill>
                    <a:srgbClr val="000000"/>
                  </a:solidFill>
                  <a:latin typeface="Cambria" panose="02040503050406030204" pitchFamily="18" charset="0"/>
                </a:rPr>
              </a:br>
              <a:r>
                <a:rPr lang="en-US" altLang="en-US" sz="1400" b="1">
                  <a:solidFill>
                    <a:srgbClr val="000000"/>
                  </a:solidFill>
                  <a:latin typeface="Cambria" panose="02040503050406030204" pitchFamily="18" charset="0"/>
                </a:rPr>
                <a:t>bacteria and cell debris;</a:t>
              </a:r>
              <a:br>
                <a:rPr lang="en-US" altLang="en-US" sz="1400" b="1">
                  <a:solidFill>
                    <a:srgbClr val="000000"/>
                  </a:solidFill>
                  <a:latin typeface="Cambria" panose="02040503050406030204" pitchFamily="18" charset="0"/>
                </a:rPr>
              </a:br>
              <a:r>
                <a:rPr lang="en-US" altLang="en-US" sz="1400" b="1">
                  <a:solidFill>
                    <a:srgbClr val="000000"/>
                  </a:solidFill>
                  <a:latin typeface="Cambria" panose="02040503050406030204" pitchFamily="18" charset="0"/>
                </a:rPr>
                <a:t>tissue heals</a:t>
              </a:r>
            </a:p>
          </p:txBody>
        </p:sp>
        <p:sp>
          <p:nvSpPr>
            <p:cNvPr id="23" name="Line 49"/>
            <p:cNvSpPr>
              <a:spLocks noChangeShapeType="1"/>
            </p:cNvSpPr>
            <p:nvPr/>
          </p:nvSpPr>
          <p:spPr bwMode="auto">
            <a:xfrm>
              <a:off x="4025900" y="2058988"/>
              <a:ext cx="139700" cy="1905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Line 50"/>
            <p:cNvSpPr>
              <a:spLocks noChangeShapeType="1"/>
            </p:cNvSpPr>
            <p:nvPr/>
          </p:nvSpPr>
          <p:spPr bwMode="auto">
            <a:xfrm flipH="1" flipV="1">
              <a:off x="3225800" y="2147888"/>
              <a:ext cx="190500" cy="203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5" name="Group 60"/>
            <p:cNvGrpSpPr>
              <a:grpSpLocks/>
            </p:cNvGrpSpPr>
            <p:nvPr/>
          </p:nvGrpSpPr>
          <p:grpSpPr bwMode="auto">
            <a:xfrm>
              <a:off x="3086100" y="2630488"/>
              <a:ext cx="266700" cy="190500"/>
              <a:chOff x="984" y="1528"/>
              <a:chExt cx="168" cy="120"/>
            </a:xfrm>
          </p:grpSpPr>
          <p:sp>
            <p:nvSpPr>
              <p:cNvPr id="35" name="Line 51"/>
              <p:cNvSpPr>
                <a:spLocks noChangeShapeType="1"/>
              </p:cNvSpPr>
              <p:nvPr/>
            </p:nvSpPr>
            <p:spPr bwMode="auto">
              <a:xfrm flipH="1" flipV="1">
                <a:off x="984" y="1528"/>
                <a:ext cx="168" cy="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" name="Line 52"/>
              <p:cNvSpPr>
                <a:spLocks noChangeShapeType="1"/>
              </p:cNvSpPr>
              <p:nvPr/>
            </p:nvSpPr>
            <p:spPr bwMode="auto">
              <a:xfrm flipH="1">
                <a:off x="1024" y="1608"/>
                <a:ext cx="128" cy="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6" name="Group 61"/>
            <p:cNvGrpSpPr>
              <a:grpSpLocks/>
            </p:cNvGrpSpPr>
            <p:nvPr/>
          </p:nvGrpSpPr>
          <p:grpSpPr bwMode="auto">
            <a:xfrm>
              <a:off x="3022600" y="3036888"/>
              <a:ext cx="342900" cy="177800"/>
              <a:chOff x="944" y="1784"/>
              <a:chExt cx="216" cy="112"/>
            </a:xfrm>
          </p:grpSpPr>
          <p:sp>
            <p:nvSpPr>
              <p:cNvPr id="33" name="Line 53"/>
              <p:cNvSpPr>
                <a:spLocks noChangeShapeType="1"/>
              </p:cNvSpPr>
              <p:nvPr/>
            </p:nvSpPr>
            <p:spPr bwMode="auto">
              <a:xfrm flipH="1" flipV="1">
                <a:off x="984" y="1784"/>
                <a:ext cx="176" cy="5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" name="Line 54"/>
              <p:cNvSpPr>
                <a:spLocks noChangeShapeType="1"/>
              </p:cNvSpPr>
              <p:nvPr/>
            </p:nvSpPr>
            <p:spPr bwMode="auto">
              <a:xfrm flipH="1">
                <a:off x="944" y="1840"/>
                <a:ext cx="216" cy="5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7" name="Line 55"/>
            <p:cNvSpPr>
              <a:spLocks noChangeShapeType="1"/>
            </p:cNvSpPr>
            <p:nvPr/>
          </p:nvSpPr>
          <p:spPr bwMode="auto">
            <a:xfrm flipH="1">
              <a:off x="3517900" y="3646488"/>
              <a:ext cx="101600" cy="241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Line 56"/>
            <p:cNvSpPr>
              <a:spLocks noChangeShapeType="1"/>
            </p:cNvSpPr>
            <p:nvPr/>
          </p:nvSpPr>
          <p:spPr bwMode="auto">
            <a:xfrm>
              <a:off x="5448300" y="1931988"/>
              <a:ext cx="469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Line 57"/>
            <p:cNvSpPr>
              <a:spLocks noChangeShapeType="1"/>
            </p:cNvSpPr>
            <p:nvPr/>
          </p:nvSpPr>
          <p:spPr bwMode="auto">
            <a:xfrm flipH="1">
              <a:off x="6515100" y="1919288"/>
              <a:ext cx="139700" cy="152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0" name="Group 62"/>
            <p:cNvGrpSpPr>
              <a:grpSpLocks/>
            </p:cNvGrpSpPr>
            <p:nvPr/>
          </p:nvGrpSpPr>
          <p:grpSpPr bwMode="auto">
            <a:xfrm>
              <a:off x="9283700" y="2846388"/>
              <a:ext cx="228600" cy="228600"/>
              <a:chOff x="4888" y="1664"/>
              <a:chExt cx="144" cy="144"/>
            </a:xfrm>
          </p:grpSpPr>
          <p:sp>
            <p:nvSpPr>
              <p:cNvPr id="31" name="Line 58"/>
              <p:cNvSpPr>
                <a:spLocks noChangeShapeType="1"/>
              </p:cNvSpPr>
              <p:nvPr/>
            </p:nvSpPr>
            <p:spPr bwMode="auto">
              <a:xfrm>
                <a:off x="5032" y="1688"/>
                <a:ext cx="0" cy="12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" name="Line 59"/>
              <p:cNvSpPr>
                <a:spLocks noChangeShapeType="1"/>
              </p:cNvSpPr>
              <p:nvPr/>
            </p:nvSpPr>
            <p:spPr bwMode="auto">
              <a:xfrm flipH="1" flipV="1">
                <a:off x="4888" y="1664"/>
                <a:ext cx="144" cy="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29335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E048E0-DB7B-D407-D4DB-381F538FA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178" y="1227909"/>
            <a:ext cx="6633570" cy="5264966"/>
          </a:xfrm>
        </p:spPr>
        <p:txBody>
          <a:bodyPr/>
          <a:lstStyle/>
          <a:p>
            <a:r>
              <a:rPr lang="en-US" altLang="zh-CN" dirty="0"/>
              <a:t>Consists of </a:t>
            </a:r>
          </a:p>
          <a:p>
            <a:pPr lvl="1"/>
            <a:r>
              <a:rPr lang="en-US" altLang="zh-CN" dirty="0"/>
              <a:t>A branching network of vessels</a:t>
            </a:r>
          </a:p>
          <a:p>
            <a:pPr lvl="2"/>
            <a:r>
              <a:rPr lang="en-US" altLang="zh-CN" dirty="0"/>
              <a:t>Carry lymph, a fluid that is similar to interstitial fluid surrounding body cells.</a:t>
            </a:r>
          </a:p>
          <a:p>
            <a:pPr lvl="1"/>
            <a:r>
              <a:rPr lang="en-US" altLang="zh-CN" dirty="0"/>
              <a:t>Numerous lymph nodes</a:t>
            </a:r>
          </a:p>
          <a:p>
            <a:pPr lvl="1"/>
            <a:r>
              <a:rPr lang="en-US" altLang="zh-CN" dirty="0"/>
              <a:t>Several other organs</a:t>
            </a:r>
          </a:p>
          <a:p>
            <a:r>
              <a:rPr lang="en-US" altLang="zh-CN" dirty="0"/>
              <a:t>Function:</a:t>
            </a:r>
          </a:p>
          <a:p>
            <a:pPr lvl="1"/>
            <a:r>
              <a:rPr lang="en-US" altLang="zh-CN" dirty="0"/>
              <a:t>Returns tissue fluid to the circulatory system</a:t>
            </a:r>
          </a:p>
          <a:p>
            <a:pPr lvl="1"/>
            <a:r>
              <a:rPr lang="en-US" altLang="zh-CN" dirty="0"/>
              <a:t>Fights infection</a:t>
            </a:r>
          </a:p>
          <a:p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15B21BA-D385-B182-D4E2-B8C7C43A7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D3FC8B15-1FE6-9141-7AB1-B194FE4CEB43}"/>
              </a:ext>
            </a:extLst>
          </p:cNvPr>
          <p:cNvGrpSpPr/>
          <p:nvPr/>
        </p:nvGrpSpPr>
        <p:grpSpPr>
          <a:xfrm>
            <a:off x="7001933" y="229036"/>
            <a:ext cx="5190067" cy="6399928"/>
            <a:chOff x="4706409" y="136525"/>
            <a:chExt cx="5190067" cy="6399928"/>
          </a:xfrm>
        </p:grpSpPr>
        <p:pic>
          <p:nvPicPr>
            <p:cNvPr id="6" name="Picture 36" descr="24_05LymphaticSystem-U">
              <a:extLst>
                <a:ext uri="{FF2B5EF4-FFF2-40B4-BE49-F238E27FC236}">
                  <a16:creationId xmlns:a16="http://schemas.microsoft.com/office/drawing/2014/main" id="{45DCABDE-93FC-1AC7-402A-D3B0E433D32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06409" y="136525"/>
              <a:ext cx="5190067" cy="63999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Text Box 3">
              <a:extLst>
                <a:ext uri="{FF2B5EF4-FFF2-40B4-BE49-F238E27FC236}">
                  <a16:creationId xmlns:a16="http://schemas.microsoft.com/office/drawing/2014/main" id="{556D0A91-AA50-2E2F-9F04-A37B2A42A8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41734" y="4318004"/>
              <a:ext cx="1174750" cy="539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800" b="1" dirty="0">
                  <a:solidFill>
                    <a:srgbClr val="000000"/>
                  </a:solidFill>
                  <a:latin typeface="Cambria" panose="02040503050406030204" pitchFamily="18" charset="0"/>
                </a:rPr>
                <a:t>Lymphatic</a:t>
              </a:r>
            </a:p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800" b="1" dirty="0">
                  <a:solidFill>
                    <a:srgbClr val="000000"/>
                  </a:solidFill>
                  <a:latin typeface="Cambria" panose="02040503050406030204" pitchFamily="18" charset="0"/>
                </a:rPr>
                <a:t>vessels</a:t>
              </a:r>
            </a:p>
          </p:txBody>
        </p:sp>
        <p:sp>
          <p:nvSpPr>
            <p:cNvPr id="8" name="Text Box 5">
              <a:extLst>
                <a:ext uri="{FF2B5EF4-FFF2-40B4-BE49-F238E27FC236}">
                  <a16:creationId xmlns:a16="http://schemas.microsoft.com/office/drawing/2014/main" id="{0B46D7FF-BFA1-FD6F-08F7-4F3D785CC7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81925" y="3815558"/>
              <a:ext cx="1096962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800" b="1" dirty="0">
                  <a:solidFill>
                    <a:srgbClr val="000000"/>
                  </a:solidFill>
                  <a:latin typeface="Cambria" panose="02040503050406030204" pitchFamily="18" charset="0"/>
                </a:rPr>
                <a:t>Appendix</a:t>
              </a:r>
            </a:p>
          </p:txBody>
        </p:sp>
        <p:sp>
          <p:nvSpPr>
            <p:cNvPr id="9" name="Text Box 6">
              <a:extLst>
                <a:ext uri="{FF2B5EF4-FFF2-40B4-BE49-F238E27FC236}">
                  <a16:creationId xmlns:a16="http://schemas.microsoft.com/office/drawing/2014/main" id="{437167CE-3F8E-BA75-FB24-3D38F5DD6B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31138" y="2022476"/>
              <a:ext cx="1950932" cy="563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800" b="1" dirty="0">
                  <a:solidFill>
                    <a:srgbClr val="000000"/>
                  </a:solidFill>
                  <a:latin typeface="Cambria" panose="02040503050406030204" pitchFamily="18" charset="0"/>
                </a:rPr>
                <a:t>Lymphatic vessels</a:t>
              </a:r>
            </a:p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800" b="1" dirty="0">
                  <a:solidFill>
                    <a:srgbClr val="000000"/>
                  </a:solidFill>
                  <a:latin typeface="Cambria" panose="02040503050406030204" pitchFamily="18" charset="0"/>
                </a:rPr>
                <a:t>entering veins</a:t>
              </a:r>
            </a:p>
          </p:txBody>
        </p:sp>
        <p:sp>
          <p:nvSpPr>
            <p:cNvPr id="10" name="Text Box 7">
              <a:extLst>
                <a:ext uri="{FF2B5EF4-FFF2-40B4-BE49-F238E27FC236}">
                  <a16:creationId xmlns:a16="http://schemas.microsoft.com/office/drawing/2014/main" id="{A186D755-E8EB-2778-BB21-0B01897FB1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31138" y="1335924"/>
              <a:ext cx="1550988" cy="2778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800" b="1" dirty="0">
                  <a:solidFill>
                    <a:srgbClr val="000000"/>
                  </a:solidFill>
                  <a:latin typeface="Cambria" panose="02040503050406030204" pitchFamily="18" charset="0"/>
                </a:rPr>
                <a:t>Lymph nodes 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800" b="1" dirty="0">
                  <a:solidFill>
                    <a:srgbClr val="000000"/>
                  </a:solidFill>
                  <a:latin typeface="Cambria" panose="02040503050406030204" pitchFamily="18" charset="0"/>
                </a:rPr>
                <a:t>(</a:t>
              </a:r>
              <a:r>
                <a:rPr lang="zh-CN" altLang="en-US" sz="2000" b="1" dirty="0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淋巴结</a:t>
              </a:r>
              <a:r>
                <a:rPr lang="en-US" altLang="zh-CN" sz="2000" b="1" dirty="0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)</a:t>
              </a:r>
              <a:endParaRPr lang="en-US" altLang="en-US" sz="1800" b="1" dirty="0">
                <a:solidFill>
                  <a:srgbClr val="000000"/>
                </a:solidFill>
                <a:latin typeface="Cambria" panose="02040503050406030204" pitchFamily="18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endParaRPr lang="en-US" altLang="en-US" sz="1800" b="1" dirty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11" name="Text Box 8">
              <a:extLst>
                <a:ext uri="{FF2B5EF4-FFF2-40B4-BE49-F238E27FC236}">
                  <a16:creationId xmlns:a16="http://schemas.microsoft.com/office/drawing/2014/main" id="{5CE75C2A-6EB1-B946-B107-595D740A26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23201" y="846139"/>
              <a:ext cx="765175" cy="306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800" b="1" dirty="0">
                  <a:solidFill>
                    <a:srgbClr val="000000"/>
                  </a:solidFill>
                  <a:latin typeface="Cambria" panose="02040503050406030204" pitchFamily="18" charset="0"/>
                </a:rPr>
                <a:t>Tonsil</a:t>
              </a:r>
              <a:r>
                <a:rPr lang="en-US" altLang="en-US" sz="2000" b="1" dirty="0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（</a:t>
              </a:r>
              <a:r>
                <a:rPr lang="zh-CN" altLang="en-US" sz="2000" b="1" dirty="0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扁桃体</a:t>
              </a:r>
              <a:r>
                <a:rPr lang="en-US" altLang="en-US" sz="2000" b="1" dirty="0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）</a:t>
              </a:r>
              <a:endParaRPr lang="en-US" altLang="en-US" sz="1800" b="1" dirty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12" name="Text Box 9">
              <a:extLst>
                <a:ext uri="{FF2B5EF4-FFF2-40B4-BE49-F238E27FC236}">
                  <a16:creationId xmlns:a16="http://schemas.microsoft.com/office/drawing/2014/main" id="{B66EBF7F-3930-3507-5453-10C826E15C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34314" y="2652714"/>
              <a:ext cx="909637" cy="274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800" b="1" dirty="0">
                  <a:solidFill>
                    <a:srgbClr val="000000"/>
                  </a:solidFill>
                  <a:highlight>
                    <a:srgbClr val="FFFF00"/>
                  </a:highlight>
                  <a:latin typeface="Cambria" panose="02040503050406030204" pitchFamily="18" charset="0"/>
                </a:rPr>
                <a:t>Thymus</a:t>
              </a:r>
              <a:r>
                <a:rPr lang="en-US" altLang="en-US" sz="2000" b="1" dirty="0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 （</a:t>
              </a:r>
              <a:r>
                <a:rPr lang="zh-CN" altLang="en-US" sz="2000" b="1" dirty="0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胸腺</a:t>
              </a:r>
              <a:r>
                <a:rPr lang="en-US" altLang="en-US" sz="2000" b="1" dirty="0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）</a:t>
              </a:r>
              <a:endParaRPr lang="en-US" altLang="en-US" sz="1800" b="1" dirty="0">
                <a:solidFill>
                  <a:srgbClr val="000000"/>
                </a:solidFill>
                <a:latin typeface="Cambria" panose="02040503050406030204" pitchFamily="18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endParaRPr lang="en-US" altLang="en-US" sz="1800" b="1" dirty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13" name="Text Box 10">
              <a:extLst>
                <a:ext uri="{FF2B5EF4-FFF2-40B4-BE49-F238E27FC236}">
                  <a16:creationId xmlns:a16="http://schemas.microsoft.com/office/drawing/2014/main" id="{15E555D6-4614-E767-45D8-1FE0B4218A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35901" y="3259138"/>
              <a:ext cx="792163" cy="298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800" b="1" dirty="0">
                  <a:solidFill>
                    <a:srgbClr val="000000"/>
                  </a:solidFill>
                  <a:latin typeface="Cambria" panose="02040503050406030204" pitchFamily="18" charset="0"/>
                </a:rPr>
                <a:t>Spleen</a:t>
              </a:r>
              <a:r>
                <a:rPr lang="en-US" altLang="en-US" sz="2000" b="1" dirty="0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 （</a:t>
              </a:r>
              <a:r>
                <a:rPr lang="zh-CN" altLang="en-US" sz="2000" b="1" dirty="0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脾脏</a:t>
              </a:r>
              <a:r>
                <a:rPr lang="en-US" altLang="en-US" sz="2000" b="1" dirty="0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）</a:t>
              </a:r>
              <a:endParaRPr lang="en-US" altLang="en-US" sz="1800" b="1" dirty="0">
                <a:solidFill>
                  <a:srgbClr val="000000"/>
                </a:solidFill>
                <a:latin typeface="Cambria" panose="02040503050406030204" pitchFamily="18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endParaRPr lang="en-US" altLang="en-US" sz="1800" b="1" dirty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14" name="Line 23">
              <a:extLst>
                <a:ext uri="{FF2B5EF4-FFF2-40B4-BE49-F238E27FC236}">
                  <a16:creationId xmlns:a16="http://schemas.microsoft.com/office/drawing/2014/main" id="{265AD57C-4EC0-CB2D-F006-6C48BCBE9B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397625" y="3289300"/>
              <a:ext cx="1320800" cy="67372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5" name="Group 33">
              <a:extLst>
                <a:ext uri="{FF2B5EF4-FFF2-40B4-BE49-F238E27FC236}">
                  <a16:creationId xmlns:a16="http://schemas.microsoft.com/office/drawing/2014/main" id="{D92FFDF5-CD1A-7908-5C89-F3F8BD9D75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56375" y="4068766"/>
              <a:ext cx="1320800" cy="519113"/>
              <a:chOff x="2644" y="2563"/>
              <a:chExt cx="832" cy="327"/>
            </a:xfrm>
          </p:grpSpPr>
          <p:sp>
            <p:nvSpPr>
              <p:cNvPr id="25" name="Line 24">
                <a:extLst>
                  <a:ext uri="{FF2B5EF4-FFF2-40B4-BE49-F238E27FC236}">
                    <a16:creationId xmlns:a16="http://schemas.microsoft.com/office/drawing/2014/main" id="{EA3A963C-AD11-0E5C-DF91-AA09CD9C91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816" y="2563"/>
                <a:ext cx="660" cy="32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" name="Line 25">
                <a:extLst>
                  <a:ext uri="{FF2B5EF4-FFF2-40B4-BE49-F238E27FC236}">
                    <a16:creationId xmlns:a16="http://schemas.microsoft.com/office/drawing/2014/main" id="{FD827FB4-CC9D-0576-0367-9D247972D8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644" y="2664"/>
                <a:ext cx="832" cy="22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6" name="Line 26">
              <a:extLst>
                <a:ext uri="{FF2B5EF4-FFF2-40B4-BE49-F238E27FC236}">
                  <a16:creationId xmlns:a16="http://schemas.microsoft.com/office/drawing/2014/main" id="{5E0768C1-56C3-6BEE-1F29-C964D76729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956425" y="2349500"/>
              <a:ext cx="825500" cy="10541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Line 27">
              <a:extLst>
                <a:ext uri="{FF2B5EF4-FFF2-40B4-BE49-F238E27FC236}">
                  <a16:creationId xmlns:a16="http://schemas.microsoft.com/office/drawing/2014/main" id="{61CD279C-F9C4-3970-4939-12EEE8A5EE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651625" y="1841500"/>
              <a:ext cx="1155700" cy="9779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8" name="Group 35">
              <a:extLst>
                <a:ext uri="{FF2B5EF4-FFF2-40B4-BE49-F238E27FC236}">
                  <a16:creationId xmlns:a16="http://schemas.microsoft.com/office/drawing/2014/main" id="{BD6779EE-49CA-8263-14F1-BDDA0919EE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73825" y="1625600"/>
              <a:ext cx="1320800" cy="508000"/>
              <a:chOff x="2592" y="1024"/>
              <a:chExt cx="832" cy="320"/>
            </a:xfrm>
          </p:grpSpPr>
          <p:sp>
            <p:nvSpPr>
              <p:cNvPr id="23" name="Line 28">
                <a:extLst>
                  <a:ext uri="{FF2B5EF4-FFF2-40B4-BE49-F238E27FC236}">
                    <a16:creationId xmlns:a16="http://schemas.microsoft.com/office/drawing/2014/main" id="{5D1F0C6A-4202-02F9-1AEE-7F6863E840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592" y="1032"/>
                <a:ext cx="832" cy="31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4" name="Line 29">
                <a:extLst>
                  <a:ext uri="{FF2B5EF4-FFF2-40B4-BE49-F238E27FC236}">
                    <a16:creationId xmlns:a16="http://schemas.microsoft.com/office/drawing/2014/main" id="{A6D405BB-422D-71AA-603F-3B22B3AB25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720" y="1024"/>
                <a:ext cx="704" cy="32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9" name="Group 34">
              <a:extLst>
                <a:ext uri="{FF2B5EF4-FFF2-40B4-BE49-F238E27FC236}">
                  <a16:creationId xmlns:a16="http://schemas.microsoft.com/office/drawing/2014/main" id="{12759146-D2D3-5153-5A69-83CDB35888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40525" y="1282700"/>
              <a:ext cx="1054100" cy="317500"/>
              <a:chOff x="2760" y="808"/>
              <a:chExt cx="664" cy="200"/>
            </a:xfrm>
          </p:grpSpPr>
          <p:sp>
            <p:nvSpPr>
              <p:cNvPr id="21" name="Line 30">
                <a:extLst>
                  <a:ext uri="{FF2B5EF4-FFF2-40B4-BE49-F238E27FC236}">
                    <a16:creationId xmlns:a16="http://schemas.microsoft.com/office/drawing/2014/main" id="{C69AC95A-CACD-3363-99BB-F337A79C94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816" y="904"/>
                <a:ext cx="608" cy="1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2" name="Line 31">
                <a:extLst>
                  <a:ext uri="{FF2B5EF4-FFF2-40B4-BE49-F238E27FC236}">
                    <a16:creationId xmlns:a16="http://schemas.microsoft.com/office/drawing/2014/main" id="{F4FC3F8C-21D7-3CA6-4F35-2346762F93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760" y="808"/>
                <a:ext cx="664" cy="2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0" name="Line 32">
              <a:extLst>
                <a:ext uri="{FF2B5EF4-FFF2-40B4-BE49-F238E27FC236}">
                  <a16:creationId xmlns:a16="http://schemas.microsoft.com/office/drawing/2014/main" id="{9ABC9FC3-8478-1289-ECD1-2B2526CBB6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11925" y="977900"/>
              <a:ext cx="1282700" cy="76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A34AECC1-840E-D35E-F895-764EC795F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Lymphatic System (</a:t>
            </a:r>
            <a:r>
              <a:rPr lang="zh-CN" altLang="en-US" dirty="0"/>
              <a:t>淋巴系统</a:t>
            </a:r>
            <a:r>
              <a:rPr lang="en-US" altLang="zh-CN" dirty="0"/>
              <a:t>)</a:t>
            </a:r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9510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A3A40B48-341B-4425-CE5A-F9A1DD99F9CF}"/>
              </a:ext>
            </a:extLst>
          </p:cNvPr>
          <p:cNvGrpSpPr/>
          <p:nvPr/>
        </p:nvGrpSpPr>
        <p:grpSpPr>
          <a:xfrm>
            <a:off x="1812926" y="216694"/>
            <a:ext cx="8566149" cy="6424612"/>
            <a:chOff x="1793876" y="177801"/>
            <a:chExt cx="8566149" cy="6424612"/>
          </a:xfrm>
        </p:grpSpPr>
        <p:pic>
          <p:nvPicPr>
            <p:cNvPr id="69634" name="Picture 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31975" y="282575"/>
              <a:ext cx="8528050" cy="6319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3B392F6A-B127-9D48-8783-EAC66FE25457}"/>
                </a:ext>
              </a:extLst>
            </p:cNvPr>
            <p:cNvSpPr/>
            <p:nvPr/>
          </p:nvSpPr>
          <p:spPr>
            <a:xfrm>
              <a:off x="8589964" y="1209675"/>
              <a:ext cx="484187" cy="2376488"/>
            </a:xfrm>
            <a:custGeom>
              <a:avLst/>
              <a:gdLst>
                <a:gd name="connsiteX0" fmla="*/ 484909 w 484909"/>
                <a:gd name="connsiteY0" fmla="*/ 0 h 2424546"/>
                <a:gd name="connsiteX1" fmla="*/ 0 w 484909"/>
                <a:gd name="connsiteY1" fmla="*/ 2424546 h 2424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84909" h="2424546">
                  <a:moveTo>
                    <a:pt x="484909" y="0"/>
                  </a:moveTo>
                  <a:lnTo>
                    <a:pt x="0" y="2424546"/>
                  </a:lnTo>
                </a:path>
              </a:pathLst>
            </a:custGeom>
            <a:noFill/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2000">
                <a:solidFill>
                  <a:prstClr val="black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243B6010-1048-474C-95BA-F7EDA3E965C6}"/>
                </a:ext>
              </a:extLst>
            </p:cNvPr>
            <p:cNvSpPr/>
            <p:nvPr/>
          </p:nvSpPr>
          <p:spPr>
            <a:xfrm>
              <a:off x="5238750" y="977901"/>
              <a:ext cx="0" cy="1052513"/>
            </a:xfrm>
            <a:custGeom>
              <a:avLst/>
              <a:gdLst>
                <a:gd name="connsiteX0" fmla="*/ 0 w 0"/>
                <a:gd name="connsiteY0" fmla="*/ 0 h 1073150"/>
                <a:gd name="connsiteX1" fmla="*/ 0 w 0"/>
                <a:gd name="connsiteY1" fmla="*/ 1073150 h 107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1073150">
                  <a:moveTo>
                    <a:pt x="0" y="0"/>
                  </a:moveTo>
                  <a:lnTo>
                    <a:pt x="0" y="107315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2000">
                <a:solidFill>
                  <a:prstClr val="black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F8E654A9-9A1C-2B4C-B28B-17CE9190D4FA}"/>
                </a:ext>
              </a:extLst>
            </p:cNvPr>
            <p:cNvSpPr/>
            <p:nvPr/>
          </p:nvSpPr>
          <p:spPr>
            <a:xfrm>
              <a:off x="4025900" y="966788"/>
              <a:ext cx="0" cy="373062"/>
            </a:xfrm>
            <a:custGeom>
              <a:avLst/>
              <a:gdLst>
                <a:gd name="connsiteX0" fmla="*/ 0 w 0"/>
                <a:gd name="connsiteY0" fmla="*/ 0 h 381000"/>
                <a:gd name="connsiteX1" fmla="*/ 0 w 0"/>
                <a:gd name="connsiteY1" fmla="*/ 381000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2000">
                <a:solidFill>
                  <a:prstClr val="black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3F213977-658A-C84D-B763-9EC8B19B7B16}"/>
                </a:ext>
              </a:extLst>
            </p:cNvPr>
            <p:cNvSpPr/>
            <p:nvPr/>
          </p:nvSpPr>
          <p:spPr>
            <a:xfrm>
              <a:off x="3282950" y="2335213"/>
              <a:ext cx="1905000" cy="360362"/>
            </a:xfrm>
            <a:custGeom>
              <a:avLst/>
              <a:gdLst>
                <a:gd name="connsiteX0" fmla="*/ 0 w 1905000"/>
                <a:gd name="connsiteY0" fmla="*/ 0 h 368300"/>
                <a:gd name="connsiteX1" fmla="*/ 1905000 w 1905000"/>
                <a:gd name="connsiteY1" fmla="*/ 368300 h 368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05000" h="368300">
                  <a:moveTo>
                    <a:pt x="0" y="0"/>
                  </a:moveTo>
                  <a:lnTo>
                    <a:pt x="1905000" y="36830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2000">
                <a:solidFill>
                  <a:prstClr val="black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6151FE46-EBA8-074D-ADBC-03F8C74BCA73}"/>
                </a:ext>
              </a:extLst>
            </p:cNvPr>
            <p:cNvSpPr/>
            <p:nvPr/>
          </p:nvSpPr>
          <p:spPr>
            <a:xfrm>
              <a:off x="8445500" y="4687888"/>
              <a:ext cx="647700" cy="1219200"/>
            </a:xfrm>
            <a:custGeom>
              <a:avLst/>
              <a:gdLst>
                <a:gd name="connsiteX0" fmla="*/ 0 w 647700"/>
                <a:gd name="connsiteY0" fmla="*/ 1244600 h 1244600"/>
                <a:gd name="connsiteX1" fmla="*/ 647700 w 647700"/>
                <a:gd name="connsiteY1" fmla="*/ 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47700" h="1244600">
                  <a:moveTo>
                    <a:pt x="0" y="1244600"/>
                  </a:moveTo>
                  <a:lnTo>
                    <a:pt x="64770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2000">
                <a:solidFill>
                  <a:prstClr val="black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69640" name="TextBox 9"/>
            <p:cNvSpPr txBox="1">
              <a:spLocks noChangeArrowheads="1"/>
            </p:cNvSpPr>
            <p:nvPr/>
          </p:nvSpPr>
          <p:spPr bwMode="auto">
            <a:xfrm>
              <a:off x="3376614" y="385764"/>
              <a:ext cx="1290637" cy="923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000" b="1">
                  <a:solidFill>
                    <a:srgbClr val="000000"/>
                  </a:solidFill>
                  <a:latin typeface="Cambria" panose="02040503050406030204" pitchFamily="18" charset="0"/>
                </a:rPr>
                <a:t>Arteriole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000" b="1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（</a:t>
              </a:r>
              <a:r>
                <a:rPr lang="zh-CN" altLang="en-US" sz="2000" b="1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小动脉</a:t>
              </a:r>
              <a:r>
                <a:rPr lang="en-US" altLang="en-US" sz="2000" b="1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）</a:t>
              </a:r>
              <a:endParaRPr lang="en-US" altLang="en-US" sz="1800" b="1">
                <a:solidFill>
                  <a:prstClr val="black"/>
                </a:solidFill>
                <a:latin typeface="Cambria" panose="02040503050406030204" pitchFamily="18" charset="0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 sz="2000" b="1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69641" name="TextBox 11"/>
            <p:cNvSpPr txBox="1">
              <a:spLocks noChangeArrowheads="1"/>
            </p:cNvSpPr>
            <p:nvPr/>
          </p:nvSpPr>
          <p:spPr bwMode="auto">
            <a:xfrm>
              <a:off x="4673600" y="385764"/>
              <a:ext cx="1549400" cy="923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000" b="1">
                  <a:solidFill>
                    <a:srgbClr val="000000"/>
                  </a:solidFill>
                  <a:latin typeface="Cambria" panose="02040503050406030204" pitchFamily="18" charset="0"/>
                </a:rPr>
                <a:t>Capillaries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000" b="1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（</a:t>
              </a:r>
              <a:r>
                <a:rPr lang="zh-CN" altLang="en-US" sz="2000" b="1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毛细血管</a:t>
              </a:r>
              <a:r>
                <a:rPr lang="en-US" altLang="en-US" sz="2000" b="1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）</a:t>
              </a:r>
              <a:endParaRPr lang="en-US" altLang="en-US" sz="1800" b="1">
                <a:solidFill>
                  <a:srgbClr val="000000"/>
                </a:solidFill>
                <a:latin typeface="Cambria" panose="02040503050406030204" pitchFamily="18" charset="0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 sz="2000" b="1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69642" name="TextBox 13"/>
            <p:cNvSpPr txBox="1">
              <a:spLocks noChangeArrowheads="1"/>
            </p:cNvSpPr>
            <p:nvPr/>
          </p:nvSpPr>
          <p:spPr bwMode="auto">
            <a:xfrm>
              <a:off x="7770813" y="390526"/>
              <a:ext cx="1289050" cy="923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000" b="1">
                  <a:solidFill>
                    <a:srgbClr val="000000"/>
                  </a:solidFill>
                  <a:latin typeface="Cambria" panose="02040503050406030204" pitchFamily="18" charset="0"/>
                </a:rPr>
                <a:t>Venule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000" b="1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（</a:t>
              </a:r>
              <a:r>
                <a:rPr lang="zh-CN" altLang="en-US" sz="2000" b="1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小静脉</a:t>
              </a:r>
              <a:r>
                <a:rPr lang="en-US" altLang="en-US" sz="2000" b="1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）</a:t>
              </a:r>
              <a:endParaRPr lang="en-US" altLang="en-US" sz="1800" b="1">
                <a:solidFill>
                  <a:srgbClr val="000000"/>
                </a:solidFill>
                <a:latin typeface="Cambria" panose="02040503050406030204" pitchFamily="18" charset="0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 sz="2000" b="1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69643" name="TextBox 14"/>
            <p:cNvSpPr txBox="1">
              <a:spLocks noChangeArrowheads="1"/>
            </p:cNvSpPr>
            <p:nvPr/>
          </p:nvSpPr>
          <p:spPr bwMode="auto">
            <a:xfrm>
              <a:off x="8947150" y="177801"/>
              <a:ext cx="1238250" cy="1000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fontAlgn="base">
                <a:lnSpc>
                  <a:spcPts val="26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000" b="1" dirty="0">
                  <a:solidFill>
                    <a:srgbClr val="000000"/>
                  </a:solidFill>
                  <a:latin typeface="Cambria" panose="02040503050406030204" pitchFamily="18" charset="0"/>
                </a:rPr>
                <a:t>Fluid re-</a:t>
              </a:r>
            </a:p>
            <a:p>
              <a:pPr fontAlgn="base">
                <a:lnSpc>
                  <a:spcPts val="26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000" b="1" dirty="0">
                  <a:solidFill>
                    <a:srgbClr val="000000"/>
                  </a:solidFill>
                  <a:latin typeface="Cambria" panose="02040503050406030204" pitchFamily="18" charset="0"/>
                </a:rPr>
                <a:t>entering</a:t>
              </a:r>
            </a:p>
            <a:p>
              <a:pPr fontAlgn="base">
                <a:lnSpc>
                  <a:spcPts val="26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000" b="1" dirty="0">
                  <a:solidFill>
                    <a:srgbClr val="000000"/>
                  </a:solidFill>
                  <a:latin typeface="Cambria" panose="02040503050406030204" pitchFamily="18" charset="0"/>
                </a:rPr>
                <a:t>capillaries</a:t>
              </a:r>
            </a:p>
          </p:txBody>
        </p:sp>
        <p:sp>
          <p:nvSpPr>
            <p:cNvPr id="69644" name="TextBox 15"/>
            <p:cNvSpPr txBox="1">
              <a:spLocks noChangeArrowheads="1"/>
            </p:cNvSpPr>
            <p:nvPr/>
          </p:nvSpPr>
          <p:spPr bwMode="auto">
            <a:xfrm>
              <a:off x="1874838" y="1497014"/>
              <a:ext cx="1238250" cy="1000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fontAlgn="base">
                <a:lnSpc>
                  <a:spcPts val="26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000" b="1">
                  <a:solidFill>
                    <a:srgbClr val="000000"/>
                  </a:solidFill>
                  <a:latin typeface="Cambria" panose="02040503050406030204" pitchFamily="18" charset="0"/>
                </a:rPr>
                <a:t>Fluid</a:t>
              </a:r>
            </a:p>
            <a:p>
              <a:pPr fontAlgn="base">
                <a:lnSpc>
                  <a:spcPts val="26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000" b="1">
                  <a:solidFill>
                    <a:srgbClr val="000000"/>
                  </a:solidFill>
                  <a:latin typeface="Cambria" panose="02040503050406030204" pitchFamily="18" charset="0"/>
                </a:rPr>
                <a:t>exiting</a:t>
              </a:r>
            </a:p>
            <a:p>
              <a:pPr fontAlgn="base">
                <a:lnSpc>
                  <a:spcPts val="26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000" b="1">
                  <a:solidFill>
                    <a:srgbClr val="000000"/>
                  </a:solidFill>
                  <a:latin typeface="Cambria" panose="02040503050406030204" pitchFamily="18" charset="0"/>
                </a:rPr>
                <a:t>capillaries</a:t>
              </a:r>
            </a:p>
          </p:txBody>
        </p:sp>
        <p:sp>
          <p:nvSpPr>
            <p:cNvPr id="69645" name="TextBox 17"/>
            <p:cNvSpPr txBox="1">
              <a:spLocks noChangeArrowheads="1"/>
            </p:cNvSpPr>
            <p:nvPr/>
          </p:nvSpPr>
          <p:spPr bwMode="auto">
            <a:xfrm>
              <a:off x="1793876" y="5997575"/>
              <a:ext cx="3821113" cy="554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600" b="1">
                  <a:solidFill>
                    <a:srgbClr val="FF0000"/>
                  </a:solidFill>
                  <a:latin typeface="Cambria" panose="02040503050406030204" pitchFamily="18" charset="0"/>
                </a:rPr>
                <a:t>Lymphatic vessels</a:t>
              </a:r>
            </a:p>
          </p:txBody>
        </p:sp>
        <p:sp>
          <p:nvSpPr>
            <p:cNvPr id="69646" name="TextBox 18"/>
            <p:cNvSpPr txBox="1">
              <a:spLocks noChangeArrowheads="1"/>
            </p:cNvSpPr>
            <p:nvPr/>
          </p:nvSpPr>
          <p:spPr bwMode="auto">
            <a:xfrm>
              <a:off x="8097838" y="5907088"/>
              <a:ext cx="1943100" cy="666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fontAlgn="base">
                <a:lnSpc>
                  <a:spcPts val="26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000" b="1" dirty="0">
                  <a:solidFill>
                    <a:srgbClr val="000000"/>
                  </a:solidFill>
                  <a:highlight>
                    <a:srgbClr val="FFFF00"/>
                  </a:highlight>
                  <a:latin typeface="Cambria" panose="02040503050406030204" pitchFamily="18" charset="0"/>
                </a:rPr>
                <a:t>Fluid entering</a:t>
              </a:r>
            </a:p>
            <a:p>
              <a:pPr fontAlgn="base">
                <a:lnSpc>
                  <a:spcPts val="26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000" b="1" dirty="0">
                  <a:solidFill>
                    <a:srgbClr val="000000"/>
                  </a:solidFill>
                  <a:highlight>
                    <a:srgbClr val="FFFF00"/>
                  </a:highlight>
                  <a:latin typeface="Cambria" panose="02040503050406030204" pitchFamily="18" charset="0"/>
                </a:rPr>
                <a:t>lymphatic vessel</a:t>
              </a:r>
            </a:p>
          </p:txBody>
        </p:sp>
        <p:sp>
          <p:nvSpPr>
            <p:cNvPr id="69647" name="TextBox 16"/>
            <p:cNvSpPr txBox="1">
              <a:spLocks noChangeArrowheads="1"/>
            </p:cNvSpPr>
            <p:nvPr/>
          </p:nvSpPr>
          <p:spPr bwMode="auto">
            <a:xfrm>
              <a:off x="7859713" y="4452939"/>
              <a:ext cx="800100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000" b="1">
                  <a:solidFill>
                    <a:srgbClr val="000000"/>
                  </a:solidFill>
                  <a:latin typeface="Cambria" panose="02040503050406030204" pitchFamily="18" charset="0"/>
                </a:rPr>
                <a:t>Lymph</a:t>
              </a: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064B9F02-A376-2F4A-8AFC-162BF084C2C7}"/>
                </a:ext>
              </a:extLst>
            </p:cNvPr>
            <p:cNvSpPr/>
            <p:nvPr/>
          </p:nvSpPr>
          <p:spPr>
            <a:xfrm flipH="1">
              <a:off x="6469063" y="987426"/>
              <a:ext cx="44450" cy="352425"/>
            </a:xfrm>
            <a:custGeom>
              <a:avLst/>
              <a:gdLst>
                <a:gd name="connsiteX0" fmla="*/ 0 w 0"/>
                <a:gd name="connsiteY0" fmla="*/ 0 h 387350"/>
                <a:gd name="connsiteX1" fmla="*/ 0 w 0"/>
                <a:gd name="connsiteY1" fmla="*/ 387350 h 38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387350">
                  <a:moveTo>
                    <a:pt x="0" y="0"/>
                  </a:moveTo>
                  <a:lnTo>
                    <a:pt x="0" y="38735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2000">
                <a:solidFill>
                  <a:prstClr val="black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69649" name="TextBox 20"/>
            <p:cNvSpPr txBox="1">
              <a:spLocks noChangeArrowheads="1"/>
            </p:cNvSpPr>
            <p:nvPr/>
          </p:nvSpPr>
          <p:spPr bwMode="auto">
            <a:xfrm>
              <a:off x="6276975" y="306388"/>
              <a:ext cx="1231900" cy="614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000" b="1">
                  <a:solidFill>
                    <a:srgbClr val="000000"/>
                  </a:solidFill>
                  <a:latin typeface="Cambria" panose="02040503050406030204" pitchFamily="18" charset="0"/>
                </a:rPr>
                <a:t>Lymphatic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000" b="1">
                  <a:solidFill>
                    <a:srgbClr val="000000"/>
                  </a:solidFill>
                  <a:latin typeface="Cambria" panose="02040503050406030204" pitchFamily="18" charset="0"/>
                </a:rPr>
                <a:t>vessels</a:t>
              </a:r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68D2D71-2CA5-4644-BFE1-B7DDC9F1B96C}"/>
                </a:ext>
              </a:extLst>
            </p:cNvPr>
            <p:cNvSpPr/>
            <p:nvPr/>
          </p:nvSpPr>
          <p:spPr>
            <a:xfrm flipH="1">
              <a:off x="8310563" y="987426"/>
              <a:ext cx="44450" cy="352425"/>
            </a:xfrm>
            <a:custGeom>
              <a:avLst/>
              <a:gdLst>
                <a:gd name="connsiteX0" fmla="*/ 0 w 0"/>
                <a:gd name="connsiteY0" fmla="*/ 0 h 387350"/>
                <a:gd name="connsiteX1" fmla="*/ 0 w 0"/>
                <a:gd name="connsiteY1" fmla="*/ 387350 h 38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387350">
                  <a:moveTo>
                    <a:pt x="0" y="0"/>
                  </a:moveTo>
                  <a:lnTo>
                    <a:pt x="0" y="38735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2000">
                <a:solidFill>
                  <a:prstClr val="black"/>
                </a:solidFill>
                <a:latin typeface="Cambria" panose="02040503050406030204" pitchFamily="18" charset="0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Learning Outcomes 2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zh-CN" dirty="0"/>
              <a:t>Explain how the immune system recognizes foreign substances with antigens.	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dirty="0"/>
              <a:t>Describe the process of clonal selection, and explain how effector cells and antibodies are produced and what their functions are.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dirty="0"/>
              <a:t>Compare and contrast the roles of cytotoxic T cells, helper T cells, and B cells in the immune response.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dirty="0"/>
              <a:t>Explain how the immune system has “memory.”	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dirty="0"/>
              <a:t>Explain how vaccinations can prevent disease.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 2016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4604870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Adaptive Defenses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3178" y="1227909"/>
            <a:ext cx="5339760" cy="5264966"/>
          </a:xfrm>
        </p:spPr>
        <p:txBody>
          <a:bodyPr/>
          <a:lstStyle/>
          <a:p>
            <a:r>
              <a:rPr lang="en-US" altLang="zh-CN" dirty="0"/>
              <a:t>The third line of defense</a:t>
            </a:r>
          </a:p>
          <a:p>
            <a:r>
              <a:rPr lang="en-US" altLang="zh-CN" dirty="0"/>
              <a:t>Activated </a:t>
            </a:r>
            <a:r>
              <a:rPr lang="en-US" altLang="zh-CN" dirty="0">
                <a:solidFill>
                  <a:srgbClr val="000000"/>
                </a:solidFill>
                <a:highlight>
                  <a:srgbClr val="FFFF00"/>
                </a:highlight>
                <a:cs typeface="Arial" panose="020B0604020202020204" pitchFamily="34" charset="0"/>
              </a:rPr>
              <a:t>after</a:t>
            </a:r>
            <a:r>
              <a:rPr lang="en-US" altLang="zh-CN" dirty="0"/>
              <a:t> exposure to specific pathogens </a:t>
            </a:r>
          </a:p>
          <a:p>
            <a:r>
              <a:rPr lang="en-US" altLang="zh-CN" dirty="0"/>
              <a:t>By lymphocytes</a:t>
            </a:r>
          </a:p>
          <a:p>
            <a:pPr lvl="1"/>
            <a:r>
              <a:rPr lang="en-US" altLang="zh-CN" dirty="0"/>
              <a:t>Two types: B cells and T cells</a:t>
            </a:r>
          </a:p>
          <a:p>
            <a:pPr lvl="1"/>
            <a:r>
              <a:rPr lang="en-US" altLang="zh-CN" b="1" dirty="0">
                <a:solidFill>
                  <a:srgbClr val="FF0000"/>
                </a:solidFill>
              </a:rPr>
              <a:t>Recognize</a:t>
            </a:r>
            <a:r>
              <a:rPr lang="en-US" altLang="zh-CN" dirty="0"/>
              <a:t> and </a:t>
            </a:r>
            <a:r>
              <a:rPr lang="en-US" altLang="zh-CN" b="1" dirty="0">
                <a:solidFill>
                  <a:srgbClr val="FF0000"/>
                </a:solidFill>
              </a:rPr>
              <a:t>respond</a:t>
            </a:r>
            <a:r>
              <a:rPr lang="en-US" altLang="zh-CN" dirty="0"/>
              <a:t> to specific invading pathogens</a:t>
            </a:r>
          </a:p>
          <a:p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5722938" y="213735"/>
            <a:ext cx="6469062" cy="6430530"/>
            <a:chOff x="3649663" y="136525"/>
            <a:chExt cx="6469062" cy="6430530"/>
          </a:xfrm>
        </p:grpSpPr>
        <p:pic>
          <p:nvPicPr>
            <p:cNvPr id="6" name="Picture 15" descr="24_06LymphocyteDevelop_3-U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3649663" y="136525"/>
              <a:ext cx="6469062" cy="64305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Text Box 4"/>
            <p:cNvSpPr txBox="1">
              <a:spLocks noChangeArrowheads="1"/>
            </p:cNvSpPr>
            <p:nvPr/>
          </p:nvSpPr>
          <p:spPr bwMode="auto">
            <a:xfrm>
              <a:off x="7273131" y="471883"/>
              <a:ext cx="1620838" cy="255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800" b="1" dirty="0">
                  <a:solidFill>
                    <a:srgbClr val="000000"/>
                  </a:solidFill>
                  <a:latin typeface="Cambria" panose="02040503050406030204" pitchFamily="18" charset="0"/>
                </a:rPr>
                <a:t>Bone marrow</a:t>
              </a:r>
            </a:p>
          </p:txBody>
        </p:sp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4510088" y="4824414"/>
              <a:ext cx="1509712" cy="827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2400" b="1" dirty="0">
                  <a:solidFill>
                    <a:srgbClr val="FF0000"/>
                  </a:solidFill>
                  <a:latin typeface="Cambria" panose="02040503050406030204" pitchFamily="18" charset="0"/>
                </a:rPr>
                <a:t>B</a:t>
              </a:r>
              <a:r>
                <a:rPr lang="en-US" altLang="en-US" sz="1800" b="1" dirty="0">
                  <a:solidFill>
                    <a:srgbClr val="000000"/>
                  </a:solidFill>
                  <a:latin typeface="Cambria" panose="02040503050406030204" pitchFamily="18" charset="0"/>
                </a:rPr>
                <a:t> cell</a:t>
              </a:r>
            </a:p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400" b="1" dirty="0">
                  <a:solidFill>
                    <a:srgbClr val="000000"/>
                  </a:solidFill>
                  <a:latin typeface="Cambria" panose="02040503050406030204" pitchFamily="18" charset="0"/>
                </a:rPr>
                <a:t>(matures in</a:t>
              </a:r>
            </a:p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2400" b="1" dirty="0">
                  <a:solidFill>
                    <a:srgbClr val="FF0000"/>
                  </a:solidFill>
                  <a:latin typeface="Cambria" panose="02040503050406030204" pitchFamily="18" charset="0"/>
                </a:rPr>
                <a:t>b</a:t>
              </a:r>
              <a:r>
                <a:rPr lang="en-US" altLang="en-US" sz="1400" b="1" dirty="0">
                  <a:solidFill>
                    <a:srgbClr val="000000"/>
                  </a:solidFill>
                  <a:latin typeface="Cambria" panose="02040503050406030204" pitchFamily="18" charset="0"/>
                </a:rPr>
                <a:t>one marrow)</a:t>
              </a:r>
            </a:p>
          </p:txBody>
        </p:sp>
        <p:sp>
          <p:nvSpPr>
            <p:cNvPr id="9" name="Text Box 6"/>
            <p:cNvSpPr txBox="1">
              <a:spLocks noChangeArrowheads="1"/>
            </p:cNvSpPr>
            <p:nvPr/>
          </p:nvSpPr>
          <p:spPr bwMode="auto">
            <a:xfrm>
              <a:off x="5257800" y="957263"/>
              <a:ext cx="2825750" cy="260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Cambria" panose="02040503050406030204" pitchFamily="18" charset="0"/>
                </a:rPr>
                <a:t>Stem cell in bone marrow</a:t>
              </a:r>
            </a:p>
          </p:txBody>
        </p:sp>
        <p:sp>
          <p:nvSpPr>
            <p:cNvPr id="10" name="Text Box 7"/>
            <p:cNvSpPr txBox="1">
              <a:spLocks noChangeArrowheads="1"/>
            </p:cNvSpPr>
            <p:nvPr/>
          </p:nvSpPr>
          <p:spPr bwMode="auto">
            <a:xfrm>
              <a:off x="4414838" y="2624139"/>
              <a:ext cx="4305300" cy="268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Cambria" panose="02040503050406030204" pitchFamily="18" charset="0"/>
                </a:rPr>
                <a:t>Immature lymphocytes in bone marrow</a:t>
              </a:r>
            </a:p>
          </p:txBody>
        </p:sp>
        <p:sp>
          <p:nvSpPr>
            <p:cNvPr id="11" name="Text Box 8"/>
            <p:cNvSpPr txBox="1">
              <a:spLocks noChangeArrowheads="1"/>
            </p:cNvSpPr>
            <p:nvPr/>
          </p:nvSpPr>
          <p:spPr bwMode="auto">
            <a:xfrm>
              <a:off x="7924800" y="3028157"/>
              <a:ext cx="2193925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600" b="1" dirty="0">
                  <a:solidFill>
                    <a:srgbClr val="000000"/>
                  </a:solidFill>
                  <a:latin typeface="Cambria" panose="02040503050406030204" pitchFamily="18" charset="0"/>
                </a:rPr>
                <a:t>Via blood to thymus</a:t>
              </a:r>
            </a:p>
          </p:txBody>
        </p:sp>
        <p:sp>
          <p:nvSpPr>
            <p:cNvPr id="12" name="Text Box 9"/>
            <p:cNvSpPr txBox="1">
              <a:spLocks noChangeArrowheads="1"/>
            </p:cNvSpPr>
            <p:nvPr/>
          </p:nvSpPr>
          <p:spPr bwMode="auto">
            <a:xfrm>
              <a:off x="3813175" y="6192838"/>
              <a:ext cx="5499100" cy="355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Cambria" panose="02040503050406030204" pitchFamily="18" charset="0"/>
                </a:rPr>
                <a:t>Lymph nodes, spleen, and other lymphatic organs</a:t>
              </a:r>
            </a:p>
          </p:txBody>
        </p:sp>
        <p:sp>
          <p:nvSpPr>
            <p:cNvPr id="13" name="Text Box 10"/>
            <p:cNvSpPr txBox="1">
              <a:spLocks noChangeArrowheads="1"/>
            </p:cNvSpPr>
            <p:nvPr/>
          </p:nvSpPr>
          <p:spPr bwMode="auto">
            <a:xfrm>
              <a:off x="5989638" y="5857876"/>
              <a:ext cx="1122362" cy="252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Cambria" panose="02040503050406030204" pitchFamily="18" charset="0"/>
                </a:rPr>
                <a:t>Via  blood</a:t>
              </a:r>
            </a:p>
          </p:txBody>
        </p:sp>
        <p:sp>
          <p:nvSpPr>
            <p:cNvPr id="14" name="Text Box 11"/>
            <p:cNvSpPr txBox="1">
              <a:spLocks noChangeArrowheads="1"/>
            </p:cNvSpPr>
            <p:nvPr/>
          </p:nvSpPr>
          <p:spPr bwMode="auto">
            <a:xfrm>
              <a:off x="6989763" y="4814888"/>
              <a:ext cx="1482250" cy="8366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2000" b="1" dirty="0">
                  <a:solidFill>
                    <a:srgbClr val="FF0000"/>
                  </a:solidFill>
                  <a:latin typeface="Cambria" panose="02040503050406030204" pitchFamily="18" charset="0"/>
                </a:rPr>
                <a:t>T</a:t>
              </a:r>
              <a:r>
                <a:rPr lang="en-US" altLang="en-US" sz="2000" b="1" dirty="0">
                  <a:solidFill>
                    <a:srgbClr val="000000"/>
                  </a:solidFill>
                  <a:latin typeface="Cambria" panose="02040503050406030204" pitchFamily="18" charset="0"/>
                </a:rPr>
                <a:t> cell</a:t>
              </a:r>
            </a:p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600" b="1" dirty="0">
                  <a:solidFill>
                    <a:srgbClr val="000000"/>
                  </a:solidFill>
                  <a:latin typeface="Cambria" panose="02040503050406030204" pitchFamily="18" charset="0"/>
                </a:rPr>
                <a:t>(matures in</a:t>
              </a:r>
            </a:p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2400" b="1" dirty="0">
                  <a:solidFill>
                    <a:srgbClr val="FF0000"/>
                  </a:solidFill>
                  <a:latin typeface="Cambria" panose="02040503050406030204" pitchFamily="18" charset="0"/>
                </a:rPr>
                <a:t>t</a:t>
              </a:r>
              <a:r>
                <a:rPr lang="en-US" altLang="en-US" sz="1600" b="1" dirty="0">
                  <a:solidFill>
                    <a:srgbClr val="000000"/>
                  </a:solidFill>
                  <a:latin typeface="Cambria" panose="02040503050406030204" pitchFamily="18" charset="0"/>
                </a:rPr>
                <a:t>hymus)</a:t>
              </a:r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 flipH="1" flipV="1">
              <a:off x="5335587" y="304799"/>
              <a:ext cx="2003363" cy="33416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27699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Adaptive Defenses Step 1: Recognizing the Invaders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Antigens (</a:t>
            </a:r>
            <a:r>
              <a:rPr lang="zh-CN" altLang="en-US" b="1" dirty="0">
                <a:solidFill>
                  <a:srgbClr val="FF0000"/>
                </a:solidFill>
              </a:rPr>
              <a:t>抗原</a:t>
            </a:r>
            <a:r>
              <a:rPr lang="en-US" altLang="zh-CN" b="1" dirty="0">
                <a:solidFill>
                  <a:srgbClr val="FF0000"/>
                </a:solidFill>
              </a:rPr>
              <a:t>)</a:t>
            </a:r>
            <a:r>
              <a:rPr lang="en-US" altLang="zh-CN" b="1" dirty="0"/>
              <a:t>,</a:t>
            </a:r>
            <a:r>
              <a:rPr lang="en-US" altLang="zh-CN" b="1" dirty="0">
                <a:solidFill>
                  <a:srgbClr val="FF0000"/>
                </a:solidFill>
              </a:rPr>
              <a:t> </a:t>
            </a:r>
            <a:r>
              <a:rPr lang="en-US" altLang="zh-CN" dirty="0"/>
              <a:t>molecules can </a:t>
            </a:r>
            <a:r>
              <a:rPr lang="en-US" altLang="zh-CN" dirty="0">
                <a:solidFill>
                  <a:srgbClr val="000000"/>
                </a:solidFill>
                <a:highlight>
                  <a:srgbClr val="FFFF00"/>
                </a:highlight>
                <a:cs typeface="Arial" panose="020B0604020202020204" pitchFamily="34" charset="0"/>
              </a:rPr>
              <a:t>elicit a response</a:t>
            </a:r>
            <a:r>
              <a:rPr lang="en-US" altLang="zh-CN" dirty="0"/>
              <a:t> from a lymphocyte</a:t>
            </a:r>
          </a:p>
          <a:p>
            <a:pPr lvl="1"/>
            <a:r>
              <a:rPr lang="en-US" altLang="zh-CN" dirty="0"/>
              <a:t>on the surfaces of viruses or foreign cells (bacteria or parasitic worms)</a:t>
            </a:r>
          </a:p>
          <a:p>
            <a:pPr lvl="1"/>
            <a:r>
              <a:rPr lang="en-US" altLang="zh-CN" dirty="0"/>
              <a:t>toxins by from bacteria</a:t>
            </a:r>
          </a:p>
          <a:p>
            <a:pPr lvl="1"/>
            <a:r>
              <a:rPr lang="en-US" altLang="zh-CN" dirty="0"/>
              <a:t>molecules from mold spores, pollen, and house dust </a:t>
            </a:r>
          </a:p>
          <a:p>
            <a:pPr lvl="1"/>
            <a:r>
              <a:rPr lang="en-US" altLang="zh-CN" dirty="0"/>
              <a:t>molecules on cell surfaces of transplanted tissue</a:t>
            </a:r>
          </a:p>
          <a:p>
            <a:r>
              <a:rPr lang="en-US" altLang="en-US" dirty="0"/>
              <a:t>B cells and T cells have </a:t>
            </a:r>
            <a:r>
              <a:rPr lang="en-US" altLang="en-US" b="1" dirty="0">
                <a:solidFill>
                  <a:srgbClr val="FF0000"/>
                </a:solidFill>
              </a:rPr>
              <a:t>antigen receptors</a:t>
            </a:r>
            <a:r>
              <a:rPr lang="en-US" altLang="en-US" dirty="0"/>
              <a:t> on their surface that can bind to an antigen. (lock-and-key fit)</a:t>
            </a:r>
          </a:p>
          <a:p>
            <a:pPr lvl="1"/>
            <a:r>
              <a:rPr lang="en-US" altLang="en-US" dirty="0"/>
              <a:t>Each cell has about 100,000 copies of an antigen receptor that detects </a:t>
            </a:r>
            <a:r>
              <a:rPr lang="en-US" altLang="en-US" dirty="0">
                <a:solidFill>
                  <a:srgbClr val="000000"/>
                </a:solidFill>
                <a:highlight>
                  <a:srgbClr val="FFFF00"/>
                </a:highlight>
                <a:cs typeface="Arial" panose="020B0604020202020204" pitchFamily="34" charset="0"/>
              </a:rPr>
              <a:t>only a single type of antigen</a:t>
            </a:r>
            <a:r>
              <a:rPr lang="en-US" altLang="en-US" dirty="0"/>
              <a:t>. (</a:t>
            </a:r>
            <a:r>
              <a:rPr lang="en-US" altLang="en-US" b="1" dirty="0">
                <a:solidFill>
                  <a:srgbClr val="FF0000"/>
                </a:solidFill>
              </a:rPr>
              <a:t>specificity</a:t>
            </a:r>
            <a:r>
              <a:rPr lang="en-US" altLang="en-US" dirty="0"/>
              <a:t>)</a:t>
            </a:r>
          </a:p>
          <a:p>
            <a:r>
              <a:rPr lang="en-US" altLang="zh-CN" dirty="0"/>
              <a:t>The immune system has a very large number of B cells and T cells — so much so that they can bind to </a:t>
            </a:r>
            <a:r>
              <a:rPr lang="en-US" altLang="zh-CN" dirty="0">
                <a:solidFill>
                  <a:srgbClr val="000000"/>
                </a:solidFill>
                <a:highlight>
                  <a:srgbClr val="FFFF00"/>
                </a:highlight>
                <a:cs typeface="Arial" panose="020B0604020202020204" pitchFamily="34" charset="0"/>
              </a:rPr>
              <a:t>almost every possible antigen</a:t>
            </a:r>
            <a:r>
              <a:rPr lang="en-US" altLang="zh-CN" dirty="0"/>
              <a:t>. 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3525955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Adaptive Defenses Step 1: Recognizing the Invaders 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by 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  <a:ea typeface="+mn-ea"/>
                <a:cs typeface="Arial" panose="020B0604020202020204" pitchFamily="34" charset="0"/>
              </a:rPr>
              <a:t>B Cells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highlight>
                <a:srgbClr val="FFFF00"/>
              </a:highlight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Antigen receptors on B cells specialize in recognizing </a:t>
            </a:r>
            <a:r>
              <a:rPr lang="en-US" altLang="zh-CN" dirty="0">
                <a:solidFill>
                  <a:srgbClr val="000000"/>
                </a:solidFill>
                <a:highlight>
                  <a:srgbClr val="FFFF00"/>
                </a:highlight>
                <a:cs typeface="Arial" panose="020B0604020202020204" pitchFamily="34" charset="0"/>
              </a:rPr>
              <a:t>intact antigens </a:t>
            </a:r>
            <a:r>
              <a:rPr lang="en-US" altLang="zh-CN" dirty="0"/>
              <a:t>that are on the surface of pathogens or circulating freely in body fluids. </a:t>
            </a:r>
          </a:p>
          <a:p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2701969" y="2882900"/>
            <a:ext cx="6753225" cy="3609975"/>
            <a:chOff x="2719389" y="1879600"/>
            <a:chExt cx="6753225" cy="3609975"/>
          </a:xfrm>
        </p:grpSpPr>
        <p:pic>
          <p:nvPicPr>
            <p:cNvPr id="6" name="Picture 11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2719389" y="2097709"/>
              <a:ext cx="6753225" cy="33918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32790862-F3B3-F241-B236-FD008DD7262B}"/>
                </a:ext>
              </a:extLst>
            </p:cNvPr>
            <p:cNvSpPr/>
            <p:nvPr/>
          </p:nvSpPr>
          <p:spPr>
            <a:xfrm>
              <a:off x="5219700" y="2574925"/>
              <a:ext cx="2095500" cy="914400"/>
            </a:xfrm>
            <a:custGeom>
              <a:avLst/>
              <a:gdLst>
                <a:gd name="connsiteX0" fmla="*/ 0 w 2095500"/>
                <a:gd name="connsiteY0" fmla="*/ 914400 h 914400"/>
                <a:gd name="connsiteX1" fmla="*/ 1363980 w 2095500"/>
                <a:gd name="connsiteY1" fmla="*/ 0 h 914400"/>
                <a:gd name="connsiteX2" fmla="*/ 2095500 w 2095500"/>
                <a:gd name="connsiteY2" fmla="*/ 868680 h 91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95500" h="914400">
                  <a:moveTo>
                    <a:pt x="0" y="914400"/>
                  </a:moveTo>
                  <a:lnTo>
                    <a:pt x="1363980" y="0"/>
                  </a:lnTo>
                  <a:lnTo>
                    <a:pt x="2095500" y="86868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headEnd type="triangl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black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A7B5F41D-6B79-0E49-B978-F9F1757E28C2}"/>
                </a:ext>
              </a:extLst>
            </p:cNvPr>
            <p:cNvSpPr/>
            <p:nvPr/>
          </p:nvSpPr>
          <p:spPr>
            <a:xfrm>
              <a:off x="8488364" y="2811463"/>
              <a:ext cx="434975" cy="571500"/>
            </a:xfrm>
            <a:custGeom>
              <a:avLst/>
              <a:gdLst>
                <a:gd name="connsiteX0" fmla="*/ 0 w 434340"/>
                <a:gd name="connsiteY0" fmla="*/ 0 h 571500"/>
                <a:gd name="connsiteX1" fmla="*/ 152400 w 434340"/>
                <a:gd name="connsiteY1" fmla="*/ 571500 h 571500"/>
                <a:gd name="connsiteX2" fmla="*/ 434340 w 434340"/>
                <a:gd name="connsiteY2" fmla="*/ 190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4340" h="571500">
                  <a:moveTo>
                    <a:pt x="0" y="0"/>
                  </a:moveTo>
                  <a:lnTo>
                    <a:pt x="152400" y="571500"/>
                  </a:lnTo>
                  <a:lnTo>
                    <a:pt x="434340" y="19050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headEnd type="triangl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black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7F62B0CC-3A87-9447-9944-D7922438C4B4}"/>
                </a:ext>
              </a:extLst>
            </p:cNvPr>
            <p:cNvSpPr/>
            <p:nvPr/>
          </p:nvSpPr>
          <p:spPr>
            <a:xfrm>
              <a:off x="5338763" y="4308476"/>
              <a:ext cx="950912" cy="811213"/>
            </a:xfrm>
            <a:custGeom>
              <a:avLst/>
              <a:gdLst>
                <a:gd name="connsiteX0" fmla="*/ 0 w 960120"/>
                <a:gd name="connsiteY0" fmla="*/ 0 h 777240"/>
                <a:gd name="connsiteX1" fmla="*/ 563880 w 960120"/>
                <a:gd name="connsiteY1" fmla="*/ 777240 h 777240"/>
                <a:gd name="connsiteX2" fmla="*/ 960120 w 960120"/>
                <a:gd name="connsiteY2" fmla="*/ 114300 h 777240"/>
                <a:gd name="connsiteX0" fmla="*/ 0 w 950595"/>
                <a:gd name="connsiteY0" fmla="*/ 0 h 810578"/>
                <a:gd name="connsiteX1" fmla="*/ 554355 w 950595"/>
                <a:gd name="connsiteY1" fmla="*/ 810578 h 810578"/>
                <a:gd name="connsiteX2" fmla="*/ 950595 w 950595"/>
                <a:gd name="connsiteY2" fmla="*/ 147638 h 810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0595" h="810578">
                  <a:moveTo>
                    <a:pt x="0" y="0"/>
                  </a:moveTo>
                  <a:lnTo>
                    <a:pt x="554355" y="810578"/>
                  </a:lnTo>
                  <a:lnTo>
                    <a:pt x="950595" y="147638"/>
                  </a:lnTo>
                </a:path>
              </a:pathLst>
            </a:custGeom>
            <a:noFill/>
            <a:ln w="12700">
              <a:solidFill>
                <a:schemeClr val="tx1"/>
              </a:solidFill>
              <a:headEnd type="triangl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black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5AD30D9-7B30-0645-9EDB-93DAEC764C15}"/>
                </a:ext>
              </a:extLst>
            </p:cNvPr>
            <p:cNvSpPr/>
            <p:nvPr/>
          </p:nvSpPr>
          <p:spPr>
            <a:xfrm>
              <a:off x="4159250" y="2343150"/>
              <a:ext cx="0" cy="558800"/>
            </a:xfrm>
            <a:custGeom>
              <a:avLst/>
              <a:gdLst>
                <a:gd name="connsiteX0" fmla="*/ 0 w 0"/>
                <a:gd name="connsiteY0" fmla="*/ 0 h 558800"/>
                <a:gd name="connsiteX1" fmla="*/ 0 w 0"/>
                <a:gd name="connsiteY1" fmla="*/ 558800 h 55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558800">
                  <a:moveTo>
                    <a:pt x="0" y="0"/>
                  </a:moveTo>
                  <a:lnTo>
                    <a:pt x="0" y="55880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headEnd type="non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black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CA3467B5-DFC6-F54E-B70C-8B1F794726E2}"/>
                </a:ext>
              </a:extLst>
            </p:cNvPr>
            <p:cNvSpPr/>
            <p:nvPr/>
          </p:nvSpPr>
          <p:spPr>
            <a:xfrm>
              <a:off x="3327400" y="2946400"/>
              <a:ext cx="501650" cy="647700"/>
            </a:xfrm>
            <a:custGeom>
              <a:avLst/>
              <a:gdLst>
                <a:gd name="connsiteX0" fmla="*/ 495300 w 501650"/>
                <a:gd name="connsiteY0" fmla="*/ 0 h 647700"/>
                <a:gd name="connsiteX1" fmla="*/ 0 w 501650"/>
                <a:gd name="connsiteY1" fmla="*/ 647700 h 647700"/>
                <a:gd name="connsiteX2" fmla="*/ 501650 w 501650"/>
                <a:gd name="connsiteY2" fmla="*/ 27305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01650" h="647700">
                  <a:moveTo>
                    <a:pt x="495300" y="0"/>
                  </a:moveTo>
                  <a:lnTo>
                    <a:pt x="0" y="647700"/>
                  </a:lnTo>
                  <a:lnTo>
                    <a:pt x="501650" y="27305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headEnd type="triangl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black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81570F6-2F8F-D84D-944F-E5DA642E36C6}"/>
                </a:ext>
              </a:extLst>
            </p:cNvPr>
            <p:cNvSpPr txBox="1"/>
            <p:nvPr/>
          </p:nvSpPr>
          <p:spPr>
            <a:xfrm>
              <a:off x="3506788" y="2000250"/>
              <a:ext cx="1236662" cy="344488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2240" b="1" dirty="0">
                  <a:solidFill>
                    <a:prstClr val="black"/>
                  </a:solidFill>
                  <a:latin typeface="Cambria" panose="02040503050406030204" pitchFamily="18" charset="0"/>
                  <a:cs typeface="Arial" panose="020B0604020202020204" pitchFamily="34" charset="0"/>
                </a:rPr>
                <a:t>Pathogen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2C42BD7-1A0D-9B4F-B271-3E7167367808}"/>
                </a:ext>
              </a:extLst>
            </p:cNvPr>
            <p:cNvSpPr txBox="1"/>
            <p:nvPr/>
          </p:nvSpPr>
          <p:spPr>
            <a:xfrm>
              <a:off x="4713289" y="5075239"/>
              <a:ext cx="2357437" cy="34448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2240" b="1" dirty="0">
                  <a:solidFill>
                    <a:prstClr val="black"/>
                  </a:solidFill>
                  <a:latin typeface="Cambria" panose="02040503050406030204" pitchFamily="18" charset="0"/>
                  <a:cs typeface="Arial" panose="020B0604020202020204" pitchFamily="34" charset="0"/>
                </a:rPr>
                <a:t>Antigen receptors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ACF60FB-9653-754C-ACE9-0D0853243288}"/>
                </a:ext>
              </a:extLst>
            </p:cNvPr>
            <p:cNvSpPr txBox="1"/>
            <p:nvPr/>
          </p:nvSpPr>
          <p:spPr>
            <a:xfrm>
              <a:off x="4341813" y="3919539"/>
              <a:ext cx="711200" cy="346075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2240" b="1" dirty="0">
                  <a:solidFill>
                    <a:prstClr val="black"/>
                  </a:solidFill>
                  <a:latin typeface="Cambria" panose="02040503050406030204" pitchFamily="18" charset="0"/>
                  <a:cs typeface="Arial" panose="020B0604020202020204" pitchFamily="34" charset="0"/>
                </a:rPr>
                <a:t>B cell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DC6366B-D129-164C-B2A3-9E8A38BED33B}"/>
                </a:ext>
              </a:extLst>
            </p:cNvPr>
            <p:cNvSpPr txBox="1"/>
            <p:nvPr/>
          </p:nvSpPr>
          <p:spPr>
            <a:xfrm>
              <a:off x="6567489" y="3913189"/>
              <a:ext cx="712787" cy="34448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2240" b="1" dirty="0">
                  <a:solidFill>
                    <a:prstClr val="black"/>
                  </a:solidFill>
                  <a:latin typeface="Cambria" panose="02040503050406030204" pitchFamily="18" charset="0"/>
                  <a:cs typeface="Arial" panose="020B0604020202020204" pitchFamily="34" charset="0"/>
                </a:rPr>
                <a:t>B cell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A02707B-038A-9B45-B6CE-BDDA4ED3638A}"/>
                </a:ext>
              </a:extLst>
            </p:cNvPr>
            <p:cNvSpPr txBox="1"/>
            <p:nvPr/>
          </p:nvSpPr>
          <p:spPr>
            <a:xfrm>
              <a:off x="5226050" y="1879600"/>
              <a:ext cx="3462338" cy="666750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ts val="2600"/>
                </a:lnSpc>
                <a:defRPr/>
              </a:pPr>
              <a:r>
                <a:rPr lang="en-US" sz="2240" b="1" dirty="0">
                  <a:solidFill>
                    <a:prstClr val="black"/>
                  </a:solidFill>
                  <a:latin typeface="Cambria" panose="02040503050406030204" pitchFamily="18" charset="0"/>
                  <a:cs typeface="Arial" panose="020B0604020202020204" pitchFamily="34" charset="0"/>
                </a:rPr>
                <a:t>B cell antigen receptor</a:t>
              </a:r>
            </a:p>
            <a:p>
              <a:pPr>
                <a:lnSpc>
                  <a:spcPts val="2600"/>
                </a:lnSpc>
                <a:defRPr/>
              </a:pPr>
              <a:r>
                <a:rPr lang="en-US" sz="2240" b="1" dirty="0">
                  <a:solidFill>
                    <a:prstClr val="black"/>
                  </a:solidFill>
                  <a:latin typeface="Cambria" panose="02040503050406030204" pitchFamily="18" charset="0"/>
                  <a:cs typeface="Arial" panose="020B0604020202020204" pitchFamily="34" charset="0"/>
                </a:rPr>
                <a:t>binds to a </a:t>
              </a:r>
              <a:r>
                <a:rPr lang="en-US" sz="2240" b="1" dirty="0">
                  <a:solidFill>
                    <a:prstClr val="black"/>
                  </a:solidFill>
                  <a:highlight>
                    <a:srgbClr val="FFFF00"/>
                  </a:highlight>
                  <a:latin typeface="Cambria" panose="02040503050406030204" pitchFamily="18" charset="0"/>
                  <a:cs typeface="Arial" panose="020B0604020202020204" pitchFamily="34" charset="0"/>
                </a:rPr>
                <a:t>specific</a:t>
              </a:r>
              <a:r>
                <a:rPr lang="en-US" sz="2240" b="1" dirty="0">
                  <a:solidFill>
                    <a:prstClr val="black"/>
                  </a:solidFill>
                  <a:latin typeface="Cambria" panose="02040503050406030204" pitchFamily="18" charset="0"/>
                  <a:cs typeface="Arial" panose="020B0604020202020204" pitchFamily="34" charset="0"/>
                </a:rPr>
                <a:t> antigen.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F6A285F-DE6E-584A-8542-717D09666ACA}"/>
                </a:ext>
              </a:extLst>
            </p:cNvPr>
            <p:cNvSpPr txBox="1"/>
            <p:nvPr/>
          </p:nvSpPr>
          <p:spPr>
            <a:xfrm>
              <a:off x="7999413" y="3395664"/>
              <a:ext cx="1454150" cy="167798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2240" b="1" dirty="0">
                  <a:solidFill>
                    <a:prstClr val="black"/>
                  </a:solidFill>
                  <a:latin typeface="Cambria" panose="02040503050406030204" pitchFamily="18" charset="0"/>
                  <a:cs typeface="Arial" panose="020B0604020202020204" pitchFamily="34" charset="0"/>
                </a:rPr>
                <a:t>Freely</a:t>
              </a:r>
            </a:p>
            <a:p>
              <a:pPr>
                <a:lnSpc>
                  <a:spcPts val="2600"/>
                </a:lnSpc>
                <a:defRPr/>
              </a:pPr>
              <a:r>
                <a:rPr lang="en-US" sz="2240" b="1" dirty="0">
                  <a:solidFill>
                    <a:prstClr val="black"/>
                  </a:solidFill>
                  <a:latin typeface="Cambria" panose="02040503050406030204" pitchFamily="18" charset="0"/>
                  <a:cs typeface="Arial" panose="020B0604020202020204" pitchFamily="34" charset="0"/>
                </a:rPr>
                <a:t>circulating</a:t>
              </a:r>
            </a:p>
            <a:p>
              <a:pPr>
                <a:lnSpc>
                  <a:spcPts val="2600"/>
                </a:lnSpc>
                <a:defRPr/>
              </a:pPr>
              <a:r>
                <a:rPr lang="en-US" sz="2240" b="1" dirty="0">
                  <a:solidFill>
                    <a:prstClr val="black"/>
                  </a:solidFill>
                  <a:latin typeface="Cambria" panose="02040503050406030204" pitchFamily="18" charset="0"/>
                  <a:cs typeface="Arial" panose="020B0604020202020204" pitchFamily="34" charset="0"/>
                </a:rPr>
                <a:t>antigens</a:t>
              </a:r>
            </a:p>
            <a:p>
              <a:pPr>
                <a:lnSpc>
                  <a:spcPts val="2600"/>
                </a:lnSpc>
                <a:defRPr/>
              </a:pPr>
              <a:r>
                <a:rPr lang="en-US" sz="2240" b="1" dirty="0">
                  <a:solidFill>
                    <a:prstClr val="black"/>
                  </a:solidFill>
                  <a:latin typeface="Cambria" panose="02040503050406030204" pitchFamily="18" charset="0"/>
                  <a:cs typeface="Arial" panose="020B0604020202020204" pitchFamily="34" charset="0"/>
                </a:rPr>
                <a:t>(such as</a:t>
              </a:r>
            </a:p>
            <a:p>
              <a:pPr>
                <a:lnSpc>
                  <a:spcPts val="2600"/>
                </a:lnSpc>
                <a:defRPr/>
              </a:pPr>
              <a:r>
                <a:rPr lang="en-US" sz="2240" b="1" dirty="0">
                  <a:solidFill>
                    <a:prstClr val="black"/>
                  </a:solidFill>
                  <a:latin typeface="Cambria" panose="02040503050406030204" pitchFamily="18" charset="0"/>
                  <a:cs typeface="Arial" panose="020B0604020202020204" pitchFamily="34" charset="0"/>
                </a:rPr>
                <a:t>toxins)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33B45AD-D489-974E-846B-DCEFB7AA14B6}"/>
                </a:ext>
              </a:extLst>
            </p:cNvPr>
            <p:cNvSpPr txBox="1"/>
            <p:nvPr/>
          </p:nvSpPr>
          <p:spPr>
            <a:xfrm>
              <a:off x="2771776" y="3560764"/>
              <a:ext cx="1160463" cy="99853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2240" b="1" dirty="0">
                  <a:solidFill>
                    <a:prstClr val="black"/>
                  </a:solidFill>
                  <a:latin typeface="Cambria" panose="02040503050406030204" pitchFamily="18" charset="0"/>
                  <a:cs typeface="Arial" panose="020B0604020202020204" pitchFamily="34" charset="0"/>
                </a:rPr>
                <a:t>Antigens</a:t>
              </a:r>
            </a:p>
            <a:p>
              <a:pPr>
                <a:lnSpc>
                  <a:spcPts val="2500"/>
                </a:lnSpc>
                <a:defRPr/>
              </a:pPr>
              <a:r>
                <a:rPr lang="en-US" sz="2240" b="1" dirty="0">
                  <a:solidFill>
                    <a:prstClr val="black"/>
                  </a:solidFill>
                  <a:latin typeface="Cambria" panose="02040503050406030204" pitchFamily="18" charset="0"/>
                  <a:cs typeface="Arial" panose="020B0604020202020204" pitchFamily="34" charset="0"/>
                </a:rPr>
                <a:t>on the</a:t>
              </a:r>
            </a:p>
            <a:p>
              <a:pPr>
                <a:lnSpc>
                  <a:spcPts val="2600"/>
                </a:lnSpc>
                <a:defRPr/>
              </a:pPr>
              <a:r>
                <a:rPr lang="en-US" sz="2240" b="1" dirty="0">
                  <a:solidFill>
                    <a:prstClr val="black"/>
                  </a:solidFill>
                  <a:latin typeface="Cambria" panose="02040503050406030204" pitchFamily="18" charset="0"/>
                  <a:cs typeface="Arial" panose="020B0604020202020204" pitchFamily="34" charset="0"/>
                </a:rPr>
                <a:t>surface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839115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Adaptive Defenses Step 1: Recognizing the Invaders by 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  <a:ea typeface="+mn-ea"/>
                <a:cs typeface="Arial" panose="020B0604020202020204" pitchFamily="34" charset="0"/>
              </a:rPr>
              <a:t>T Cells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highlight>
                <a:srgbClr val="FFFF00"/>
              </a:highlight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Antigen receptors on T cells only recognize </a:t>
            </a:r>
            <a:r>
              <a:rPr lang="en-US" altLang="zh-CN" dirty="0">
                <a:solidFill>
                  <a:srgbClr val="000000"/>
                </a:solidFill>
                <a:highlight>
                  <a:srgbClr val="FFFF00"/>
                </a:highlight>
                <a:cs typeface="Arial" panose="020B0604020202020204" pitchFamily="34" charset="0"/>
              </a:rPr>
              <a:t>fragments of antigens</a:t>
            </a:r>
            <a:r>
              <a:rPr lang="en-US" altLang="zh-CN" dirty="0"/>
              <a:t>, and the </a:t>
            </a:r>
            <a:r>
              <a:rPr lang="en-US" altLang="zh-CN" dirty="0">
                <a:solidFill>
                  <a:srgbClr val="000000"/>
                </a:solidFill>
                <a:highlight>
                  <a:srgbClr val="FFFF00"/>
                </a:highlight>
                <a:cs typeface="Arial" panose="020B0604020202020204" pitchFamily="34" charset="0"/>
              </a:rPr>
              <a:t>fragments must be presented on the surface of body cells</a:t>
            </a:r>
            <a:r>
              <a:rPr lang="en-US" altLang="zh-CN" dirty="0"/>
              <a:t> by special proteins before T cells can be activated. </a:t>
            </a:r>
          </a:p>
          <a:p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2878182" y="2541722"/>
            <a:ext cx="6400800" cy="4087676"/>
            <a:chOff x="2895600" y="1603513"/>
            <a:chExt cx="6400800" cy="4087676"/>
          </a:xfrm>
        </p:grpSpPr>
        <p:pic>
          <p:nvPicPr>
            <p:cNvPr id="6" name="Picture 8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2895600" y="1603513"/>
              <a:ext cx="6400800" cy="40876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3E65D09-BB68-9342-BFFB-DE2EA89FCF45}"/>
                </a:ext>
              </a:extLst>
            </p:cNvPr>
            <p:cNvSpPr/>
            <p:nvPr/>
          </p:nvSpPr>
          <p:spPr>
            <a:xfrm>
              <a:off x="3543300" y="2076450"/>
              <a:ext cx="1282700" cy="0"/>
            </a:xfrm>
            <a:custGeom>
              <a:avLst/>
              <a:gdLst>
                <a:gd name="connsiteX0" fmla="*/ 0 w 1282700"/>
                <a:gd name="connsiteY0" fmla="*/ 0 h 0"/>
                <a:gd name="connsiteX1" fmla="*/ 1282700 w 1282700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82700">
                  <a:moveTo>
                    <a:pt x="0" y="0"/>
                  </a:moveTo>
                  <a:lnTo>
                    <a:pt x="128270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black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8D2B0167-FEE3-7A40-86D5-A02268D47B83}"/>
                </a:ext>
              </a:extLst>
            </p:cNvPr>
            <p:cNvSpPr/>
            <p:nvPr/>
          </p:nvSpPr>
          <p:spPr>
            <a:xfrm>
              <a:off x="4254500" y="2863850"/>
              <a:ext cx="431800" cy="0"/>
            </a:xfrm>
            <a:custGeom>
              <a:avLst/>
              <a:gdLst>
                <a:gd name="connsiteX0" fmla="*/ 0 w 431800"/>
                <a:gd name="connsiteY0" fmla="*/ 0 h 0"/>
                <a:gd name="connsiteX1" fmla="*/ 431800 w 431800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31800">
                  <a:moveTo>
                    <a:pt x="0" y="0"/>
                  </a:moveTo>
                  <a:lnTo>
                    <a:pt x="43180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black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E85BF6A9-88D0-1644-A205-CF5E38C1BE62}"/>
                </a:ext>
              </a:extLst>
            </p:cNvPr>
            <p:cNvSpPr/>
            <p:nvPr/>
          </p:nvSpPr>
          <p:spPr>
            <a:xfrm>
              <a:off x="6711950" y="2101850"/>
              <a:ext cx="431800" cy="488950"/>
            </a:xfrm>
            <a:custGeom>
              <a:avLst/>
              <a:gdLst>
                <a:gd name="connsiteX0" fmla="*/ 431800 w 431800"/>
                <a:gd name="connsiteY0" fmla="*/ 0 h 488950"/>
                <a:gd name="connsiteX1" fmla="*/ 0 w 431800"/>
                <a:gd name="connsiteY1" fmla="*/ 488950 h 488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31800" h="488950">
                  <a:moveTo>
                    <a:pt x="431800" y="0"/>
                  </a:moveTo>
                  <a:lnTo>
                    <a:pt x="0" y="48895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black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7EF86F8A-FCBA-F846-A3E1-601E0D39194F}"/>
                </a:ext>
              </a:extLst>
            </p:cNvPr>
            <p:cNvSpPr/>
            <p:nvPr/>
          </p:nvSpPr>
          <p:spPr>
            <a:xfrm>
              <a:off x="6089650" y="3917950"/>
              <a:ext cx="488950" cy="520700"/>
            </a:xfrm>
            <a:custGeom>
              <a:avLst/>
              <a:gdLst>
                <a:gd name="connsiteX0" fmla="*/ 0 w 488950"/>
                <a:gd name="connsiteY0" fmla="*/ 520700 h 520700"/>
                <a:gd name="connsiteX1" fmla="*/ 488950 w 488950"/>
                <a:gd name="connsiteY1" fmla="*/ 0 h 520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88950" h="520700">
                  <a:moveTo>
                    <a:pt x="0" y="520700"/>
                  </a:moveTo>
                  <a:lnTo>
                    <a:pt x="48895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black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F6108C61-3DBA-7E45-BFD9-6A434EBC437C}"/>
                </a:ext>
              </a:extLst>
            </p:cNvPr>
            <p:cNvSpPr/>
            <p:nvPr/>
          </p:nvSpPr>
          <p:spPr>
            <a:xfrm>
              <a:off x="6708776" y="4743451"/>
              <a:ext cx="1184275" cy="333375"/>
            </a:xfrm>
            <a:custGeom>
              <a:avLst/>
              <a:gdLst>
                <a:gd name="connsiteX0" fmla="*/ 971550 w 1200150"/>
                <a:gd name="connsiteY0" fmla="*/ 0 h 317500"/>
                <a:gd name="connsiteX1" fmla="*/ 1200150 w 1200150"/>
                <a:gd name="connsiteY1" fmla="*/ 317500 h 317500"/>
                <a:gd name="connsiteX2" fmla="*/ 0 w 1200150"/>
                <a:gd name="connsiteY2" fmla="*/ 107950 h 317500"/>
                <a:gd name="connsiteX0" fmla="*/ 977900 w 1206500"/>
                <a:gd name="connsiteY0" fmla="*/ 0 h 317500"/>
                <a:gd name="connsiteX1" fmla="*/ 1206500 w 1206500"/>
                <a:gd name="connsiteY1" fmla="*/ 317500 h 317500"/>
                <a:gd name="connsiteX2" fmla="*/ 0 w 1206500"/>
                <a:gd name="connsiteY2" fmla="*/ 117475 h 317500"/>
                <a:gd name="connsiteX0" fmla="*/ 977900 w 1206500"/>
                <a:gd name="connsiteY0" fmla="*/ 0 h 333375"/>
                <a:gd name="connsiteX1" fmla="*/ 1206500 w 1206500"/>
                <a:gd name="connsiteY1" fmla="*/ 333375 h 333375"/>
                <a:gd name="connsiteX2" fmla="*/ 0 w 1206500"/>
                <a:gd name="connsiteY2" fmla="*/ 117475 h 333375"/>
                <a:gd name="connsiteX0" fmla="*/ 904875 w 1133475"/>
                <a:gd name="connsiteY0" fmla="*/ 0 h 333375"/>
                <a:gd name="connsiteX1" fmla="*/ 1133475 w 1133475"/>
                <a:gd name="connsiteY1" fmla="*/ 333375 h 333375"/>
                <a:gd name="connsiteX2" fmla="*/ 0 w 1133475"/>
                <a:gd name="connsiteY2" fmla="*/ 123825 h 333375"/>
                <a:gd name="connsiteX0" fmla="*/ 955675 w 1184275"/>
                <a:gd name="connsiteY0" fmla="*/ 0 h 333375"/>
                <a:gd name="connsiteX1" fmla="*/ 1184275 w 1184275"/>
                <a:gd name="connsiteY1" fmla="*/ 333375 h 333375"/>
                <a:gd name="connsiteX2" fmla="*/ 0 w 1184275"/>
                <a:gd name="connsiteY2" fmla="*/ 130175 h 333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84275" h="333375">
                  <a:moveTo>
                    <a:pt x="955675" y="0"/>
                  </a:moveTo>
                  <a:lnTo>
                    <a:pt x="1184275" y="333375"/>
                  </a:lnTo>
                  <a:lnTo>
                    <a:pt x="0" y="130175"/>
                  </a:lnTo>
                </a:path>
              </a:pathLst>
            </a:custGeom>
            <a:noFill/>
            <a:ln w="12700">
              <a:solidFill>
                <a:schemeClr val="tx1"/>
              </a:solidFill>
              <a:headEnd type="triangl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black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DC09707-62B2-7947-BBE0-7D7C59028278}"/>
                </a:ext>
              </a:extLst>
            </p:cNvPr>
            <p:cNvSpPr txBox="1"/>
            <p:nvPr/>
          </p:nvSpPr>
          <p:spPr>
            <a:xfrm>
              <a:off x="2933700" y="1901826"/>
              <a:ext cx="973138" cy="688975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2240" b="1" dirty="0">
                  <a:solidFill>
                    <a:prstClr val="black"/>
                  </a:solidFill>
                  <a:latin typeface="Cambria" panose="02040503050406030204" pitchFamily="18" charset="0"/>
                  <a:cs typeface="Arial" panose="020B0604020202020204" pitchFamily="34" charset="0"/>
                </a:rPr>
                <a:t>Self</a:t>
              </a:r>
            </a:p>
            <a:p>
              <a:pPr>
                <a:lnSpc>
                  <a:spcPts val="2600"/>
                </a:lnSpc>
                <a:defRPr/>
              </a:pPr>
              <a:r>
                <a:rPr lang="en-US" sz="2240" b="1" dirty="0">
                  <a:solidFill>
                    <a:prstClr val="black"/>
                  </a:solidFill>
                  <a:latin typeface="Cambria" panose="02040503050406030204" pitchFamily="18" charset="0"/>
                  <a:cs typeface="Arial" panose="020B0604020202020204" pitchFamily="34" charset="0"/>
                </a:rPr>
                <a:t>protein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B8D63D4-683E-7B44-82F5-875CEDC0B382}"/>
                </a:ext>
              </a:extLst>
            </p:cNvPr>
            <p:cNvSpPr txBox="1"/>
            <p:nvPr/>
          </p:nvSpPr>
          <p:spPr>
            <a:xfrm>
              <a:off x="2933701" y="2684464"/>
              <a:ext cx="1236663" cy="346075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2240" b="1" dirty="0">
                  <a:solidFill>
                    <a:prstClr val="black"/>
                  </a:solidFill>
                  <a:latin typeface="Cambria" panose="02040503050406030204" pitchFamily="18" charset="0"/>
                  <a:cs typeface="Arial" panose="020B0604020202020204" pitchFamily="34" charset="0"/>
                </a:rPr>
                <a:t>Pathogen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E0AB591-907D-B947-AB5D-0758B77948B4}"/>
                </a:ext>
              </a:extLst>
            </p:cNvPr>
            <p:cNvSpPr txBox="1"/>
            <p:nvPr/>
          </p:nvSpPr>
          <p:spPr>
            <a:xfrm>
              <a:off x="2984501" y="4294189"/>
              <a:ext cx="3121025" cy="1330325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2240" b="1" dirty="0">
                  <a:solidFill>
                    <a:prstClr val="black"/>
                  </a:solidFill>
                  <a:latin typeface="Cambria" panose="02040503050406030204" pitchFamily="18" charset="0"/>
                  <a:cs typeface="Arial" panose="020B0604020202020204" pitchFamily="34" charset="0"/>
                </a:rPr>
                <a:t>T cell antigen receptor</a:t>
              </a:r>
            </a:p>
            <a:p>
              <a:pPr>
                <a:defRPr/>
              </a:pPr>
              <a:r>
                <a:rPr lang="en-US" sz="2240" b="1" dirty="0">
                  <a:solidFill>
                    <a:prstClr val="black"/>
                  </a:solidFill>
                  <a:latin typeface="Cambria" panose="02040503050406030204" pitchFamily="18" charset="0"/>
                  <a:cs typeface="Arial" panose="020B0604020202020204" pitchFamily="34" charset="0"/>
                </a:rPr>
                <a:t>binds </a:t>
              </a:r>
              <a:r>
                <a:rPr lang="en-US" sz="2240" b="1" dirty="0">
                  <a:solidFill>
                    <a:prstClr val="black"/>
                  </a:solidFill>
                  <a:highlight>
                    <a:srgbClr val="FFFF00"/>
                  </a:highlight>
                  <a:latin typeface="Cambria" panose="02040503050406030204" pitchFamily="18" charset="0"/>
                  <a:cs typeface="Arial" panose="020B0604020202020204" pitchFamily="34" charset="0"/>
                </a:rPr>
                <a:t>to the self protein</a:t>
              </a:r>
            </a:p>
            <a:p>
              <a:pPr>
                <a:lnSpc>
                  <a:spcPts val="2500"/>
                </a:lnSpc>
                <a:defRPr/>
              </a:pPr>
              <a:r>
                <a:rPr lang="en-US" sz="2240" b="1" dirty="0">
                  <a:solidFill>
                    <a:prstClr val="black"/>
                  </a:solidFill>
                  <a:highlight>
                    <a:srgbClr val="FFFF00"/>
                  </a:highlight>
                  <a:latin typeface="Cambria" panose="02040503050406030204" pitchFamily="18" charset="0"/>
                  <a:cs typeface="Arial" panose="020B0604020202020204" pitchFamily="34" charset="0"/>
                </a:rPr>
                <a:t>and a specific antigen</a:t>
              </a:r>
            </a:p>
            <a:p>
              <a:pPr>
                <a:lnSpc>
                  <a:spcPts val="2500"/>
                </a:lnSpc>
                <a:defRPr/>
              </a:pPr>
              <a:r>
                <a:rPr lang="en-US" sz="2240" b="1" dirty="0">
                  <a:solidFill>
                    <a:prstClr val="black"/>
                  </a:solidFill>
                  <a:highlight>
                    <a:srgbClr val="FFFF00"/>
                  </a:highlight>
                  <a:latin typeface="Cambria" panose="02040503050406030204" pitchFamily="18" charset="0"/>
                  <a:cs typeface="Arial" panose="020B0604020202020204" pitchFamily="34" charset="0"/>
                </a:rPr>
                <a:t>fragment. 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F75B364-5320-8443-9977-837E1648487C}"/>
                </a:ext>
              </a:extLst>
            </p:cNvPr>
            <p:cNvSpPr txBox="1"/>
            <p:nvPr/>
          </p:nvSpPr>
          <p:spPr>
            <a:xfrm>
              <a:off x="4908551" y="3567114"/>
              <a:ext cx="1190625" cy="34448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2240" b="1" dirty="0">
                  <a:solidFill>
                    <a:prstClr val="black"/>
                  </a:solidFill>
                  <a:latin typeface="Cambria" panose="02040503050406030204" pitchFamily="18" charset="0"/>
                  <a:cs typeface="Arial" panose="020B0604020202020204" pitchFamily="34" charset="0"/>
                </a:rPr>
                <a:t>Body cell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66363A9-BFD8-5D49-A216-290BA77D59A6}"/>
                </a:ext>
              </a:extLst>
            </p:cNvPr>
            <p:cNvSpPr txBox="1"/>
            <p:nvPr/>
          </p:nvSpPr>
          <p:spPr>
            <a:xfrm>
              <a:off x="6737351" y="4049714"/>
              <a:ext cx="735013" cy="34448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2240" b="1" dirty="0">
                  <a:solidFill>
                    <a:prstClr val="black"/>
                  </a:solidFill>
                  <a:latin typeface="Cambria" panose="02040503050406030204" pitchFamily="18" charset="0"/>
                  <a:cs typeface="Arial" panose="020B0604020202020204" pitchFamily="34" charset="0"/>
                </a:rPr>
                <a:t>T cell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5606B2C-405C-3F4F-AAB7-67C2E067B9B7}"/>
                </a:ext>
              </a:extLst>
            </p:cNvPr>
            <p:cNvSpPr txBox="1"/>
            <p:nvPr/>
          </p:nvSpPr>
          <p:spPr>
            <a:xfrm>
              <a:off x="7962901" y="4919663"/>
              <a:ext cx="1311275" cy="69056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2240" b="1" dirty="0">
                  <a:solidFill>
                    <a:prstClr val="black"/>
                  </a:solidFill>
                  <a:latin typeface="Cambria" panose="02040503050406030204" pitchFamily="18" charset="0"/>
                  <a:cs typeface="Arial" panose="020B0604020202020204" pitchFamily="34" charset="0"/>
                </a:rPr>
                <a:t>Antigen</a:t>
              </a:r>
            </a:p>
            <a:p>
              <a:pPr>
                <a:defRPr/>
              </a:pPr>
              <a:r>
                <a:rPr lang="en-US" sz="2240" b="1" dirty="0">
                  <a:solidFill>
                    <a:prstClr val="black"/>
                  </a:solidFill>
                  <a:latin typeface="Cambria" panose="02040503050406030204" pitchFamily="18" charset="0"/>
                  <a:cs typeface="Arial" panose="020B0604020202020204" pitchFamily="34" charset="0"/>
                </a:rPr>
                <a:t>receptors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9D76842-EB07-2E41-AFFE-1A713DF0CE6C}"/>
                </a:ext>
              </a:extLst>
            </p:cNvPr>
            <p:cNvSpPr txBox="1"/>
            <p:nvPr/>
          </p:nvSpPr>
          <p:spPr>
            <a:xfrm>
              <a:off x="7191376" y="1819276"/>
              <a:ext cx="2073275" cy="1306513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2240" b="1" dirty="0">
                  <a:solidFill>
                    <a:prstClr val="black"/>
                  </a:solidFill>
                  <a:highlight>
                    <a:srgbClr val="FFFF00"/>
                  </a:highlight>
                  <a:latin typeface="Cambria" panose="02040503050406030204" pitchFamily="18" charset="0"/>
                  <a:cs typeface="Arial" panose="020B0604020202020204" pitchFamily="34" charset="0"/>
                </a:rPr>
                <a:t>Self protein</a:t>
              </a:r>
            </a:p>
            <a:p>
              <a:pPr>
                <a:lnSpc>
                  <a:spcPts val="2500"/>
                </a:lnSpc>
                <a:defRPr/>
              </a:pPr>
              <a:r>
                <a:rPr lang="en-US" sz="2240" b="1" dirty="0">
                  <a:solidFill>
                    <a:prstClr val="black"/>
                  </a:solidFill>
                  <a:highlight>
                    <a:srgbClr val="FFFF00"/>
                  </a:highlight>
                  <a:latin typeface="Cambria" panose="02040503050406030204" pitchFamily="18" charset="0"/>
                  <a:cs typeface="Arial" panose="020B0604020202020204" pitchFamily="34" charset="0"/>
                </a:rPr>
                <a:t>displaying</a:t>
              </a:r>
              <a:r>
                <a:rPr lang="en-US" sz="2240" b="1" dirty="0">
                  <a:solidFill>
                    <a:prstClr val="black"/>
                  </a:solidFill>
                  <a:latin typeface="Cambria" panose="02040503050406030204" pitchFamily="18" charset="0"/>
                  <a:cs typeface="Arial" panose="020B0604020202020204" pitchFamily="34" charset="0"/>
                </a:rPr>
                <a:t> a</a:t>
              </a:r>
            </a:p>
            <a:p>
              <a:pPr>
                <a:lnSpc>
                  <a:spcPts val="2500"/>
                </a:lnSpc>
                <a:defRPr/>
              </a:pPr>
              <a:r>
                <a:rPr lang="en-US" sz="2240" b="1" dirty="0">
                  <a:solidFill>
                    <a:prstClr val="black"/>
                  </a:solidFill>
                  <a:latin typeface="Cambria" panose="02040503050406030204" pitchFamily="18" charset="0"/>
                  <a:cs typeface="Arial" panose="020B0604020202020204" pitchFamily="34" charset="0"/>
                </a:rPr>
                <a:t>foreign antigen</a:t>
              </a:r>
            </a:p>
            <a:p>
              <a:pPr>
                <a:lnSpc>
                  <a:spcPts val="2500"/>
                </a:lnSpc>
                <a:defRPr/>
              </a:pPr>
              <a:r>
                <a:rPr lang="en-US" sz="2240" b="1" dirty="0">
                  <a:solidFill>
                    <a:prstClr val="black"/>
                  </a:solidFill>
                  <a:latin typeface="Cambria" panose="02040503050406030204" pitchFamily="18" charset="0"/>
                  <a:cs typeface="Arial" panose="020B0604020202020204" pitchFamily="34" charset="0"/>
                </a:rPr>
                <a:t>fragment</a:t>
              </a:r>
            </a:p>
          </p:txBody>
        </p:sp>
      </p:grpSp>
      <p:sp>
        <p:nvSpPr>
          <p:cNvPr id="19" name="Rectangle 18"/>
          <p:cNvSpPr/>
          <p:nvPr/>
        </p:nvSpPr>
        <p:spPr>
          <a:xfrm>
            <a:off x="945321" y="4851142"/>
            <a:ext cx="34499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Three-part interaction </a:t>
            </a:r>
          </a:p>
        </p:txBody>
      </p:sp>
    </p:spTree>
    <p:extLst>
      <p:ext uri="{BB962C8B-B14F-4D97-AF65-F5344CB8AC3E}">
        <p14:creationId xmlns:p14="http://schemas.microsoft.com/office/powerpoint/2010/main" val="3935700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Adaptive Defenses Step 2: Clonal Selection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>
          <a:xfrm>
            <a:off x="1862217" y="852646"/>
            <a:ext cx="8490109" cy="6005354"/>
            <a:chOff x="1639386" y="268289"/>
            <a:chExt cx="8936957" cy="6321425"/>
          </a:xfrm>
        </p:grpSpPr>
        <p:pic>
          <p:nvPicPr>
            <p:cNvPr id="7" name="Picture 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5850" y="268289"/>
              <a:ext cx="7480300" cy="6321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TextBox 3"/>
            <p:cNvSpPr txBox="1">
              <a:spLocks noChangeArrowheads="1"/>
            </p:cNvSpPr>
            <p:nvPr/>
          </p:nvSpPr>
          <p:spPr bwMode="auto">
            <a:xfrm>
              <a:off x="2786064" y="376238"/>
              <a:ext cx="1744067" cy="7899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800" b="1">
                  <a:solidFill>
                    <a:srgbClr val="000000"/>
                  </a:solidFill>
                </a:rPr>
                <a:t>Antigens on the</a:t>
              </a:r>
            </a:p>
            <a:p>
              <a:pPr fontAlgn="base">
                <a:lnSpc>
                  <a:spcPts val="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800" b="1">
                  <a:solidFill>
                    <a:srgbClr val="000000"/>
                  </a:solidFill>
                </a:rPr>
                <a:t>surface of a </a:t>
              </a:r>
            </a:p>
            <a:p>
              <a:pPr fontAlgn="base">
                <a:lnSpc>
                  <a:spcPts val="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800" b="1">
                  <a:solidFill>
                    <a:srgbClr val="000000"/>
                  </a:solidFill>
                </a:rPr>
                <a:t>pathogen</a:t>
              </a:r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177AED5E-064C-1D40-98C7-1BD8B0692A30}"/>
                </a:ext>
              </a:extLst>
            </p:cNvPr>
            <p:cNvSpPr/>
            <p:nvPr/>
          </p:nvSpPr>
          <p:spPr>
            <a:xfrm>
              <a:off x="4557713" y="508001"/>
              <a:ext cx="552450" cy="144463"/>
            </a:xfrm>
            <a:custGeom>
              <a:avLst/>
              <a:gdLst>
                <a:gd name="connsiteX0" fmla="*/ 514350 w 552450"/>
                <a:gd name="connsiteY0" fmla="*/ 14288 h 147638"/>
                <a:gd name="connsiteX1" fmla="*/ 0 w 552450"/>
                <a:gd name="connsiteY1" fmla="*/ 0 h 147638"/>
                <a:gd name="connsiteX2" fmla="*/ 552450 w 552450"/>
                <a:gd name="connsiteY2" fmla="*/ 147638 h 147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52450" h="147638">
                  <a:moveTo>
                    <a:pt x="514350" y="14288"/>
                  </a:moveTo>
                  <a:lnTo>
                    <a:pt x="0" y="0"/>
                  </a:lnTo>
                  <a:lnTo>
                    <a:pt x="552450" y="147638"/>
                  </a:lnTo>
                </a:path>
              </a:pathLst>
            </a:custGeom>
            <a:noFill/>
            <a:ln w="12700">
              <a:solidFill>
                <a:schemeClr val="tx1"/>
              </a:solidFill>
              <a:headEnd type="triangl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black"/>
                </a:solidFill>
                <a:latin typeface="Calibri"/>
              </a:endParaRPr>
            </a:p>
          </p:txBody>
        </p:sp>
        <p:grpSp>
          <p:nvGrpSpPr>
            <p:cNvPr id="10" name="Group 5"/>
            <p:cNvGrpSpPr>
              <a:grpSpLocks/>
            </p:cNvGrpSpPr>
            <p:nvPr/>
          </p:nvGrpSpPr>
          <p:grpSpPr bwMode="auto">
            <a:xfrm>
              <a:off x="4929188" y="1049339"/>
              <a:ext cx="309562" cy="1119187"/>
              <a:chOff x="3405188" y="1000125"/>
              <a:chExt cx="309562" cy="1143000"/>
            </a:xfrm>
          </p:grpSpPr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0BE98F16-B148-0748-9413-210F7CEECD1F}"/>
                  </a:ext>
                </a:extLst>
              </p:cNvPr>
              <p:cNvSpPr/>
              <p:nvPr/>
            </p:nvSpPr>
            <p:spPr>
              <a:xfrm>
                <a:off x="3552825" y="1000125"/>
                <a:ext cx="161925" cy="1143000"/>
              </a:xfrm>
              <a:custGeom>
                <a:avLst/>
                <a:gdLst>
                  <a:gd name="connsiteX0" fmla="*/ 152400 w 161925"/>
                  <a:gd name="connsiteY0" fmla="*/ 4763 h 1143000"/>
                  <a:gd name="connsiteX1" fmla="*/ 0 w 161925"/>
                  <a:gd name="connsiteY1" fmla="*/ 0 h 1143000"/>
                  <a:gd name="connsiteX2" fmla="*/ 9525 w 161925"/>
                  <a:gd name="connsiteY2" fmla="*/ 1143000 h 1143000"/>
                  <a:gd name="connsiteX3" fmla="*/ 161925 w 161925"/>
                  <a:gd name="connsiteY3" fmla="*/ 1143000 h 1143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1925" h="1143000">
                    <a:moveTo>
                      <a:pt x="152400" y="4763"/>
                    </a:moveTo>
                    <a:lnTo>
                      <a:pt x="0" y="0"/>
                    </a:lnTo>
                    <a:lnTo>
                      <a:pt x="9525" y="1143000"/>
                    </a:lnTo>
                    <a:lnTo>
                      <a:pt x="161925" y="114300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2E770B25-8AC0-7542-B5CD-B2FF2EEA084C}"/>
                  </a:ext>
                </a:extLst>
              </p:cNvPr>
              <p:cNvSpPr/>
              <p:nvPr/>
            </p:nvSpPr>
            <p:spPr>
              <a:xfrm>
                <a:off x="3405188" y="1580542"/>
                <a:ext cx="157162" cy="0"/>
              </a:xfrm>
              <a:custGeom>
                <a:avLst/>
                <a:gdLst>
                  <a:gd name="connsiteX0" fmla="*/ 0 w 157162"/>
                  <a:gd name="connsiteY0" fmla="*/ 0 h 0"/>
                  <a:gd name="connsiteX1" fmla="*/ 157162 w 157162"/>
                  <a:gd name="connsiteY1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57162">
                    <a:moveTo>
                      <a:pt x="0" y="0"/>
                    </a:moveTo>
                    <a:lnTo>
                      <a:pt x="157162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sp>
          <p:nvSpPr>
            <p:cNvPr id="11" name="TextBox 9"/>
            <p:cNvSpPr txBox="1">
              <a:spLocks noChangeArrowheads="1"/>
            </p:cNvSpPr>
            <p:nvPr/>
          </p:nvSpPr>
          <p:spPr bwMode="auto">
            <a:xfrm>
              <a:off x="6525419" y="2117612"/>
              <a:ext cx="1846263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800" b="1" dirty="0">
                  <a:solidFill>
                    <a:srgbClr val="000000"/>
                  </a:solidFill>
                </a:rPr>
                <a:t>Antigen receptor</a:t>
              </a:r>
            </a:p>
            <a:p>
              <a:pPr fontAlgn="base">
                <a:lnSpc>
                  <a:spcPts val="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800" b="1" dirty="0">
                  <a:solidFill>
                    <a:srgbClr val="000000"/>
                  </a:solidFill>
                </a:rPr>
                <a:t>on cell surface</a:t>
              </a: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38FDC856-1831-EE42-9721-EA866AB18AB3}"/>
                </a:ext>
              </a:extLst>
            </p:cNvPr>
            <p:cNvSpPr/>
            <p:nvPr/>
          </p:nvSpPr>
          <p:spPr>
            <a:xfrm>
              <a:off x="6194426" y="2087564"/>
              <a:ext cx="257175" cy="295275"/>
            </a:xfrm>
            <a:custGeom>
              <a:avLst/>
              <a:gdLst>
                <a:gd name="connsiteX0" fmla="*/ 0 w 257175"/>
                <a:gd name="connsiteY0" fmla="*/ 0 h 301625"/>
                <a:gd name="connsiteX1" fmla="*/ 257175 w 257175"/>
                <a:gd name="connsiteY1" fmla="*/ 301625 h 301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7175" h="301625">
                  <a:moveTo>
                    <a:pt x="0" y="0"/>
                  </a:moveTo>
                  <a:lnTo>
                    <a:pt x="257175" y="301625"/>
                  </a:lnTo>
                </a:path>
              </a:pathLst>
            </a:custGeom>
            <a:noFill/>
            <a:ln w="12700">
              <a:solidFill>
                <a:schemeClr val="tx1"/>
              </a:solidFill>
              <a:headEnd type="triangle" w="med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black"/>
                </a:solidFill>
                <a:latin typeface="Calibri"/>
              </a:endParaRPr>
            </a:p>
          </p:txBody>
        </p:sp>
        <p:grpSp>
          <p:nvGrpSpPr>
            <p:cNvPr id="13" name="Group 11"/>
            <p:cNvGrpSpPr>
              <a:grpSpLocks/>
            </p:cNvGrpSpPr>
            <p:nvPr/>
          </p:nvGrpSpPr>
          <p:grpSpPr bwMode="auto">
            <a:xfrm>
              <a:off x="7124701" y="2924176"/>
              <a:ext cx="360363" cy="354013"/>
              <a:chOff x="4820601" y="300036"/>
              <a:chExt cx="360999" cy="360999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F26FEFC8-53FA-C04B-886A-A06735D814A9}"/>
                  </a:ext>
                </a:extLst>
              </p:cNvPr>
              <p:cNvSpPr/>
              <p:nvPr/>
            </p:nvSpPr>
            <p:spPr>
              <a:xfrm>
                <a:off x="4820601" y="300036"/>
                <a:ext cx="360999" cy="360999"/>
              </a:xfrm>
              <a:prstGeom prst="ellipse">
                <a:avLst/>
              </a:prstGeom>
              <a:solidFill>
                <a:srgbClr val="58595B"/>
              </a:solidFill>
              <a:ln w="1270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180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28" name="TextBox 13"/>
              <p:cNvSpPr txBox="1">
                <a:spLocks noChangeArrowheads="1"/>
              </p:cNvSpPr>
              <p:nvPr/>
            </p:nvSpPr>
            <p:spPr bwMode="auto">
              <a:xfrm>
                <a:off x="4930568" y="315596"/>
                <a:ext cx="142920" cy="3138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2000" b="1">
                    <a:solidFill>
                      <a:srgbClr val="FFFFFF"/>
                    </a:solidFill>
                  </a:rPr>
                  <a:t>2</a:t>
                </a:r>
              </a:p>
            </p:txBody>
          </p:sp>
        </p:grp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60DED16-508F-BA41-BE12-BBB91BAECB29}"/>
                </a:ext>
              </a:extLst>
            </p:cNvPr>
            <p:cNvSpPr/>
            <p:nvPr/>
          </p:nvSpPr>
          <p:spPr>
            <a:xfrm>
              <a:off x="3941763" y="4427539"/>
              <a:ext cx="361950" cy="352425"/>
            </a:xfrm>
            <a:prstGeom prst="ellipse">
              <a:avLst/>
            </a:prstGeom>
            <a:solidFill>
              <a:srgbClr val="58595B"/>
            </a:solidFill>
            <a:ln w="127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 sz="1800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5" name="TextBox 20"/>
            <p:cNvSpPr txBox="1">
              <a:spLocks noChangeArrowheads="1"/>
            </p:cNvSpPr>
            <p:nvPr/>
          </p:nvSpPr>
          <p:spPr bwMode="auto">
            <a:xfrm>
              <a:off x="1639386" y="4319479"/>
              <a:ext cx="2159836" cy="5669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fontAlgn="base">
                <a:lnSpc>
                  <a:spcPts val="21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800" b="1" dirty="0">
                  <a:solidFill>
                    <a:srgbClr val="000000"/>
                  </a:solidFill>
                </a:rPr>
                <a:t>Clone of </a:t>
              </a:r>
              <a:r>
                <a:rPr lang="en-US" altLang="en-US" sz="1800" b="1" dirty="0">
                  <a:solidFill>
                    <a:srgbClr val="FF0000"/>
                  </a:solidFill>
                </a:rPr>
                <a:t>effector</a:t>
              </a:r>
            </a:p>
            <a:p>
              <a:pPr fontAlgn="base">
                <a:lnSpc>
                  <a:spcPts val="21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800" b="1" dirty="0">
                  <a:solidFill>
                    <a:srgbClr val="000000"/>
                  </a:solidFill>
                </a:rPr>
                <a:t>B cells, short-lived</a:t>
              </a:r>
            </a:p>
          </p:txBody>
        </p:sp>
        <p:sp>
          <p:nvSpPr>
            <p:cNvPr id="16" name="TextBox 21"/>
            <p:cNvSpPr txBox="1">
              <a:spLocks noChangeArrowheads="1"/>
            </p:cNvSpPr>
            <p:nvPr/>
          </p:nvSpPr>
          <p:spPr bwMode="auto">
            <a:xfrm>
              <a:off x="5484813" y="6116638"/>
              <a:ext cx="1192634" cy="269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fontAlgn="base">
                <a:lnSpc>
                  <a:spcPts val="21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800" b="1">
                  <a:solidFill>
                    <a:srgbClr val="000000"/>
                  </a:solidFill>
                </a:rPr>
                <a:t>Antibodies</a:t>
              </a:r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157668C-429A-104F-8CBD-8D5BEADEBF59}"/>
                </a:ext>
              </a:extLst>
            </p:cNvPr>
            <p:cNvSpPr/>
            <p:nvPr/>
          </p:nvSpPr>
          <p:spPr>
            <a:xfrm>
              <a:off x="4781550" y="6164264"/>
              <a:ext cx="666750" cy="230187"/>
            </a:xfrm>
            <a:custGeom>
              <a:avLst/>
              <a:gdLst>
                <a:gd name="connsiteX0" fmla="*/ 79375 w 666750"/>
                <a:gd name="connsiteY0" fmla="*/ 0 h 234950"/>
                <a:gd name="connsiteX1" fmla="*/ 666750 w 666750"/>
                <a:gd name="connsiteY1" fmla="*/ 79375 h 234950"/>
                <a:gd name="connsiteX2" fmla="*/ 0 w 666750"/>
                <a:gd name="connsiteY2" fmla="*/ 234950 h 234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66750" h="234950">
                  <a:moveTo>
                    <a:pt x="79375" y="0"/>
                  </a:moveTo>
                  <a:lnTo>
                    <a:pt x="666750" y="79375"/>
                  </a:lnTo>
                  <a:lnTo>
                    <a:pt x="0" y="23495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headEnd type="triangl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black"/>
                </a:solidFill>
                <a:latin typeface="Calibri"/>
              </a:endParaRPr>
            </a:p>
          </p:txBody>
        </p:sp>
        <p:grpSp>
          <p:nvGrpSpPr>
            <p:cNvPr id="18" name="Group 23"/>
            <p:cNvGrpSpPr>
              <a:grpSpLocks/>
            </p:cNvGrpSpPr>
            <p:nvPr/>
          </p:nvGrpSpPr>
          <p:grpSpPr bwMode="auto">
            <a:xfrm>
              <a:off x="7771607" y="4425952"/>
              <a:ext cx="360362" cy="354013"/>
              <a:chOff x="5190347" y="507247"/>
              <a:chExt cx="360999" cy="360999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6D144D4F-0612-2745-809E-A3D2D6B66BEA}"/>
                  </a:ext>
                </a:extLst>
              </p:cNvPr>
              <p:cNvSpPr/>
              <p:nvPr/>
            </p:nvSpPr>
            <p:spPr>
              <a:xfrm>
                <a:off x="5190347" y="507247"/>
                <a:ext cx="360999" cy="360999"/>
              </a:xfrm>
              <a:prstGeom prst="ellipse">
                <a:avLst/>
              </a:prstGeom>
              <a:solidFill>
                <a:srgbClr val="58595B"/>
              </a:solidFill>
              <a:ln w="1270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180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26" name="TextBox 25"/>
              <p:cNvSpPr txBox="1">
                <a:spLocks noChangeArrowheads="1"/>
              </p:cNvSpPr>
              <p:nvPr/>
            </p:nvSpPr>
            <p:spPr bwMode="auto">
              <a:xfrm>
                <a:off x="5299387" y="519431"/>
                <a:ext cx="142921" cy="3138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2000" b="1" dirty="0">
                    <a:solidFill>
                      <a:srgbClr val="FFFFFF"/>
                    </a:solidFill>
                  </a:rPr>
                  <a:t>4</a:t>
                </a:r>
              </a:p>
            </p:txBody>
          </p:sp>
        </p:grpSp>
        <p:sp>
          <p:nvSpPr>
            <p:cNvPr id="19" name="TextBox 27"/>
            <p:cNvSpPr txBox="1">
              <a:spLocks noChangeArrowheads="1"/>
            </p:cNvSpPr>
            <p:nvPr/>
          </p:nvSpPr>
          <p:spPr bwMode="auto">
            <a:xfrm>
              <a:off x="8328529" y="4388019"/>
              <a:ext cx="2247814" cy="5399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fontAlgn="base">
                <a:lnSpc>
                  <a:spcPts val="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800" b="1" dirty="0">
                  <a:solidFill>
                    <a:srgbClr val="000000"/>
                  </a:solidFill>
                </a:rPr>
                <a:t>Clone of </a:t>
              </a:r>
              <a:r>
                <a:rPr lang="en-US" altLang="en-US" sz="1800" b="1" dirty="0">
                  <a:solidFill>
                    <a:srgbClr val="FF0000"/>
                  </a:solidFill>
                </a:rPr>
                <a:t>memory</a:t>
              </a:r>
            </a:p>
            <a:p>
              <a:pPr fontAlgn="base">
                <a:lnSpc>
                  <a:spcPts val="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800" b="1" dirty="0">
                  <a:solidFill>
                    <a:srgbClr val="000000"/>
                  </a:solidFill>
                </a:rPr>
                <a:t>B cells, long-lived</a:t>
              </a:r>
            </a:p>
          </p:txBody>
        </p:sp>
        <p:sp>
          <p:nvSpPr>
            <p:cNvPr id="20" name="TextBox 28"/>
            <p:cNvSpPr txBox="1">
              <a:spLocks noChangeArrowheads="1"/>
            </p:cNvSpPr>
            <p:nvPr/>
          </p:nvSpPr>
          <p:spPr bwMode="auto">
            <a:xfrm>
              <a:off x="3624263" y="1458913"/>
              <a:ext cx="1231106" cy="1046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800" b="1" dirty="0">
                  <a:solidFill>
                    <a:srgbClr val="000000"/>
                  </a:solidFill>
                </a:rPr>
                <a:t>B cells that</a:t>
              </a:r>
            </a:p>
            <a:p>
              <a:pPr fontAlgn="base">
                <a:lnSpc>
                  <a:spcPts val="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800" b="1" dirty="0">
                  <a:solidFill>
                    <a:srgbClr val="000000"/>
                  </a:solidFill>
                </a:rPr>
                <a:t>recognize</a:t>
              </a:r>
            </a:p>
            <a:p>
              <a:pPr fontAlgn="base">
                <a:lnSpc>
                  <a:spcPts val="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800" b="1" dirty="0">
                  <a:solidFill>
                    <a:srgbClr val="000000"/>
                  </a:solidFill>
                </a:rPr>
                <a:t>different</a:t>
              </a:r>
            </a:p>
            <a:p>
              <a:pPr fontAlgn="base">
                <a:lnSpc>
                  <a:spcPts val="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800" b="1" dirty="0">
                  <a:solidFill>
                    <a:srgbClr val="000000"/>
                  </a:solidFill>
                </a:rPr>
                <a:t>antigens</a:t>
              </a:r>
            </a:p>
          </p:txBody>
        </p:sp>
        <p:sp>
          <p:nvSpPr>
            <p:cNvPr id="21" name="TextBox 29"/>
            <p:cNvSpPr txBox="1">
              <a:spLocks noChangeArrowheads="1"/>
            </p:cNvSpPr>
            <p:nvPr/>
          </p:nvSpPr>
          <p:spPr bwMode="auto">
            <a:xfrm>
              <a:off x="4057650" y="4452939"/>
              <a:ext cx="14266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000" b="1">
                  <a:solidFill>
                    <a:srgbClr val="FFFFFF"/>
                  </a:solidFill>
                </a:rPr>
                <a:t>3</a:t>
              </a:r>
            </a:p>
          </p:txBody>
        </p:sp>
        <p:grpSp>
          <p:nvGrpSpPr>
            <p:cNvPr id="22" name="Group 26"/>
            <p:cNvGrpSpPr>
              <a:grpSpLocks/>
            </p:cNvGrpSpPr>
            <p:nvPr/>
          </p:nvGrpSpPr>
          <p:grpSpPr bwMode="auto">
            <a:xfrm>
              <a:off x="6345238" y="361951"/>
              <a:ext cx="360362" cy="354013"/>
              <a:chOff x="4820601" y="300036"/>
              <a:chExt cx="360999" cy="360999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D50EFB0-F5E0-E44B-8D92-C59B2D621231}"/>
                  </a:ext>
                </a:extLst>
              </p:cNvPr>
              <p:cNvSpPr/>
              <p:nvPr/>
            </p:nvSpPr>
            <p:spPr>
              <a:xfrm>
                <a:off x="4820601" y="300036"/>
                <a:ext cx="360999" cy="360999"/>
              </a:xfrm>
              <a:prstGeom prst="ellipse">
                <a:avLst/>
              </a:prstGeom>
              <a:solidFill>
                <a:srgbClr val="58595B"/>
              </a:solidFill>
              <a:ln w="1270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180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24" name="TextBox 31"/>
              <p:cNvSpPr txBox="1">
                <a:spLocks noChangeArrowheads="1"/>
              </p:cNvSpPr>
              <p:nvPr/>
            </p:nvSpPr>
            <p:spPr bwMode="auto">
              <a:xfrm>
                <a:off x="4936918" y="321946"/>
                <a:ext cx="142920" cy="3138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2000" b="1">
                    <a:solidFill>
                      <a:srgbClr val="FFFFFF"/>
                    </a:solidFill>
                  </a:rPr>
                  <a:t>1</a:t>
                </a:r>
              </a:p>
            </p:txBody>
          </p:sp>
        </p:grpSp>
      </p:grpSp>
      <p:sp>
        <p:nvSpPr>
          <p:cNvPr id="31" name="Rectangle 30"/>
          <p:cNvSpPr/>
          <p:nvPr/>
        </p:nvSpPr>
        <p:spPr>
          <a:xfrm>
            <a:off x="7519896" y="3536429"/>
            <a:ext cx="377865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 </a:t>
            </a: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clone of identical cells</a:t>
            </a:r>
          </a:p>
          <a:p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 the same antigen receptors</a:t>
            </a:r>
            <a:endParaRPr lang="zh-CN" altLang="en-US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2049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Adaptive Defenses Step 3: Responding to Invaders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The Helper T Cell Response</a:t>
            </a:r>
          </a:p>
          <a:p>
            <a:r>
              <a:rPr lang="en-US" altLang="zh-CN" dirty="0"/>
              <a:t>The B Cell Response</a:t>
            </a:r>
          </a:p>
          <a:p>
            <a:r>
              <a:rPr lang="en-US" altLang="zh-CN" dirty="0"/>
              <a:t>The Cytotoxic T Cell Response </a:t>
            </a:r>
          </a:p>
          <a:p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pic>
        <p:nvPicPr>
          <p:cNvPr id="1026" name="Picture 2" descr="Types of T cells: cytotoxic T cells + helper T cells + regulatory T cells">
            <a:extLst>
              <a:ext uri="{FF2B5EF4-FFF2-40B4-BE49-F238E27FC236}">
                <a16:creationId xmlns:a16="http://schemas.microsoft.com/office/drawing/2014/main" id="{CB65D4D7-B88A-C55F-62CC-3908522EE8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83178" y="3098993"/>
            <a:ext cx="6834052" cy="3393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472E52-F615-5FAB-517E-D57E0C3ABE58}"/>
              </a:ext>
            </a:extLst>
          </p:cNvPr>
          <p:cNvSpPr txBox="1"/>
          <p:nvPr/>
        </p:nvSpPr>
        <p:spPr>
          <a:xfrm>
            <a:off x="609600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000" dirty="0"/>
              <a:t>https://share.google/XfllSDDCfQshyLkIi </a:t>
            </a:r>
          </a:p>
        </p:txBody>
      </p:sp>
    </p:spTree>
    <p:extLst>
      <p:ext uri="{BB962C8B-B14F-4D97-AF65-F5344CB8AC3E}">
        <p14:creationId xmlns:p14="http://schemas.microsoft.com/office/powerpoint/2010/main" val="40653254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Adaptive Defenses Step 3: </a:t>
            </a:r>
            <a:br>
              <a:rPr lang="en-US" altLang="zh-CN" dirty="0"/>
            </a:br>
            <a:r>
              <a:rPr lang="en-US" altLang="zh-CN" dirty="0"/>
              <a:t>Responding to Invaders by </a:t>
            </a:r>
            <a:r>
              <a:rPr lang="en-US" altLang="zh-CN" dirty="0">
                <a:highlight>
                  <a:srgbClr val="FFFF00"/>
                </a:highlight>
              </a:rPr>
              <a:t>Helper T Cells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1B0AD687-95AA-66F3-3060-183D27555FDE}"/>
              </a:ext>
            </a:extLst>
          </p:cNvPr>
          <p:cNvGrpSpPr/>
          <p:nvPr/>
        </p:nvGrpSpPr>
        <p:grpSpPr>
          <a:xfrm>
            <a:off x="1822450" y="1525973"/>
            <a:ext cx="8547100" cy="4668838"/>
            <a:chOff x="1822450" y="1270000"/>
            <a:chExt cx="8547100" cy="4668838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DE3AE9B-251D-35BA-E828-821C3F501B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22450" y="1270000"/>
              <a:ext cx="8547100" cy="4668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Freeform 2">
              <a:extLst>
                <a:ext uri="{FF2B5EF4-FFF2-40B4-BE49-F238E27FC236}">
                  <a16:creationId xmlns:a16="http://schemas.microsoft.com/office/drawing/2014/main" id="{929271A6-46D7-B3FD-7AE3-567F127D7169}"/>
                </a:ext>
              </a:extLst>
            </p:cNvPr>
            <p:cNvSpPr/>
            <p:nvPr/>
          </p:nvSpPr>
          <p:spPr>
            <a:xfrm>
              <a:off x="3638550" y="2665413"/>
              <a:ext cx="0" cy="812800"/>
            </a:xfrm>
            <a:custGeom>
              <a:avLst/>
              <a:gdLst>
                <a:gd name="connsiteX0" fmla="*/ 0 w 0"/>
                <a:gd name="connsiteY0" fmla="*/ 0 h 812800"/>
                <a:gd name="connsiteX1" fmla="*/ 0 w 0"/>
                <a:gd name="connsiteY1" fmla="*/ 812800 h 81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812800">
                  <a:moveTo>
                    <a:pt x="0" y="0"/>
                  </a:moveTo>
                  <a:lnTo>
                    <a:pt x="0" y="81280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black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B52E5E24-D3CB-7467-7D52-6E4C02DAB168}"/>
                </a:ext>
              </a:extLst>
            </p:cNvPr>
            <p:cNvSpPr/>
            <p:nvPr/>
          </p:nvSpPr>
          <p:spPr>
            <a:xfrm>
              <a:off x="3390900" y="3814763"/>
              <a:ext cx="0" cy="666750"/>
            </a:xfrm>
            <a:custGeom>
              <a:avLst/>
              <a:gdLst>
                <a:gd name="connsiteX0" fmla="*/ 0 w 0"/>
                <a:gd name="connsiteY0" fmla="*/ 0 h 666750"/>
                <a:gd name="connsiteX1" fmla="*/ 0 w 0"/>
                <a:gd name="connsiteY1" fmla="*/ 666750 h 666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headEnd type="triangle" w="med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black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9" name="TextBox 4">
              <a:extLst>
                <a:ext uri="{FF2B5EF4-FFF2-40B4-BE49-F238E27FC236}">
                  <a16:creationId xmlns:a16="http://schemas.microsoft.com/office/drawing/2014/main" id="{DF045EF2-D87D-DB85-E95C-2E08434B55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7389" y="2136776"/>
              <a:ext cx="923925" cy="538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fontAlgn="base">
                <a:lnSpc>
                  <a:spcPts val="21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800" b="1">
                  <a:solidFill>
                    <a:srgbClr val="000000"/>
                  </a:solidFill>
                  <a:latin typeface="Cambria" panose="02040503050406030204" pitchFamily="18" charset="0"/>
                </a:rPr>
                <a:t>T cell</a:t>
              </a:r>
            </a:p>
            <a:p>
              <a:pPr fontAlgn="base">
                <a:lnSpc>
                  <a:spcPts val="21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800" b="1">
                  <a:solidFill>
                    <a:srgbClr val="000000"/>
                  </a:solidFill>
                  <a:latin typeface="Cambria" panose="02040503050406030204" pitchFamily="18" charset="0"/>
                </a:rPr>
                <a:t>receptor</a:t>
              </a:r>
            </a:p>
          </p:txBody>
        </p:sp>
        <p:sp>
          <p:nvSpPr>
            <p:cNvPr id="10" name="TextBox 6">
              <a:extLst>
                <a:ext uri="{FF2B5EF4-FFF2-40B4-BE49-F238E27FC236}">
                  <a16:creationId xmlns:a16="http://schemas.microsoft.com/office/drawing/2014/main" id="{512C879A-AD4F-71CF-63AD-C53E30BCB5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2351" y="2084388"/>
              <a:ext cx="957263" cy="538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fontAlgn="base">
                <a:lnSpc>
                  <a:spcPts val="21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800" b="1">
                  <a:solidFill>
                    <a:srgbClr val="000000"/>
                  </a:solidFill>
                  <a:latin typeface="Cambria" panose="02040503050406030204" pitchFamily="18" charset="0"/>
                </a:rPr>
                <a:t>Clonal</a:t>
              </a:r>
            </a:p>
            <a:p>
              <a:pPr fontAlgn="base">
                <a:lnSpc>
                  <a:spcPts val="21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800" b="1">
                  <a:solidFill>
                    <a:srgbClr val="000000"/>
                  </a:solidFill>
                  <a:latin typeface="Cambria" panose="02040503050406030204" pitchFamily="18" charset="0"/>
                </a:rPr>
                <a:t>selection</a:t>
              </a:r>
            </a:p>
          </p:txBody>
        </p:sp>
        <p:sp>
          <p:nvSpPr>
            <p:cNvPr id="11" name="TextBox 7">
              <a:extLst>
                <a:ext uri="{FF2B5EF4-FFF2-40B4-BE49-F238E27FC236}">
                  <a16:creationId xmlns:a16="http://schemas.microsoft.com/office/drawing/2014/main" id="{905EBA55-628A-127A-991B-687E10B4AB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46900" y="1755776"/>
              <a:ext cx="977900" cy="538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fontAlgn="base">
                <a:lnSpc>
                  <a:spcPts val="21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800" b="1">
                  <a:solidFill>
                    <a:srgbClr val="000000"/>
                  </a:solidFill>
                  <a:latin typeface="Cambria" panose="02040503050406030204" pitchFamily="18" charset="0"/>
                </a:rPr>
                <a:t>Cytotoxic</a:t>
              </a:r>
            </a:p>
            <a:p>
              <a:pPr fontAlgn="base">
                <a:lnSpc>
                  <a:spcPts val="21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800" b="1">
                  <a:solidFill>
                    <a:srgbClr val="000000"/>
                  </a:solidFill>
                  <a:latin typeface="Cambria" panose="02040503050406030204" pitchFamily="18" charset="0"/>
                </a:rPr>
                <a:t>T cell</a:t>
              </a:r>
            </a:p>
          </p:txBody>
        </p:sp>
        <p:sp>
          <p:nvSpPr>
            <p:cNvPr id="12" name="TextBox 8">
              <a:extLst>
                <a:ext uri="{FF2B5EF4-FFF2-40B4-BE49-F238E27FC236}">
                  <a16:creationId xmlns:a16="http://schemas.microsoft.com/office/drawing/2014/main" id="{1C9F2188-AD23-FFD2-EB6A-FFC15BFD24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67400" y="2765425"/>
              <a:ext cx="1358900" cy="808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fontAlgn="base">
                <a:lnSpc>
                  <a:spcPts val="21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b="1" dirty="0">
                  <a:solidFill>
                    <a:srgbClr val="FF0000"/>
                  </a:solidFill>
                  <a:highlight>
                    <a:srgbClr val="FFFF00"/>
                  </a:highlight>
                  <a:latin typeface="Cambria" panose="02040503050406030204" pitchFamily="18" charset="0"/>
                </a:rPr>
                <a:t>Activates</a:t>
              </a:r>
              <a:endParaRPr lang="en-US" altLang="en-US" sz="1800" b="1" dirty="0">
                <a:solidFill>
                  <a:srgbClr val="FF0000"/>
                </a:solidFill>
                <a:highlight>
                  <a:srgbClr val="FFFF00"/>
                </a:highlight>
                <a:latin typeface="Cambria" panose="02040503050406030204" pitchFamily="18" charset="0"/>
              </a:endParaRPr>
            </a:p>
            <a:p>
              <a:pPr fontAlgn="base">
                <a:lnSpc>
                  <a:spcPts val="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800" b="1" dirty="0">
                  <a:solidFill>
                    <a:srgbClr val="000000"/>
                  </a:solidFill>
                  <a:latin typeface="Cambria" panose="02040503050406030204" pitchFamily="18" charset="0"/>
                </a:rPr>
                <a:t>other T cells</a:t>
              </a:r>
            </a:p>
            <a:p>
              <a:pPr fontAlgn="base">
                <a:lnSpc>
                  <a:spcPts val="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800" b="1" dirty="0">
                  <a:solidFill>
                    <a:srgbClr val="000000"/>
                  </a:solidFill>
                  <a:latin typeface="Cambria" panose="02040503050406030204" pitchFamily="18" charset="0"/>
                </a:rPr>
                <a:t>and B cells</a:t>
              </a:r>
            </a:p>
          </p:txBody>
        </p:sp>
        <p:sp>
          <p:nvSpPr>
            <p:cNvPr id="13" name="TextBox 9">
              <a:extLst>
                <a:ext uri="{FF2B5EF4-FFF2-40B4-BE49-F238E27FC236}">
                  <a16:creationId xmlns:a16="http://schemas.microsoft.com/office/drawing/2014/main" id="{BF2D39D3-ABA5-6C6D-97CC-23D6F87C50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15401" y="1717675"/>
              <a:ext cx="1006475" cy="782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fontAlgn="base">
                <a:lnSpc>
                  <a:spcPts val="21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800" b="1">
                  <a:solidFill>
                    <a:srgbClr val="000000"/>
                  </a:solidFill>
                  <a:latin typeface="Cambria" panose="02040503050406030204" pitchFamily="18" charset="0"/>
                </a:rPr>
                <a:t>Attack on</a:t>
              </a:r>
            </a:p>
            <a:p>
              <a:pPr fontAlgn="base">
                <a:lnSpc>
                  <a:spcPts val="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800" b="1">
                  <a:solidFill>
                    <a:srgbClr val="000000"/>
                  </a:solidFill>
                  <a:latin typeface="Cambria" panose="02040503050406030204" pitchFamily="18" charset="0"/>
                </a:rPr>
                <a:t>infected</a:t>
              </a:r>
            </a:p>
            <a:p>
              <a:pPr fontAlgn="base">
                <a:lnSpc>
                  <a:spcPts val="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800" b="1">
                  <a:solidFill>
                    <a:srgbClr val="000000"/>
                  </a:solidFill>
                  <a:latin typeface="Cambria" panose="02040503050406030204" pitchFamily="18" charset="0"/>
                </a:rPr>
                <a:t>cells</a:t>
              </a:r>
            </a:p>
          </p:txBody>
        </p:sp>
        <p:sp>
          <p:nvSpPr>
            <p:cNvPr id="14" name="TextBox 10">
              <a:extLst>
                <a:ext uri="{FF2B5EF4-FFF2-40B4-BE49-F238E27FC236}">
                  <a16:creationId xmlns:a16="http://schemas.microsoft.com/office/drawing/2014/main" id="{DDC779EB-9057-B989-11B3-43ECD2004B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4776" y="3257550"/>
              <a:ext cx="989013" cy="782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fontAlgn="base">
                <a:lnSpc>
                  <a:spcPts val="21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800" b="1">
                  <a:solidFill>
                    <a:srgbClr val="000000"/>
                  </a:solidFill>
                  <a:latin typeface="Cambria" panose="02040503050406030204" pitchFamily="18" charset="0"/>
                </a:rPr>
                <a:t>Activated</a:t>
              </a:r>
            </a:p>
            <a:p>
              <a:pPr fontAlgn="base">
                <a:lnSpc>
                  <a:spcPts val="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800" b="1">
                  <a:solidFill>
                    <a:srgbClr val="000000"/>
                  </a:solidFill>
                  <a:latin typeface="Cambria" panose="02040503050406030204" pitchFamily="18" charset="0"/>
                </a:rPr>
                <a:t>helper</a:t>
              </a:r>
            </a:p>
            <a:p>
              <a:pPr fontAlgn="base">
                <a:lnSpc>
                  <a:spcPts val="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800" b="1">
                  <a:solidFill>
                    <a:srgbClr val="000000"/>
                  </a:solidFill>
                  <a:latin typeface="Cambria" panose="02040503050406030204" pitchFamily="18" charset="0"/>
                </a:rPr>
                <a:t>T cell</a:t>
              </a:r>
            </a:p>
          </p:txBody>
        </p:sp>
        <p:sp>
          <p:nvSpPr>
            <p:cNvPr id="15" name="TextBox 11">
              <a:extLst>
                <a:ext uri="{FF2B5EF4-FFF2-40B4-BE49-F238E27FC236}">
                  <a16:creationId xmlns:a16="http://schemas.microsoft.com/office/drawing/2014/main" id="{368E385E-EC77-DBA4-3713-1E597630DD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8489" y="3265488"/>
              <a:ext cx="1150937" cy="539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fontAlgn="base">
                <a:lnSpc>
                  <a:spcPts val="21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800" b="1">
                  <a:solidFill>
                    <a:srgbClr val="000000"/>
                  </a:solidFill>
                  <a:latin typeface="Cambria" panose="02040503050406030204" pitchFamily="18" charset="0"/>
                </a:rPr>
                <a:t>Phagocytic</a:t>
              </a:r>
            </a:p>
            <a:p>
              <a:pPr fontAlgn="base">
                <a:lnSpc>
                  <a:spcPts val="21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800" b="1">
                  <a:solidFill>
                    <a:srgbClr val="000000"/>
                  </a:solidFill>
                  <a:latin typeface="Cambria" panose="02040503050406030204" pitchFamily="18" charset="0"/>
                </a:rPr>
                <a:t>cell</a:t>
              </a:r>
            </a:p>
          </p:txBody>
        </p:sp>
        <p:sp>
          <p:nvSpPr>
            <p:cNvPr id="16" name="TextBox 12">
              <a:extLst>
                <a:ext uri="{FF2B5EF4-FFF2-40B4-BE49-F238E27FC236}">
                  <a16:creationId xmlns:a16="http://schemas.microsoft.com/office/drawing/2014/main" id="{D6D293A5-9A51-6E0C-CDFA-0D384706F2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7501" y="4473575"/>
              <a:ext cx="2504970" cy="782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fontAlgn="base">
                <a:lnSpc>
                  <a:spcPts val="21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800" b="1" dirty="0">
                  <a:solidFill>
                    <a:srgbClr val="000000"/>
                  </a:solidFill>
                  <a:latin typeface="Cambria" panose="02040503050406030204" pitchFamily="18" charset="0"/>
                </a:rPr>
                <a:t>Antigen fragment</a:t>
              </a:r>
            </a:p>
            <a:p>
              <a:pPr fontAlgn="base">
                <a:lnSpc>
                  <a:spcPts val="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800" b="1" dirty="0">
                  <a:solidFill>
                    <a:srgbClr val="000000"/>
                  </a:solidFill>
                  <a:latin typeface="Cambria" panose="02040503050406030204" pitchFamily="18" charset="0"/>
                </a:rPr>
                <a:t>displayed on self</a:t>
              </a:r>
            </a:p>
            <a:p>
              <a:pPr fontAlgn="base">
                <a:lnSpc>
                  <a:spcPts val="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800" b="1" dirty="0">
                  <a:solidFill>
                    <a:srgbClr val="000000"/>
                  </a:solidFill>
                  <a:latin typeface="Cambria" panose="02040503050406030204" pitchFamily="18" charset="0"/>
                </a:rPr>
                <a:t>Protein</a:t>
              </a:r>
            </a:p>
          </p:txBody>
        </p:sp>
        <p:sp>
          <p:nvSpPr>
            <p:cNvPr id="17" name="TextBox 13">
              <a:extLst>
                <a:ext uri="{FF2B5EF4-FFF2-40B4-BE49-F238E27FC236}">
                  <a16:creationId xmlns:a16="http://schemas.microsoft.com/office/drawing/2014/main" id="{53DF85EE-CAAD-E498-8735-A9F2062BEF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15175" y="4973639"/>
              <a:ext cx="573088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fontAlgn="base">
                <a:lnSpc>
                  <a:spcPts val="21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800" b="1">
                  <a:solidFill>
                    <a:srgbClr val="000000"/>
                  </a:solidFill>
                  <a:latin typeface="Cambria" panose="02040503050406030204" pitchFamily="18" charset="0"/>
                </a:rPr>
                <a:t>B cell</a:t>
              </a:r>
            </a:p>
          </p:txBody>
        </p:sp>
        <p:sp>
          <p:nvSpPr>
            <p:cNvPr id="18" name="TextBox 14">
              <a:extLst>
                <a:ext uri="{FF2B5EF4-FFF2-40B4-BE49-F238E27FC236}">
                  <a16:creationId xmlns:a16="http://schemas.microsoft.com/office/drawing/2014/main" id="{FEBE64EC-5BD6-CFCE-2F25-A1BFCE654F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15401" y="4837113"/>
              <a:ext cx="1262063" cy="539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fontAlgn="base">
                <a:lnSpc>
                  <a:spcPts val="21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800" b="1">
                  <a:solidFill>
                    <a:srgbClr val="000000"/>
                  </a:solidFill>
                  <a:latin typeface="Cambria" panose="02040503050406030204" pitchFamily="18" charset="0"/>
                </a:rPr>
                <a:t>Secretion of</a:t>
              </a:r>
            </a:p>
            <a:p>
              <a:pPr fontAlgn="base">
                <a:lnSpc>
                  <a:spcPts val="21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800" b="1">
                  <a:solidFill>
                    <a:srgbClr val="000000"/>
                  </a:solidFill>
                  <a:latin typeface="Cambria" panose="02040503050406030204" pitchFamily="18" charset="0"/>
                </a:rPr>
                <a:t>antibodies</a:t>
              </a:r>
            </a:p>
          </p:txBody>
        </p:sp>
        <p:sp>
          <p:nvSpPr>
            <p:cNvPr id="19" name="Rectangle 1">
              <a:extLst>
                <a:ext uri="{FF2B5EF4-FFF2-40B4-BE49-F238E27FC236}">
                  <a16:creationId xmlns:a16="http://schemas.microsoft.com/office/drawing/2014/main" id="{E6C2D172-BE33-71B2-4EBD-B8F244C0E48C}"/>
                </a:ext>
              </a:extLst>
            </p:cNvPr>
            <p:cNvSpPr/>
            <p:nvPr/>
          </p:nvSpPr>
          <p:spPr>
            <a:xfrm>
              <a:off x="5745648" y="3629323"/>
              <a:ext cx="1800604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b="1" dirty="0">
                  <a:solidFill>
                    <a:srgbClr val="F79646">
                      <a:lumMod val="75000"/>
                    </a:srgbClr>
                  </a:solidFill>
                  <a:latin typeface="Cambria" panose="02040503050406030204" pitchFamily="18" charset="0"/>
                  <a:cs typeface="Arial" panose="020B0604020202020204" pitchFamily="34" charset="0"/>
                </a:rPr>
                <a:t>Secretes various </a:t>
              </a:r>
              <a:r>
                <a:rPr lang="en-US" altLang="en-US" b="1" dirty="0">
                  <a:solidFill>
                    <a:srgbClr val="F79646">
                      <a:lumMod val="75000"/>
                    </a:srgbClr>
                  </a:solidFill>
                  <a:highlight>
                    <a:srgbClr val="FFFF00"/>
                  </a:highlight>
                  <a:latin typeface="Cambria" panose="02040503050406030204" pitchFamily="18" charset="0"/>
                  <a:cs typeface="Arial" panose="020B0604020202020204" pitchFamily="34" charset="0"/>
                </a:rPr>
                <a:t>cytokines</a:t>
              </a:r>
              <a:endParaRPr lang="en-US" b="1" dirty="0">
                <a:solidFill>
                  <a:srgbClr val="F79646">
                    <a:lumMod val="75000"/>
                  </a:srgbClr>
                </a:solidFill>
                <a:highlight>
                  <a:srgbClr val="FFFF00"/>
                </a:highlight>
                <a:latin typeface="Cambria" panose="02040503050406030204" pitchFamily="18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994611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Adaptive Defenses Step 3: </a:t>
            </a:r>
            <a:br>
              <a:rPr lang="en-US" altLang="zh-CN" dirty="0"/>
            </a:br>
            <a:r>
              <a:rPr lang="en-US" altLang="zh-CN" dirty="0"/>
              <a:t>Responding to Invaders by B Cells/Humoral Immune Response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3177" y="1227909"/>
            <a:ext cx="5712823" cy="5264966"/>
          </a:xfrm>
        </p:spPr>
        <p:txBody>
          <a:bodyPr/>
          <a:lstStyle/>
          <a:p>
            <a:r>
              <a:rPr lang="en-US" altLang="zh-CN" dirty="0"/>
              <a:t>Secretion </a:t>
            </a:r>
            <a:r>
              <a:rPr lang="en-US" altLang="zh-CN" b="1" dirty="0">
                <a:solidFill>
                  <a:srgbClr val="FF0000"/>
                </a:solidFill>
              </a:rPr>
              <a:t>antibodies</a:t>
            </a:r>
            <a:r>
              <a:rPr lang="en-US" altLang="zh-CN" dirty="0"/>
              <a:t> into the blood and lymph</a:t>
            </a:r>
          </a:p>
          <a:p>
            <a:pPr lvl="1"/>
            <a:r>
              <a:rPr lang="en-US" altLang="zh-CN" dirty="0"/>
              <a:t>up to 2,000 antibodies per second</a:t>
            </a:r>
          </a:p>
          <a:p>
            <a:r>
              <a:rPr lang="en-US" altLang="zh-CN" dirty="0"/>
              <a:t>B cells defend primarily against pathogens circulating in body fluids</a:t>
            </a:r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678184A2-EA7A-9CCD-E58B-7E6758129BC0}"/>
              </a:ext>
            </a:extLst>
          </p:cNvPr>
          <p:cNvGrpSpPr/>
          <p:nvPr/>
        </p:nvGrpSpPr>
        <p:grpSpPr>
          <a:xfrm>
            <a:off x="6062840" y="1091386"/>
            <a:ext cx="6129160" cy="5766614"/>
            <a:chOff x="3031420" y="1091386"/>
            <a:chExt cx="6129160" cy="5766614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B3CD048B-6E58-23C9-5D00-6915A350A8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31420" y="1091386"/>
              <a:ext cx="6129160" cy="5766614"/>
            </a:xfrm>
            <a:prstGeom prst="rect">
              <a:avLst/>
            </a:prstGeom>
          </p:spPr>
        </p:pic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E9B63E46-D18D-B0E8-B8E9-FB2D712CD784}"/>
                </a:ext>
              </a:extLst>
            </p:cNvPr>
            <p:cNvSpPr/>
            <p:nvPr/>
          </p:nvSpPr>
          <p:spPr>
            <a:xfrm>
              <a:off x="3505200" y="1765300"/>
              <a:ext cx="2730500" cy="8001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8" name="Picture 2" descr="https://i.pinimg.com/originals/bd/1c/22/bd1c22a4bb442010a9197d7aa4ce2596.jpg">
            <a:extLst>
              <a:ext uri="{FF2B5EF4-FFF2-40B4-BE49-F238E27FC236}">
                <a16:creationId xmlns:a16="http://schemas.microsoft.com/office/drawing/2014/main" id="{A1FF8BD2-34E9-5EE7-D9D4-27CAA603F5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83177" y="4666749"/>
            <a:ext cx="4030579" cy="1826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47134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1B168-F917-0135-64C5-15727116F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Antibody Functions to Blocks or Helps to Destroy An Invader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31FD51-4F28-41D5-3722-1CE0A7249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5B6ED57-578E-CCAB-019B-10B861909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4FE20A8-49AA-717E-8E8B-503DCAAE43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8614" y="1091386"/>
            <a:ext cx="7334772" cy="5766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2785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8A6EF4-E028-4035-F9C2-D1EE883CF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Medical and Research Application of Antibody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9B32FD-DA19-8ADE-8859-28757380D2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177" y="1227909"/>
            <a:ext cx="8108421" cy="5264966"/>
          </a:xfrm>
        </p:spPr>
        <p:txBody>
          <a:bodyPr/>
          <a:lstStyle/>
          <a:p>
            <a:r>
              <a:rPr lang="en-US" altLang="zh-CN" b="1" dirty="0">
                <a:solidFill>
                  <a:srgbClr val="FF0000"/>
                </a:solidFill>
              </a:rPr>
              <a:t>Herceptin</a:t>
            </a:r>
            <a:r>
              <a:rPr lang="en-US" altLang="zh-CN" dirty="0"/>
              <a:t>, a genetically engineered antibody, treats certain cases of aggressive breast cancer. </a:t>
            </a:r>
          </a:p>
          <a:p>
            <a:pPr lvl="1"/>
            <a:r>
              <a:rPr lang="en-US" altLang="zh-CN" dirty="0"/>
              <a:t>When Herceptin binds to a receptor present on some breast cancer cells, it interferes with the ability of those cells to receive cell growth signals. With </a:t>
            </a:r>
            <a:r>
              <a:rPr lang="en-US" altLang="zh-CN" dirty="0">
                <a:highlight>
                  <a:srgbClr val="FFFF00"/>
                </a:highlight>
              </a:rPr>
              <a:t>growth receptors blocked</a:t>
            </a:r>
            <a:r>
              <a:rPr lang="en-US" altLang="zh-CN" dirty="0"/>
              <a:t>, cancer cells cannot grow and divide. </a:t>
            </a:r>
          </a:p>
          <a:p>
            <a:r>
              <a:rPr lang="en-US" altLang="zh-CN" b="1" dirty="0"/>
              <a:t>In </a:t>
            </a:r>
            <a:r>
              <a:rPr lang="en-US" altLang="zh-CN" b="1" dirty="0">
                <a:solidFill>
                  <a:srgbClr val="FF0000"/>
                </a:solidFill>
              </a:rPr>
              <a:t>home pregnancy tests</a:t>
            </a:r>
            <a:r>
              <a:rPr lang="en-US" altLang="zh-CN" dirty="0"/>
              <a:t>, antibodies are used to detect a hormone called human chorionic gonadotropin (HCG), present in the urine of pregnant women. 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75EF8EA-001C-8D3C-3545-22D25B448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pic>
        <p:nvPicPr>
          <p:cNvPr id="5" name="Picture 2" descr="Early Breast Cancer | KADCYLA® (ado-trastuzumab emtansine)">
            <a:extLst>
              <a:ext uri="{FF2B5EF4-FFF2-40B4-BE49-F238E27FC236}">
                <a16:creationId xmlns:a16="http://schemas.microsoft.com/office/drawing/2014/main" id="{E46C94D1-FF88-4827-45FA-DF866C651F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5"/>
          <a:stretch/>
        </p:blipFill>
        <p:spPr bwMode="auto">
          <a:xfrm>
            <a:off x="9175233" y="0"/>
            <a:ext cx="2465133" cy="4808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regnancy Tests: When to Take One, Accuracy, and Results">
            <a:extLst>
              <a:ext uri="{FF2B5EF4-FFF2-40B4-BE49-F238E27FC236}">
                <a16:creationId xmlns:a16="http://schemas.microsoft.com/office/drawing/2014/main" id="{8A81953A-DC08-BA9F-7F12-3026E5F406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3825" y="4808220"/>
            <a:ext cx="3016541" cy="2049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94168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D99E425-E83E-44D0-92DF-BFE7B1B6A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9334" y="3400857"/>
            <a:ext cx="9533333" cy="34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Adaptive Defenses Step 3: Responding to Invaders </a:t>
            </a:r>
            <a:br>
              <a:rPr lang="en-US" altLang="zh-CN" dirty="0"/>
            </a:br>
            <a:r>
              <a:rPr lang="en-US" altLang="zh-CN" dirty="0"/>
              <a:t>by Cytotoxic T Cells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The cytotoxic T cell response defends against pathogens that have </a:t>
            </a:r>
            <a:r>
              <a:rPr lang="en-US" altLang="zh-CN" dirty="0">
                <a:highlight>
                  <a:srgbClr val="FFFF00"/>
                </a:highlight>
              </a:rPr>
              <a:t>entered body cells</a:t>
            </a:r>
            <a:r>
              <a:rPr lang="en-US" altLang="zh-CN" dirty="0"/>
              <a:t>. </a:t>
            </a:r>
          </a:p>
          <a:p>
            <a:pPr lvl="1"/>
            <a:r>
              <a:rPr lang="en-US" altLang="zh-CN" dirty="0"/>
              <a:t>Cytotoxic T cells are the </a:t>
            </a:r>
            <a:r>
              <a:rPr lang="en-US" altLang="zh-CN" dirty="0">
                <a:highlight>
                  <a:srgbClr val="FFFF00"/>
                </a:highlight>
              </a:rPr>
              <a:t>only T</a:t>
            </a:r>
            <a:r>
              <a:rPr lang="en-US" altLang="zh-CN" dirty="0"/>
              <a:t> cells that actually </a:t>
            </a:r>
            <a:r>
              <a:rPr lang="en-US" altLang="zh-CN" dirty="0">
                <a:highlight>
                  <a:srgbClr val="FFFF00"/>
                </a:highlight>
              </a:rPr>
              <a:t>kill infected cells</a:t>
            </a:r>
            <a:r>
              <a:rPr lang="en-US" altLang="zh-CN" dirty="0"/>
              <a:t>. </a:t>
            </a:r>
          </a:p>
          <a:p>
            <a:pPr lvl="1"/>
            <a:r>
              <a:rPr lang="en-US" altLang="zh-CN" dirty="0"/>
              <a:t>Organ rejection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pic>
        <p:nvPicPr>
          <p:cNvPr id="7" name="Picture 2" descr="https://i.pinimg.com/originals/bd/1c/22/bd1c22a4bb442010a9197d7aa4ce2596.jpg">
            <a:extLst>
              <a:ext uri="{FF2B5EF4-FFF2-40B4-BE49-F238E27FC236}">
                <a16:creationId xmlns:a16="http://schemas.microsoft.com/office/drawing/2014/main" id="{728B6F83-54AD-8D49-7347-00FC59FD71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388769" y="2486457"/>
            <a:ext cx="1720516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41176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9F8620D-C7CC-10BD-83D1-CE27A56C8C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6101" y="3133682"/>
            <a:ext cx="5295900" cy="372431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Adaptive Defenses Step 4: Remembering Invaders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3177" y="1227909"/>
            <a:ext cx="11390811" cy="2328091"/>
          </a:xfrm>
        </p:spPr>
        <p:txBody>
          <a:bodyPr/>
          <a:lstStyle/>
          <a:p>
            <a:r>
              <a:rPr lang="en-US" altLang="zh-CN" b="1" dirty="0">
                <a:solidFill>
                  <a:srgbClr val="FF0000"/>
                </a:solidFill>
              </a:rPr>
              <a:t>Memory cells</a:t>
            </a:r>
            <a:r>
              <a:rPr lang="en-US" altLang="zh-CN" dirty="0"/>
              <a:t> can last decades in the lymph nodes</a:t>
            </a:r>
          </a:p>
          <a:p>
            <a:r>
              <a:rPr lang="en-US" altLang="zh-CN" b="1" dirty="0">
                <a:solidFill>
                  <a:srgbClr val="FF0000"/>
                </a:solidFill>
              </a:rPr>
              <a:t>Primary</a:t>
            </a:r>
            <a:r>
              <a:rPr lang="en-US" altLang="zh-CN" dirty="0"/>
              <a:t> immune response, during the first response to an antigen.</a:t>
            </a:r>
          </a:p>
          <a:p>
            <a:r>
              <a:rPr lang="en-US" altLang="zh-CN" b="1" dirty="0">
                <a:solidFill>
                  <a:srgbClr val="FF0000"/>
                </a:solidFill>
              </a:rPr>
              <a:t>Secondary</a:t>
            </a:r>
            <a:r>
              <a:rPr lang="en-US" altLang="zh-CN" dirty="0"/>
              <a:t> immune response, when a “</a:t>
            </a:r>
            <a:r>
              <a:rPr lang="en-US" altLang="zh-CN" dirty="0">
                <a:highlight>
                  <a:srgbClr val="FFFF00"/>
                </a:highlight>
              </a:rPr>
              <a:t>known</a:t>
            </a:r>
            <a:r>
              <a:rPr lang="en-US" altLang="zh-CN" dirty="0"/>
              <a:t>” antigen is encountered again</a:t>
            </a:r>
          </a:p>
          <a:p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6344BEC-1B04-9695-42E8-355BA0DB0998}"/>
              </a:ext>
            </a:extLst>
          </p:cNvPr>
          <p:cNvSpPr txBox="1">
            <a:spLocks/>
          </p:cNvSpPr>
          <p:nvPr/>
        </p:nvSpPr>
        <p:spPr>
          <a:xfrm>
            <a:off x="383176" y="3556000"/>
            <a:ext cx="6654801" cy="29368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rgbClr val="0070C0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0070C0"/>
              </a:buClr>
              <a:buFont typeface="Arial" panose="020B0604020202020204" pitchFamily="34" charset="0"/>
              <a:buChar char="–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0070C0"/>
              </a:buClr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0070C0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0070C0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altLang="zh-CN" dirty="0"/>
              <a:t>mediated by memory cells</a:t>
            </a:r>
          </a:p>
          <a:p>
            <a:pPr lvl="2"/>
            <a:r>
              <a:rPr lang="en-US" altLang="zh-CN" dirty="0">
                <a:highlight>
                  <a:srgbClr val="FFFF00"/>
                </a:highlight>
              </a:rPr>
              <a:t>rapidly</a:t>
            </a:r>
            <a:r>
              <a:rPr lang="en-US" altLang="zh-CN" dirty="0"/>
              <a:t> give rise to new effector cells and memory cells</a:t>
            </a:r>
          </a:p>
          <a:p>
            <a:pPr lvl="1"/>
            <a:r>
              <a:rPr lang="en-US" altLang="zh-CN" dirty="0"/>
              <a:t>more rapid </a:t>
            </a:r>
          </a:p>
          <a:p>
            <a:pPr lvl="1"/>
            <a:r>
              <a:rPr lang="en-US" altLang="zh-CN" dirty="0"/>
              <a:t>of greater magnitude </a:t>
            </a:r>
          </a:p>
          <a:p>
            <a:pPr lvl="1"/>
            <a:r>
              <a:rPr lang="en-US" altLang="zh-CN" dirty="0"/>
              <a:t>of longer duration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962149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0031" y="1"/>
            <a:ext cx="6111974" cy="680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1618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46E25-87DA-6391-BC4A-AF591FA4B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Vaccine (</a:t>
            </a:r>
            <a:r>
              <a:rPr lang="zh-CN" altLang="en-US" dirty="0"/>
              <a:t>疫苗</a:t>
            </a:r>
            <a:r>
              <a:rPr lang="en-US" altLang="zh-CN" dirty="0"/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76BA8-78B8-90A1-70D6-0AAC35BE9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Edward Jenner (1796) developed a smallpox (</a:t>
            </a:r>
            <a:r>
              <a:rPr lang="zh-CN" altLang="en-US" dirty="0"/>
              <a:t>天花</a:t>
            </a:r>
            <a:r>
              <a:rPr lang="en-US" altLang="zh-CN" dirty="0"/>
              <a:t>) </a:t>
            </a:r>
            <a:r>
              <a:rPr lang="en-US" dirty="0"/>
              <a:t>vaccine using </a:t>
            </a:r>
            <a:r>
              <a:rPr lang="en-US" dirty="0">
                <a:highlight>
                  <a:srgbClr val="FFFF00"/>
                </a:highlight>
              </a:rPr>
              <a:t>milder cowpox viruses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Smallpox has been eradicated around the world in 1980.</a:t>
            </a:r>
          </a:p>
          <a:p>
            <a:r>
              <a:rPr lang="en-US" dirty="0"/>
              <a:t>Immunity can be achieved artificially by </a:t>
            </a:r>
            <a:r>
              <a:rPr lang="en-US" b="1" dirty="0">
                <a:solidFill>
                  <a:srgbClr val="FF0000"/>
                </a:solidFill>
              </a:rPr>
              <a:t>vaccination</a:t>
            </a:r>
            <a:r>
              <a:rPr lang="en-US" dirty="0"/>
              <a:t> (immunization).</a:t>
            </a:r>
          </a:p>
          <a:p>
            <a:pPr lvl="1"/>
            <a:r>
              <a:rPr lang="en-US" dirty="0"/>
              <a:t>Vaccination </a:t>
            </a:r>
            <a:r>
              <a:rPr lang="en-US" dirty="0">
                <a:highlight>
                  <a:srgbClr val="FFFF00"/>
                </a:highlight>
              </a:rPr>
              <a:t>confronts</a:t>
            </a:r>
            <a:r>
              <a:rPr lang="en-US" dirty="0"/>
              <a:t> the immune system with a vaccine, which includes a </a:t>
            </a:r>
            <a:r>
              <a:rPr lang="en-US" dirty="0">
                <a:highlight>
                  <a:srgbClr val="FFFF00"/>
                </a:highlight>
              </a:rPr>
              <a:t>harmless version </a:t>
            </a:r>
            <a:r>
              <a:rPr lang="en-US" dirty="0"/>
              <a:t>of a disease-causing microbe or </a:t>
            </a:r>
            <a:r>
              <a:rPr lang="en-US" dirty="0">
                <a:highlight>
                  <a:srgbClr val="FFFF00"/>
                </a:highlight>
              </a:rPr>
              <a:t>one of its parts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Vaccination induces the primary immune response that produces </a:t>
            </a:r>
            <a:r>
              <a:rPr lang="en-US" b="1" dirty="0">
                <a:solidFill>
                  <a:srgbClr val="FF0000"/>
                </a:solidFill>
              </a:rPr>
              <a:t>memory cells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 protection may last for life. 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BDA255-8AAA-A8C4-412A-02C542B54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31719670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48" y="122796"/>
            <a:ext cx="8246704" cy="633509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0834B2F-395E-73CC-4827-392749D961DE}"/>
              </a:ext>
            </a:extLst>
          </p:cNvPr>
          <p:cNvSpPr txBox="1"/>
          <p:nvPr/>
        </p:nvSpPr>
        <p:spPr>
          <a:xfrm>
            <a:off x="0" y="6457890"/>
            <a:ext cx="1219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Flanagan KL, Best E, Crawford NW, Giles M, Koirala A, Macartney K, Russell F, </a:t>
            </a:r>
            <a:r>
              <a:rPr lang="en-US" sz="1000" dirty="0" err="1"/>
              <a:t>Teh</a:t>
            </a:r>
            <a:r>
              <a:rPr lang="en-US" sz="1000" dirty="0"/>
              <a:t> BW and Wen SCH (2020) Progress and Pitfalls in the Quest for Effective SARS-CoV-2 (COVID-19) Vaccines. Front. Immunol. 11:579250. </a:t>
            </a:r>
            <a:r>
              <a:rPr lang="en-US" sz="1000" dirty="0" err="1"/>
              <a:t>doi</a:t>
            </a:r>
            <a:r>
              <a:rPr lang="en-US" sz="1000" dirty="0"/>
              <a:t>: 10.3389/fimmu.2020.579250</a:t>
            </a:r>
          </a:p>
        </p:txBody>
      </p:sp>
    </p:spTree>
    <p:extLst>
      <p:ext uri="{BB962C8B-B14F-4D97-AF65-F5344CB8AC3E}">
        <p14:creationId xmlns:p14="http://schemas.microsoft.com/office/powerpoint/2010/main" val="29710983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7883" y="251709"/>
            <a:ext cx="7876234" cy="620618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076985" y="5654654"/>
            <a:ext cx="1143000" cy="40957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 dirty="0">
              <a:solidFill>
                <a:prstClr val="white"/>
              </a:solidFill>
              <a:latin typeface="Arial"/>
              <a:cs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70426" y="5667346"/>
            <a:ext cx="1143000" cy="40957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prstClr val="white"/>
              </a:solidFill>
              <a:latin typeface="Arial"/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0A2EF4-C375-1BA2-E7F8-D2774243180F}"/>
              </a:ext>
            </a:extLst>
          </p:cNvPr>
          <p:cNvSpPr txBox="1"/>
          <p:nvPr/>
        </p:nvSpPr>
        <p:spPr>
          <a:xfrm>
            <a:off x="0" y="6457890"/>
            <a:ext cx="1219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Pathak, D., Philo Magdalene, A. (2022). COVID-19 Vaccine Development and Administration in India. In: Pachauri, S., Pachauri, A. (eds) Health Dimensions of COVID-19 in India and Beyond. Springer, Singapore. https://doi.org/10.1007/978-981-16-7385-6_7</a:t>
            </a:r>
          </a:p>
        </p:txBody>
      </p:sp>
    </p:spTree>
    <p:extLst>
      <p:ext uri="{BB962C8B-B14F-4D97-AF65-F5344CB8AC3E}">
        <p14:creationId xmlns:p14="http://schemas.microsoft.com/office/powerpoint/2010/main" val="38698736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Learning Outcomes 3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zh-CN" dirty="0"/>
              <a:t>Define an allergen, an allergy, and describe the two steps of an allergic reaction.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dirty="0"/>
              <a:t>Compare and contrast autoimmune diseases and immunodeficiency diseases.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dirty="0"/>
              <a:t>Explain how immune checkpoint therapy and other immunotherapies work.</a:t>
            </a:r>
          </a:p>
          <a:p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 2016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15277813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Immune Disorders: Allergies (</a:t>
            </a:r>
            <a:r>
              <a:rPr lang="zh-CN" altLang="en-US" dirty="0"/>
              <a:t>过敏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600" dirty="0">
                <a:highlight>
                  <a:srgbClr val="FFFF00"/>
                </a:highlight>
              </a:rPr>
              <a:t>Exaggerated sensitivities</a:t>
            </a:r>
            <a:r>
              <a:rPr lang="en-US" altLang="zh-CN" dirty="0"/>
              <a:t> to </a:t>
            </a:r>
            <a:r>
              <a:rPr lang="en-US" altLang="zh-CN" sz="2600" dirty="0">
                <a:highlight>
                  <a:srgbClr val="FFFF00"/>
                </a:highlight>
              </a:rPr>
              <a:t>harmless antigens</a:t>
            </a:r>
            <a:r>
              <a:rPr lang="en-US" altLang="zh-CN" dirty="0"/>
              <a:t> in the environment.</a:t>
            </a:r>
          </a:p>
          <a:p>
            <a:r>
              <a:rPr lang="en-US" altLang="zh-CN" b="1" dirty="0">
                <a:solidFill>
                  <a:srgbClr val="FF0000"/>
                </a:solidFill>
              </a:rPr>
              <a:t>Allergens</a:t>
            </a:r>
            <a:r>
              <a:rPr lang="en-US" altLang="zh-CN" dirty="0"/>
              <a:t> (</a:t>
            </a:r>
            <a:r>
              <a:rPr lang="zh-CN" altLang="en-US" dirty="0"/>
              <a:t>过敏原</a:t>
            </a:r>
            <a:r>
              <a:rPr lang="en-US" altLang="zh-CN" dirty="0"/>
              <a:t>)</a:t>
            </a:r>
            <a:r>
              <a:rPr lang="zh-CN" altLang="en-US" dirty="0"/>
              <a:t> </a:t>
            </a:r>
            <a:r>
              <a:rPr lang="en-US" altLang="zh-CN" dirty="0"/>
              <a:t>are antigens that cause allergies. 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grpSp>
        <p:nvGrpSpPr>
          <p:cNvPr id="5" name="Group 4"/>
          <p:cNvGrpSpPr>
            <a:grpSpLocks noChangeAspect="1"/>
          </p:cNvGrpSpPr>
          <p:nvPr/>
        </p:nvGrpSpPr>
        <p:grpSpPr>
          <a:xfrm>
            <a:off x="1708790" y="2380378"/>
            <a:ext cx="8739584" cy="4477622"/>
            <a:chOff x="1820864" y="1014415"/>
            <a:chExt cx="9199562" cy="4713286"/>
          </a:xfrm>
        </p:grpSpPr>
        <p:pic>
          <p:nvPicPr>
            <p:cNvPr id="6" name="Picture 49" descr="24_14_AllergiesDevelop-U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1820864" y="1014415"/>
              <a:ext cx="8548687" cy="4591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 rot="-5400000">
              <a:off x="3828257" y="2221707"/>
              <a:ext cx="935037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000" b="1">
                  <a:solidFill>
                    <a:srgbClr val="000000"/>
                  </a:solidFill>
                  <a:latin typeface="Cambria" panose="02040503050406030204" pitchFamily="18" charset="0"/>
                </a:rPr>
                <a:t>Colorized SEM</a:t>
              </a:r>
            </a:p>
          </p:txBody>
        </p:sp>
        <p:sp>
          <p:nvSpPr>
            <p:cNvPr id="8" name="Text Box 10"/>
            <p:cNvSpPr txBox="1">
              <a:spLocks noChangeArrowheads="1"/>
            </p:cNvSpPr>
            <p:nvPr/>
          </p:nvSpPr>
          <p:spPr bwMode="auto">
            <a:xfrm>
              <a:off x="5900738" y="1765301"/>
              <a:ext cx="842962" cy="671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400" b="1">
                  <a:solidFill>
                    <a:srgbClr val="000000"/>
                  </a:solidFill>
                  <a:latin typeface="Cambria" panose="02040503050406030204" pitchFamily="18" charset="0"/>
                </a:rPr>
                <a:t>Ragweed </a:t>
              </a:r>
              <a:br>
                <a:rPr lang="en-US" altLang="en-US" sz="1400" b="1">
                  <a:solidFill>
                    <a:srgbClr val="000000"/>
                  </a:solidFill>
                  <a:latin typeface="Cambria" panose="02040503050406030204" pitchFamily="18" charset="0"/>
                </a:rPr>
              </a:br>
              <a:r>
                <a:rPr lang="en-US" altLang="en-US" sz="1400" b="1">
                  <a:solidFill>
                    <a:srgbClr val="000000"/>
                  </a:solidFill>
                  <a:latin typeface="Cambria" panose="02040503050406030204" pitchFamily="18" charset="0"/>
                </a:rPr>
                <a:t>pollen </a:t>
              </a:r>
              <a:br>
                <a:rPr lang="en-US" altLang="en-US" sz="1400" b="1">
                  <a:solidFill>
                    <a:srgbClr val="000000"/>
                  </a:solidFill>
                  <a:latin typeface="Cambria" panose="02040503050406030204" pitchFamily="18" charset="0"/>
                </a:rPr>
              </a:br>
              <a:r>
                <a:rPr lang="en-US" altLang="en-US" sz="1400" b="1">
                  <a:solidFill>
                    <a:srgbClr val="000000"/>
                  </a:solidFill>
                  <a:latin typeface="Cambria" panose="02040503050406030204" pitchFamily="18" charset="0"/>
                </a:rPr>
                <a:t>grains</a:t>
              </a:r>
            </a:p>
          </p:txBody>
        </p:sp>
        <p:sp>
          <p:nvSpPr>
            <p:cNvPr id="9" name="Text Box 15"/>
            <p:cNvSpPr txBox="1">
              <a:spLocks noChangeArrowheads="1"/>
            </p:cNvSpPr>
            <p:nvPr/>
          </p:nvSpPr>
          <p:spPr bwMode="auto">
            <a:xfrm>
              <a:off x="2638425" y="1076326"/>
              <a:ext cx="3360738" cy="473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500" b="1" dirty="0">
                  <a:solidFill>
                    <a:srgbClr val="000000"/>
                  </a:solidFill>
                  <a:highlight>
                    <a:srgbClr val="FFFF00"/>
                  </a:highlight>
                  <a:latin typeface="Cambria" panose="02040503050406030204" pitchFamily="18" charset="0"/>
                </a:rPr>
                <a:t>SENSITIZATION</a:t>
              </a:r>
              <a:r>
                <a:rPr lang="en-US" altLang="en-US" sz="1500" b="1" dirty="0">
                  <a:solidFill>
                    <a:srgbClr val="FFFFFF"/>
                  </a:solidFill>
                  <a:latin typeface="Cambria" panose="02040503050406030204" pitchFamily="18" charset="0"/>
                </a:rPr>
                <a:t>:</a:t>
              </a:r>
              <a:br>
                <a:rPr lang="en-US" altLang="en-US" sz="1500" b="1" dirty="0">
                  <a:solidFill>
                    <a:srgbClr val="FFFFFF"/>
                  </a:solidFill>
                  <a:latin typeface="Cambria" panose="02040503050406030204" pitchFamily="18" charset="0"/>
                </a:rPr>
              </a:br>
              <a:r>
                <a:rPr lang="en-US" altLang="en-US" sz="1500" b="1" dirty="0">
                  <a:solidFill>
                    <a:srgbClr val="FFFFFF"/>
                  </a:solidFill>
                  <a:latin typeface="Cambria" panose="02040503050406030204" pitchFamily="18" charset="0"/>
                </a:rPr>
                <a:t>INITIAL EXPOSURE TO ALLERGEN </a:t>
              </a:r>
            </a:p>
          </p:txBody>
        </p:sp>
        <p:sp>
          <p:nvSpPr>
            <p:cNvPr id="10" name="Text Box 21"/>
            <p:cNvSpPr txBox="1">
              <a:spLocks noChangeArrowheads="1"/>
            </p:cNvSpPr>
            <p:nvPr/>
          </p:nvSpPr>
          <p:spPr bwMode="auto">
            <a:xfrm>
              <a:off x="2236789" y="4581526"/>
              <a:ext cx="1279525" cy="930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400" b="1">
                  <a:solidFill>
                    <a:srgbClr val="000000"/>
                  </a:solidFill>
                  <a:latin typeface="Cambria" panose="02040503050406030204" pitchFamily="18" charset="0"/>
                </a:rPr>
                <a:t>Allergen </a:t>
              </a:r>
              <a:br>
                <a:rPr lang="en-US" altLang="en-US" sz="1400" b="1">
                  <a:solidFill>
                    <a:srgbClr val="000000"/>
                  </a:solidFill>
                  <a:latin typeface="Cambria" panose="02040503050406030204" pitchFamily="18" charset="0"/>
                </a:rPr>
              </a:br>
              <a:r>
                <a:rPr lang="en-US" altLang="en-US" sz="1400" b="1">
                  <a:solidFill>
                    <a:srgbClr val="000000"/>
                  </a:solidFill>
                  <a:latin typeface="Cambria" panose="02040503050406030204" pitchFamily="18" charset="0"/>
                </a:rPr>
                <a:t>(pollen grain) </a:t>
              </a:r>
              <a:br>
                <a:rPr lang="en-US" altLang="en-US" sz="1400" b="1">
                  <a:solidFill>
                    <a:srgbClr val="000000"/>
                  </a:solidFill>
                  <a:latin typeface="Cambria" panose="02040503050406030204" pitchFamily="18" charset="0"/>
                </a:rPr>
              </a:br>
              <a:r>
                <a:rPr lang="en-US" altLang="en-US" sz="1400" b="1">
                  <a:solidFill>
                    <a:srgbClr val="000000"/>
                  </a:solidFill>
                  <a:latin typeface="Cambria" panose="02040503050406030204" pitchFamily="18" charset="0"/>
                </a:rPr>
                <a:t>enters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400" b="1">
                  <a:solidFill>
                    <a:srgbClr val="000000"/>
                  </a:solidFill>
                  <a:latin typeface="Cambria" panose="02040503050406030204" pitchFamily="18" charset="0"/>
                </a:rPr>
                <a:t>bloodstream.</a:t>
              </a:r>
            </a:p>
          </p:txBody>
        </p:sp>
        <p:sp>
          <p:nvSpPr>
            <p:cNvPr id="11" name="Text Box 23"/>
            <p:cNvSpPr txBox="1">
              <a:spLocks noChangeArrowheads="1"/>
            </p:cNvSpPr>
            <p:nvPr/>
          </p:nvSpPr>
          <p:spPr bwMode="auto">
            <a:xfrm>
              <a:off x="7477125" y="1076326"/>
              <a:ext cx="2268538" cy="473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500" b="1" dirty="0">
                  <a:solidFill>
                    <a:srgbClr val="000000"/>
                  </a:solidFill>
                  <a:highlight>
                    <a:srgbClr val="FFFF00"/>
                  </a:highlight>
                  <a:latin typeface="Cambria" panose="02040503050406030204" pitchFamily="18" charset="0"/>
                </a:rPr>
                <a:t>LATER EXPOSURES</a:t>
              </a:r>
              <a:br>
                <a:rPr lang="en-US" altLang="en-US" sz="1500" b="1" dirty="0">
                  <a:solidFill>
                    <a:srgbClr val="FFFFFF"/>
                  </a:solidFill>
                  <a:latin typeface="Cambria" panose="02040503050406030204" pitchFamily="18" charset="0"/>
                </a:rPr>
              </a:br>
              <a:r>
                <a:rPr lang="en-US" altLang="en-US" sz="1500" b="1" dirty="0">
                  <a:solidFill>
                    <a:srgbClr val="FFFFFF"/>
                  </a:solidFill>
                  <a:latin typeface="Cambria" panose="02040503050406030204" pitchFamily="18" charset="0"/>
                </a:rPr>
                <a:t>TO SAME ALLERGEN</a:t>
              </a:r>
            </a:p>
          </p:txBody>
        </p:sp>
        <p:sp>
          <p:nvSpPr>
            <p:cNvPr id="12" name="Text Box 24"/>
            <p:cNvSpPr txBox="1">
              <a:spLocks noChangeArrowheads="1"/>
            </p:cNvSpPr>
            <p:nvPr/>
          </p:nvSpPr>
          <p:spPr bwMode="auto">
            <a:xfrm>
              <a:off x="3963989" y="4581526"/>
              <a:ext cx="1050925" cy="930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400" b="1" dirty="0">
                  <a:solidFill>
                    <a:srgbClr val="000000"/>
                  </a:solidFill>
                  <a:latin typeface="Cambria" panose="02040503050406030204" pitchFamily="18" charset="0"/>
                </a:rPr>
                <a:t>B cells make</a:t>
              </a:r>
              <a:br>
                <a:rPr lang="en-US" altLang="en-US" sz="1400" b="1" dirty="0">
                  <a:solidFill>
                    <a:srgbClr val="000000"/>
                  </a:solidFill>
                  <a:latin typeface="Cambria" panose="02040503050406030204" pitchFamily="18" charset="0"/>
                </a:rPr>
              </a:br>
              <a:r>
                <a:rPr lang="en-US" altLang="en-US" sz="1400" b="1" dirty="0">
                  <a:solidFill>
                    <a:srgbClr val="000000"/>
                  </a:solidFill>
                  <a:latin typeface="Cambria" panose="02040503050406030204" pitchFamily="18" charset="0"/>
                </a:rPr>
                <a:t>antibodies.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3200" b="1" dirty="0">
                  <a:solidFill>
                    <a:srgbClr val="FF0000"/>
                  </a:solidFill>
                  <a:latin typeface="Cambria" panose="02040503050406030204" pitchFamily="18" charset="0"/>
                </a:rPr>
                <a:t> </a:t>
              </a:r>
              <a:r>
                <a:rPr lang="en-US" altLang="en-US" sz="3200" b="1" dirty="0" err="1">
                  <a:solidFill>
                    <a:srgbClr val="FF0000"/>
                  </a:solidFill>
                  <a:latin typeface="Cambria" panose="02040503050406030204" pitchFamily="18" charset="0"/>
                </a:rPr>
                <a:t>IgE</a:t>
              </a:r>
              <a:endParaRPr lang="en-US" altLang="en-US" sz="3200" b="1" dirty="0">
                <a:solidFill>
                  <a:srgbClr val="FF0000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13" name="Text Box 25"/>
            <p:cNvSpPr txBox="1">
              <a:spLocks noChangeArrowheads="1"/>
            </p:cNvSpPr>
            <p:nvPr/>
          </p:nvSpPr>
          <p:spPr bwMode="auto">
            <a:xfrm>
              <a:off x="5665789" y="4581526"/>
              <a:ext cx="1190622" cy="930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400" b="1" dirty="0">
                  <a:solidFill>
                    <a:srgbClr val="000000"/>
                  </a:solidFill>
                  <a:latin typeface="Cambria" panose="02040503050406030204" pitchFamily="18" charset="0"/>
                </a:rPr>
                <a:t>Antibodies</a:t>
              </a:r>
              <a:br>
                <a:rPr lang="en-US" altLang="en-US" sz="1400" b="1" dirty="0">
                  <a:solidFill>
                    <a:srgbClr val="000000"/>
                  </a:solidFill>
                  <a:latin typeface="Cambria" panose="02040503050406030204" pitchFamily="18" charset="0"/>
                </a:rPr>
              </a:br>
              <a:r>
                <a:rPr lang="en-US" altLang="en-US" sz="1400" b="1" dirty="0">
                  <a:solidFill>
                    <a:srgbClr val="000000"/>
                  </a:solidFill>
                  <a:latin typeface="Cambria" panose="02040503050406030204" pitchFamily="18" charset="0"/>
                </a:rPr>
                <a:t>attach to</a:t>
              </a:r>
              <a:br>
                <a:rPr lang="en-US" altLang="en-US" sz="1400" b="1" dirty="0">
                  <a:solidFill>
                    <a:srgbClr val="000000"/>
                  </a:solidFill>
                  <a:latin typeface="Cambria" panose="02040503050406030204" pitchFamily="18" charset="0"/>
                </a:rPr>
              </a:br>
              <a:r>
                <a:rPr lang="en-US" altLang="en-US" sz="1800" b="1" dirty="0">
                  <a:solidFill>
                    <a:srgbClr val="FF0000"/>
                  </a:solidFill>
                  <a:latin typeface="Cambria" panose="02040503050406030204" pitchFamily="18" charset="0"/>
                </a:rPr>
                <a:t>mast cells.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zh-CN" sz="18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(</a:t>
              </a:r>
              <a:r>
                <a:rPr lang="zh-CN" altLang="en-US" sz="18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肥大细胞</a:t>
              </a:r>
              <a:r>
                <a:rPr lang="en-US" altLang="zh-CN" sz="18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)</a:t>
              </a:r>
              <a:endParaRPr lang="en-US" altLang="en-US" sz="1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4" name="Text Box 26"/>
            <p:cNvSpPr txBox="1">
              <a:spLocks noChangeArrowheads="1"/>
            </p:cNvSpPr>
            <p:nvPr/>
          </p:nvSpPr>
          <p:spPr bwMode="auto">
            <a:xfrm>
              <a:off x="7278689" y="4581526"/>
              <a:ext cx="1304925" cy="638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400" b="1">
                  <a:solidFill>
                    <a:srgbClr val="000000"/>
                  </a:solidFill>
                  <a:latin typeface="Cambria" panose="02040503050406030204" pitchFamily="18" charset="0"/>
                </a:rPr>
                <a:t>Allergen binds</a:t>
              </a:r>
              <a:br>
                <a:rPr lang="en-US" altLang="en-US" sz="1400" b="1">
                  <a:solidFill>
                    <a:srgbClr val="000000"/>
                  </a:solidFill>
                  <a:latin typeface="Cambria" panose="02040503050406030204" pitchFamily="18" charset="0"/>
                </a:rPr>
              </a:br>
              <a:r>
                <a:rPr lang="en-US" altLang="en-US" sz="1400" b="1">
                  <a:solidFill>
                    <a:srgbClr val="000000"/>
                  </a:solidFill>
                  <a:latin typeface="Cambria" panose="02040503050406030204" pitchFamily="18" charset="0"/>
                </a:rPr>
                <a:t>to antibodies</a:t>
              </a:r>
              <a:br>
                <a:rPr lang="en-US" altLang="en-US" sz="1400" b="1">
                  <a:solidFill>
                    <a:srgbClr val="000000"/>
                  </a:solidFill>
                  <a:latin typeface="Cambria" panose="02040503050406030204" pitchFamily="18" charset="0"/>
                </a:rPr>
              </a:br>
              <a:r>
                <a:rPr lang="en-US" altLang="en-US" sz="1400" b="1">
                  <a:solidFill>
                    <a:srgbClr val="000000"/>
                  </a:solidFill>
                  <a:latin typeface="Cambria" panose="02040503050406030204" pitchFamily="18" charset="0"/>
                </a:rPr>
                <a:t>on mast cells.</a:t>
              </a:r>
            </a:p>
          </p:txBody>
        </p:sp>
        <p:sp>
          <p:nvSpPr>
            <p:cNvPr id="15" name="Text Box 27"/>
            <p:cNvSpPr txBox="1">
              <a:spLocks noChangeArrowheads="1"/>
            </p:cNvSpPr>
            <p:nvPr/>
          </p:nvSpPr>
          <p:spPr bwMode="auto">
            <a:xfrm>
              <a:off x="9221787" y="4581526"/>
              <a:ext cx="1798639" cy="1146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400" b="1" dirty="0">
                  <a:solidFill>
                    <a:srgbClr val="000000"/>
                  </a:solidFill>
                  <a:highlight>
                    <a:srgbClr val="FFFF00"/>
                  </a:highlight>
                  <a:latin typeface="Cambria" panose="02040503050406030204" pitchFamily="18" charset="0"/>
                </a:rPr>
                <a:t>Histamine </a:t>
              </a:r>
              <a:r>
                <a:rPr lang="en-US" altLang="en-US" sz="1400" b="1" dirty="0">
                  <a:solidFill>
                    <a:srgbClr val="000000"/>
                  </a:solidFill>
                  <a:latin typeface="Cambria" panose="02040503050406030204" pitchFamily="18" charset="0"/>
                </a:rPr>
                <a:t>is released,</a:t>
              </a:r>
              <a:br>
                <a:rPr lang="en-US" altLang="en-US" sz="1400" b="1" dirty="0">
                  <a:solidFill>
                    <a:srgbClr val="000000"/>
                  </a:solidFill>
                  <a:latin typeface="Cambria" panose="02040503050406030204" pitchFamily="18" charset="0"/>
                </a:rPr>
              </a:br>
              <a:r>
                <a:rPr lang="en-US" altLang="en-US" sz="1400" b="1" dirty="0">
                  <a:solidFill>
                    <a:srgbClr val="000000"/>
                  </a:solidFill>
                  <a:latin typeface="Cambria" panose="02040503050406030204" pitchFamily="18" charset="0"/>
                </a:rPr>
                <a:t>causing allergy</a:t>
              </a:r>
              <a:br>
                <a:rPr lang="en-US" altLang="en-US" sz="1400" b="1" dirty="0">
                  <a:solidFill>
                    <a:srgbClr val="000000"/>
                  </a:solidFill>
                  <a:latin typeface="Cambria" panose="02040503050406030204" pitchFamily="18" charset="0"/>
                </a:rPr>
              </a:br>
              <a:r>
                <a:rPr lang="en-US" altLang="en-US" sz="1400" b="1" dirty="0">
                  <a:solidFill>
                    <a:srgbClr val="000000"/>
                  </a:solidFill>
                  <a:latin typeface="Cambria" panose="02040503050406030204" pitchFamily="18" charset="0"/>
                </a:rPr>
                <a:t>symptoms.</a:t>
              </a:r>
            </a:p>
          </p:txBody>
        </p:sp>
        <p:sp>
          <p:nvSpPr>
            <p:cNvPr id="16" name="Text Box 28"/>
            <p:cNvSpPr txBox="1">
              <a:spLocks noChangeArrowheads="1"/>
            </p:cNvSpPr>
            <p:nvPr/>
          </p:nvSpPr>
          <p:spPr bwMode="auto">
            <a:xfrm>
              <a:off x="4986338" y="2844801"/>
              <a:ext cx="957262" cy="2016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400" b="1">
                  <a:solidFill>
                    <a:srgbClr val="000000"/>
                  </a:solidFill>
                  <a:latin typeface="Cambria" panose="02040503050406030204" pitchFamily="18" charset="0"/>
                </a:rPr>
                <a:t>Histamine</a:t>
              </a:r>
            </a:p>
          </p:txBody>
        </p:sp>
        <p:sp>
          <p:nvSpPr>
            <p:cNvPr id="17" name="Text Box 29"/>
            <p:cNvSpPr txBox="1">
              <a:spLocks noChangeArrowheads="1"/>
            </p:cNvSpPr>
            <p:nvPr/>
          </p:nvSpPr>
          <p:spPr bwMode="auto">
            <a:xfrm>
              <a:off x="4808538" y="3263901"/>
              <a:ext cx="423862" cy="4048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400" b="1">
                  <a:solidFill>
                    <a:srgbClr val="000000"/>
                  </a:solidFill>
                  <a:latin typeface="Cambria" panose="02040503050406030204" pitchFamily="18" charset="0"/>
                </a:rPr>
                <a:t>Mast</a:t>
              </a:r>
              <a:br>
                <a:rPr lang="en-US" altLang="en-US" sz="1400" b="1">
                  <a:solidFill>
                    <a:srgbClr val="000000"/>
                  </a:solidFill>
                  <a:latin typeface="Cambria" panose="02040503050406030204" pitchFamily="18" charset="0"/>
                </a:rPr>
              </a:br>
              <a:r>
                <a:rPr lang="en-US" altLang="en-US" sz="1400" b="1">
                  <a:solidFill>
                    <a:srgbClr val="000000"/>
                  </a:solidFill>
                  <a:latin typeface="Cambria" panose="02040503050406030204" pitchFamily="18" charset="0"/>
                </a:rPr>
                <a:t>cell</a:t>
              </a:r>
            </a:p>
          </p:txBody>
        </p:sp>
        <p:sp>
          <p:nvSpPr>
            <p:cNvPr id="18" name="Text Box 30"/>
            <p:cNvSpPr txBox="1">
              <a:spLocks noChangeArrowheads="1"/>
            </p:cNvSpPr>
            <p:nvPr/>
          </p:nvSpPr>
          <p:spPr bwMode="auto">
            <a:xfrm>
              <a:off x="3246438" y="2997201"/>
              <a:ext cx="728662" cy="442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400" b="1">
                  <a:solidFill>
                    <a:srgbClr val="000000"/>
                  </a:solidFill>
                  <a:latin typeface="Cambria" panose="02040503050406030204" pitchFamily="18" charset="0"/>
                </a:rPr>
                <a:t>Effector</a:t>
              </a:r>
              <a:br>
                <a:rPr lang="en-US" altLang="en-US" sz="1400" b="1">
                  <a:solidFill>
                    <a:srgbClr val="000000"/>
                  </a:solidFill>
                  <a:latin typeface="Cambria" panose="02040503050406030204" pitchFamily="18" charset="0"/>
                </a:rPr>
              </a:br>
              <a:r>
                <a:rPr lang="en-US" altLang="en-US" sz="1400" b="1">
                  <a:solidFill>
                    <a:srgbClr val="000000"/>
                  </a:solidFill>
                  <a:latin typeface="Cambria" panose="02040503050406030204" pitchFamily="18" charset="0"/>
                </a:rPr>
                <a:t>B cell</a:t>
              </a:r>
            </a:p>
          </p:txBody>
        </p:sp>
        <p:sp>
          <p:nvSpPr>
            <p:cNvPr id="19" name="Line 31"/>
            <p:cNvSpPr>
              <a:spLocks noChangeShapeType="1"/>
            </p:cNvSpPr>
            <p:nvPr/>
          </p:nvSpPr>
          <p:spPr bwMode="auto">
            <a:xfrm>
              <a:off x="5524500" y="3048000"/>
              <a:ext cx="419100" cy="406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Line 32"/>
            <p:cNvSpPr>
              <a:spLocks noChangeShapeType="1"/>
            </p:cNvSpPr>
            <p:nvPr/>
          </p:nvSpPr>
          <p:spPr bwMode="auto">
            <a:xfrm>
              <a:off x="5257800" y="3390900"/>
              <a:ext cx="330200" cy="2159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Line 33"/>
            <p:cNvSpPr>
              <a:spLocks noChangeShapeType="1"/>
            </p:cNvSpPr>
            <p:nvPr/>
          </p:nvSpPr>
          <p:spPr bwMode="auto">
            <a:xfrm flipV="1">
              <a:off x="3949700" y="3060700"/>
              <a:ext cx="279400" cy="50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2" name="Group 36"/>
            <p:cNvGrpSpPr>
              <a:grpSpLocks/>
            </p:cNvGrpSpPr>
            <p:nvPr/>
          </p:nvGrpSpPr>
          <p:grpSpPr bwMode="auto">
            <a:xfrm>
              <a:off x="1854200" y="4546600"/>
              <a:ext cx="304800" cy="279400"/>
              <a:chOff x="208" y="2864"/>
              <a:chExt cx="192" cy="176"/>
            </a:xfrm>
          </p:grpSpPr>
          <p:sp>
            <p:nvSpPr>
              <p:cNvPr id="35" name="Oval 34"/>
              <p:cNvSpPr>
                <a:spLocks noChangeArrowheads="1"/>
              </p:cNvSpPr>
              <p:nvPr/>
            </p:nvSpPr>
            <p:spPr bwMode="auto">
              <a:xfrm>
                <a:off x="208" y="2864"/>
                <a:ext cx="192" cy="176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45000"/>
                  </a:spcBef>
                  <a:spcAft>
                    <a:spcPct val="2000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45000"/>
                  </a:spcBef>
                  <a:spcAft>
                    <a:spcPct val="20000"/>
                  </a:spcAft>
                  <a:buClr>
                    <a:srgbClr val="5D2F49"/>
                  </a:buClr>
                  <a:buFont typeface="Times" panose="02020603050405020304" pitchFamily="18" charset="0"/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None/>
                </a:pPr>
                <a:endParaRPr lang="en-US" altLang="en-US" sz="2400">
                  <a:solidFill>
                    <a:srgbClr val="000000"/>
                  </a:solidFill>
                  <a:latin typeface="Cambria" panose="02040503050406030204" pitchFamily="18" charset="0"/>
                </a:endParaRPr>
              </a:p>
            </p:txBody>
          </p:sp>
          <p:sp>
            <p:nvSpPr>
              <p:cNvPr id="36" name="Text Box 35"/>
              <p:cNvSpPr txBox="1">
                <a:spLocks noChangeArrowheads="1"/>
              </p:cNvSpPr>
              <p:nvPr/>
            </p:nvSpPr>
            <p:spPr bwMode="auto">
              <a:xfrm>
                <a:off x="273" y="2878"/>
                <a:ext cx="102" cy="1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/>
              <a:lstStyle>
                <a:lvl1pPr>
                  <a:spcBef>
                    <a:spcPct val="45000"/>
                  </a:spcBef>
                  <a:spcAft>
                    <a:spcPct val="2000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45000"/>
                  </a:spcBef>
                  <a:spcAft>
                    <a:spcPct val="20000"/>
                  </a:spcAft>
                  <a:buClr>
                    <a:srgbClr val="5D2F49"/>
                  </a:buClr>
                  <a:buFont typeface="Times" panose="02020603050405020304" pitchFamily="18" charset="0"/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None/>
                </a:pPr>
                <a:r>
                  <a:rPr lang="en-US" altLang="en-US" sz="1400" b="1">
                    <a:solidFill>
                      <a:srgbClr val="FFFFFF"/>
                    </a:solidFill>
                    <a:latin typeface="Cambria" panose="02040503050406030204" pitchFamily="18" charset="0"/>
                  </a:rPr>
                  <a:t>1</a:t>
                </a:r>
              </a:p>
            </p:txBody>
          </p:sp>
        </p:grpSp>
        <p:grpSp>
          <p:nvGrpSpPr>
            <p:cNvPr id="23" name="Group 37"/>
            <p:cNvGrpSpPr>
              <a:grpSpLocks/>
            </p:cNvGrpSpPr>
            <p:nvPr/>
          </p:nvGrpSpPr>
          <p:grpSpPr bwMode="auto">
            <a:xfrm>
              <a:off x="3594100" y="4546600"/>
              <a:ext cx="304800" cy="279400"/>
              <a:chOff x="208" y="2864"/>
              <a:chExt cx="192" cy="176"/>
            </a:xfrm>
          </p:grpSpPr>
          <p:sp>
            <p:nvSpPr>
              <p:cNvPr id="33" name="Oval 38"/>
              <p:cNvSpPr>
                <a:spLocks noChangeArrowheads="1"/>
              </p:cNvSpPr>
              <p:nvPr/>
            </p:nvSpPr>
            <p:spPr bwMode="auto">
              <a:xfrm>
                <a:off x="208" y="2864"/>
                <a:ext cx="192" cy="176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45000"/>
                  </a:spcBef>
                  <a:spcAft>
                    <a:spcPct val="2000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45000"/>
                  </a:spcBef>
                  <a:spcAft>
                    <a:spcPct val="20000"/>
                  </a:spcAft>
                  <a:buClr>
                    <a:srgbClr val="5D2F49"/>
                  </a:buClr>
                  <a:buFont typeface="Times" panose="02020603050405020304" pitchFamily="18" charset="0"/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None/>
                </a:pPr>
                <a:endParaRPr lang="en-US" altLang="en-US" sz="2400">
                  <a:solidFill>
                    <a:srgbClr val="000000"/>
                  </a:solidFill>
                  <a:latin typeface="Cambria" panose="02040503050406030204" pitchFamily="18" charset="0"/>
                </a:endParaRPr>
              </a:p>
            </p:txBody>
          </p:sp>
          <p:sp>
            <p:nvSpPr>
              <p:cNvPr id="34" name="Text Box 39"/>
              <p:cNvSpPr txBox="1">
                <a:spLocks noChangeArrowheads="1"/>
              </p:cNvSpPr>
              <p:nvPr/>
            </p:nvSpPr>
            <p:spPr bwMode="auto">
              <a:xfrm>
                <a:off x="273" y="2878"/>
                <a:ext cx="102" cy="1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/>
              <a:lstStyle>
                <a:lvl1pPr>
                  <a:spcBef>
                    <a:spcPct val="45000"/>
                  </a:spcBef>
                  <a:spcAft>
                    <a:spcPct val="2000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45000"/>
                  </a:spcBef>
                  <a:spcAft>
                    <a:spcPct val="20000"/>
                  </a:spcAft>
                  <a:buClr>
                    <a:srgbClr val="5D2F49"/>
                  </a:buClr>
                  <a:buFont typeface="Times" panose="02020603050405020304" pitchFamily="18" charset="0"/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None/>
                </a:pPr>
                <a:r>
                  <a:rPr lang="en-US" altLang="en-US" sz="1400" b="1">
                    <a:solidFill>
                      <a:srgbClr val="FFFFFF"/>
                    </a:solidFill>
                    <a:latin typeface="Cambria" panose="02040503050406030204" pitchFamily="18" charset="0"/>
                  </a:rPr>
                  <a:t>2</a:t>
                </a:r>
              </a:p>
            </p:txBody>
          </p:sp>
        </p:grpSp>
        <p:grpSp>
          <p:nvGrpSpPr>
            <p:cNvPr id="24" name="Group 40"/>
            <p:cNvGrpSpPr>
              <a:grpSpLocks/>
            </p:cNvGrpSpPr>
            <p:nvPr/>
          </p:nvGrpSpPr>
          <p:grpSpPr bwMode="auto">
            <a:xfrm>
              <a:off x="5308600" y="4546600"/>
              <a:ext cx="304800" cy="279400"/>
              <a:chOff x="208" y="2864"/>
              <a:chExt cx="192" cy="176"/>
            </a:xfrm>
          </p:grpSpPr>
          <p:sp>
            <p:nvSpPr>
              <p:cNvPr id="31" name="Oval 41"/>
              <p:cNvSpPr>
                <a:spLocks noChangeArrowheads="1"/>
              </p:cNvSpPr>
              <p:nvPr/>
            </p:nvSpPr>
            <p:spPr bwMode="auto">
              <a:xfrm>
                <a:off x="208" y="2864"/>
                <a:ext cx="192" cy="176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45000"/>
                  </a:spcBef>
                  <a:spcAft>
                    <a:spcPct val="2000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45000"/>
                  </a:spcBef>
                  <a:spcAft>
                    <a:spcPct val="20000"/>
                  </a:spcAft>
                  <a:buClr>
                    <a:srgbClr val="5D2F49"/>
                  </a:buClr>
                  <a:buFont typeface="Times" panose="02020603050405020304" pitchFamily="18" charset="0"/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None/>
                </a:pPr>
                <a:endParaRPr lang="en-US" altLang="en-US" sz="2400">
                  <a:solidFill>
                    <a:srgbClr val="000000"/>
                  </a:solidFill>
                  <a:latin typeface="Cambria" panose="02040503050406030204" pitchFamily="18" charset="0"/>
                </a:endParaRPr>
              </a:p>
            </p:txBody>
          </p:sp>
          <p:sp>
            <p:nvSpPr>
              <p:cNvPr id="32" name="Text Box 42"/>
              <p:cNvSpPr txBox="1">
                <a:spLocks noChangeArrowheads="1"/>
              </p:cNvSpPr>
              <p:nvPr/>
            </p:nvSpPr>
            <p:spPr bwMode="auto">
              <a:xfrm>
                <a:off x="273" y="2878"/>
                <a:ext cx="102" cy="1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/>
              <a:lstStyle>
                <a:lvl1pPr>
                  <a:spcBef>
                    <a:spcPct val="45000"/>
                  </a:spcBef>
                  <a:spcAft>
                    <a:spcPct val="2000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45000"/>
                  </a:spcBef>
                  <a:spcAft>
                    <a:spcPct val="20000"/>
                  </a:spcAft>
                  <a:buClr>
                    <a:srgbClr val="5D2F49"/>
                  </a:buClr>
                  <a:buFont typeface="Times" panose="02020603050405020304" pitchFamily="18" charset="0"/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None/>
                </a:pPr>
                <a:r>
                  <a:rPr lang="en-US" altLang="en-US" sz="1400" b="1">
                    <a:solidFill>
                      <a:srgbClr val="FFFFFF"/>
                    </a:solidFill>
                    <a:latin typeface="Cambria" panose="02040503050406030204" pitchFamily="18" charset="0"/>
                  </a:rPr>
                  <a:t>3</a:t>
                </a:r>
              </a:p>
            </p:txBody>
          </p:sp>
        </p:grpSp>
        <p:grpSp>
          <p:nvGrpSpPr>
            <p:cNvPr id="25" name="Group 43"/>
            <p:cNvGrpSpPr>
              <a:grpSpLocks/>
            </p:cNvGrpSpPr>
            <p:nvPr/>
          </p:nvGrpSpPr>
          <p:grpSpPr bwMode="auto">
            <a:xfrm>
              <a:off x="6921500" y="4546600"/>
              <a:ext cx="304800" cy="279400"/>
              <a:chOff x="208" y="2864"/>
              <a:chExt cx="192" cy="176"/>
            </a:xfrm>
          </p:grpSpPr>
          <p:sp>
            <p:nvSpPr>
              <p:cNvPr id="29" name="Oval 44"/>
              <p:cNvSpPr>
                <a:spLocks noChangeArrowheads="1"/>
              </p:cNvSpPr>
              <p:nvPr/>
            </p:nvSpPr>
            <p:spPr bwMode="auto">
              <a:xfrm>
                <a:off x="208" y="2864"/>
                <a:ext cx="192" cy="176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45000"/>
                  </a:spcBef>
                  <a:spcAft>
                    <a:spcPct val="2000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45000"/>
                  </a:spcBef>
                  <a:spcAft>
                    <a:spcPct val="20000"/>
                  </a:spcAft>
                  <a:buClr>
                    <a:srgbClr val="5D2F49"/>
                  </a:buClr>
                  <a:buFont typeface="Times" panose="02020603050405020304" pitchFamily="18" charset="0"/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None/>
                </a:pPr>
                <a:endParaRPr lang="en-US" altLang="en-US" sz="2400">
                  <a:solidFill>
                    <a:srgbClr val="000000"/>
                  </a:solidFill>
                  <a:latin typeface="Cambria" panose="02040503050406030204" pitchFamily="18" charset="0"/>
                </a:endParaRPr>
              </a:p>
            </p:txBody>
          </p:sp>
          <p:sp>
            <p:nvSpPr>
              <p:cNvPr id="30" name="Text Box 45"/>
              <p:cNvSpPr txBox="1">
                <a:spLocks noChangeArrowheads="1"/>
              </p:cNvSpPr>
              <p:nvPr/>
            </p:nvSpPr>
            <p:spPr bwMode="auto">
              <a:xfrm>
                <a:off x="273" y="2878"/>
                <a:ext cx="102" cy="1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/>
              <a:lstStyle>
                <a:lvl1pPr>
                  <a:spcBef>
                    <a:spcPct val="45000"/>
                  </a:spcBef>
                  <a:spcAft>
                    <a:spcPct val="2000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45000"/>
                  </a:spcBef>
                  <a:spcAft>
                    <a:spcPct val="20000"/>
                  </a:spcAft>
                  <a:buClr>
                    <a:srgbClr val="5D2F49"/>
                  </a:buClr>
                  <a:buFont typeface="Times" panose="02020603050405020304" pitchFamily="18" charset="0"/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None/>
                </a:pPr>
                <a:r>
                  <a:rPr lang="en-US" altLang="en-US" sz="1400" b="1">
                    <a:solidFill>
                      <a:srgbClr val="FFFFFF"/>
                    </a:solidFill>
                    <a:latin typeface="Cambria" panose="02040503050406030204" pitchFamily="18" charset="0"/>
                  </a:rPr>
                  <a:t>4</a:t>
                </a:r>
              </a:p>
            </p:txBody>
          </p:sp>
        </p:grpSp>
        <p:grpSp>
          <p:nvGrpSpPr>
            <p:cNvPr id="26" name="Group 46"/>
            <p:cNvGrpSpPr>
              <a:grpSpLocks/>
            </p:cNvGrpSpPr>
            <p:nvPr/>
          </p:nvGrpSpPr>
          <p:grpSpPr bwMode="auto">
            <a:xfrm>
              <a:off x="8813800" y="4546600"/>
              <a:ext cx="304800" cy="279400"/>
              <a:chOff x="208" y="2864"/>
              <a:chExt cx="192" cy="176"/>
            </a:xfrm>
          </p:grpSpPr>
          <p:sp>
            <p:nvSpPr>
              <p:cNvPr id="27" name="Oval 47"/>
              <p:cNvSpPr>
                <a:spLocks noChangeArrowheads="1"/>
              </p:cNvSpPr>
              <p:nvPr/>
            </p:nvSpPr>
            <p:spPr bwMode="auto">
              <a:xfrm>
                <a:off x="208" y="2864"/>
                <a:ext cx="192" cy="176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45000"/>
                  </a:spcBef>
                  <a:spcAft>
                    <a:spcPct val="2000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45000"/>
                  </a:spcBef>
                  <a:spcAft>
                    <a:spcPct val="20000"/>
                  </a:spcAft>
                  <a:buClr>
                    <a:srgbClr val="5D2F49"/>
                  </a:buClr>
                  <a:buFont typeface="Times" panose="02020603050405020304" pitchFamily="18" charset="0"/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None/>
                </a:pPr>
                <a:endParaRPr lang="en-US" altLang="en-US" sz="2400">
                  <a:solidFill>
                    <a:srgbClr val="000000"/>
                  </a:solidFill>
                  <a:latin typeface="Cambria" panose="02040503050406030204" pitchFamily="18" charset="0"/>
                </a:endParaRPr>
              </a:p>
            </p:txBody>
          </p:sp>
          <p:sp>
            <p:nvSpPr>
              <p:cNvPr id="28" name="Text Box 48"/>
              <p:cNvSpPr txBox="1">
                <a:spLocks noChangeArrowheads="1"/>
              </p:cNvSpPr>
              <p:nvPr/>
            </p:nvSpPr>
            <p:spPr bwMode="auto">
              <a:xfrm>
                <a:off x="273" y="2878"/>
                <a:ext cx="102" cy="1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/>
              <a:lstStyle>
                <a:lvl1pPr>
                  <a:spcBef>
                    <a:spcPct val="45000"/>
                  </a:spcBef>
                  <a:spcAft>
                    <a:spcPct val="2000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45000"/>
                  </a:spcBef>
                  <a:spcAft>
                    <a:spcPct val="20000"/>
                  </a:spcAft>
                  <a:buClr>
                    <a:srgbClr val="5D2F49"/>
                  </a:buClr>
                  <a:buFont typeface="Times" panose="02020603050405020304" pitchFamily="18" charset="0"/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None/>
                </a:pPr>
                <a:r>
                  <a:rPr lang="en-US" altLang="en-US" sz="1400" b="1">
                    <a:solidFill>
                      <a:srgbClr val="FFFFFF"/>
                    </a:solidFill>
                    <a:latin typeface="Cambria" panose="02040503050406030204" pitchFamily="18" charset="0"/>
                  </a:rPr>
                  <a:t>5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730772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Immune Disorders: Autoimmune Diseases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Caused by that the immune system improperly turns against the body’s own molecules</a:t>
            </a:r>
          </a:p>
          <a:p>
            <a:pPr lvl="1"/>
            <a:r>
              <a:rPr lang="en-US" altLang="zh-CN" dirty="0"/>
              <a:t>Systemic lupus erythematosus (</a:t>
            </a:r>
            <a:r>
              <a:rPr lang="zh-CN" altLang="en-US" dirty="0"/>
              <a:t>系统性红斑狼疮</a:t>
            </a:r>
            <a:r>
              <a:rPr lang="en-US" altLang="zh-CN" dirty="0"/>
              <a:t>)</a:t>
            </a:r>
          </a:p>
          <a:p>
            <a:pPr lvl="2"/>
            <a:r>
              <a:rPr lang="en-US" altLang="zh-CN" dirty="0"/>
              <a:t>target self-molecules proteins, DNA</a:t>
            </a:r>
            <a:endParaRPr lang="zh-CN" altLang="en-US" dirty="0"/>
          </a:p>
          <a:p>
            <a:pPr lvl="1"/>
            <a:r>
              <a:rPr lang="en-US" altLang="zh-CN" dirty="0"/>
              <a:t>Rheumatoid arthritis (</a:t>
            </a:r>
            <a:r>
              <a:rPr lang="zh-CN" altLang="en-US" dirty="0"/>
              <a:t>类风湿性关节炎</a:t>
            </a:r>
            <a:r>
              <a:rPr lang="en-US" altLang="zh-CN" dirty="0"/>
              <a:t>)</a:t>
            </a:r>
          </a:p>
          <a:p>
            <a:pPr lvl="2"/>
            <a:r>
              <a:rPr lang="en-US" altLang="zh-CN" dirty="0"/>
              <a:t>target cartilage and bones of joints </a:t>
            </a:r>
            <a:endParaRPr lang="zh-CN" altLang="en-US" dirty="0"/>
          </a:p>
          <a:p>
            <a:pPr lvl="1"/>
            <a:r>
              <a:rPr lang="en-US" altLang="zh-CN" dirty="0"/>
              <a:t>Insulin-dependent diabetes (</a:t>
            </a:r>
            <a:r>
              <a:rPr lang="zh-CN" altLang="en-US" dirty="0"/>
              <a:t>一型糖尿病</a:t>
            </a:r>
            <a:r>
              <a:rPr lang="en-US" altLang="zh-CN" dirty="0"/>
              <a:t>) </a:t>
            </a:r>
          </a:p>
          <a:p>
            <a:pPr lvl="2"/>
            <a:r>
              <a:rPr lang="en-US" altLang="zh-CN" dirty="0"/>
              <a:t>target insulin-producing cells</a:t>
            </a:r>
            <a:endParaRPr lang="zh-CN" altLang="en-US" dirty="0"/>
          </a:p>
          <a:p>
            <a:pPr lvl="1"/>
            <a:r>
              <a:rPr lang="en-US" altLang="zh-CN" dirty="0"/>
              <a:t>Multiple sclerosis (</a:t>
            </a:r>
            <a:r>
              <a:rPr lang="zh-CN" altLang="en-US" dirty="0"/>
              <a:t>多发性硬化症</a:t>
            </a:r>
            <a:r>
              <a:rPr lang="en-US" altLang="zh-CN" dirty="0"/>
              <a:t>)</a:t>
            </a:r>
          </a:p>
          <a:p>
            <a:pPr lvl="2"/>
            <a:r>
              <a:rPr lang="en-US" altLang="zh-CN" dirty="0"/>
              <a:t>target proteins in neurons</a:t>
            </a: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7523" y="3142529"/>
            <a:ext cx="5064477" cy="335034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255823" y="5450774"/>
            <a:ext cx="2256312" cy="10421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53792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34D23C-C6C5-482D-C259-6D47EF0CA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DBA72B-01FD-627D-BEDC-FE15BB2333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9E3735D-087F-BC34-8C9C-487EA28E03DB}"/>
              </a:ext>
            </a:extLst>
          </p:cNvPr>
          <p:cNvSpPr txBox="1"/>
          <p:nvPr/>
        </p:nvSpPr>
        <p:spPr>
          <a:xfrm>
            <a:off x="6095164" y="6457890"/>
            <a:ext cx="60968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000" dirty="0"/>
              <a:t>Popular information. NobelPrize.org. Nobel Prize Outreach 2025. Sat. 6 Dec 2025. &lt;https://www.nobelprize.org/prizes/medicine/2025/popular-information/&gt;</a:t>
            </a:r>
            <a:endParaRPr lang="zh-CN" altLang="en-US" sz="100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47C1E33-0F57-09E6-FCD2-40FA0B9D7C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164" y="3359843"/>
            <a:ext cx="5841442" cy="313303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1BF661B-D2E7-8D2D-5AC5-8728088EE3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987" y="0"/>
            <a:ext cx="5683979" cy="685800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DB4952CA-9D2E-7E0B-4845-6B3106B99E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548" y="132523"/>
            <a:ext cx="5330674" cy="3227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23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Immune Disorders: Immunodeficiency Diseases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When one or more of the components of the immune system are lacking, affected people become </a:t>
            </a:r>
            <a:r>
              <a:rPr lang="en-US" altLang="zh-CN" dirty="0">
                <a:highlight>
                  <a:srgbClr val="FFFF00"/>
                </a:highlight>
              </a:rPr>
              <a:t>more susceptible to infections.</a:t>
            </a:r>
          </a:p>
          <a:p>
            <a:r>
              <a:rPr lang="en-US" altLang="zh-CN" dirty="0"/>
              <a:t>Immunodeficiency may arise from </a:t>
            </a:r>
          </a:p>
          <a:p>
            <a:pPr lvl="1"/>
            <a:r>
              <a:rPr lang="en-US" altLang="zh-CN" dirty="0"/>
              <a:t>inborn conditions such as severe combined immunodeficiency (SCID)</a:t>
            </a:r>
          </a:p>
          <a:p>
            <a:pPr lvl="2"/>
            <a:r>
              <a:rPr lang="en-US" altLang="zh-CN" dirty="0"/>
              <a:t>both B cells and T cells are absent or inactive</a:t>
            </a:r>
          </a:p>
          <a:p>
            <a:pPr lvl="1"/>
            <a:r>
              <a:rPr lang="en-US" altLang="zh-CN" dirty="0"/>
              <a:t>radiation or drug therapies used against many cancers</a:t>
            </a:r>
          </a:p>
          <a:p>
            <a:pPr lvl="1"/>
            <a:r>
              <a:rPr lang="en-US" altLang="zh-CN" dirty="0"/>
              <a:t>acquired illness, such as AIDS</a:t>
            </a:r>
          </a:p>
          <a:p>
            <a:pPr lvl="2"/>
            <a:r>
              <a:rPr lang="en-US" altLang="zh-CN" dirty="0"/>
              <a:t>By HIV attacking helper T cells severely impairs the adaptive immune defenses</a:t>
            </a:r>
          </a:p>
          <a:p>
            <a:pPr lvl="2"/>
            <a:r>
              <a:rPr lang="en-US" altLang="zh-CN" dirty="0"/>
              <a:t>Prevention by education: safe sex behaviors, such as abstinence and using condoms</a:t>
            </a:r>
          </a:p>
          <a:p>
            <a:pPr lvl="2"/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6982152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D8E453B-7AA7-4C46-882D-480156C082FD}"/>
              </a:ext>
            </a:extLst>
          </p:cNvPr>
          <p:cNvSpPr/>
          <p:nvPr/>
        </p:nvSpPr>
        <p:spPr>
          <a:xfrm>
            <a:off x="1524000" y="6550224"/>
            <a:ext cx="9144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https://www.ted.com/talks/philip_a_chan_how_close_are_we_to_eradicating_hiv?language=en#t-70307</a:t>
            </a:r>
            <a:endParaRPr 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905" y="0"/>
            <a:ext cx="11676190" cy="64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4217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87C4FB-96CC-4CEF-19EF-61E2CDA24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Cancer Immunotherapy </a:t>
            </a:r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31D72B3-CDD8-08F3-9567-1A99AEC5A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pic>
        <p:nvPicPr>
          <p:cNvPr id="33793" name="Picture 2">
            <a:extLst>
              <a:ext uri="{FF2B5EF4-FFF2-40B4-BE49-F238E27FC236}">
                <a16:creationId xmlns:a16="http://schemas.microsoft.com/office/drawing/2014/main" id="{0214B368-F878-014C-B141-757D961A16A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688" y="1227138"/>
            <a:ext cx="8945699" cy="5265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9860579-22A6-4AF1-FB5E-2FF5FF76CFA8}"/>
              </a:ext>
            </a:extLst>
          </p:cNvPr>
          <p:cNvSpPr txBox="1"/>
          <p:nvPr/>
        </p:nvSpPr>
        <p:spPr>
          <a:xfrm>
            <a:off x="4991100" y="3860006"/>
            <a:ext cx="2057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Chemotherapy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35213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F80A581-BD89-B38A-8B7F-663127EC7A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41" t="1190"/>
          <a:stretch>
            <a:fillRect/>
          </a:stretch>
        </p:blipFill>
        <p:spPr>
          <a:xfrm>
            <a:off x="543591" y="199919"/>
            <a:ext cx="5777759" cy="6458163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497B0A55-08F4-9B0B-7B87-1F060C74C8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1350" y="199919"/>
            <a:ext cx="5870650" cy="6458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3A720F8-BB0C-3FE1-4F6A-D5900093A952}"/>
              </a:ext>
            </a:extLst>
          </p:cNvPr>
          <p:cNvSpPr txBox="1"/>
          <p:nvPr/>
        </p:nvSpPr>
        <p:spPr>
          <a:xfrm>
            <a:off x="5689600" y="6457890"/>
            <a:ext cx="6502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Press release. NobelPrize.org. Nobel Prize Outreach 2025. Sun. 20 Jul 2025. &lt;https://www.nobelprize.org/prizes/medicine/2018/press-release/&gt;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03471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5A162-7ECA-D901-BA46-A68DCCF6C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63F042E3-C9E5-F4B8-531A-EB512BA58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4959" y="152400"/>
            <a:ext cx="5957041" cy="655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10D63776-1828-9F38-5A51-98005EE88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65125"/>
            <a:ext cx="6019800" cy="1325563"/>
          </a:xfrm>
        </p:spPr>
        <p:txBody>
          <a:bodyPr>
            <a:noAutofit/>
          </a:bodyPr>
          <a:lstStyle/>
          <a:p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James Allison &amp; CTLA-4 </a:t>
            </a:r>
            <a:b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The "Brake" Breakthrough</a:t>
            </a:r>
            <a:endParaRPr lang="zh-CN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FB3EF8-7870-4E58-E6BA-FBA689E35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825625"/>
            <a:ext cx="6019800" cy="435133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altLang="zh-CN" b="1" dirty="0"/>
              <a:t>CTLA-4</a:t>
            </a:r>
            <a:r>
              <a:rPr lang="en-US" altLang="zh-CN" dirty="0"/>
              <a:t> (Cytotoxic T-lymphocyte-associated protein 4) 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A “parking brake” on T cells</a:t>
            </a:r>
            <a:endParaRPr lang="en-US" altLang="zh-CN" b="1" dirty="0"/>
          </a:p>
          <a:p>
            <a:pPr>
              <a:lnSpc>
                <a:spcPct val="150000"/>
              </a:lnSpc>
            </a:pPr>
            <a:r>
              <a:rPr lang="en-US" altLang="zh-CN" dirty="0"/>
              <a:t>Removing the brake lets T-cells attack tumors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CTLA-4 Off = Immune Attack On!</a:t>
            </a:r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79B6BB6-0FB6-61FA-8F32-4EA58C819F06}"/>
              </a:ext>
            </a:extLst>
          </p:cNvPr>
          <p:cNvSpPr/>
          <p:nvPr/>
        </p:nvSpPr>
        <p:spPr>
          <a:xfrm>
            <a:off x="9070974" y="116964"/>
            <a:ext cx="3048000" cy="52678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6146" name="Picture 2" descr="650+ Car Emergency Brake Stock Illustrations, Royalty-Free Vector Graphics  &amp; Clip Art - iStock">
            <a:extLst>
              <a:ext uri="{FF2B5EF4-FFF2-40B4-BE49-F238E27FC236}">
                <a16:creationId xmlns:a16="http://schemas.microsoft.com/office/drawing/2014/main" id="{D87184C7-FF53-3877-7677-6485C8B158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1337" y="2752712"/>
            <a:ext cx="2457450" cy="2457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B2CE637-2812-0C48-598D-82A256498645}"/>
              </a:ext>
            </a:extLst>
          </p:cNvPr>
          <p:cNvSpPr txBox="1"/>
          <p:nvPr/>
        </p:nvSpPr>
        <p:spPr>
          <a:xfrm>
            <a:off x="5689600" y="6457890"/>
            <a:ext cx="6502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Press release. NobelPrize.org. Nobel Prize Outreach 2025. Sun. 20 Jul 2025. &lt;https://www.nobelprize.org/prizes/medicine/2018/press-release/&gt;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83093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4C564-F8E3-E3A5-EB09-4D8BADB7B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843607EB-3ED7-8F58-EDA8-5803D0FB04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4959" y="0"/>
            <a:ext cx="5957041" cy="655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7604D7DB-1CF1-2CA4-AB08-AEFE4763F369}"/>
              </a:ext>
            </a:extLst>
          </p:cNvPr>
          <p:cNvSpPr/>
          <p:nvPr/>
        </p:nvSpPr>
        <p:spPr>
          <a:xfrm>
            <a:off x="6297718" y="0"/>
            <a:ext cx="3074882" cy="5257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30722" name="Picture 2">
            <a:extLst>
              <a:ext uri="{FF2B5EF4-FFF2-40B4-BE49-F238E27FC236}">
                <a16:creationId xmlns:a16="http://schemas.microsoft.com/office/drawing/2014/main" id="{C423AD2B-E426-8549-B816-C865C8771F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4040" y="2362200"/>
            <a:ext cx="3894565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91AB9890-DEB9-66E1-5BC5-06D1FF3DF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534400" cy="1325563"/>
          </a:xfrm>
        </p:spPr>
        <p:txBody>
          <a:bodyPr>
            <a:normAutofit/>
          </a:bodyPr>
          <a:lstStyle/>
          <a:p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Tasuku Honjo &amp; PD-1</a:t>
            </a:r>
            <a:b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A Different Brake</a:t>
            </a:r>
            <a:endParaRPr lang="zh-CN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9C5C6D-8B31-C0B4-77F0-C1BD7F3FD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458200" cy="4351338"/>
          </a:xfrm>
        </p:spPr>
        <p:txBody>
          <a:bodyPr>
            <a:normAutofit/>
          </a:bodyPr>
          <a:lstStyle/>
          <a:p>
            <a:r>
              <a:rPr lang="en-US" altLang="zh-CN" b="1" dirty="0"/>
              <a:t>PD-1</a:t>
            </a:r>
            <a:r>
              <a:rPr lang="en-US" altLang="zh-CN" dirty="0"/>
              <a:t>, Programmed cell death protein 1</a:t>
            </a:r>
          </a:p>
          <a:p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AFA9927-40F1-88AB-B9C3-571F639C975A}"/>
              </a:ext>
            </a:extLst>
          </p:cNvPr>
          <p:cNvSpPr txBox="1"/>
          <p:nvPr/>
        </p:nvSpPr>
        <p:spPr>
          <a:xfrm>
            <a:off x="5689600" y="6457890"/>
            <a:ext cx="6502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Press release. NobelPrize.org. Nobel Prize Outreach 2025. Sun. 20 Jul 2025. &lt;https://www.nobelprize.org/prizes/medicine/2018/press-release/&gt;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11499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0AF649-349B-CED9-D96C-D11EA6DCF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Autoimmune Side Effects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22FF3A-1519-6061-979B-404CB56103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054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b="1" dirty="0">
                <a:highlight>
                  <a:srgbClr val="FFFF00"/>
                </a:highlight>
              </a:rPr>
              <a:t>Overactive</a:t>
            </a:r>
            <a:r>
              <a:rPr lang="en-US" altLang="zh-CN" dirty="0"/>
              <a:t> T-cells can attack healthy cells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So, carefully </a:t>
            </a:r>
            <a:r>
              <a:rPr lang="en-US" altLang="zh-CN" dirty="0">
                <a:solidFill>
                  <a:srgbClr val="00B050"/>
                </a:solidFill>
              </a:rPr>
              <a:t>unleash the Hulk</a:t>
            </a:r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9C443285-2720-D4EF-D052-8706898801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9325" y="1825625"/>
            <a:ext cx="6162675" cy="3848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3FD0CCF-A52D-0612-EFBA-15B2F27CF3FD}"/>
              </a:ext>
            </a:extLst>
          </p:cNvPr>
          <p:cNvSpPr txBox="1"/>
          <p:nvPr/>
        </p:nvSpPr>
        <p:spPr>
          <a:xfrm>
            <a:off x="7543800" y="4876800"/>
            <a:ext cx="3581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"friendly fire" mishap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 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11586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E1F2220-0147-4956-8952-73F911519C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163" y="838201"/>
            <a:ext cx="11741675" cy="51815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C971729-6A4B-4290-AB37-3CAA62D37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126" y="6534150"/>
            <a:ext cx="3190875" cy="32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3426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Chimeric Antigen Receptor (CAR) T-cell Therapy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Picture 2" descr="undefined">
            <a:extLst>
              <a:ext uri="{FF2B5EF4-FFF2-40B4-BE49-F238E27FC236}">
                <a16:creationId xmlns:a16="http://schemas.microsoft.com/office/drawing/2014/main" id="{C1466899-A16C-6D26-AA33-B2BAB4C233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242" y="1643138"/>
            <a:ext cx="11429516" cy="3571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6096000" y="6611779"/>
            <a:ext cx="6096000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r>
              <a:rPr lang="en-US" altLang="zh-CN" sz="1000" dirty="0"/>
              <a:t>https://commons.wikimedia.org/wiki/File:CAR_T-cell_Therapy.svg#/media/File:CAR_T-cell_Therapy.svg</a:t>
            </a:r>
            <a:endParaRPr lang="zh-CN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941904845"/>
      </p:ext>
    </p:extLst>
  </p:cSld>
  <p:clrMapOvr>
    <a:masterClrMapping/>
  </p:clrMapOvr>
</p:sld>
</file>

<file path=ppt/theme/theme1.xml><?xml version="1.0" encoding="utf-8"?>
<a:theme xmlns:a="http://schemas.openxmlformats.org/drawingml/2006/main" name="CampbellEB6_Lecture_Desig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仿宋"/>
        <a:cs typeface=""/>
      </a:majorFont>
      <a:minorFont>
        <a:latin typeface="Arial"/>
        <a:ea typeface="仿宋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mpbellEB6_Lecture_Design" id="{B6DE6437-4D3C-4EDA-98E9-FA36A5B6B78F}" vid="{61AD6984-E196-4B60-B50C-5CFEAA8E5D4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2336</Words>
  <Application>Microsoft Office PowerPoint</Application>
  <PresentationFormat>Widescreen</PresentationFormat>
  <Paragraphs>367</Paragraphs>
  <Slides>41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0" baseType="lpstr">
      <vt:lpstr>楷体</vt:lpstr>
      <vt:lpstr>等线</vt:lpstr>
      <vt:lpstr>Arial</vt:lpstr>
      <vt:lpstr>Calibri</vt:lpstr>
      <vt:lpstr>Cambria</vt:lpstr>
      <vt:lpstr>Times</vt:lpstr>
      <vt:lpstr>Times New Roman</vt:lpstr>
      <vt:lpstr>Wingdings</vt:lpstr>
      <vt:lpstr>CampbellEB6_Lecture_Design</vt:lpstr>
      <vt:lpstr>PowerPoint Presentation</vt:lpstr>
      <vt:lpstr>Learning Outcomes 1</vt:lpstr>
      <vt:lpstr>The Immune System (免疫系统) and Pathogens (病原体) </vt:lpstr>
      <vt:lpstr>PowerPoint Presentation</vt:lpstr>
      <vt:lpstr>Innate Defenses (先天防御) </vt:lpstr>
      <vt:lpstr>Innate Defenses (先天防御): External Innate Defenses  </vt:lpstr>
      <vt:lpstr>Innate Defenses (先天防御): Internal Innate Defenses </vt:lpstr>
      <vt:lpstr>PowerPoint Presentation</vt:lpstr>
      <vt:lpstr>Internal Innate Defenses: The Inflammatory Response (炎症反应)</vt:lpstr>
      <vt:lpstr>The Lymphatic System (淋巴系统) </vt:lpstr>
      <vt:lpstr>PowerPoint Presentation</vt:lpstr>
      <vt:lpstr>Learning Outcomes 2</vt:lpstr>
      <vt:lpstr>Adaptive Defenses</vt:lpstr>
      <vt:lpstr>Adaptive Defenses Step 1: Recognizing the Invaders</vt:lpstr>
      <vt:lpstr>Adaptive Defenses Step 1: Recognizing the Invaders by B Cells</vt:lpstr>
      <vt:lpstr>Adaptive Defenses Step 1: Recognizing the Invaders by T Cells</vt:lpstr>
      <vt:lpstr>Adaptive Defenses Step 2: Clonal Selection</vt:lpstr>
      <vt:lpstr>Adaptive Defenses Step 3: Responding to Invaders</vt:lpstr>
      <vt:lpstr>Adaptive Defenses Step 3:  Responding to Invaders by Helper T Cells</vt:lpstr>
      <vt:lpstr>Adaptive Defenses Step 3:  Responding to Invaders by B Cells/Humoral Immune Response</vt:lpstr>
      <vt:lpstr>Antibody Functions to Blocks or Helps to Destroy An Invader</vt:lpstr>
      <vt:lpstr>Medical and Research Application of Antibody</vt:lpstr>
      <vt:lpstr>Adaptive Defenses Step 3: Responding to Invaders  by Cytotoxic T Cells</vt:lpstr>
      <vt:lpstr>Adaptive Defenses Step 4: Remembering Invaders</vt:lpstr>
      <vt:lpstr>PowerPoint Presentation</vt:lpstr>
      <vt:lpstr>Vaccine (疫苗)</vt:lpstr>
      <vt:lpstr>PowerPoint Presentation</vt:lpstr>
      <vt:lpstr>PowerPoint Presentation</vt:lpstr>
      <vt:lpstr>Learning Outcomes 3</vt:lpstr>
      <vt:lpstr>Immune Disorders: Allergies (过敏)</vt:lpstr>
      <vt:lpstr>Immune Disorders: Autoimmune Diseases</vt:lpstr>
      <vt:lpstr>PowerPoint Presentation</vt:lpstr>
      <vt:lpstr>Immune Disorders: Immunodeficiency Diseases</vt:lpstr>
      <vt:lpstr>PowerPoint Presentation</vt:lpstr>
      <vt:lpstr>Cancer Immunotherapy </vt:lpstr>
      <vt:lpstr>PowerPoint Presentation</vt:lpstr>
      <vt:lpstr>James Allison &amp; CTLA-4  The "Brake" Breakthrough</vt:lpstr>
      <vt:lpstr>Tasuku Honjo &amp; PD-1 A Different Brake</vt:lpstr>
      <vt:lpstr>Autoimmune Side Effects</vt:lpstr>
      <vt:lpstr>PowerPoint Presentation</vt:lpstr>
      <vt:lpstr>Chimeric Antigen Receptor (CAR) T-cell Therapy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2025-12-08T06:27:52Z</dcterms:created>
  <dcterms:modified xsi:type="dcterms:W3CDTF">2025-12-08T06:28:07Z</dcterms:modified>
</cp:coreProperties>
</file>