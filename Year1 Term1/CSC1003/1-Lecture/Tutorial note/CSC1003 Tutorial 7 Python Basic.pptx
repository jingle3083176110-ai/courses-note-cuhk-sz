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08" r:id="rId2"/>
    <p:sldId id="257" r:id="rId3"/>
    <p:sldId id="258" r:id="rId4"/>
    <p:sldId id="259" r:id="rId5"/>
    <p:sldId id="260" r:id="rId6"/>
    <p:sldId id="317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319" r:id="rId1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2"/>
    <p:restoredTop sz="77834" autoAdjust="0"/>
  </p:normalViewPr>
  <p:slideViewPr>
    <p:cSldViewPr>
      <p:cViewPr varScale="1">
        <p:scale>
          <a:sx n="83" d="100"/>
          <a:sy n="83" d="100"/>
        </p:scale>
        <p:origin x="2250" y="78"/>
      </p:cViewPr>
      <p:guideLst>
        <p:guide orient="horz" pos="2880"/>
        <p:guide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0D33ED-5978-52F7-3532-E4787C0914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F17FC-6A57-FAF2-FAB7-D15E910D19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44258-A43C-0B4E-852A-123433ABC6BA}" type="datetimeFigureOut">
              <a:rPr lang="en-CN" smtClean="0"/>
              <a:t>11/19/2025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259B0-A765-B1C7-C0A9-1CFE0C3EB1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4809D-F08B-6094-E415-20136B5F15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BC02A-C17F-0B4A-A1D4-897EA104AFE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34393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57F74-741E-914A-B9B0-7752AFFE2E79}" type="datetimeFigureOut">
              <a:rPr lang="en-CN" smtClean="0"/>
              <a:t>11/19/2025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5E041-98C8-4743-ACB5-65E3753B4B9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310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Today's tutorial covers the basics of Python.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might know that Java is great for building web applications,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Python is the top choice for AI and machine learning.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are interested in AI research or projects, Python should be your first language.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crash course will give you a brief profile of it.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986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 some programming fundamentals.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sequence of instructions you write is called the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code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rules and structures that define correct programs in a language are its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Keywords like if, else, for, and while are all part of Python's syntax.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information a program displays is called its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For example, printing "Hello, world!" produces that text as output.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text environment (often a window) where this output is displayed.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382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writing in languages like Java, C, or C++, you must first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your program before executing it.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Compilation is a separate step that translates the entire source code into machine-readable instructions (a sequence of 0s and 1s).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Python, in contrast, is typically an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interpreted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language. It can skip this explicit compilation step.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run a Python program, an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interpreter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translates and executes the code line-by-line in real-time, dynamically converting it into machine instructions.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22410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result, Python is an interpreted language, which allows you to explore it in an interactive environment.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on the right, when you start a Python console, you can communicate with it directly.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instance, if you want to calculate something, just type the expression (e.g., 3 + 7) and press Enter. The answer, 10, will be displayed instantly.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environment also supports complex tasks, like writing and testing functions, providing immediate feedback.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20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that we've seen the Python environment, let's dive into some basic syntax.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 start with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expressions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expression is any combination of values, variables, and operators that computes and returns a value.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 1 + 4 * 3 is an expression, and even a single value like 42 is considered an expression.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build expressions using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arithmetic operators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like: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 (+)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Subtraction (-)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Multiplication (*)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Division (/)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Exponentiation (**)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operators follow standard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precedence rules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(just as in mathematics), which determine the order of operations in an expression.</a:t>
            </a:r>
          </a:p>
          <a:p>
            <a:pPr marL="12700" marR="5080">
              <a:lnSpc>
                <a:spcPct val="120000"/>
              </a:lnSpc>
              <a:spcBef>
                <a:spcPts val="100"/>
              </a:spcBef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2641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Division requires a bit of attention.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Python, the standard division operator (/) always yields a floating-point result,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regardless of whether the inputs are integers or floats.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4871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integer division that discards the remainder, Python provides the floor division operator (//).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result's type depends on the operands: if both are integers, it returns a rounded-down integer; if either is a float, it returns a rounded-down float.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modulo operator (%) computes the remainder of an integer division. For example: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14 % 4 evaluates to 2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218 % 5 evaluates to 3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4319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also provides a wide range of mathematical functions through its math module,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 operations for absolute value, sine and cosine, and more.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access these functions, you need to import the module at the beginning of your program using: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Courier New"/>
                <a:cs typeface="Courier New"/>
              </a:rPr>
              <a:t>from</a:t>
            </a:r>
            <a:r>
              <a:rPr lang="en-US" altLang="zh-CN" sz="1200" spc="-60" dirty="0">
                <a:latin typeface="Courier New"/>
                <a:cs typeface="Courier New"/>
              </a:rPr>
              <a:t> </a:t>
            </a:r>
            <a:r>
              <a:rPr lang="en-US" altLang="zh-CN" sz="1200" dirty="0">
                <a:latin typeface="Courier New"/>
                <a:cs typeface="Courier New"/>
              </a:rPr>
              <a:t>math</a:t>
            </a:r>
            <a:r>
              <a:rPr lang="en-US" altLang="zh-CN" sz="1200" spc="-45" dirty="0">
                <a:latin typeface="Courier New"/>
                <a:cs typeface="Courier New"/>
              </a:rPr>
              <a:t> </a:t>
            </a:r>
            <a:r>
              <a:rPr lang="en-US" altLang="zh-CN" sz="1200" dirty="0">
                <a:latin typeface="Courier New"/>
                <a:cs typeface="Courier New"/>
              </a:rPr>
              <a:t>import</a:t>
            </a:r>
            <a:r>
              <a:rPr lang="en-US" altLang="zh-CN" sz="1200" spc="-45" dirty="0">
                <a:latin typeface="Courier New"/>
                <a:cs typeface="Courier New"/>
              </a:rPr>
              <a:t> </a:t>
            </a:r>
            <a:r>
              <a:rPr lang="en-US" altLang="zh-CN" sz="1200" spc="-50" dirty="0">
                <a:latin typeface="Courier New"/>
                <a:cs typeface="Courier New"/>
              </a:rPr>
              <a:t>*</a:t>
            </a:r>
            <a:endParaRPr lang="en-US" altLang="zh-CN" sz="1200" dirty="0">
              <a:latin typeface="Courier New"/>
              <a:cs typeface="Courier New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2613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Python provides built-in functions for explicit type conversion. </a:t>
            </a:r>
          </a:p>
          <a:p>
            <a:r>
              <a:rPr lang="en-US" altLang="zh-CN" dirty="0"/>
              <a:t>You can use int(x) to convert x to an integer, </a:t>
            </a:r>
          </a:p>
          <a:p>
            <a:r>
              <a:rPr lang="en-US" altLang="zh-CN" dirty="0"/>
              <a:t>float(x) to convert it to a floating-point number, </a:t>
            </a:r>
          </a:p>
          <a:p>
            <a:r>
              <a:rPr lang="en-US" altLang="zh-CN" dirty="0"/>
              <a:t>and type(x) to inspect the data type of a variable.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3155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programming, you often compute a result that needs to be stored for later use.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where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come in.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variable is a named piece of memory that stores a value. It allows you to compute an expression's result, save it, and reuse it later.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assign a value to a variable in Python, you use the syntax: name = value.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example: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 x = 5 stores the integer 5 in a variable named x.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3.14 stores the float 3.14 in a variable named 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stored, you can use these variable names in subsequent expressions.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2294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Python, you do not need to declare a variable's type.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type is automatically determined by the value you assign to it.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you can assign an integer to a variable x and later reassign a string to that same variable.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84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build interactive programs, handling input and output is essential.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Python, the print function manages output operations. It can display both simple messages and evaluated expressions.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particularly convenient feature is outputting multiple values—simply separate them with commas,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 print will automatically format them with spaces.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Leveraging Python's dynamic typing, you can directly reference variables in output statements without any type declarations.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CN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you can print a simple message like "Hello, World!" or output messages that include expressions.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7118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Python, the input() function handles user input.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reads a line from the console and returns it as a string.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assign this returned value directly to a variable.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Additionally, the input() function can accept a prompt string as an argument, which is displayed to the user before waiting for their input.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70728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program that uses the input and print functions to achieve simple user interaction.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example, you can notice how python is convenient.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E041-98C8-4743-ACB5-65E3753B4B92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6687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402FF-0B02-2540-9288-8CAE155EE176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08871-3E0E-6B41-BE13-334CCEC94885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74065" y="1660651"/>
            <a:ext cx="4048760" cy="463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489828" y="1871827"/>
            <a:ext cx="2475865" cy="3710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A4F04-20EB-B949-A1BC-6384AA69AB24}" type="datetime1">
              <a:rPr lang="en-US" smtClean="0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29606" cy="15960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3308" y="974187"/>
            <a:ext cx="5019990" cy="15129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2743200"/>
            <a:ext cx="9144000" cy="1600200"/>
          </a:xfrm>
          <a:custGeom>
            <a:avLst/>
            <a:gdLst/>
            <a:ahLst/>
            <a:cxnLst/>
            <a:rect l="l" t="t" r="r" b="b"/>
            <a:pathLst>
              <a:path w="9144000" h="1600200">
                <a:moveTo>
                  <a:pt x="9144000" y="0"/>
                </a:moveTo>
                <a:lnTo>
                  <a:pt x="0" y="0"/>
                </a:lnTo>
                <a:lnTo>
                  <a:pt x="0" y="1600200"/>
                </a:lnTo>
                <a:lnTo>
                  <a:pt x="9144000" y="1600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956FF-B45A-BE4C-B16B-A1F63214DFE1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686799" y="6483594"/>
            <a:ext cx="416813" cy="342900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29606" cy="159604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3308" y="974187"/>
            <a:ext cx="5019990" cy="15129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2743200"/>
            <a:ext cx="9144000" cy="1600200"/>
          </a:xfrm>
          <a:custGeom>
            <a:avLst/>
            <a:gdLst/>
            <a:ahLst/>
            <a:cxnLst/>
            <a:rect l="l" t="t" r="r" b="b"/>
            <a:pathLst>
              <a:path w="9144000" h="1600200">
                <a:moveTo>
                  <a:pt x="9144000" y="0"/>
                </a:moveTo>
                <a:lnTo>
                  <a:pt x="0" y="0"/>
                </a:lnTo>
                <a:lnTo>
                  <a:pt x="0" y="1600200"/>
                </a:lnTo>
                <a:lnTo>
                  <a:pt x="9144000" y="1600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6176" y="2694432"/>
            <a:ext cx="7892796" cy="89916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69107" y="3364992"/>
            <a:ext cx="3646932" cy="8991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6D7DB-098C-F14E-8D8B-CE82D9019893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686800" y="6483594"/>
            <a:ext cx="416813" cy="342899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16862"/>
            <a:ext cx="1295399" cy="5411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1625" y="3192907"/>
            <a:ext cx="600075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0512" y="2741612"/>
            <a:ext cx="4219575" cy="1701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9917A-A583-4747-8712-0B90C72E02A6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86801" y="6483594"/>
            <a:ext cx="416812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lib/module-math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62200" y="3200400"/>
            <a:ext cx="541337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0292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Python basics</a:t>
            </a:r>
            <a:endParaRPr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FE982-2F33-1D5D-3AA5-44330F0ACA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63001" y="6553200"/>
            <a:ext cx="340612" cy="273293"/>
          </a:xfrm>
        </p:spPr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1</a:t>
            </a:fld>
            <a:endParaRPr lang="en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03FB84-F00E-21FE-FCE3-980BB4EE27F5}"/>
              </a:ext>
            </a:extLst>
          </p:cNvPr>
          <p:cNvSpPr txBox="1"/>
          <p:nvPr/>
        </p:nvSpPr>
        <p:spPr>
          <a:xfrm>
            <a:off x="3043375" y="4760934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Presenter</a:t>
            </a:r>
            <a:r>
              <a:rPr kumimoji="1" lang="zh-CN" altLang="en-US" dirty="0"/>
              <a:t>：</a:t>
            </a:r>
            <a:r>
              <a:rPr kumimoji="1" lang="en-US" altLang="zh-CN" dirty="0"/>
              <a:t>Huizhong Wang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3B8FBE-4186-113F-AA4D-CE354C09A623}"/>
              </a:ext>
            </a:extLst>
          </p:cNvPr>
          <p:cNvSpPr txBox="1"/>
          <p:nvPr/>
        </p:nvSpPr>
        <p:spPr>
          <a:xfrm>
            <a:off x="2958415" y="5130266"/>
            <a:ext cx="322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224045005@link.cuhk.edu.cn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69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097026"/>
            <a:ext cx="8756015" cy="297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b="1" dirty="0">
                <a:latin typeface="Verdana"/>
                <a:cs typeface="Verdana"/>
              </a:rPr>
              <a:t>code</a:t>
            </a:r>
            <a:r>
              <a:rPr sz="2000" b="1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source</a:t>
            </a:r>
            <a:r>
              <a:rPr sz="2000" b="1" spc="-2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code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sequence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instructions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program.</a:t>
            </a:r>
            <a:endParaRPr sz="2000">
              <a:latin typeface="Verdana"/>
              <a:cs typeface="Verdana"/>
            </a:endParaRPr>
          </a:p>
          <a:p>
            <a:pPr marL="245745" marR="446405" indent="-233679">
              <a:lnSpc>
                <a:spcPct val="100000"/>
              </a:lnSpc>
              <a:spcBef>
                <a:spcPts val="2060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b="1" dirty="0">
                <a:latin typeface="Verdana"/>
                <a:cs typeface="Verdana"/>
              </a:rPr>
              <a:t>syntax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legal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structures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commands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particular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programming</a:t>
            </a:r>
            <a:r>
              <a:rPr sz="2000" spc="-10" dirty="0">
                <a:latin typeface="Verdana"/>
                <a:cs typeface="Verdana"/>
              </a:rPr>
              <a:t> language.</a:t>
            </a:r>
            <a:endParaRPr sz="2000">
              <a:latin typeface="Verdana"/>
              <a:cs typeface="Verdana"/>
            </a:endParaRPr>
          </a:p>
          <a:p>
            <a:pPr marL="245745" indent="-233679">
              <a:lnSpc>
                <a:spcPct val="100000"/>
              </a:lnSpc>
              <a:spcBef>
                <a:spcPts val="2070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b="1" dirty="0">
                <a:latin typeface="Verdana"/>
                <a:cs typeface="Verdana"/>
              </a:rPr>
              <a:t>output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messages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printed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program.</a:t>
            </a:r>
            <a:endParaRPr sz="2000">
              <a:latin typeface="Verdana"/>
              <a:cs typeface="Verdana"/>
            </a:endParaRPr>
          </a:p>
          <a:p>
            <a:pPr marL="245745" indent="-233679">
              <a:lnSpc>
                <a:spcPct val="100000"/>
              </a:lnSpc>
              <a:spcBef>
                <a:spcPts val="2160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b="1" dirty="0">
                <a:latin typeface="Verdana"/>
                <a:cs typeface="Verdana"/>
              </a:rPr>
              <a:t>console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text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box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0" dirty="0">
                <a:latin typeface="Verdana"/>
                <a:cs typeface="Verdana"/>
              </a:rPr>
              <a:t> printed.</a:t>
            </a:r>
            <a:endParaRPr sz="2000">
              <a:latin typeface="Verdana"/>
              <a:cs typeface="Verdana"/>
            </a:endParaRPr>
          </a:p>
          <a:p>
            <a:pPr marL="702945" lvl="1" indent="-233679">
              <a:lnSpc>
                <a:spcPct val="100000"/>
              </a:lnSpc>
              <a:spcBef>
                <a:spcPts val="595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02945" algn="l"/>
                <a:tab pos="703580" algn="l"/>
              </a:tabLst>
            </a:pPr>
            <a:r>
              <a:rPr sz="1800" dirty="0">
                <a:latin typeface="Verdana"/>
                <a:cs typeface="Verdana"/>
              </a:rPr>
              <a:t>Some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code editors pop up the console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external </a:t>
            </a:r>
            <a:r>
              <a:rPr sz="1800" spc="-10" dirty="0">
                <a:latin typeface="Verdana"/>
                <a:cs typeface="Verdana"/>
              </a:rPr>
              <a:t>window,</a:t>
            </a:r>
            <a:endParaRPr sz="1800">
              <a:latin typeface="Verdana"/>
              <a:cs typeface="Verdana"/>
            </a:endParaRPr>
          </a:p>
          <a:p>
            <a:pPr marL="702945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and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others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their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own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console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window.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5356" y="4042079"/>
            <a:ext cx="2053844" cy="60446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79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sz="4000" b="1" dirty="0">
                <a:latin typeface="Verdana"/>
                <a:cs typeface="Verdana"/>
              </a:rPr>
              <a:t>Programming</a:t>
            </a:r>
            <a:r>
              <a:rPr sz="4000" b="1" spc="-325" dirty="0">
                <a:latin typeface="Verdana"/>
                <a:cs typeface="Verdana"/>
              </a:rPr>
              <a:t> </a:t>
            </a:r>
            <a:r>
              <a:rPr sz="4000" b="1" spc="-10" dirty="0">
                <a:latin typeface="Verdana"/>
                <a:cs typeface="Verdana"/>
              </a:rPr>
              <a:t>basics</a:t>
            </a:r>
            <a:endParaRPr sz="4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8800" y="4191000"/>
            <a:ext cx="4668901" cy="251777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0BA618-9BCD-EFBC-0F4C-E15E7B66EC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2</a:t>
            </a:fld>
            <a:endParaRPr lang="en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79705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1415"/>
              </a:spcBef>
            </a:pPr>
            <a:r>
              <a:rPr sz="4000" b="1" dirty="0">
                <a:latin typeface="Verdana"/>
                <a:cs typeface="Verdana"/>
              </a:rPr>
              <a:t>Compiling</a:t>
            </a:r>
            <a:r>
              <a:rPr sz="4000" b="1" spc="-185" dirty="0">
                <a:latin typeface="Verdana"/>
                <a:cs typeface="Verdana"/>
              </a:rPr>
              <a:t> </a:t>
            </a:r>
            <a:r>
              <a:rPr sz="4000" b="1" dirty="0">
                <a:latin typeface="Verdana"/>
                <a:cs typeface="Verdana"/>
              </a:rPr>
              <a:t>and</a:t>
            </a:r>
            <a:r>
              <a:rPr sz="4000" b="1" spc="-165" dirty="0">
                <a:latin typeface="Verdana"/>
                <a:cs typeface="Verdana"/>
              </a:rPr>
              <a:t> </a:t>
            </a:r>
            <a:r>
              <a:rPr sz="4000" b="1" spc="-10" dirty="0">
                <a:latin typeface="Verdana"/>
                <a:cs typeface="Verdana"/>
              </a:rPr>
              <a:t>interpreting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097026"/>
            <a:ext cx="8569325" cy="1130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 marR="5080" indent="-233679">
              <a:lnSpc>
                <a:spcPct val="100000"/>
              </a:lnSpc>
              <a:spcBef>
                <a:spcPts val="1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dirty="0">
                <a:latin typeface="Verdana"/>
                <a:cs typeface="Verdana"/>
              </a:rPr>
              <a:t>Many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languages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require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compile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(translate)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form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machine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understands.</a:t>
            </a:r>
            <a:endParaRPr sz="2000">
              <a:latin typeface="Verdana"/>
              <a:cs typeface="Verdana"/>
            </a:endParaRPr>
          </a:p>
          <a:p>
            <a:pPr marL="3072765">
              <a:lnSpc>
                <a:spcPct val="100000"/>
              </a:lnSpc>
              <a:spcBef>
                <a:spcPts val="1614"/>
              </a:spcBef>
              <a:tabLst>
                <a:tab pos="5611495" algn="l"/>
              </a:tabLst>
            </a:pPr>
            <a:r>
              <a:rPr sz="1900" i="1" spc="-10" dirty="0">
                <a:latin typeface="Tahoma"/>
                <a:cs typeface="Tahoma"/>
              </a:rPr>
              <a:t>compile</a:t>
            </a:r>
            <a:r>
              <a:rPr sz="1900" i="1" dirty="0">
                <a:latin typeface="Tahoma"/>
                <a:cs typeface="Tahoma"/>
              </a:rPr>
              <a:t>	</a:t>
            </a:r>
            <a:r>
              <a:rPr sz="1900" i="1" spc="-10" dirty="0">
                <a:latin typeface="Tahoma"/>
                <a:cs typeface="Tahoma"/>
              </a:rPr>
              <a:t>execute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072509"/>
            <a:ext cx="8373109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dirty="0">
                <a:latin typeface="Verdana"/>
                <a:cs typeface="Verdana"/>
              </a:rPr>
              <a:t>Python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instead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directly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interpreted</a:t>
            </a:r>
            <a:r>
              <a:rPr sz="2000" i="1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machine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instructions.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 dirty="0">
              <a:latin typeface="Verdana"/>
              <a:cs typeface="Verdana"/>
            </a:endParaRPr>
          </a:p>
          <a:p>
            <a:pPr marR="1356360" algn="ctr">
              <a:lnSpc>
                <a:spcPct val="100000"/>
              </a:lnSpc>
              <a:spcBef>
                <a:spcPts val="5"/>
              </a:spcBef>
            </a:pPr>
            <a:r>
              <a:rPr sz="1900" i="1" spc="-10" dirty="0">
                <a:latin typeface="Tahoma"/>
                <a:cs typeface="Tahoma"/>
              </a:rPr>
              <a:t>interpret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37178" y="2902330"/>
            <a:ext cx="386715" cy="76200"/>
          </a:xfrm>
          <a:custGeom>
            <a:avLst/>
            <a:gdLst/>
            <a:ahLst/>
            <a:cxnLst/>
            <a:rect l="l" t="t" r="r" b="b"/>
            <a:pathLst>
              <a:path w="386714" h="76200">
                <a:moveTo>
                  <a:pt x="310007" y="0"/>
                </a:moveTo>
                <a:lnTo>
                  <a:pt x="310007" y="76200"/>
                </a:lnTo>
                <a:lnTo>
                  <a:pt x="373507" y="44450"/>
                </a:lnTo>
                <a:lnTo>
                  <a:pt x="322707" y="44450"/>
                </a:lnTo>
                <a:lnTo>
                  <a:pt x="322707" y="31750"/>
                </a:lnTo>
                <a:lnTo>
                  <a:pt x="373507" y="31750"/>
                </a:lnTo>
                <a:lnTo>
                  <a:pt x="310007" y="0"/>
                </a:lnTo>
                <a:close/>
              </a:path>
              <a:path w="386714" h="76200">
                <a:moveTo>
                  <a:pt x="31000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10007" y="44450"/>
                </a:lnTo>
                <a:lnTo>
                  <a:pt x="310007" y="31750"/>
                </a:lnTo>
                <a:close/>
              </a:path>
              <a:path w="386714" h="76200">
                <a:moveTo>
                  <a:pt x="373507" y="31750"/>
                </a:moveTo>
                <a:lnTo>
                  <a:pt x="322707" y="31750"/>
                </a:lnTo>
                <a:lnTo>
                  <a:pt x="322707" y="44450"/>
                </a:lnTo>
                <a:lnTo>
                  <a:pt x="373507" y="44450"/>
                </a:lnTo>
                <a:lnTo>
                  <a:pt x="386207" y="38100"/>
                </a:lnTo>
                <a:lnTo>
                  <a:pt x="373507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46952" y="2345893"/>
            <a:ext cx="684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output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5798" y="2668879"/>
            <a:ext cx="1427226" cy="6898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5400" y="2278507"/>
            <a:ext cx="2042160" cy="137922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11760">
              <a:lnSpc>
                <a:spcPts val="2080"/>
              </a:lnSpc>
              <a:spcBef>
                <a:spcPts val="630"/>
              </a:spcBef>
            </a:pPr>
            <a:r>
              <a:rPr sz="1800" dirty="0">
                <a:latin typeface="Tahoma"/>
                <a:cs typeface="Tahoma"/>
              </a:rPr>
              <a:t>source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111760">
              <a:lnSpc>
                <a:spcPts val="2080"/>
              </a:lnSpc>
            </a:pPr>
            <a:r>
              <a:rPr sz="1800" spc="-10" dirty="0">
                <a:latin typeface="Courier New"/>
                <a:cs typeface="Courier New"/>
              </a:rPr>
              <a:t>Hello.java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7577" y="2940430"/>
            <a:ext cx="643788" cy="6964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0809" y="2940392"/>
            <a:ext cx="673671" cy="6573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78630" y="2278507"/>
            <a:ext cx="2042160" cy="137922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12395">
              <a:lnSpc>
                <a:spcPts val="2080"/>
              </a:lnSpc>
              <a:spcBef>
                <a:spcPts val="630"/>
              </a:spcBef>
            </a:pPr>
            <a:r>
              <a:rPr sz="1800" dirty="0">
                <a:latin typeface="Tahoma"/>
                <a:cs typeface="Tahoma"/>
              </a:rPr>
              <a:t>byte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112395">
              <a:lnSpc>
                <a:spcPts val="2080"/>
              </a:lnSpc>
            </a:pPr>
            <a:r>
              <a:rPr sz="1800" spc="-10" dirty="0">
                <a:latin typeface="Courier New"/>
                <a:cs typeface="Courier New"/>
              </a:rPr>
              <a:t>Hello.class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20283" y="2902330"/>
            <a:ext cx="386715" cy="76200"/>
          </a:xfrm>
          <a:custGeom>
            <a:avLst/>
            <a:gdLst/>
            <a:ahLst/>
            <a:cxnLst/>
            <a:rect l="l" t="t" r="r" b="b"/>
            <a:pathLst>
              <a:path w="386714" h="76200">
                <a:moveTo>
                  <a:pt x="310133" y="0"/>
                </a:moveTo>
                <a:lnTo>
                  <a:pt x="310133" y="76200"/>
                </a:lnTo>
                <a:lnTo>
                  <a:pt x="373633" y="44450"/>
                </a:lnTo>
                <a:lnTo>
                  <a:pt x="322833" y="44450"/>
                </a:lnTo>
                <a:lnTo>
                  <a:pt x="322833" y="31750"/>
                </a:lnTo>
                <a:lnTo>
                  <a:pt x="373633" y="31750"/>
                </a:lnTo>
                <a:lnTo>
                  <a:pt x="310133" y="0"/>
                </a:lnTo>
                <a:close/>
              </a:path>
              <a:path w="386714" h="76200">
                <a:moveTo>
                  <a:pt x="31013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10133" y="44450"/>
                </a:lnTo>
                <a:lnTo>
                  <a:pt x="310133" y="31750"/>
                </a:lnTo>
                <a:close/>
              </a:path>
              <a:path w="386714" h="76200">
                <a:moveTo>
                  <a:pt x="373633" y="31750"/>
                </a:moveTo>
                <a:lnTo>
                  <a:pt x="322833" y="31750"/>
                </a:lnTo>
                <a:lnTo>
                  <a:pt x="322833" y="44450"/>
                </a:lnTo>
                <a:lnTo>
                  <a:pt x="373633" y="44450"/>
                </a:lnTo>
                <a:lnTo>
                  <a:pt x="386333" y="38100"/>
                </a:lnTo>
                <a:lnTo>
                  <a:pt x="373633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336925" y="5425579"/>
            <a:ext cx="1844675" cy="689610"/>
            <a:chOff x="3336925" y="5425579"/>
            <a:chExt cx="1844675" cy="689610"/>
          </a:xfrm>
        </p:grpSpPr>
        <p:sp>
          <p:nvSpPr>
            <p:cNvPr id="14" name="object 14"/>
            <p:cNvSpPr/>
            <p:nvPr/>
          </p:nvSpPr>
          <p:spPr>
            <a:xfrm>
              <a:off x="3336925" y="5657849"/>
              <a:ext cx="386080" cy="76200"/>
            </a:xfrm>
            <a:custGeom>
              <a:avLst/>
              <a:gdLst/>
              <a:ahLst/>
              <a:cxnLst/>
              <a:rect l="l" t="t" r="r" b="b"/>
              <a:pathLst>
                <a:path w="386079" h="76200">
                  <a:moveTo>
                    <a:pt x="309499" y="0"/>
                  </a:moveTo>
                  <a:lnTo>
                    <a:pt x="309499" y="76200"/>
                  </a:lnTo>
                  <a:lnTo>
                    <a:pt x="372999" y="44450"/>
                  </a:lnTo>
                  <a:lnTo>
                    <a:pt x="322199" y="44450"/>
                  </a:lnTo>
                  <a:lnTo>
                    <a:pt x="322199" y="31750"/>
                  </a:lnTo>
                  <a:lnTo>
                    <a:pt x="372999" y="31750"/>
                  </a:lnTo>
                  <a:lnTo>
                    <a:pt x="309499" y="0"/>
                  </a:lnTo>
                  <a:close/>
                </a:path>
                <a:path w="386079" h="76200">
                  <a:moveTo>
                    <a:pt x="309499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9499" y="44450"/>
                  </a:lnTo>
                  <a:lnTo>
                    <a:pt x="309499" y="31750"/>
                  </a:lnTo>
                  <a:close/>
                </a:path>
                <a:path w="386079" h="76200">
                  <a:moveTo>
                    <a:pt x="372999" y="31750"/>
                  </a:moveTo>
                  <a:lnTo>
                    <a:pt x="322199" y="31750"/>
                  </a:lnTo>
                  <a:lnTo>
                    <a:pt x="322199" y="44450"/>
                  </a:lnTo>
                  <a:lnTo>
                    <a:pt x="372999" y="44450"/>
                  </a:lnTo>
                  <a:lnTo>
                    <a:pt x="385699" y="38100"/>
                  </a:lnTo>
                  <a:lnTo>
                    <a:pt x="372999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3738" y="5425579"/>
              <a:ext cx="1427861" cy="68947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835400" y="5102478"/>
            <a:ext cx="683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output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5400" y="5033898"/>
            <a:ext cx="2041525" cy="13798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12395">
              <a:lnSpc>
                <a:spcPts val="2080"/>
              </a:lnSpc>
              <a:spcBef>
                <a:spcPts val="640"/>
              </a:spcBef>
            </a:pPr>
            <a:r>
              <a:rPr sz="1800" dirty="0">
                <a:latin typeface="Tahoma"/>
                <a:cs typeface="Tahoma"/>
              </a:rPr>
              <a:t>source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code</a:t>
            </a:r>
            <a:endParaRPr sz="1800">
              <a:latin typeface="Tahoma"/>
              <a:cs typeface="Tahoma"/>
            </a:endParaRPr>
          </a:p>
          <a:p>
            <a:pPr marL="112395">
              <a:lnSpc>
                <a:spcPts val="2080"/>
              </a:lnSpc>
            </a:pPr>
            <a:r>
              <a:rPr sz="1800" spc="-10" dirty="0">
                <a:latin typeface="Courier New"/>
                <a:cs typeface="Courier New"/>
              </a:rPr>
              <a:t>Hello.py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44062" y="5686425"/>
            <a:ext cx="566400" cy="654424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AAB43E4-01E0-83F1-774E-DC1579B6D8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3</a:t>
            </a:fld>
            <a:endParaRPr lang="en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562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30"/>
              </a:spcBef>
            </a:pPr>
            <a:r>
              <a:rPr sz="4000" b="1" dirty="0">
                <a:solidFill>
                  <a:srgbClr val="FFCF00"/>
                </a:solidFill>
                <a:latin typeface="Comic Sans MS"/>
                <a:cs typeface="Comic Sans MS"/>
              </a:rPr>
              <a:t>The</a:t>
            </a:r>
            <a:r>
              <a:rPr sz="4000" b="1" spc="-110" dirty="0">
                <a:solidFill>
                  <a:srgbClr val="FFCF00"/>
                </a:solidFill>
                <a:latin typeface="Comic Sans MS"/>
                <a:cs typeface="Comic Sans MS"/>
              </a:rPr>
              <a:t> </a:t>
            </a:r>
            <a:r>
              <a:rPr sz="4000" b="1" dirty="0">
                <a:solidFill>
                  <a:srgbClr val="FFCF00"/>
                </a:solidFill>
                <a:latin typeface="Comic Sans MS"/>
                <a:cs typeface="Comic Sans MS"/>
              </a:rPr>
              <a:t>Python</a:t>
            </a:r>
            <a:r>
              <a:rPr sz="4000" b="1" spc="-95" dirty="0">
                <a:solidFill>
                  <a:srgbClr val="FFCF00"/>
                </a:solidFill>
                <a:latin typeface="Comic Sans MS"/>
                <a:cs typeface="Comic Sans MS"/>
              </a:rPr>
              <a:t> </a:t>
            </a:r>
            <a:r>
              <a:rPr sz="4000" b="1" spc="-10" dirty="0">
                <a:solidFill>
                  <a:srgbClr val="FFCF00"/>
                </a:solidFill>
                <a:latin typeface="Comic Sans MS"/>
                <a:cs typeface="Comic Sans MS"/>
              </a:rPr>
              <a:t>Interpreter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2044" y="2163902"/>
            <a:ext cx="3465829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9535" indent="-77470">
              <a:lnSpc>
                <a:spcPct val="100000"/>
              </a:lnSpc>
              <a:spcBef>
                <a:spcPts val="105"/>
              </a:spcBef>
              <a:buClr>
                <a:srgbClr val="800080"/>
              </a:buClr>
              <a:buSzPct val="50000"/>
              <a:buChar char="•"/>
              <a:tabLst>
                <a:tab pos="90170" algn="l"/>
              </a:tabLst>
            </a:pPr>
            <a:r>
              <a:rPr sz="2000" dirty="0">
                <a:latin typeface="Verdana"/>
                <a:cs typeface="Verdana"/>
              </a:rPr>
              <a:t>Python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interpreted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Verdana"/>
                <a:cs typeface="Verdana"/>
              </a:rPr>
              <a:t>language</a:t>
            </a:r>
            <a:endParaRPr sz="2000" dirty="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  <a:buClr>
                <a:srgbClr val="800080"/>
              </a:buClr>
              <a:buSzPct val="50000"/>
              <a:buChar char="•"/>
              <a:tabLst>
                <a:tab pos="9017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interpreter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provides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interactive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environment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play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language</a:t>
            </a:r>
            <a:endParaRPr sz="2000" dirty="0">
              <a:latin typeface="Verdana"/>
              <a:cs typeface="Verdana"/>
            </a:endParaRPr>
          </a:p>
          <a:p>
            <a:pPr marL="12700" marR="34290">
              <a:lnSpc>
                <a:spcPct val="100000"/>
              </a:lnSpc>
              <a:spcBef>
                <a:spcPts val="1200"/>
              </a:spcBef>
              <a:buClr>
                <a:srgbClr val="800080"/>
              </a:buClr>
              <a:buSzPct val="50000"/>
              <a:buChar char="•"/>
              <a:tabLst>
                <a:tab pos="90170" algn="l"/>
              </a:tabLst>
            </a:pPr>
            <a:r>
              <a:rPr sz="2000" dirty="0">
                <a:latin typeface="Verdana"/>
                <a:cs typeface="Verdana"/>
              </a:rPr>
              <a:t>Results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expressions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are </a:t>
            </a:r>
            <a:r>
              <a:rPr sz="2000" dirty="0">
                <a:latin typeface="Verdana"/>
                <a:cs typeface="Verdana"/>
              </a:rPr>
              <a:t>printed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screen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199" y="2209800"/>
            <a:ext cx="3693413" cy="33750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2000" dirty="0">
                <a:latin typeface="Verdana"/>
                <a:cs typeface="Verdana"/>
              </a:rPr>
              <a:t>&gt;&gt;&gt;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+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7</a:t>
            </a:r>
            <a:endParaRPr sz="2000" dirty="0">
              <a:latin typeface="Verdana"/>
              <a:cs typeface="Verdana"/>
            </a:endParaRPr>
          </a:p>
          <a:p>
            <a:pPr marL="92075">
              <a:lnSpc>
                <a:spcPct val="100000"/>
              </a:lnSpc>
              <a:spcBef>
                <a:spcPts val="500"/>
              </a:spcBef>
            </a:pPr>
            <a:r>
              <a:rPr sz="2000" spc="-25" dirty="0">
                <a:latin typeface="Verdana"/>
                <a:cs typeface="Verdana"/>
              </a:rPr>
              <a:t>10</a:t>
            </a:r>
            <a:endParaRPr sz="2000" dirty="0">
              <a:latin typeface="Verdana"/>
              <a:cs typeface="Verdana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Verdana"/>
                <a:cs typeface="Verdana"/>
              </a:rPr>
              <a:t>&gt;&gt;&gt;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&lt; </a:t>
            </a:r>
            <a:r>
              <a:rPr sz="2000" spc="-25" dirty="0">
                <a:latin typeface="Verdana"/>
                <a:cs typeface="Verdana"/>
              </a:rPr>
              <a:t>15</a:t>
            </a:r>
            <a:endParaRPr sz="2000" dirty="0">
              <a:latin typeface="Verdana"/>
              <a:cs typeface="Verdana"/>
            </a:endParaRPr>
          </a:p>
          <a:p>
            <a:pPr marL="92075">
              <a:lnSpc>
                <a:spcPct val="100000"/>
              </a:lnSpc>
              <a:spcBef>
                <a:spcPts val="495"/>
              </a:spcBef>
            </a:pPr>
            <a:r>
              <a:rPr sz="2000" spc="-20" dirty="0">
                <a:latin typeface="Verdana"/>
                <a:cs typeface="Verdana"/>
              </a:rPr>
              <a:t>True</a:t>
            </a:r>
            <a:endParaRPr sz="2000" dirty="0">
              <a:latin typeface="Verdana"/>
              <a:cs typeface="Verdana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Verdana"/>
                <a:cs typeface="Verdana"/>
              </a:rPr>
              <a:t>&gt;&gt;&gt;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'print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me'</a:t>
            </a:r>
            <a:endParaRPr sz="2000" dirty="0">
              <a:latin typeface="Verdana"/>
              <a:cs typeface="Verdana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Verdana"/>
                <a:cs typeface="Verdana"/>
              </a:rPr>
              <a:t>'print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me'</a:t>
            </a:r>
            <a:endParaRPr sz="2000" dirty="0">
              <a:latin typeface="Verdana"/>
              <a:cs typeface="Verdana"/>
            </a:endParaRPr>
          </a:p>
          <a:p>
            <a:pPr marL="92075" marR="558165">
              <a:lnSpc>
                <a:spcPts val="2900"/>
              </a:lnSpc>
              <a:spcBef>
                <a:spcPts val="170"/>
              </a:spcBef>
            </a:pPr>
            <a:r>
              <a:rPr sz="2000" dirty="0">
                <a:latin typeface="Verdana"/>
                <a:cs typeface="Verdana"/>
              </a:rPr>
              <a:t>&gt;&gt;&gt;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print</a:t>
            </a:r>
            <a:r>
              <a:rPr lang="en-US" sz="2000" spc="-15" dirty="0">
                <a:latin typeface="Verdana"/>
                <a:cs typeface="Verdana"/>
              </a:rPr>
              <a:t>(</a:t>
            </a:r>
            <a:r>
              <a:rPr sz="2000" dirty="0">
                <a:latin typeface="Verdana"/>
                <a:cs typeface="Verdana"/>
              </a:rPr>
              <a:t>'print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me'</a:t>
            </a:r>
            <a:r>
              <a:rPr lang="en-US" sz="2000" spc="-25" dirty="0">
                <a:latin typeface="Verdana"/>
                <a:cs typeface="Verdana"/>
              </a:rPr>
              <a:t>)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print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me</a:t>
            </a:r>
            <a:endParaRPr sz="2000" dirty="0">
              <a:latin typeface="Verdana"/>
              <a:cs typeface="Verdana"/>
            </a:endParaRPr>
          </a:p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2000" spc="-25" dirty="0">
                <a:latin typeface="Verdana"/>
                <a:cs typeface="Verdana"/>
              </a:rPr>
              <a:t>&gt;&gt;&gt;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FB89E-85D6-6275-F9C8-3932321118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4</a:t>
            </a:fld>
            <a:endParaRPr lang="en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79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sz="4000" b="1" spc="-10" dirty="0">
                <a:latin typeface="Verdana"/>
                <a:cs typeface="Verdana"/>
              </a:rPr>
              <a:t>Expressions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097026"/>
            <a:ext cx="88417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b="1" dirty="0">
                <a:latin typeface="Verdana"/>
                <a:cs typeface="Verdana"/>
              </a:rPr>
              <a:t>expression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value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operations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compute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value.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112" y="1438402"/>
            <a:ext cx="1229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Examples: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2194" y="1389634"/>
            <a:ext cx="1255395" cy="6718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800" dirty="0">
                <a:latin typeface="Courier New"/>
                <a:cs typeface="Courier New"/>
              </a:rPr>
              <a:t>1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4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3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800" spc="-25" dirty="0">
                <a:latin typeface="Courier New"/>
                <a:cs typeface="Courier New"/>
              </a:rPr>
              <a:t>42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2249246"/>
            <a:ext cx="44773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dirty="0">
                <a:latin typeface="Verdana"/>
                <a:cs typeface="Verdana"/>
              </a:rPr>
              <a:t>Arithmetic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operators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use: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9112" y="2536063"/>
            <a:ext cx="1593088" cy="1001556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/</a:t>
            </a:r>
            <a:r>
              <a:rPr lang="en-US" sz="1800" spc="-50" dirty="0">
                <a:latin typeface="Courier New"/>
                <a:cs typeface="Courier New"/>
              </a:rPr>
              <a:t> // 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ourier New"/>
                <a:cs typeface="Courier New"/>
              </a:rPr>
              <a:t>%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25" dirty="0">
                <a:latin typeface="Courier New"/>
                <a:cs typeface="Courier New"/>
              </a:rPr>
              <a:t>**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2194" y="2585110"/>
            <a:ext cx="6238240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addition,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subtraction/negation,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multiplication,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division </a:t>
            </a:r>
            <a:r>
              <a:rPr sz="1800" dirty="0">
                <a:latin typeface="Verdana"/>
                <a:cs typeface="Verdana"/>
              </a:rPr>
              <a:t>modulus,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a.k.a.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remainder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Verdana"/>
                <a:cs typeface="Verdana"/>
              </a:rPr>
              <a:t>exponentiation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3892258"/>
            <a:ext cx="7973695" cy="231088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420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b="1" dirty="0">
                <a:latin typeface="Verdana"/>
                <a:cs typeface="Verdana"/>
              </a:rPr>
              <a:t>precedence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Order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operations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computed.</a:t>
            </a:r>
            <a:endParaRPr sz="2000" dirty="0">
              <a:latin typeface="Verdana"/>
              <a:cs typeface="Verdana"/>
            </a:endParaRPr>
          </a:p>
          <a:p>
            <a:pPr marL="702945" lvl="1" indent="-233679">
              <a:lnSpc>
                <a:spcPct val="100000"/>
              </a:lnSpc>
              <a:spcBef>
                <a:spcPts val="280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02945" algn="l"/>
                <a:tab pos="703580" algn="l"/>
              </a:tabLst>
            </a:pPr>
            <a:r>
              <a:rPr sz="1800" spc="-10" dirty="0">
                <a:latin typeface="Courier New"/>
                <a:cs typeface="Courier New"/>
              </a:rPr>
              <a:t>**</a:t>
            </a:r>
            <a:r>
              <a:rPr sz="1800" spc="-445" dirty="0">
                <a:latin typeface="Courier New"/>
                <a:cs typeface="Courier New"/>
              </a:rPr>
              <a:t> </a:t>
            </a:r>
            <a:r>
              <a:rPr sz="1800" dirty="0">
                <a:latin typeface="Verdana"/>
                <a:cs typeface="Verdana"/>
              </a:rPr>
              <a:t>ha</a:t>
            </a:r>
            <a:r>
              <a:rPr lang="en-US" sz="1800" dirty="0">
                <a:latin typeface="Verdana"/>
                <a:cs typeface="Verdana"/>
              </a:rPr>
              <a:t>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higher precedence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lang="en-US" sz="1800" spc="-50" dirty="0">
                <a:latin typeface="Courier New"/>
                <a:cs typeface="Courier New"/>
              </a:rPr>
              <a:t>* / // % </a:t>
            </a:r>
            <a:r>
              <a:rPr lang="en-CN" sz="1800" dirty="0">
                <a:latin typeface="Courier New"/>
                <a:cs typeface="Courier New"/>
              </a:rPr>
              <a:t>+</a:t>
            </a:r>
            <a:r>
              <a:rPr lang="en-CN" sz="1800" spc="-20" dirty="0">
                <a:latin typeface="Courier New"/>
                <a:cs typeface="Courier New"/>
              </a:rPr>
              <a:t> </a:t>
            </a:r>
            <a:r>
              <a:rPr lang="en-CN" sz="1800" spc="-50" dirty="0">
                <a:latin typeface="Courier New"/>
                <a:cs typeface="Courier New"/>
              </a:rPr>
              <a:t>- </a:t>
            </a:r>
            <a:endParaRPr lang="en-US" sz="1800" spc="-50" dirty="0">
              <a:latin typeface="Courier New"/>
              <a:cs typeface="Courier New"/>
            </a:endParaRPr>
          </a:p>
          <a:p>
            <a:pPr marL="702945" lvl="1" indent="-233679">
              <a:spcBef>
                <a:spcPts val="280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02945" algn="l"/>
                <a:tab pos="703580" algn="l"/>
              </a:tabLst>
            </a:pPr>
            <a:r>
              <a:rPr lang="en-US" sz="1800" dirty="0">
                <a:latin typeface="Courier New"/>
                <a:cs typeface="Courier New"/>
              </a:rPr>
              <a:t>*</a:t>
            </a:r>
            <a:r>
              <a:rPr lang="en-US" sz="1800" spc="-45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Courier New"/>
                <a:cs typeface="Courier New"/>
              </a:rPr>
              <a:t>/ //</a:t>
            </a:r>
            <a:r>
              <a:rPr lang="en-US" sz="1800" spc="-20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Courier New"/>
                <a:cs typeface="Courier New"/>
              </a:rPr>
              <a:t>%</a:t>
            </a:r>
            <a:r>
              <a:rPr lang="en-US" sz="1800" spc="-445" dirty="0">
                <a:latin typeface="Courier New"/>
                <a:cs typeface="Courier New"/>
              </a:rPr>
              <a:t> </a:t>
            </a:r>
            <a:r>
              <a:rPr lang="en-US" sz="1800" dirty="0">
                <a:latin typeface="Verdana"/>
                <a:cs typeface="Verdana"/>
              </a:rPr>
              <a:t>have</a:t>
            </a:r>
            <a:r>
              <a:rPr lang="en-US" sz="1800" spc="-20" dirty="0">
                <a:latin typeface="Verdana"/>
                <a:cs typeface="Verdana"/>
              </a:rPr>
              <a:t> </a:t>
            </a:r>
            <a:r>
              <a:rPr lang="en-US" sz="1800" dirty="0">
                <a:latin typeface="Verdana"/>
                <a:cs typeface="Verdana"/>
              </a:rPr>
              <a:t>a</a:t>
            </a:r>
            <a:r>
              <a:rPr lang="en-US" sz="1800" spc="-5" dirty="0">
                <a:latin typeface="Verdana"/>
                <a:cs typeface="Verdana"/>
              </a:rPr>
              <a:t> </a:t>
            </a:r>
            <a:r>
              <a:rPr lang="en-US" sz="1800" dirty="0">
                <a:latin typeface="Verdana"/>
                <a:cs typeface="Verdana"/>
              </a:rPr>
              <a:t>higher precedence</a:t>
            </a:r>
            <a:r>
              <a:rPr lang="en-US" sz="1800" spc="40" dirty="0">
                <a:latin typeface="Verdana"/>
                <a:cs typeface="Verdana"/>
              </a:rPr>
              <a:t> </a:t>
            </a:r>
            <a:r>
              <a:rPr lang="en-US" sz="1800" dirty="0">
                <a:latin typeface="Verdana"/>
                <a:cs typeface="Verdana"/>
              </a:rPr>
              <a:t>than</a:t>
            </a:r>
            <a:r>
              <a:rPr lang="en-US" sz="1800" spc="5" dirty="0">
                <a:latin typeface="Verdana"/>
                <a:cs typeface="Verdana"/>
              </a:rPr>
              <a:t> </a:t>
            </a:r>
            <a:r>
              <a:rPr lang="en-US" sz="1800" dirty="0">
                <a:latin typeface="Courier New"/>
                <a:cs typeface="Courier New"/>
              </a:rPr>
              <a:t>+</a:t>
            </a:r>
            <a:r>
              <a:rPr lang="en-US" sz="1800" spc="-20" dirty="0">
                <a:latin typeface="Courier New"/>
                <a:cs typeface="Courier New"/>
              </a:rPr>
              <a:t> </a:t>
            </a:r>
            <a:r>
              <a:rPr lang="en-US" sz="1800" spc="-50" dirty="0">
                <a:latin typeface="Courier New"/>
                <a:cs typeface="Courier New"/>
              </a:rPr>
              <a:t>-</a:t>
            </a:r>
            <a:endParaRPr lang="en-US" sz="1800" dirty="0">
              <a:latin typeface="Courier New"/>
              <a:cs typeface="Courier New"/>
            </a:endParaRPr>
          </a:p>
          <a:p>
            <a:pPr marL="702945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latin typeface="Courier New"/>
                <a:cs typeface="Courier New"/>
              </a:rPr>
              <a:t>1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3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4</a:t>
            </a:r>
            <a:r>
              <a:rPr sz="1800" spc="-455" dirty="0">
                <a:latin typeface="Courier New"/>
                <a:cs typeface="Courier New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35" dirty="0">
                <a:latin typeface="Courier New"/>
                <a:cs typeface="Courier New"/>
              </a:rPr>
              <a:t>13</a:t>
            </a:r>
            <a:endParaRPr sz="1800" dirty="0">
              <a:latin typeface="Courier New"/>
              <a:cs typeface="Courier New"/>
            </a:endParaRPr>
          </a:p>
          <a:p>
            <a:pPr marL="702945" lvl="1" indent="-233679">
              <a:lnSpc>
                <a:spcPct val="100000"/>
              </a:lnSpc>
              <a:spcBef>
                <a:spcPts val="2030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02945" algn="l"/>
                <a:tab pos="703580" algn="l"/>
              </a:tabLst>
            </a:pPr>
            <a:r>
              <a:rPr sz="1800" dirty="0">
                <a:latin typeface="Verdana"/>
                <a:cs typeface="Verdana"/>
              </a:rPr>
              <a:t>Parentheses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force a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certain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order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evaluation.</a:t>
            </a:r>
            <a:endParaRPr sz="1800" dirty="0">
              <a:latin typeface="Verdana"/>
              <a:cs typeface="Verdana"/>
            </a:endParaRPr>
          </a:p>
          <a:p>
            <a:pPr marL="702945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Courier New"/>
                <a:cs typeface="Courier New"/>
              </a:rPr>
              <a:t>(1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3)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*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4</a:t>
            </a:r>
            <a:r>
              <a:rPr sz="1800" spc="-445" dirty="0">
                <a:latin typeface="Courier New"/>
                <a:cs typeface="Courier New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16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4187D80-71E5-801E-DC3F-E15D7FF277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5</a:t>
            </a:fld>
            <a:endParaRPr lang="en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753411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365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lang="en-US" sz="4000" b="1" dirty="0">
                <a:latin typeface="Verdana"/>
                <a:cs typeface="Verdana"/>
              </a:rPr>
              <a:t>Float</a:t>
            </a:r>
            <a:r>
              <a:rPr sz="4000" b="1" spc="-195" dirty="0">
                <a:latin typeface="Verdana"/>
                <a:cs typeface="Verdana"/>
              </a:rPr>
              <a:t> </a:t>
            </a:r>
            <a:r>
              <a:rPr sz="4000" b="1" spc="-10" dirty="0">
                <a:latin typeface="Verdana"/>
                <a:cs typeface="Verdana"/>
              </a:rPr>
              <a:t>division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051306"/>
            <a:ext cx="8608062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dirty="0">
                <a:latin typeface="Verdana"/>
                <a:cs typeface="Verdana"/>
              </a:rPr>
              <a:t>When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divide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lang="en-US" sz="2000" dirty="0">
                <a:latin typeface="Verdana"/>
                <a:cs typeface="Verdana"/>
              </a:rPr>
              <a:t>numbers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Courier New"/>
                <a:cs typeface="Courier New"/>
              </a:rPr>
              <a:t>/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quotient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lang="en-US" sz="2000" dirty="0">
                <a:latin typeface="Verdana"/>
                <a:cs typeface="Verdana"/>
              </a:rPr>
              <a:t>lways a float number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493D06-1015-3807-1E7F-8942BE54AA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6</a:t>
            </a:fld>
            <a:endParaRPr lang="en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BBAEA3-9593-2FCE-1AFB-BD5424958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202968"/>
            <a:ext cx="2514600" cy="360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43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753411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365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sz="4000" b="1" dirty="0">
                <a:latin typeface="Verdana"/>
                <a:cs typeface="Verdana"/>
              </a:rPr>
              <a:t>Integer</a:t>
            </a:r>
            <a:r>
              <a:rPr sz="4000" b="1" spc="-195" dirty="0">
                <a:latin typeface="Verdana"/>
                <a:cs typeface="Verdana"/>
              </a:rPr>
              <a:t> </a:t>
            </a:r>
            <a:r>
              <a:rPr sz="4000" b="1" spc="-10" dirty="0">
                <a:latin typeface="Verdana"/>
                <a:cs typeface="Verdana"/>
              </a:rPr>
              <a:t>division</a:t>
            </a:r>
            <a:r>
              <a:rPr lang="en-US" sz="4000" b="1" spc="-10" dirty="0">
                <a:latin typeface="Verdana"/>
                <a:cs typeface="Verdana"/>
              </a:rPr>
              <a:t> (floor)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051306"/>
            <a:ext cx="8608062" cy="6418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dirty="0">
                <a:latin typeface="Verdana"/>
                <a:cs typeface="Verdana"/>
              </a:rPr>
              <a:t>When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divide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integers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Courier New"/>
                <a:cs typeface="Courier New"/>
              </a:rPr>
              <a:t>/</a:t>
            </a:r>
            <a:r>
              <a:rPr lang="en-US" sz="2000" dirty="0">
                <a:latin typeface="Courier New"/>
                <a:cs typeface="Courier New"/>
              </a:rPr>
              <a:t>/</a:t>
            </a:r>
            <a:r>
              <a:rPr sz="2000" spc="-509" dirty="0">
                <a:latin typeface="Courier New"/>
                <a:cs typeface="Courier New"/>
              </a:rPr>
              <a:t> 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quotient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also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integer.</a:t>
            </a:r>
            <a:endParaRPr lang="en-US" sz="2000" spc="-10" dirty="0">
              <a:latin typeface="Verdana"/>
              <a:cs typeface="Verdana"/>
            </a:endParaRPr>
          </a:p>
          <a:p>
            <a:pPr marL="245745" indent="-233679">
              <a:lnSpc>
                <a:spcPct val="100000"/>
              </a:lnSpc>
              <a:spcBef>
                <a:spcPts val="1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lang="en-US" sz="2000" b="0" i="0" dirty="0">
                <a:solidFill>
                  <a:srgbClr val="273239"/>
                </a:solidFill>
                <a:effectLst/>
                <a:latin typeface="urw-din"/>
              </a:rPr>
              <a:t>If any of the numbers is float, it returns output in float.</a:t>
            </a:r>
            <a:endParaRPr sz="200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23907"/>
              </p:ext>
            </p:extLst>
          </p:nvPr>
        </p:nvGraphicFramePr>
        <p:xfrm>
          <a:off x="4408170" y="2177234"/>
          <a:ext cx="4159885" cy="1491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5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R="1014730" algn="r">
                        <a:lnSpc>
                          <a:spcPts val="1860"/>
                        </a:lnSpc>
                        <a:tabLst>
                          <a:tab pos="409575" algn="l"/>
                        </a:tabLst>
                      </a:pP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b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1860"/>
                        </a:lnSpc>
                        <a:tabLst>
                          <a:tab pos="547370" algn="l"/>
                        </a:tabLst>
                      </a:pP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8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52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R="1015365" algn="r">
                        <a:lnSpc>
                          <a:spcPts val="181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25" dirty="0">
                          <a:latin typeface="Courier New"/>
                          <a:cs typeface="Courier New"/>
                        </a:rPr>
                        <a:t>14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81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27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181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20" dirty="0">
                          <a:latin typeface="Courier New"/>
                          <a:cs typeface="Courier New"/>
                        </a:rPr>
                        <a:t>1425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R="1016635" algn="r">
                        <a:lnSpc>
                          <a:spcPts val="1810"/>
                        </a:lnSpc>
                      </a:pP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12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ts val="1810"/>
                        </a:lnSpc>
                      </a:pP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135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R="1014730" algn="r">
                        <a:lnSpc>
                          <a:spcPts val="1814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14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75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1810"/>
                        </a:lnSpc>
                      </a:pPr>
                      <a:r>
                        <a:rPr sz="1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54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1810"/>
                        </a:lnSpc>
                      </a:pPr>
                      <a:r>
                        <a:rPr sz="1800" spc="-25" dirty="0">
                          <a:latin typeface="Courier New"/>
                          <a:cs typeface="Courier New"/>
                        </a:rPr>
                        <a:t>21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8739" y="4189544"/>
            <a:ext cx="8888730" cy="649536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50" dirty="0">
              <a:latin typeface="Courier New"/>
              <a:cs typeface="Courier New"/>
            </a:endParaRPr>
          </a:p>
          <a:p>
            <a:pPr marL="245745" indent="-233679">
              <a:lnSpc>
                <a:spcPct val="100000"/>
              </a:lnSpc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Courier New"/>
                <a:cs typeface="Courier New"/>
              </a:rPr>
              <a:t>%</a:t>
            </a:r>
            <a:r>
              <a:rPr sz="2000" spc="-505" dirty="0">
                <a:latin typeface="Courier New"/>
                <a:cs typeface="Courier New"/>
              </a:rPr>
              <a:t> </a:t>
            </a:r>
            <a:r>
              <a:rPr sz="2000" dirty="0">
                <a:latin typeface="Verdana"/>
                <a:cs typeface="Verdana"/>
              </a:rPr>
              <a:t>operator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computes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remainder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lang="en-US" sz="2000" dirty="0">
                <a:latin typeface="Verdana"/>
                <a:cs typeface="Verdana"/>
              </a:rPr>
              <a:t>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integer</a:t>
            </a:r>
            <a:r>
              <a:rPr lang="en-US" sz="2000" spc="-10" dirty="0">
                <a:latin typeface="Verdana"/>
                <a:cs typeface="Verdana"/>
              </a:rPr>
              <a:t> division</a:t>
            </a:r>
            <a:r>
              <a:rPr sz="2000" spc="-10" dirty="0">
                <a:latin typeface="Verdana"/>
                <a:cs typeface="Verdana"/>
              </a:rPr>
              <a:t>.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695" y="4839080"/>
            <a:ext cx="845819" cy="95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45"/>
              </a:lnSpc>
              <a:spcBef>
                <a:spcPts val="100"/>
              </a:spcBef>
              <a:tabLst>
                <a:tab pos="40957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	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3</a:t>
            </a:r>
            <a:endParaRPr sz="1800" dirty="0">
              <a:latin typeface="Courier New"/>
              <a:cs typeface="Courier New"/>
            </a:endParaRPr>
          </a:p>
          <a:p>
            <a:pPr marR="5080" algn="r">
              <a:lnSpc>
                <a:spcPts val="1730"/>
              </a:lnSpc>
            </a:pPr>
            <a:r>
              <a:rPr sz="1800" dirty="0">
                <a:latin typeface="Courier New"/>
                <a:cs typeface="Courier New"/>
              </a:rPr>
              <a:t>4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)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14</a:t>
            </a:r>
            <a:endParaRPr sz="1800" dirty="0">
              <a:latin typeface="Courier New"/>
              <a:cs typeface="Courier New"/>
            </a:endParaRPr>
          </a:p>
          <a:p>
            <a:pPr marR="6350" algn="r">
              <a:lnSpc>
                <a:spcPts val="1730"/>
              </a:lnSpc>
            </a:pP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12</a:t>
            </a:r>
            <a:endParaRPr sz="1800" dirty="0">
              <a:latin typeface="Courier New"/>
              <a:cs typeface="Courier New"/>
            </a:endParaRPr>
          </a:p>
          <a:p>
            <a:pPr marR="5080" algn="r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2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0027" y="4839080"/>
            <a:ext cx="98298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45"/>
              </a:lnSpc>
              <a:spcBef>
                <a:spcPts val="100"/>
              </a:spcBef>
              <a:tabLst>
                <a:tab pos="408940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	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43</a:t>
            </a:r>
            <a:endParaRPr sz="1800" dirty="0">
              <a:latin typeface="Courier New"/>
              <a:cs typeface="Courier New"/>
            </a:endParaRPr>
          </a:p>
          <a:p>
            <a:pPr marR="6350" algn="r">
              <a:lnSpc>
                <a:spcPts val="1730"/>
              </a:lnSpc>
            </a:pPr>
            <a:r>
              <a:rPr sz="1800" dirty="0">
                <a:latin typeface="Courier New"/>
                <a:cs typeface="Courier New"/>
              </a:rPr>
              <a:t>5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)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218</a:t>
            </a:r>
            <a:endParaRPr sz="1800" dirty="0">
              <a:latin typeface="Courier New"/>
              <a:cs typeface="Courier New"/>
            </a:endParaRPr>
          </a:p>
          <a:p>
            <a:pPr marL="559435">
              <a:lnSpc>
                <a:spcPts val="1730"/>
              </a:lnSpc>
            </a:pP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20</a:t>
            </a:r>
            <a:endParaRPr sz="1800" dirty="0">
              <a:latin typeface="Courier New"/>
              <a:cs typeface="Courier New"/>
            </a:endParaRPr>
          </a:p>
          <a:p>
            <a:pPr marR="5080" algn="r">
              <a:lnSpc>
                <a:spcPts val="1730"/>
              </a:lnSpc>
            </a:pPr>
            <a:r>
              <a:rPr sz="1800" spc="-25" dirty="0">
                <a:latin typeface="Courier New"/>
                <a:cs typeface="Courier New"/>
              </a:rPr>
              <a:t>18</a:t>
            </a:r>
            <a:endParaRPr sz="1800" dirty="0">
              <a:latin typeface="Courier New"/>
              <a:cs typeface="Courier New"/>
            </a:endParaRPr>
          </a:p>
          <a:p>
            <a:pPr marR="5080" algn="r">
              <a:lnSpc>
                <a:spcPts val="1730"/>
              </a:lnSpc>
            </a:pP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15</a:t>
            </a:r>
            <a:endParaRPr sz="1800" dirty="0">
              <a:latin typeface="Courier New"/>
              <a:cs typeface="Courier New"/>
            </a:endParaRPr>
          </a:p>
          <a:p>
            <a:pPr marR="5080" algn="r">
              <a:lnSpc>
                <a:spcPts val="1945"/>
              </a:lnSpc>
            </a:pPr>
            <a:r>
              <a:rPr sz="1800" b="1" dirty="0">
                <a:latin typeface="Courier New"/>
                <a:cs typeface="Courier New"/>
              </a:rPr>
              <a:t>3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493D06-1015-3807-1E7F-8942BE54AA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7</a:t>
            </a:fld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220E8-918C-11F0-39E1-8B2FE94F1F7B}"/>
              </a:ext>
            </a:extLst>
          </p:cNvPr>
          <p:cNvSpPr txBox="1"/>
          <p:nvPr/>
        </p:nvSpPr>
        <p:spPr>
          <a:xfrm>
            <a:off x="78739" y="1914061"/>
            <a:ext cx="4572000" cy="253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2945" indent="-233679">
              <a:lnSpc>
                <a:spcPct val="100000"/>
              </a:lnSpc>
              <a:spcBef>
                <a:spcPts val="204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02945" algn="l"/>
                <a:tab pos="703580" algn="l"/>
              </a:tabLst>
            </a:pPr>
            <a:r>
              <a:rPr lang="en-US" spc="-10" dirty="0">
                <a:latin typeface="Verdana"/>
                <a:cs typeface="Verdana"/>
              </a:rPr>
              <a:t>E</a:t>
            </a:r>
            <a:r>
              <a:rPr lang="en-US" sz="1800" spc="-10" dirty="0">
                <a:latin typeface="Verdana"/>
                <a:cs typeface="Verdana"/>
              </a:rPr>
              <a:t>xamples:</a:t>
            </a:r>
            <a:endParaRPr lang="en-US" sz="1800" dirty="0">
              <a:latin typeface="Verdana"/>
              <a:cs typeface="Verdana"/>
            </a:endParaRPr>
          </a:p>
          <a:p>
            <a:pPr marL="1097915" lvl="1" indent="-171450">
              <a:lnSpc>
                <a:spcPct val="100000"/>
              </a:lnSpc>
              <a:spcBef>
                <a:spcPts val="95"/>
              </a:spcBef>
              <a:buSzPct val="50000"/>
              <a:buFont typeface="Wingdings"/>
              <a:buChar char=""/>
              <a:tabLst>
                <a:tab pos="1098550" algn="l"/>
                <a:tab pos="2277110" algn="l"/>
              </a:tabLst>
            </a:pPr>
            <a:r>
              <a:rPr lang="en-US" sz="1600" dirty="0">
                <a:latin typeface="Courier New"/>
                <a:cs typeface="Courier New"/>
              </a:rPr>
              <a:t>35</a:t>
            </a:r>
            <a:r>
              <a:rPr lang="en-US" sz="1600" spc="-15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//</a:t>
            </a:r>
            <a:r>
              <a:rPr lang="en-US" sz="1600" spc="-10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5</a:t>
            </a:r>
            <a:r>
              <a:rPr lang="en-US" sz="1600" spc="155" dirty="0">
                <a:latin typeface="Courier New"/>
                <a:cs typeface="Courier New"/>
              </a:rPr>
              <a:t> </a:t>
            </a:r>
            <a:r>
              <a:rPr lang="en-US" sz="1600" spc="-25" dirty="0">
                <a:latin typeface="Verdana"/>
                <a:cs typeface="Verdana"/>
              </a:rPr>
              <a:t>is</a:t>
            </a:r>
            <a:r>
              <a:rPr lang="en-US" sz="1600" dirty="0">
                <a:latin typeface="Verdana"/>
                <a:cs typeface="Verdana"/>
              </a:rPr>
              <a:t>	 </a:t>
            </a:r>
            <a:r>
              <a:rPr lang="en-US" sz="1600" spc="-50" dirty="0">
                <a:latin typeface="Courier New"/>
                <a:cs typeface="Courier New"/>
              </a:rPr>
              <a:t>7</a:t>
            </a:r>
            <a:endParaRPr lang="en-US" sz="1600" dirty="0">
              <a:latin typeface="Courier New"/>
              <a:cs typeface="Courier New"/>
            </a:endParaRPr>
          </a:p>
          <a:p>
            <a:pPr marL="1097915" lvl="1" indent="-171450">
              <a:lnSpc>
                <a:spcPct val="100000"/>
              </a:lnSpc>
              <a:spcBef>
                <a:spcPts val="195"/>
              </a:spcBef>
              <a:buSzPct val="50000"/>
              <a:buFont typeface="Wingdings"/>
              <a:buChar char=""/>
              <a:tabLst>
                <a:tab pos="1098550" algn="l"/>
                <a:tab pos="2399030" algn="l"/>
              </a:tabLst>
            </a:pPr>
            <a:r>
              <a:rPr lang="en-US" sz="1600" dirty="0">
                <a:latin typeface="Courier New"/>
                <a:cs typeface="Courier New"/>
              </a:rPr>
              <a:t>84</a:t>
            </a:r>
            <a:r>
              <a:rPr lang="en-US" sz="1600" spc="-20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//</a:t>
            </a:r>
            <a:r>
              <a:rPr lang="en-US" sz="1600" spc="-15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10</a:t>
            </a:r>
            <a:r>
              <a:rPr lang="en-US" sz="1600" spc="150" dirty="0">
                <a:latin typeface="Courier New"/>
                <a:cs typeface="Courier New"/>
              </a:rPr>
              <a:t> </a:t>
            </a:r>
            <a:r>
              <a:rPr lang="en-US" sz="1600" spc="-25" dirty="0">
                <a:latin typeface="Verdana"/>
                <a:cs typeface="Verdana"/>
              </a:rPr>
              <a:t>is</a:t>
            </a:r>
            <a:r>
              <a:rPr lang="en-US" sz="1600" dirty="0">
                <a:latin typeface="Verdana"/>
                <a:cs typeface="Verdana"/>
              </a:rPr>
              <a:t>	 </a:t>
            </a:r>
            <a:r>
              <a:rPr lang="en-US" sz="1600" spc="-50" dirty="0">
                <a:latin typeface="Courier New"/>
                <a:cs typeface="Courier New"/>
              </a:rPr>
              <a:t>8</a:t>
            </a:r>
            <a:endParaRPr lang="en-US" sz="1600" dirty="0">
              <a:latin typeface="Courier New"/>
              <a:cs typeface="Courier New"/>
            </a:endParaRPr>
          </a:p>
          <a:p>
            <a:pPr marL="1097915" lvl="1" indent="-171450">
              <a:lnSpc>
                <a:spcPct val="100000"/>
              </a:lnSpc>
              <a:spcBef>
                <a:spcPts val="190"/>
              </a:spcBef>
              <a:buSzPct val="50000"/>
              <a:buFont typeface="Wingdings"/>
              <a:buChar char=""/>
              <a:tabLst>
                <a:tab pos="1098550" algn="l"/>
                <a:tab pos="2644775" algn="l"/>
              </a:tabLst>
            </a:pPr>
            <a:r>
              <a:rPr lang="en-US" sz="1600" dirty="0">
                <a:latin typeface="Courier New"/>
                <a:cs typeface="Courier New"/>
              </a:rPr>
              <a:t>156</a:t>
            </a:r>
            <a:r>
              <a:rPr lang="en-US" sz="1600" spc="-25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//</a:t>
            </a:r>
            <a:r>
              <a:rPr lang="en-US" sz="1600" spc="-20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100</a:t>
            </a:r>
            <a:r>
              <a:rPr lang="en-US" sz="1600" spc="155" dirty="0">
                <a:latin typeface="Courier New"/>
                <a:cs typeface="Courier New"/>
              </a:rPr>
              <a:t> </a:t>
            </a:r>
            <a:r>
              <a:rPr lang="en-US" sz="1600" spc="-25" dirty="0">
                <a:latin typeface="Verdana"/>
                <a:cs typeface="Verdana"/>
              </a:rPr>
              <a:t>is</a:t>
            </a:r>
            <a:r>
              <a:rPr lang="en-US" sz="1600" dirty="0">
                <a:latin typeface="Verdana"/>
                <a:cs typeface="Verdana"/>
              </a:rPr>
              <a:t>	 </a:t>
            </a:r>
            <a:r>
              <a:rPr lang="en-US" sz="1600" spc="-50" dirty="0">
                <a:latin typeface="Courier New"/>
                <a:cs typeface="Courier New"/>
              </a:rPr>
              <a:t>1</a:t>
            </a:r>
          </a:p>
          <a:p>
            <a:pPr marL="1097915" lvl="1" indent="-171450">
              <a:lnSpc>
                <a:spcPct val="100000"/>
              </a:lnSpc>
              <a:spcBef>
                <a:spcPts val="190"/>
              </a:spcBef>
              <a:buSzPct val="50000"/>
              <a:buFont typeface="Wingdings"/>
              <a:buChar char=""/>
              <a:tabLst>
                <a:tab pos="1098550" algn="l"/>
                <a:tab pos="2644775" algn="l"/>
              </a:tabLst>
            </a:pPr>
            <a:endParaRPr lang="en-US" sz="1600" spc="-50" dirty="0">
              <a:latin typeface="Courier New"/>
              <a:cs typeface="Courier New"/>
            </a:endParaRPr>
          </a:p>
          <a:p>
            <a:pPr marL="1097915" lvl="1" indent="-171450">
              <a:spcBef>
                <a:spcPts val="190"/>
              </a:spcBef>
              <a:buSzPct val="50000"/>
              <a:buFont typeface="Wingdings"/>
              <a:buChar char=""/>
              <a:tabLst>
                <a:tab pos="1098550" algn="l"/>
                <a:tab pos="2644775" algn="l"/>
              </a:tabLst>
            </a:pPr>
            <a:r>
              <a:rPr lang="en-US" sz="1600" dirty="0">
                <a:latin typeface="Courier New"/>
                <a:cs typeface="Courier New"/>
              </a:rPr>
              <a:t>35</a:t>
            </a:r>
            <a:r>
              <a:rPr lang="en-US" sz="1600" spc="-15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//</a:t>
            </a:r>
            <a:r>
              <a:rPr lang="en-US" sz="1600" spc="-10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5.0</a:t>
            </a:r>
            <a:r>
              <a:rPr lang="en-US" sz="1600" spc="155" dirty="0">
                <a:latin typeface="Courier New"/>
                <a:cs typeface="Courier New"/>
              </a:rPr>
              <a:t> </a:t>
            </a:r>
            <a:r>
              <a:rPr lang="en-US" sz="1600" spc="-25" dirty="0">
                <a:latin typeface="Verdana"/>
                <a:cs typeface="Verdana"/>
              </a:rPr>
              <a:t>is</a:t>
            </a:r>
            <a:r>
              <a:rPr lang="en-US" sz="1600" dirty="0">
                <a:latin typeface="Verdana"/>
                <a:cs typeface="Verdana"/>
              </a:rPr>
              <a:t>	 </a:t>
            </a:r>
            <a:r>
              <a:rPr lang="en-US" sz="1600" spc="-50" dirty="0">
                <a:latin typeface="Courier New"/>
                <a:cs typeface="Courier New"/>
              </a:rPr>
              <a:t>7.0</a:t>
            </a:r>
          </a:p>
          <a:p>
            <a:pPr marL="1097915" lvl="1" indent="-171450">
              <a:spcBef>
                <a:spcPts val="190"/>
              </a:spcBef>
              <a:buSzPct val="50000"/>
              <a:buFont typeface="Wingdings"/>
              <a:buChar char=""/>
              <a:tabLst>
                <a:tab pos="1098550" algn="l"/>
                <a:tab pos="2644775" algn="l"/>
              </a:tabLst>
            </a:pPr>
            <a:r>
              <a:rPr lang="en-US" sz="1600" dirty="0">
                <a:latin typeface="Courier New"/>
                <a:cs typeface="Courier New"/>
              </a:rPr>
              <a:t>84</a:t>
            </a:r>
            <a:r>
              <a:rPr lang="en-US" sz="1600" spc="-20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//</a:t>
            </a:r>
            <a:r>
              <a:rPr lang="en-US" sz="1600" spc="-15" dirty="0">
                <a:latin typeface="Courier New"/>
                <a:cs typeface="Courier New"/>
              </a:rPr>
              <a:t> </a:t>
            </a:r>
            <a:r>
              <a:rPr lang="en-US" sz="1600" dirty="0">
                <a:latin typeface="Courier New"/>
                <a:cs typeface="Courier New"/>
              </a:rPr>
              <a:t>10.0</a:t>
            </a:r>
            <a:r>
              <a:rPr lang="en-US" sz="1600" spc="150" dirty="0">
                <a:latin typeface="Courier New"/>
                <a:cs typeface="Courier New"/>
              </a:rPr>
              <a:t> </a:t>
            </a:r>
            <a:r>
              <a:rPr lang="en-US" sz="1600" spc="-25" dirty="0">
                <a:latin typeface="Verdana"/>
                <a:cs typeface="Verdana"/>
              </a:rPr>
              <a:t>is</a:t>
            </a:r>
            <a:r>
              <a:rPr lang="en-US" sz="1600" dirty="0">
                <a:latin typeface="Verdana"/>
                <a:cs typeface="Verdana"/>
              </a:rPr>
              <a:t>	 </a:t>
            </a:r>
            <a:r>
              <a:rPr lang="en-US" sz="1600" spc="-50" dirty="0">
                <a:latin typeface="Courier New"/>
                <a:cs typeface="Courier New"/>
              </a:rPr>
              <a:t>8.0</a:t>
            </a:r>
            <a:endParaRPr lang="en-US" sz="1600" dirty="0">
              <a:latin typeface="Courier New"/>
              <a:cs typeface="Courier New"/>
            </a:endParaRPr>
          </a:p>
          <a:p>
            <a:pPr marL="926465" lvl="1">
              <a:spcBef>
                <a:spcPts val="190"/>
              </a:spcBef>
              <a:buSzPct val="50000"/>
              <a:tabLst>
                <a:tab pos="1098550" algn="l"/>
                <a:tab pos="2644775" algn="l"/>
              </a:tabLst>
            </a:pPr>
            <a:endParaRPr lang="en-US" sz="1600" dirty="0">
              <a:latin typeface="Courier New"/>
              <a:cs typeface="Courier New"/>
            </a:endParaRPr>
          </a:p>
          <a:p>
            <a:pPr marL="1097915" lvl="1" indent="-171450">
              <a:lnSpc>
                <a:spcPct val="100000"/>
              </a:lnSpc>
              <a:spcBef>
                <a:spcPts val="190"/>
              </a:spcBef>
              <a:buSzPct val="50000"/>
              <a:buFont typeface="Wingdings"/>
              <a:buChar char=""/>
              <a:tabLst>
                <a:tab pos="1098550" algn="l"/>
                <a:tab pos="2644775" algn="l"/>
              </a:tabLst>
            </a:pPr>
            <a:endParaRPr lang="en-US" sz="16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2069" y="6585915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79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sz="4000" b="1" dirty="0">
                <a:latin typeface="Verdana"/>
                <a:cs typeface="Verdana"/>
              </a:rPr>
              <a:t>Math</a:t>
            </a:r>
            <a:r>
              <a:rPr sz="4000" b="1" spc="-120" dirty="0">
                <a:latin typeface="Verdana"/>
                <a:cs typeface="Verdana"/>
              </a:rPr>
              <a:t> </a:t>
            </a:r>
            <a:r>
              <a:rPr sz="4000" b="1" spc="-10" dirty="0">
                <a:latin typeface="Verdana"/>
                <a:cs typeface="Verdana"/>
              </a:rPr>
              <a:t>commands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1066545"/>
            <a:ext cx="866775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5745" marR="5080" indent="-233679">
              <a:lnSpc>
                <a:spcPts val="2160"/>
              </a:lnSpc>
              <a:spcBef>
                <a:spcPts val="37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  <a:tab pos="6809105" algn="l"/>
              </a:tabLst>
            </a:pPr>
            <a:r>
              <a:rPr sz="2000" dirty="0">
                <a:latin typeface="Verdana"/>
                <a:cs typeface="Verdana"/>
              </a:rPr>
              <a:t>Python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useful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Verdana"/>
                <a:cs typeface="Verdana"/>
                <a:hlinkClick r:id="rId3"/>
              </a:rPr>
              <a:t>commands</a:t>
            </a:r>
            <a:r>
              <a:rPr sz="2000" spc="-30" dirty="0">
                <a:solidFill>
                  <a:srgbClr val="80008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(or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called</a:t>
            </a:r>
            <a:r>
              <a:rPr sz="2000" spc="-10" dirty="0">
                <a:latin typeface="Verdana"/>
                <a:cs typeface="Verdana"/>
              </a:rPr>
              <a:t> functions)</a:t>
            </a:r>
            <a:r>
              <a:rPr sz="2000" dirty="0">
                <a:latin typeface="Verdana"/>
                <a:cs typeface="Verdana"/>
              </a:rPr>
              <a:t>	for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performing calculations.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901639"/>
            <a:ext cx="8654415" cy="88963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5745" marR="5080" indent="-233679">
              <a:lnSpc>
                <a:spcPts val="2160"/>
              </a:lnSpc>
              <a:spcBef>
                <a:spcPts val="37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these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commands,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must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write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following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at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top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your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Python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program:</a:t>
            </a:r>
            <a:endParaRPr sz="20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1800" dirty="0">
                <a:latin typeface="Courier New"/>
                <a:cs typeface="Courier New"/>
              </a:rPr>
              <a:t>from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math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import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*</a:t>
            </a:r>
            <a:endParaRPr sz="1800" dirty="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8112" y="1770062"/>
          <a:ext cx="5975984" cy="3853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4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1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dirty="0">
                          <a:latin typeface="Verdana"/>
                          <a:cs typeface="Verdana"/>
                        </a:rPr>
                        <a:t>Command</a:t>
                      </a:r>
                      <a:r>
                        <a:rPr sz="1400" b="1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b="1" spc="-20" dirty="0">
                          <a:latin typeface="Verdana"/>
                          <a:cs typeface="Verdana"/>
                        </a:rPr>
                        <a:t>name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10" dirty="0">
                          <a:latin typeface="Verdana"/>
                          <a:cs typeface="Verdana"/>
                        </a:rPr>
                        <a:t>Description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abs(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absolute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value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ceil(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rounds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 up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cos(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cosine,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radians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floor(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 dirty="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rounds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down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log(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logarithm,</a:t>
                      </a:r>
                      <a:r>
                        <a:rPr sz="14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base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i="1" spc="-50" dirty="0">
                          <a:latin typeface="Verdana"/>
                          <a:cs typeface="Verdana"/>
                        </a:rPr>
                        <a:t>e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log10(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logarithm,</a:t>
                      </a:r>
                      <a:r>
                        <a:rPr sz="14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base</a:t>
                      </a:r>
                      <a:r>
                        <a:rPr sz="14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 dirty="0">
                          <a:latin typeface="Verdana"/>
                          <a:cs typeface="Verdana"/>
                        </a:rPr>
                        <a:t>10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max(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value1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400" spc="-3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value2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larger</a:t>
                      </a:r>
                      <a:r>
                        <a:rPr sz="14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4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two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values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min(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value1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400" spc="-3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value2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smaller</a:t>
                      </a:r>
                      <a:r>
                        <a:rPr sz="14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14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two</a:t>
                      </a:r>
                      <a:r>
                        <a:rPr sz="14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values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round(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nearest</a:t>
                      </a:r>
                      <a:r>
                        <a:rPr sz="14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whole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 number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sin(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sine,</a:t>
                      </a:r>
                      <a:r>
                        <a:rPr sz="14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4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latin typeface="Verdana"/>
                          <a:cs typeface="Verdana"/>
                        </a:rPr>
                        <a:t>radians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sqrt(</a:t>
                      </a:r>
                      <a:r>
                        <a:rPr sz="1400" b="1" i="1" spc="-10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square</a:t>
                      </a:r>
                      <a:r>
                        <a:rPr sz="14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root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05537" y="1585912"/>
          <a:ext cx="2771775" cy="990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10" dirty="0">
                          <a:latin typeface="Verdana"/>
                          <a:cs typeface="Verdana"/>
                        </a:rPr>
                        <a:t>Constant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10" dirty="0">
                          <a:latin typeface="Verdana"/>
                          <a:cs typeface="Verdana"/>
                        </a:rPr>
                        <a:t>Description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2.7182818...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25" dirty="0">
                          <a:latin typeface="Courier New"/>
                          <a:cs typeface="Courier New"/>
                        </a:rPr>
                        <a:t>pi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Verdana"/>
                          <a:cs typeface="Verdana"/>
                        </a:rPr>
                        <a:t>3.1415926...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7F4C0-9119-07B8-F7E7-0156607799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8</a:t>
            </a:fld>
            <a:endParaRPr lang="en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2519" y="296367"/>
            <a:ext cx="59347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FFCF00"/>
                </a:solidFill>
                <a:latin typeface="Comic Sans MS"/>
                <a:cs typeface="Comic Sans MS"/>
              </a:rPr>
              <a:t>Numbers:</a:t>
            </a:r>
            <a:r>
              <a:rPr sz="4000" b="1" spc="-185" dirty="0">
                <a:solidFill>
                  <a:srgbClr val="FFCF00"/>
                </a:solidFill>
                <a:latin typeface="Comic Sans MS"/>
                <a:cs typeface="Comic Sans MS"/>
              </a:rPr>
              <a:t> </a:t>
            </a:r>
            <a:r>
              <a:rPr sz="4000" b="1" dirty="0">
                <a:solidFill>
                  <a:srgbClr val="FFCF00"/>
                </a:solidFill>
                <a:latin typeface="Comic Sans MS"/>
                <a:cs typeface="Comic Sans MS"/>
              </a:rPr>
              <a:t>Floating</a:t>
            </a:r>
            <a:r>
              <a:rPr sz="4000" b="1" spc="-160" dirty="0">
                <a:solidFill>
                  <a:srgbClr val="FFCF00"/>
                </a:solidFill>
                <a:latin typeface="Comic Sans MS"/>
                <a:cs typeface="Comic Sans MS"/>
              </a:rPr>
              <a:t> </a:t>
            </a:r>
            <a:r>
              <a:rPr sz="4000" b="1" spc="-10" dirty="0">
                <a:solidFill>
                  <a:srgbClr val="FFCF00"/>
                </a:solidFill>
                <a:latin typeface="Comic Sans MS"/>
                <a:cs typeface="Comic Sans MS"/>
              </a:rPr>
              <a:t>Point</a:t>
            </a:r>
            <a:endParaRPr sz="40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013026"/>
            <a:ext cx="4340860" cy="32079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3679">
              <a:lnSpc>
                <a:spcPct val="100000"/>
              </a:lnSpc>
              <a:spcBef>
                <a:spcPts val="95"/>
              </a:spcBef>
              <a:buClr>
                <a:srgbClr val="808080"/>
              </a:buClr>
              <a:buSzPct val="58928"/>
              <a:buFont typeface="Wingdings"/>
              <a:buChar char=""/>
              <a:tabLst>
                <a:tab pos="246379" algn="l"/>
              </a:tabLst>
            </a:pPr>
            <a:r>
              <a:rPr sz="2800" dirty="0">
                <a:latin typeface="Verdana"/>
                <a:cs typeface="Verdana"/>
              </a:rPr>
              <a:t>int(x)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converts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x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to </a:t>
            </a:r>
            <a:r>
              <a:rPr sz="2800" dirty="0">
                <a:latin typeface="Verdana"/>
                <a:cs typeface="Verdana"/>
              </a:rPr>
              <a:t>an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integer</a:t>
            </a:r>
            <a:endParaRPr sz="2800" dirty="0">
              <a:latin typeface="Verdana"/>
              <a:cs typeface="Verdana"/>
            </a:endParaRPr>
          </a:p>
          <a:p>
            <a:pPr marL="245745" marR="156845" indent="-233679">
              <a:lnSpc>
                <a:spcPct val="100000"/>
              </a:lnSpc>
              <a:spcBef>
                <a:spcPts val="675"/>
              </a:spcBef>
              <a:buClr>
                <a:srgbClr val="808080"/>
              </a:buClr>
              <a:buSzPct val="58928"/>
              <a:buFont typeface="Wingdings"/>
              <a:buChar char=""/>
              <a:tabLst>
                <a:tab pos="246379" algn="l"/>
              </a:tabLst>
            </a:pPr>
            <a:r>
              <a:rPr sz="2800" dirty="0">
                <a:latin typeface="Verdana"/>
                <a:cs typeface="Verdana"/>
              </a:rPr>
              <a:t>float(x)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converts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x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floating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point</a:t>
            </a:r>
            <a:endParaRPr sz="2800" dirty="0">
              <a:latin typeface="Verdana"/>
              <a:cs typeface="Verdana"/>
            </a:endParaRPr>
          </a:p>
          <a:p>
            <a:pPr marL="245745" marR="781050" indent="-233679">
              <a:lnSpc>
                <a:spcPct val="100000"/>
              </a:lnSpc>
              <a:spcBef>
                <a:spcPts val="675"/>
              </a:spcBef>
              <a:buClr>
                <a:srgbClr val="808080"/>
              </a:buClr>
              <a:buSzPct val="58928"/>
              <a:buFont typeface="Wingdings"/>
              <a:buChar char=""/>
              <a:tabLst>
                <a:tab pos="246379" algn="l"/>
              </a:tabLst>
            </a:pPr>
            <a:r>
              <a:rPr lang="en-US" sz="2800" dirty="0">
                <a:latin typeface="Verdana"/>
                <a:cs typeface="Verdana"/>
              </a:rPr>
              <a:t>can use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type() </a:t>
            </a:r>
            <a:r>
              <a:rPr lang="en-US" sz="2800" dirty="0">
                <a:latin typeface="Verdana"/>
                <a:cs typeface="Verdana"/>
              </a:rPr>
              <a:t>to see the type of a variable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10200" y="1981200"/>
            <a:ext cx="3057525" cy="446789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1.23232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1.2323200000000001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1.23232</a:t>
            </a:r>
            <a:r>
              <a:rPr lang="en-US"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495"/>
              </a:spcBef>
            </a:pP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1.23232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1.3E7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13000000.0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 marR="1267460">
              <a:lnSpc>
                <a:spcPts val="2900"/>
              </a:lnSpc>
              <a:spcBef>
                <a:spcPts val="170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int(2.0) </a:t>
            </a:r>
            <a:endParaRPr lang="en-US" sz="2000" spc="-1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 marR="1267460">
              <a:lnSpc>
                <a:spcPts val="2900"/>
              </a:lnSpc>
              <a:spcBef>
                <a:spcPts val="170"/>
              </a:spcBef>
            </a:pPr>
            <a:r>
              <a:rPr sz="2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float(2)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495"/>
              </a:spcBef>
            </a:pPr>
            <a:r>
              <a:rPr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endParaRPr lang="en-US" sz="2000" spc="-25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495"/>
              </a:spcBef>
            </a:pPr>
            <a:r>
              <a:rPr lang="en-CN"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type(2.0)</a:t>
            </a:r>
          </a:p>
          <a:p>
            <a:pPr marL="92075">
              <a:lnSpc>
                <a:spcPct val="100000"/>
              </a:lnSpc>
              <a:spcBef>
                <a:spcPts val="495"/>
              </a:spcBef>
            </a:pPr>
            <a:r>
              <a:rPr lang="en-CN"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02D87-B965-8D08-6C6E-9F3014F0B0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9</a:t>
            </a:fld>
            <a:endParaRPr lang="en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40" y="5715000"/>
            <a:ext cx="898652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2945" indent="-233679">
              <a:lnSpc>
                <a:spcPts val="2130"/>
              </a:lnSpc>
              <a:spcBef>
                <a:spcPts val="100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02945" algn="l"/>
                <a:tab pos="70358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variable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that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has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been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given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value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 in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expressions.</a:t>
            </a:r>
            <a:endParaRPr sz="1800" dirty="0">
              <a:latin typeface="Verdana"/>
              <a:cs typeface="Verdana"/>
            </a:endParaRPr>
          </a:p>
          <a:p>
            <a:pPr marL="927100">
              <a:lnSpc>
                <a:spcPts val="2130"/>
              </a:lnSpc>
            </a:pPr>
            <a:r>
              <a:rPr sz="1800" dirty="0">
                <a:latin typeface="Courier New"/>
                <a:cs typeface="Courier New"/>
              </a:rPr>
              <a:t>x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+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4</a:t>
            </a:r>
            <a:r>
              <a:rPr sz="1800" spc="-445" dirty="0">
                <a:latin typeface="Courier New"/>
                <a:cs typeface="Courier New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9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79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sz="4000" b="1" spc="-10" dirty="0">
                <a:latin typeface="Verdana"/>
                <a:cs typeface="Verdana"/>
              </a:rPr>
              <a:t>Variables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40" y="1482585"/>
            <a:ext cx="7954009" cy="26574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350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b="1" dirty="0">
                <a:latin typeface="Verdana"/>
                <a:cs typeface="Verdana"/>
              </a:rPr>
              <a:t>variable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named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piece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memory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store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value.</a:t>
            </a:r>
            <a:endParaRPr sz="2000" dirty="0">
              <a:latin typeface="Verdana"/>
              <a:cs typeface="Verdana"/>
            </a:endParaRPr>
          </a:p>
          <a:p>
            <a:pPr marL="702945" lvl="1" indent="-233679">
              <a:lnSpc>
                <a:spcPts val="2160"/>
              </a:lnSpc>
              <a:spcBef>
                <a:spcPts val="225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02945" algn="l"/>
                <a:tab pos="703580" algn="l"/>
              </a:tabLst>
            </a:pPr>
            <a:r>
              <a:rPr sz="1800" spc="-10" dirty="0">
                <a:latin typeface="Verdana"/>
                <a:cs typeface="Verdana"/>
              </a:rPr>
              <a:t>Usage:</a:t>
            </a:r>
            <a:endParaRPr sz="1800" dirty="0">
              <a:latin typeface="Verdana"/>
              <a:cs typeface="Verdana"/>
            </a:endParaRPr>
          </a:p>
          <a:p>
            <a:pPr marL="1097915" lvl="2" indent="-171450">
              <a:lnSpc>
                <a:spcPts val="1920"/>
              </a:lnSpc>
              <a:buSzPct val="50000"/>
              <a:buFont typeface="Wingdings"/>
              <a:buChar char=""/>
              <a:tabLst>
                <a:tab pos="1098550" algn="l"/>
              </a:tabLst>
            </a:pPr>
            <a:r>
              <a:rPr sz="1600" dirty="0">
                <a:latin typeface="Verdana"/>
                <a:cs typeface="Verdana"/>
              </a:rPr>
              <a:t>Compute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expression's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result,</a:t>
            </a:r>
            <a:endParaRPr sz="1600" dirty="0">
              <a:latin typeface="Verdana"/>
              <a:cs typeface="Verdana"/>
            </a:endParaRPr>
          </a:p>
          <a:p>
            <a:pPr marL="1097915" lvl="2" indent="-171450">
              <a:lnSpc>
                <a:spcPct val="100000"/>
              </a:lnSpc>
              <a:buSzPct val="50000"/>
              <a:buFont typeface="Wingdings"/>
              <a:buChar char=""/>
              <a:tabLst>
                <a:tab pos="1098550" algn="l"/>
              </a:tabLst>
            </a:pPr>
            <a:r>
              <a:rPr sz="1600" dirty="0">
                <a:latin typeface="Verdana"/>
                <a:cs typeface="Verdana"/>
              </a:rPr>
              <a:t>store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that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result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into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variable,</a:t>
            </a:r>
            <a:endParaRPr sz="1600" dirty="0">
              <a:latin typeface="Verdana"/>
              <a:cs typeface="Verdana"/>
            </a:endParaRPr>
          </a:p>
          <a:p>
            <a:pPr marL="1097915" lvl="2" indent="-171450">
              <a:lnSpc>
                <a:spcPct val="100000"/>
              </a:lnSpc>
              <a:spcBef>
                <a:spcPts val="5"/>
              </a:spcBef>
              <a:buSzPct val="50000"/>
              <a:buFont typeface="Wingdings"/>
              <a:buChar char=""/>
              <a:tabLst>
                <a:tab pos="1098550" algn="l"/>
              </a:tabLst>
            </a:pPr>
            <a:r>
              <a:rPr sz="1600" dirty="0">
                <a:latin typeface="Verdana"/>
                <a:cs typeface="Verdana"/>
              </a:rPr>
              <a:t>and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that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variable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later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program.</a:t>
            </a:r>
            <a:endParaRPr sz="1600" dirty="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Font typeface="Wingdings"/>
              <a:buChar char=""/>
            </a:pPr>
            <a:endParaRPr sz="1450" dirty="0">
              <a:latin typeface="Verdana"/>
              <a:cs typeface="Verdana"/>
            </a:endParaRPr>
          </a:p>
          <a:p>
            <a:pPr marL="245745" indent="-233679">
              <a:lnSpc>
                <a:spcPct val="100000"/>
              </a:lnSpc>
              <a:buClr>
                <a:srgbClr val="808080"/>
              </a:buClr>
              <a:buSzPct val="60000"/>
              <a:buFont typeface="Wingdings"/>
              <a:buChar char=""/>
              <a:tabLst>
                <a:tab pos="246379" algn="l"/>
              </a:tabLst>
            </a:pPr>
            <a:r>
              <a:rPr sz="2000" b="1" dirty="0">
                <a:latin typeface="Verdana"/>
                <a:cs typeface="Verdana"/>
              </a:rPr>
              <a:t>assignment</a:t>
            </a:r>
            <a:r>
              <a:rPr sz="2000" b="1" spc="-6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statement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Stores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value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variable.</a:t>
            </a:r>
            <a:endParaRPr sz="2000" dirty="0">
              <a:latin typeface="Verdana"/>
              <a:cs typeface="Verdana"/>
            </a:endParaRPr>
          </a:p>
          <a:p>
            <a:pPr marL="702945" lvl="1" indent="-233679">
              <a:lnSpc>
                <a:spcPct val="100000"/>
              </a:lnSpc>
              <a:spcBef>
                <a:spcPts val="225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02945" algn="l"/>
                <a:tab pos="703580" algn="l"/>
              </a:tabLst>
            </a:pPr>
            <a:r>
              <a:rPr sz="1800" spc="-10" dirty="0">
                <a:latin typeface="Verdana"/>
                <a:cs typeface="Verdana"/>
              </a:rPr>
              <a:t>Syntax:</a:t>
            </a:r>
            <a:endParaRPr sz="1800" dirty="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165"/>
              </a:spcBef>
              <a:tabLst>
                <a:tab pos="1771014" algn="l"/>
              </a:tabLst>
            </a:pPr>
            <a:r>
              <a:rPr sz="1800" b="1" i="1" spc="-20" dirty="0">
                <a:latin typeface="Verdana"/>
                <a:cs typeface="Verdana"/>
              </a:rPr>
              <a:t>name</a:t>
            </a:r>
            <a:r>
              <a:rPr sz="1800" b="1" i="1" dirty="0">
                <a:latin typeface="Verdana"/>
                <a:cs typeface="Verdana"/>
              </a:rPr>
              <a:t>	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b="1" i="1" spc="-20" dirty="0">
                <a:latin typeface="Verdana"/>
                <a:cs typeface="Verdana"/>
              </a:rPr>
              <a:t>value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1" y="4360088"/>
            <a:ext cx="1462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679">
              <a:lnSpc>
                <a:spcPct val="100000"/>
              </a:lnSpc>
              <a:spcBef>
                <a:spcPts val="100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245745" algn="l"/>
                <a:tab pos="246379" algn="l"/>
              </a:tabLst>
            </a:pPr>
            <a:r>
              <a:rPr sz="1800" spc="-10" dirty="0">
                <a:latin typeface="Verdana"/>
                <a:cs typeface="Verdana"/>
              </a:rPr>
              <a:t>Examples: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2195" y="4332656"/>
            <a:ext cx="1392555" cy="6292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Courier New"/>
                <a:cs typeface="Courier New"/>
              </a:rPr>
              <a:t>x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0" dirty="0">
                <a:latin typeface="Courier New"/>
                <a:cs typeface="Courier New"/>
              </a:rPr>
              <a:t>5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ourier New"/>
                <a:cs typeface="Courier New"/>
              </a:rPr>
              <a:t>gpa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3.14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521" y="5160188"/>
            <a:ext cx="178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9952" y="5095799"/>
            <a:ext cx="5969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610"/>
              </a:spcBef>
            </a:pPr>
            <a:r>
              <a:rPr sz="2000" dirty="0"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52256" y="5160188"/>
            <a:ext cx="483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ourier New"/>
                <a:cs typeface="Courier New"/>
              </a:rPr>
              <a:t>gpa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51326" y="5095799"/>
            <a:ext cx="97028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610"/>
              </a:spcBef>
            </a:pPr>
            <a:r>
              <a:rPr sz="2000" spc="-20" dirty="0">
                <a:latin typeface="Courier New"/>
                <a:cs typeface="Courier New"/>
              </a:rPr>
              <a:t>3.14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83767" y="1895399"/>
            <a:ext cx="2790825" cy="696595"/>
            <a:chOff x="6183766" y="1447800"/>
            <a:chExt cx="2790825" cy="69659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3766" y="1447800"/>
              <a:ext cx="2790747" cy="6953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966076" y="1899538"/>
              <a:ext cx="1331595" cy="212725"/>
            </a:xfrm>
            <a:custGeom>
              <a:avLst/>
              <a:gdLst/>
              <a:ahLst/>
              <a:cxnLst/>
              <a:rect l="l" t="t" r="r" b="b"/>
              <a:pathLst>
                <a:path w="1331595" h="212725">
                  <a:moveTo>
                    <a:pt x="0" y="106299"/>
                  </a:moveTo>
                  <a:lnTo>
                    <a:pt x="38812" y="70461"/>
                  </a:lnTo>
                  <a:lnTo>
                    <a:pt x="103649" y="49328"/>
                  </a:lnTo>
                  <a:lnTo>
                    <a:pt x="146257" y="39828"/>
                  </a:lnTo>
                  <a:lnTo>
                    <a:pt x="194992" y="31146"/>
                  </a:lnTo>
                  <a:lnTo>
                    <a:pt x="249355" y="23363"/>
                  </a:lnTo>
                  <a:lnTo>
                    <a:pt x="308846" y="16557"/>
                  </a:lnTo>
                  <a:lnTo>
                    <a:pt x="372965" y="10810"/>
                  </a:lnTo>
                  <a:lnTo>
                    <a:pt x="441213" y="6200"/>
                  </a:lnTo>
                  <a:lnTo>
                    <a:pt x="513090" y="2809"/>
                  </a:lnTo>
                  <a:lnTo>
                    <a:pt x="588097" y="715"/>
                  </a:lnTo>
                  <a:lnTo>
                    <a:pt x="665733" y="0"/>
                  </a:lnTo>
                  <a:lnTo>
                    <a:pt x="743368" y="715"/>
                  </a:lnTo>
                  <a:lnTo>
                    <a:pt x="818370" y="2809"/>
                  </a:lnTo>
                  <a:lnTo>
                    <a:pt x="890239" y="6200"/>
                  </a:lnTo>
                  <a:lnTo>
                    <a:pt x="958477" y="10810"/>
                  </a:lnTo>
                  <a:lnTo>
                    <a:pt x="1022584" y="16557"/>
                  </a:lnTo>
                  <a:lnTo>
                    <a:pt x="1082062" y="23363"/>
                  </a:lnTo>
                  <a:lnTo>
                    <a:pt x="1136411" y="31146"/>
                  </a:lnTo>
                  <a:lnTo>
                    <a:pt x="1185133" y="39828"/>
                  </a:lnTo>
                  <a:lnTo>
                    <a:pt x="1227728" y="49328"/>
                  </a:lnTo>
                  <a:lnTo>
                    <a:pt x="1292543" y="70461"/>
                  </a:lnTo>
                  <a:lnTo>
                    <a:pt x="1326863" y="93908"/>
                  </a:lnTo>
                  <a:lnTo>
                    <a:pt x="1331341" y="106299"/>
                  </a:lnTo>
                  <a:lnTo>
                    <a:pt x="1326863" y="118689"/>
                  </a:lnTo>
                  <a:lnTo>
                    <a:pt x="1313765" y="130661"/>
                  </a:lnTo>
                  <a:lnTo>
                    <a:pt x="1263698" y="153032"/>
                  </a:lnTo>
                  <a:lnTo>
                    <a:pt x="1185133" y="172769"/>
                  </a:lnTo>
                  <a:lnTo>
                    <a:pt x="1136411" y="181451"/>
                  </a:lnTo>
                  <a:lnTo>
                    <a:pt x="1082062" y="189234"/>
                  </a:lnTo>
                  <a:lnTo>
                    <a:pt x="1022584" y="196040"/>
                  </a:lnTo>
                  <a:lnTo>
                    <a:pt x="958477" y="201787"/>
                  </a:lnTo>
                  <a:lnTo>
                    <a:pt x="890239" y="206397"/>
                  </a:lnTo>
                  <a:lnTo>
                    <a:pt x="818370" y="209788"/>
                  </a:lnTo>
                  <a:lnTo>
                    <a:pt x="743368" y="211882"/>
                  </a:lnTo>
                  <a:lnTo>
                    <a:pt x="665733" y="212598"/>
                  </a:lnTo>
                  <a:lnTo>
                    <a:pt x="588097" y="211882"/>
                  </a:lnTo>
                  <a:lnTo>
                    <a:pt x="513090" y="209788"/>
                  </a:lnTo>
                  <a:lnTo>
                    <a:pt x="441213" y="206397"/>
                  </a:lnTo>
                  <a:lnTo>
                    <a:pt x="372965" y="201787"/>
                  </a:lnTo>
                  <a:lnTo>
                    <a:pt x="308846" y="196040"/>
                  </a:lnTo>
                  <a:lnTo>
                    <a:pt x="249355" y="189234"/>
                  </a:lnTo>
                  <a:lnTo>
                    <a:pt x="194992" y="181451"/>
                  </a:lnTo>
                  <a:lnTo>
                    <a:pt x="146257" y="172769"/>
                  </a:lnTo>
                  <a:lnTo>
                    <a:pt x="103649" y="163269"/>
                  </a:lnTo>
                  <a:lnTo>
                    <a:pt x="38812" y="142136"/>
                  </a:lnTo>
                  <a:lnTo>
                    <a:pt x="4479" y="118689"/>
                  </a:lnTo>
                  <a:lnTo>
                    <a:pt x="0" y="106299"/>
                  </a:lnTo>
                  <a:close/>
                </a:path>
              </a:pathLst>
            </a:custGeom>
            <a:ln w="635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3D2D0F3-A97A-D637-0C76-94F00A776A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686802" y="6464450"/>
            <a:ext cx="416812" cy="215444"/>
          </a:xfrm>
        </p:spPr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10</a:t>
            </a:fld>
            <a:endParaRPr lang="en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5621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30"/>
              </a:spcBef>
            </a:pPr>
            <a:r>
              <a:rPr sz="4000" b="1" spc="-10" dirty="0">
                <a:solidFill>
                  <a:srgbClr val="FFCF00"/>
                </a:solidFill>
                <a:latin typeface="Comic Sans MS"/>
                <a:cs typeface="Comic Sans MS"/>
              </a:rPr>
              <a:t>Example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0" y="1600200"/>
            <a:ext cx="4800600" cy="33750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sz="2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 marR="3838575">
              <a:lnSpc>
                <a:spcPts val="2910"/>
              </a:lnSpc>
              <a:spcBef>
                <a:spcPts val="175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x 7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x+7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500"/>
              </a:spcBef>
            </a:pPr>
            <a:r>
              <a:rPr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'hello'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r>
              <a:rPr sz="20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'hello'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A9FE8-14E4-8316-8069-BD12603AC9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11</a:t>
            </a:fld>
            <a:endParaRPr lang="en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15" y="1076706"/>
            <a:ext cx="8867775" cy="56605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indent="-340360">
              <a:lnSpc>
                <a:spcPct val="100000"/>
              </a:lnSpc>
              <a:spcBef>
                <a:spcPts val="1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352425" algn="l"/>
                <a:tab pos="353060" algn="l"/>
              </a:tabLst>
            </a:pPr>
            <a:r>
              <a:rPr lang="en-US" sz="2000" spc="-10" dirty="0">
                <a:latin typeface="Courier New"/>
                <a:cs typeface="Courier New"/>
              </a:rPr>
              <a:t>p</a:t>
            </a:r>
            <a:r>
              <a:rPr sz="2000" spc="-10" dirty="0">
                <a:latin typeface="Courier New"/>
                <a:cs typeface="Courier New"/>
              </a:rPr>
              <a:t>rint</a:t>
            </a:r>
            <a:r>
              <a:rPr lang="en-US" sz="2000" spc="-10" dirty="0">
                <a:latin typeface="Courier New"/>
                <a:cs typeface="Courier New"/>
              </a:rPr>
              <a:t>()</a:t>
            </a:r>
            <a:r>
              <a:rPr sz="2000" spc="-520" dirty="0">
                <a:latin typeface="Courier New"/>
                <a:cs typeface="Courier New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Produces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text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0" dirty="0">
                <a:latin typeface="Verdana"/>
                <a:cs typeface="Verdana"/>
              </a:rPr>
              <a:t> console.</a:t>
            </a:r>
            <a:endParaRPr sz="2000" dirty="0">
              <a:latin typeface="Verdana"/>
              <a:cs typeface="Verdana"/>
            </a:endParaRPr>
          </a:p>
          <a:p>
            <a:pPr marL="352425" indent="-34036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352425" algn="l"/>
                <a:tab pos="353060" algn="l"/>
              </a:tabLst>
            </a:pPr>
            <a:r>
              <a:rPr sz="2000" spc="-10" dirty="0">
                <a:latin typeface="Verdana"/>
                <a:cs typeface="Verdana"/>
              </a:rPr>
              <a:t>Syntax:</a:t>
            </a:r>
            <a:endParaRPr lang="en-US" sz="2000" spc="-10" dirty="0">
              <a:latin typeface="Verdana"/>
              <a:cs typeface="Verdana"/>
            </a:endParaRPr>
          </a:p>
          <a:p>
            <a:pPr marL="12065" lvl="1">
              <a:spcBef>
                <a:spcPts val="1800"/>
              </a:spcBef>
              <a:buClr>
                <a:srgbClr val="808080"/>
              </a:buClr>
              <a:buSzPct val="60000"/>
              <a:tabLst>
                <a:tab pos="352425" algn="l"/>
                <a:tab pos="353060" algn="l"/>
              </a:tabLst>
            </a:pPr>
            <a:r>
              <a:rPr lang="en-CN" spc="-10" dirty="0">
                <a:latin typeface="Verdana"/>
                <a:cs typeface="Verdana"/>
              </a:rPr>
              <a:t>			</a:t>
            </a:r>
            <a:r>
              <a:rPr lang="en-US" dirty="0">
                <a:latin typeface="Courier New"/>
                <a:cs typeface="Courier New"/>
              </a:rPr>
              <a:t>p</a:t>
            </a:r>
            <a:r>
              <a:rPr dirty="0">
                <a:latin typeface="Courier New"/>
                <a:cs typeface="Courier New"/>
              </a:rPr>
              <a:t>rint</a:t>
            </a:r>
            <a:r>
              <a:rPr lang="en-US" spc="-70" dirty="0">
                <a:latin typeface="Courier New"/>
                <a:cs typeface="Courier New"/>
              </a:rPr>
              <a:t>(</a:t>
            </a:r>
            <a:r>
              <a:rPr spc="-10" dirty="0">
                <a:latin typeface="Courier New"/>
                <a:cs typeface="Courier New"/>
              </a:rPr>
              <a:t>"</a:t>
            </a:r>
            <a:r>
              <a:rPr b="1" i="1" spc="-10" dirty="0">
                <a:latin typeface="Verdana"/>
                <a:cs typeface="Verdana"/>
              </a:rPr>
              <a:t>Message</a:t>
            </a:r>
            <a:r>
              <a:rPr lang="en-CN" b="1" i="1" spc="-10" dirty="0">
                <a:latin typeface="Courier New"/>
                <a:cs typeface="Courier New"/>
              </a:rPr>
              <a:t>"</a:t>
            </a:r>
            <a:r>
              <a:rPr lang="en-US" spc="-10" dirty="0">
                <a:latin typeface="Courier New"/>
                <a:cs typeface="Courier New"/>
              </a:rPr>
              <a:t>)</a:t>
            </a:r>
            <a:r>
              <a:rPr spc="-10" dirty="0">
                <a:latin typeface="Courier New"/>
                <a:cs typeface="Courier New"/>
              </a:rPr>
              <a:t> </a:t>
            </a:r>
            <a:endParaRPr lang="en-US" spc="-10" dirty="0">
              <a:latin typeface="Courier New"/>
              <a:cs typeface="Courier New"/>
            </a:endParaRPr>
          </a:p>
          <a:p>
            <a:pPr marL="12065" lvl="1">
              <a:spcBef>
                <a:spcPts val="1800"/>
              </a:spcBef>
              <a:buClr>
                <a:srgbClr val="808080"/>
              </a:buClr>
              <a:buSzPct val="60000"/>
              <a:tabLst>
                <a:tab pos="352425" algn="l"/>
                <a:tab pos="353060" algn="l"/>
              </a:tabLst>
            </a:pPr>
            <a:r>
              <a:rPr lang="en-US" sz="1800" spc="-10" dirty="0">
                <a:latin typeface="Courier New"/>
                <a:cs typeface="Courier New"/>
              </a:rPr>
              <a:t>			</a:t>
            </a:r>
            <a:r>
              <a:rPr sz="1800" dirty="0">
                <a:latin typeface="Courier New"/>
                <a:cs typeface="Courier New"/>
              </a:rPr>
              <a:t>print</a:t>
            </a:r>
            <a:r>
              <a:rPr lang="en-US" spc="-70" dirty="0">
                <a:latin typeface="Courier New"/>
                <a:cs typeface="Courier New"/>
              </a:rPr>
              <a:t>(</a:t>
            </a:r>
            <a:r>
              <a:rPr sz="1800" b="1" i="1" spc="-10" dirty="0">
                <a:latin typeface="Verdana"/>
                <a:cs typeface="Verdana"/>
              </a:rPr>
              <a:t>Expression</a:t>
            </a:r>
            <a:r>
              <a:rPr lang="en-US" spc="-10" dirty="0">
                <a:latin typeface="Courier New"/>
                <a:cs typeface="Courier New"/>
              </a:rPr>
              <a:t>)</a:t>
            </a:r>
            <a:endParaRPr sz="1800" dirty="0">
              <a:latin typeface="Verdana"/>
              <a:cs typeface="Verdana"/>
            </a:endParaRPr>
          </a:p>
          <a:p>
            <a:pPr marL="751840" indent="-282575">
              <a:spcBef>
                <a:spcPts val="434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51840" algn="l"/>
                <a:tab pos="752475" algn="l"/>
              </a:tabLst>
            </a:pPr>
            <a:r>
              <a:rPr dirty="0">
                <a:latin typeface="Verdana"/>
                <a:cs typeface="Verdana"/>
              </a:rPr>
              <a:t>Prints</a:t>
            </a:r>
            <a:r>
              <a:rPr spc="-3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the given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text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message or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expression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value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on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the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console,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25" dirty="0">
                <a:latin typeface="Verdana"/>
                <a:cs typeface="Verdana"/>
              </a:rPr>
              <a:t>and</a:t>
            </a:r>
            <a:endParaRPr dirty="0">
              <a:latin typeface="Verdana"/>
              <a:cs typeface="Verdana"/>
            </a:endParaRPr>
          </a:p>
          <a:p>
            <a:pPr marL="75184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moves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cursor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down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next</a:t>
            </a:r>
            <a:r>
              <a:rPr sz="1800" spc="-10" dirty="0">
                <a:latin typeface="Verdana"/>
                <a:cs typeface="Verdana"/>
              </a:rPr>
              <a:t> line.</a:t>
            </a:r>
            <a:endParaRPr lang="en-US" dirty="0">
              <a:latin typeface="Verdana"/>
              <a:cs typeface="Verdana"/>
            </a:endParaRPr>
          </a:p>
          <a:p>
            <a:pPr marL="751840">
              <a:lnSpc>
                <a:spcPct val="100000"/>
              </a:lnSpc>
            </a:pPr>
            <a:r>
              <a:rPr lang="en-CN" dirty="0">
                <a:latin typeface="Verdana"/>
                <a:cs typeface="Verdana"/>
              </a:rPr>
              <a:t>	</a:t>
            </a:r>
            <a:r>
              <a:rPr lang="en-US" dirty="0">
                <a:latin typeface="Courier New"/>
                <a:cs typeface="Courier New"/>
              </a:rPr>
              <a:t>p</a:t>
            </a:r>
            <a:r>
              <a:rPr sz="1800" dirty="0">
                <a:latin typeface="Courier New"/>
                <a:cs typeface="Courier New"/>
              </a:rPr>
              <a:t>rint</a:t>
            </a:r>
            <a:r>
              <a:rPr lang="en-US" spc="-50" dirty="0">
                <a:latin typeface="Courier New"/>
                <a:cs typeface="Courier New"/>
              </a:rPr>
              <a:t>(</a:t>
            </a:r>
            <a:r>
              <a:rPr sz="1800" b="1" i="1" dirty="0">
                <a:latin typeface="Verdana"/>
                <a:cs typeface="Verdana"/>
              </a:rPr>
              <a:t>Item1</a:t>
            </a:r>
            <a:r>
              <a:rPr sz="1800" b="1" dirty="0">
                <a:solidFill>
                  <a:srgbClr val="800000"/>
                </a:solidFill>
                <a:latin typeface="Courier New"/>
                <a:cs typeface="Courier New"/>
              </a:rPr>
              <a:t>,</a:t>
            </a:r>
            <a:r>
              <a:rPr sz="1800" b="1" spc="-1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800" b="1" i="1" dirty="0">
                <a:latin typeface="Verdana"/>
                <a:cs typeface="Verdana"/>
              </a:rPr>
              <a:t>Item2</a:t>
            </a:r>
            <a:r>
              <a:rPr sz="1800" b="1" dirty="0">
                <a:solidFill>
                  <a:srgbClr val="800000"/>
                </a:solidFill>
                <a:latin typeface="Courier New"/>
                <a:cs typeface="Courier New"/>
              </a:rPr>
              <a:t>,</a:t>
            </a:r>
            <a:r>
              <a:rPr sz="1800" b="1" spc="-1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Verdana"/>
                <a:cs typeface="Verdana"/>
              </a:rPr>
              <a:t>...</a:t>
            </a:r>
            <a:r>
              <a:rPr sz="1800" b="1" dirty="0">
                <a:solidFill>
                  <a:srgbClr val="800000"/>
                </a:solidFill>
                <a:latin typeface="Courier New"/>
                <a:cs typeface="Courier New"/>
              </a:rPr>
              <a:t>,</a:t>
            </a:r>
            <a:r>
              <a:rPr sz="1800" b="1" spc="-3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800" b="1" i="1" spc="-10" dirty="0" err="1">
                <a:latin typeface="Verdana"/>
                <a:cs typeface="Verdana"/>
              </a:rPr>
              <a:t>ItemN</a:t>
            </a:r>
            <a:r>
              <a:rPr lang="en-US" spc="-10" dirty="0">
                <a:latin typeface="Courier New"/>
                <a:cs typeface="Courier New"/>
              </a:rPr>
              <a:t>)</a:t>
            </a:r>
            <a:endParaRPr sz="1800" dirty="0">
              <a:latin typeface="Verdana"/>
              <a:cs typeface="Verdana"/>
            </a:endParaRPr>
          </a:p>
          <a:p>
            <a:pPr marL="751840" lvl="1" indent="-282575">
              <a:lnSpc>
                <a:spcPct val="100000"/>
              </a:lnSpc>
              <a:spcBef>
                <a:spcPts val="585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51840" algn="l"/>
                <a:tab pos="752475" algn="l"/>
              </a:tabLst>
            </a:pPr>
            <a:r>
              <a:rPr sz="1800" dirty="0">
                <a:latin typeface="Verdana"/>
                <a:cs typeface="Verdana"/>
              </a:rPr>
              <a:t>Prints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several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messages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and/or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expressions 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same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line.</a:t>
            </a:r>
            <a:endParaRPr sz="1800" dirty="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800000"/>
              </a:buClr>
              <a:buFont typeface="Wingdings"/>
              <a:buChar char=""/>
            </a:pPr>
            <a:endParaRPr sz="2500" dirty="0">
              <a:latin typeface="Verdana"/>
              <a:cs typeface="Verdana"/>
            </a:endParaRPr>
          </a:p>
          <a:p>
            <a:pPr marL="352425" indent="-340360">
              <a:lnSpc>
                <a:spcPts val="2280"/>
              </a:lnSpc>
              <a:buClr>
                <a:srgbClr val="808080"/>
              </a:buClr>
              <a:buSzPct val="60000"/>
              <a:buFont typeface="Wingdings"/>
              <a:buChar char=""/>
              <a:tabLst>
                <a:tab pos="352425" algn="l"/>
                <a:tab pos="353060" algn="l"/>
              </a:tabLst>
            </a:pPr>
            <a:r>
              <a:rPr sz="2000" spc="-10" dirty="0">
                <a:latin typeface="Verdana"/>
                <a:cs typeface="Verdana"/>
              </a:rPr>
              <a:t>Examples:</a:t>
            </a:r>
            <a:endParaRPr lang="en-US" sz="2000" spc="-10" dirty="0">
              <a:latin typeface="Verdana"/>
              <a:cs typeface="Verdana"/>
            </a:endParaRPr>
          </a:p>
          <a:p>
            <a:pPr marL="12065">
              <a:lnSpc>
                <a:spcPts val="2280"/>
              </a:lnSpc>
              <a:buClr>
                <a:srgbClr val="808080"/>
              </a:buClr>
              <a:buSzPct val="60000"/>
              <a:tabLst>
                <a:tab pos="352425" algn="l"/>
                <a:tab pos="353060" algn="l"/>
              </a:tabLst>
            </a:pPr>
            <a:r>
              <a:rPr lang="en-CN" sz="2000" spc="-10" dirty="0">
                <a:latin typeface="Verdana"/>
                <a:cs typeface="Verdana"/>
              </a:rPr>
              <a:t>			</a:t>
            </a:r>
            <a:r>
              <a:rPr lang="en-US" dirty="0">
                <a:latin typeface="Courier New"/>
                <a:cs typeface="Courier New"/>
              </a:rPr>
              <a:t>p</a:t>
            </a:r>
            <a:r>
              <a:rPr sz="1800" dirty="0">
                <a:latin typeface="Courier New"/>
                <a:cs typeface="Courier New"/>
              </a:rPr>
              <a:t>rint</a:t>
            </a:r>
            <a:r>
              <a:rPr lang="en-US" spc="-60" dirty="0">
                <a:latin typeface="Courier New"/>
                <a:cs typeface="Courier New"/>
              </a:rPr>
              <a:t>(</a:t>
            </a:r>
            <a:r>
              <a:rPr sz="1800" dirty="0">
                <a:latin typeface="Courier New"/>
                <a:cs typeface="Courier New"/>
              </a:rPr>
              <a:t>"Hello,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world!"</a:t>
            </a:r>
            <a:r>
              <a:rPr lang="en-US" sz="1800" spc="-10" dirty="0">
                <a:latin typeface="Courier New"/>
                <a:cs typeface="Courier New"/>
              </a:rPr>
              <a:t>)</a:t>
            </a:r>
            <a:r>
              <a:rPr sz="1800" spc="-10" dirty="0">
                <a:latin typeface="Courier New"/>
                <a:cs typeface="Courier New"/>
              </a:rPr>
              <a:t> </a:t>
            </a:r>
            <a:endParaRPr lang="en-US" sz="1800" spc="-10" dirty="0">
              <a:latin typeface="Courier New"/>
              <a:cs typeface="Courier New"/>
            </a:endParaRPr>
          </a:p>
          <a:p>
            <a:pPr marL="12065">
              <a:lnSpc>
                <a:spcPts val="2280"/>
              </a:lnSpc>
              <a:buClr>
                <a:srgbClr val="808080"/>
              </a:buClr>
              <a:buSzPct val="60000"/>
              <a:tabLst>
                <a:tab pos="352425" algn="l"/>
                <a:tab pos="353060" algn="l"/>
              </a:tabLst>
            </a:pPr>
            <a:r>
              <a:rPr lang="en-CN" spc="-10" dirty="0">
                <a:latin typeface="Courier New"/>
                <a:cs typeface="Courier New"/>
              </a:rPr>
              <a:t>			</a:t>
            </a:r>
            <a:r>
              <a:rPr sz="1800" dirty="0">
                <a:latin typeface="Courier New"/>
                <a:cs typeface="Courier New"/>
              </a:rPr>
              <a:t>age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4</a:t>
            </a:r>
            <a:r>
              <a:rPr lang="en-US" sz="1800" spc="-25" dirty="0">
                <a:latin typeface="Courier New"/>
                <a:cs typeface="Courier New"/>
              </a:rPr>
              <a:t>5</a:t>
            </a:r>
          </a:p>
          <a:p>
            <a:pPr marL="12065">
              <a:lnSpc>
                <a:spcPts val="2280"/>
              </a:lnSpc>
              <a:buClr>
                <a:srgbClr val="808080"/>
              </a:buClr>
              <a:buSzPct val="60000"/>
              <a:tabLst>
                <a:tab pos="352425" algn="l"/>
                <a:tab pos="353060" algn="l"/>
              </a:tabLst>
            </a:pPr>
            <a:r>
              <a:rPr lang="en-US" spc="-25" dirty="0">
                <a:latin typeface="Courier New"/>
                <a:cs typeface="Courier New"/>
              </a:rPr>
              <a:t>			</a:t>
            </a:r>
            <a:r>
              <a:rPr sz="1800" dirty="0">
                <a:latin typeface="Courier New"/>
                <a:cs typeface="Courier New"/>
              </a:rPr>
              <a:t>print</a:t>
            </a:r>
            <a:r>
              <a:rPr lang="en-US" spc="-45" dirty="0">
                <a:latin typeface="Courier New"/>
                <a:cs typeface="Courier New"/>
              </a:rPr>
              <a:t>(</a:t>
            </a:r>
            <a:r>
              <a:rPr sz="1800" dirty="0">
                <a:latin typeface="Courier New"/>
                <a:cs typeface="Courier New"/>
              </a:rPr>
              <a:t>"You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have",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65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age,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"years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until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retirement"</a:t>
            </a:r>
            <a:r>
              <a:rPr lang="en-US" sz="1800" spc="-10" dirty="0"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</a:pPr>
            <a:r>
              <a:rPr sz="1800" spc="-10" dirty="0">
                <a:latin typeface="Verdana"/>
                <a:cs typeface="Verdana"/>
              </a:rPr>
              <a:t>Output:</a:t>
            </a:r>
            <a:endParaRPr sz="1800" dirty="0">
              <a:latin typeface="Verdana"/>
              <a:cs typeface="Verdana"/>
            </a:endParaRPr>
          </a:p>
          <a:p>
            <a:pPr marL="751840">
              <a:lnSpc>
                <a:spcPts val="2055"/>
              </a:lnSpc>
              <a:spcBef>
                <a:spcPts val="610"/>
              </a:spcBef>
            </a:pPr>
            <a:r>
              <a:rPr sz="1800" dirty="0">
                <a:latin typeface="Courier New"/>
                <a:cs typeface="Courier New"/>
              </a:rPr>
              <a:t>Hello,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world!</a:t>
            </a:r>
            <a:endParaRPr sz="1800" dirty="0">
              <a:latin typeface="Courier New"/>
              <a:cs typeface="Courier New"/>
            </a:endParaRPr>
          </a:p>
          <a:p>
            <a:pPr marL="751840">
              <a:lnSpc>
                <a:spcPts val="2055"/>
              </a:lnSpc>
            </a:pPr>
            <a:r>
              <a:rPr sz="1800" dirty="0">
                <a:latin typeface="Courier New"/>
                <a:cs typeface="Courier New"/>
              </a:rPr>
              <a:t>You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have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20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years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until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retirement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365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sz="4000" b="1" spc="-10" dirty="0">
                <a:latin typeface="Courier New"/>
                <a:cs typeface="Courier New"/>
              </a:rPr>
              <a:t>print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16E98-1B5F-0125-470F-CDFAAB373F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12</a:t>
            </a:fld>
            <a:endParaRPr lang="en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016" y="1600200"/>
            <a:ext cx="8304785" cy="3409908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2425" indent="-340360">
              <a:lnSpc>
                <a:spcPct val="100000"/>
              </a:lnSpc>
              <a:spcBef>
                <a:spcPts val="605"/>
              </a:spcBef>
              <a:buClr>
                <a:srgbClr val="808080"/>
              </a:buClr>
              <a:buSzPct val="60000"/>
              <a:buFont typeface="Wingdings"/>
              <a:buChar char=""/>
              <a:tabLst>
                <a:tab pos="352425" algn="l"/>
                <a:tab pos="353060" algn="l"/>
              </a:tabLst>
            </a:pPr>
            <a:r>
              <a:rPr sz="2000" spc="-10" dirty="0">
                <a:latin typeface="Courier New"/>
                <a:cs typeface="Courier New"/>
              </a:rPr>
              <a:t>input</a:t>
            </a:r>
            <a:r>
              <a:rPr sz="2000" spc="-530" dirty="0">
                <a:latin typeface="Courier New"/>
                <a:cs typeface="Courier New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Reads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lang="en-US" sz="2000" dirty="0">
                <a:latin typeface="Verdana"/>
                <a:cs typeface="Verdana"/>
              </a:rPr>
              <a:t>string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input.</a:t>
            </a:r>
            <a:endParaRPr sz="2000" dirty="0">
              <a:latin typeface="Verdana"/>
              <a:cs typeface="Verdana"/>
            </a:endParaRPr>
          </a:p>
          <a:p>
            <a:pPr marL="751840" lvl="1" indent="-282575">
              <a:lnSpc>
                <a:spcPct val="100000"/>
              </a:lnSpc>
              <a:spcBef>
                <a:spcPts val="455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51840" algn="l"/>
                <a:tab pos="752475" algn="l"/>
              </a:tabLst>
            </a:pPr>
            <a:r>
              <a:rPr sz="1800" dirty="0">
                <a:latin typeface="Verdana"/>
                <a:cs typeface="Verdana"/>
              </a:rPr>
              <a:t>You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assign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(store)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result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</a:t>
            </a:r>
            <a:r>
              <a:rPr sz="1800" spc="-10" dirty="0">
                <a:latin typeface="Courier New"/>
                <a:cs typeface="Courier New"/>
              </a:rPr>
              <a:t>input</a:t>
            </a:r>
            <a:r>
              <a:rPr sz="1800" spc="-470" dirty="0">
                <a:latin typeface="Courier New"/>
                <a:cs typeface="Courier New"/>
              </a:rPr>
              <a:t> </a:t>
            </a:r>
            <a:r>
              <a:rPr sz="1800" dirty="0">
                <a:latin typeface="Verdana"/>
                <a:cs typeface="Verdana"/>
              </a:rPr>
              <a:t>into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variable.</a:t>
            </a:r>
            <a:endParaRPr sz="1800" dirty="0">
              <a:latin typeface="Verdana"/>
              <a:cs typeface="Verdana"/>
            </a:endParaRPr>
          </a:p>
          <a:p>
            <a:pPr marL="751840" lvl="1" indent="-282575">
              <a:lnSpc>
                <a:spcPts val="1950"/>
              </a:lnSpc>
              <a:spcBef>
                <a:spcPts val="585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51840" algn="l"/>
                <a:tab pos="752475" algn="l"/>
              </a:tabLst>
            </a:pPr>
            <a:endParaRPr lang="en-US" sz="1800" spc="-10" dirty="0">
              <a:latin typeface="Verdana"/>
              <a:cs typeface="Verdana"/>
            </a:endParaRPr>
          </a:p>
          <a:p>
            <a:pPr marL="751840" lvl="1" indent="-282575">
              <a:lnSpc>
                <a:spcPts val="1950"/>
              </a:lnSpc>
              <a:spcBef>
                <a:spcPts val="585"/>
              </a:spcBef>
              <a:buClr>
                <a:srgbClr val="800000"/>
              </a:buClr>
              <a:buSzPct val="55555"/>
              <a:buFont typeface="Wingdings"/>
              <a:buChar char=""/>
              <a:tabLst>
                <a:tab pos="751840" algn="l"/>
                <a:tab pos="752475" algn="l"/>
              </a:tabLst>
            </a:pPr>
            <a:r>
              <a:rPr sz="1800" spc="-10" dirty="0">
                <a:latin typeface="Verdana"/>
                <a:cs typeface="Verdana"/>
              </a:rPr>
              <a:t>Example:</a:t>
            </a:r>
            <a:endParaRPr sz="1800" dirty="0">
              <a:latin typeface="Verdana"/>
              <a:cs typeface="Verdana"/>
            </a:endParaRPr>
          </a:p>
          <a:p>
            <a:pPr marL="751840">
              <a:lnSpc>
                <a:spcPts val="1735"/>
              </a:lnSpc>
            </a:pPr>
            <a:endParaRPr lang="en-US" sz="1800" b="1" dirty="0">
              <a:latin typeface="Courier New"/>
              <a:cs typeface="Courier New"/>
            </a:endParaRPr>
          </a:p>
          <a:p>
            <a:pPr marL="751840">
              <a:lnSpc>
                <a:spcPts val="1735"/>
              </a:lnSpc>
            </a:pPr>
            <a:r>
              <a:rPr sz="1800" b="1" dirty="0">
                <a:latin typeface="Courier New"/>
                <a:cs typeface="Courier New"/>
              </a:rPr>
              <a:t>age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lang="en-US" sz="1800" b="1" spc="-40" dirty="0">
                <a:latin typeface="Courier New"/>
                <a:cs typeface="Courier New"/>
              </a:rPr>
              <a:t>int(</a:t>
            </a:r>
            <a:r>
              <a:rPr sz="1800" b="1" dirty="0">
                <a:latin typeface="Courier New"/>
                <a:cs typeface="Courier New"/>
              </a:rPr>
              <a:t>input("How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old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are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you?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")</a:t>
            </a:r>
            <a:r>
              <a:rPr lang="en-US" sz="1800" b="1" spc="-25" dirty="0"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751840">
              <a:lnSpc>
                <a:spcPts val="1730"/>
              </a:lnSpc>
            </a:pPr>
            <a:r>
              <a:rPr lang="en-US" dirty="0">
                <a:latin typeface="Courier New"/>
                <a:cs typeface="Courier New"/>
              </a:rPr>
              <a:t>p</a:t>
            </a:r>
            <a:r>
              <a:rPr sz="1800" dirty="0">
                <a:latin typeface="Courier New"/>
                <a:cs typeface="Courier New"/>
              </a:rPr>
              <a:t>rint</a:t>
            </a:r>
            <a:r>
              <a:rPr lang="en-US" spc="-45" dirty="0">
                <a:latin typeface="Courier New"/>
                <a:cs typeface="Courier New"/>
              </a:rPr>
              <a:t>(</a:t>
            </a:r>
            <a:r>
              <a:rPr sz="1800" dirty="0">
                <a:latin typeface="Courier New"/>
                <a:cs typeface="Courier New"/>
              </a:rPr>
              <a:t>"Your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age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is",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age</a:t>
            </a:r>
            <a:r>
              <a:rPr lang="en-US" sz="1800" spc="-25" dirty="0"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751840">
              <a:lnSpc>
                <a:spcPts val="1945"/>
              </a:lnSpc>
            </a:pPr>
            <a:r>
              <a:rPr lang="en-US" dirty="0">
                <a:latin typeface="Courier New"/>
                <a:cs typeface="Courier New"/>
              </a:rPr>
              <a:t>p</a:t>
            </a:r>
            <a:r>
              <a:rPr sz="1800" dirty="0">
                <a:latin typeface="Courier New"/>
                <a:cs typeface="Courier New"/>
              </a:rPr>
              <a:t>rint</a:t>
            </a:r>
            <a:r>
              <a:rPr lang="en-US" spc="-45" dirty="0">
                <a:latin typeface="Courier New"/>
                <a:cs typeface="Courier New"/>
              </a:rPr>
              <a:t>(</a:t>
            </a:r>
            <a:r>
              <a:rPr sz="1800" dirty="0">
                <a:latin typeface="Courier New"/>
                <a:cs typeface="Courier New"/>
              </a:rPr>
              <a:t>"You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have",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65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-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age,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"years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until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retirement"</a:t>
            </a:r>
            <a:r>
              <a:rPr lang="en-US" sz="1800" spc="-10" dirty="0"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751840">
              <a:lnSpc>
                <a:spcPct val="100000"/>
              </a:lnSpc>
              <a:spcBef>
                <a:spcPts val="640"/>
              </a:spcBef>
            </a:pPr>
            <a:r>
              <a:rPr sz="1800" spc="-10" dirty="0">
                <a:latin typeface="Verdana"/>
                <a:cs typeface="Verdana"/>
              </a:rPr>
              <a:t>Output:</a:t>
            </a:r>
            <a:endParaRPr sz="1800" dirty="0">
              <a:latin typeface="Verdana"/>
              <a:cs typeface="Verdana"/>
            </a:endParaRPr>
          </a:p>
          <a:p>
            <a:pPr marL="751840">
              <a:lnSpc>
                <a:spcPts val="1945"/>
              </a:lnSpc>
              <a:spcBef>
                <a:spcPts val="445"/>
              </a:spcBef>
            </a:pPr>
            <a:r>
              <a:rPr sz="1800" dirty="0">
                <a:latin typeface="Courier New"/>
                <a:cs typeface="Courier New"/>
              </a:rPr>
              <a:t>How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old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are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you?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53</a:t>
            </a:r>
            <a:endParaRPr sz="1800" dirty="0">
              <a:latin typeface="Courier New"/>
              <a:cs typeface="Courier New"/>
            </a:endParaRPr>
          </a:p>
          <a:p>
            <a:pPr marL="751840">
              <a:lnSpc>
                <a:spcPts val="1730"/>
              </a:lnSpc>
            </a:pPr>
            <a:r>
              <a:rPr sz="1800" dirty="0">
                <a:latin typeface="Courier New"/>
                <a:cs typeface="Courier New"/>
              </a:rPr>
              <a:t>Your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age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is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25" dirty="0">
                <a:latin typeface="Courier New"/>
                <a:cs typeface="Courier New"/>
              </a:rPr>
              <a:t>53</a:t>
            </a:r>
            <a:endParaRPr sz="1800" dirty="0">
              <a:latin typeface="Courier New"/>
              <a:cs typeface="Courier New"/>
            </a:endParaRPr>
          </a:p>
          <a:p>
            <a:pPr marL="751840">
              <a:lnSpc>
                <a:spcPts val="1945"/>
              </a:lnSpc>
            </a:pPr>
            <a:r>
              <a:rPr sz="1800" dirty="0">
                <a:latin typeface="Courier New"/>
                <a:cs typeface="Courier New"/>
              </a:rPr>
              <a:t>You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have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12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years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until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retirement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853805" cy="838200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1225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sz="4000" b="1" spc="-10" dirty="0">
                <a:latin typeface="Courier New"/>
                <a:cs typeface="Courier New"/>
              </a:rPr>
              <a:t>input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0DD69-957B-2D5F-4715-A2EE17784B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13</a:t>
            </a:fld>
            <a:endParaRPr lang="en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04875"/>
            <a:ext cx="7772400" cy="936625"/>
          </a:xfrm>
          <a:prstGeom prst="rect">
            <a:avLst/>
          </a:prstGeom>
          <a:solidFill>
            <a:srgbClr val="993300"/>
          </a:solidFill>
        </p:spPr>
        <p:txBody>
          <a:bodyPr vert="horz" wrap="square" lIns="0" tIns="255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10"/>
              </a:spcBef>
            </a:pPr>
            <a:r>
              <a:rPr sz="4000" b="1" dirty="0">
                <a:solidFill>
                  <a:srgbClr val="FFCF00"/>
                </a:solidFill>
                <a:latin typeface="Comic Sans MS"/>
                <a:cs typeface="Comic Sans MS"/>
              </a:rPr>
              <a:t>Input:</a:t>
            </a:r>
            <a:r>
              <a:rPr sz="4000" b="1" spc="-145" dirty="0">
                <a:solidFill>
                  <a:srgbClr val="FFCF00"/>
                </a:solidFill>
                <a:latin typeface="Comic Sans MS"/>
                <a:cs typeface="Comic Sans MS"/>
              </a:rPr>
              <a:t> </a:t>
            </a:r>
            <a:r>
              <a:rPr sz="4000" b="1" spc="-10" dirty="0">
                <a:solidFill>
                  <a:srgbClr val="FFCF00"/>
                </a:solidFill>
                <a:latin typeface="Comic Sans MS"/>
                <a:cs typeface="Comic Sans MS"/>
              </a:rPr>
              <a:t>Example</a:t>
            </a:r>
            <a:endParaRPr sz="40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1200" y="4267136"/>
            <a:ext cx="4267200" cy="2208938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91440" marR="1082040">
              <a:lnSpc>
                <a:spcPts val="2900"/>
              </a:lnSpc>
              <a:spcBef>
                <a:spcPts val="25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sz="20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input.py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What's</a:t>
            </a:r>
            <a:r>
              <a:rPr sz="2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your</a:t>
            </a:r>
            <a:r>
              <a:rPr sz="20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name?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20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Michael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What</a:t>
            </a:r>
            <a:r>
              <a:rPr sz="2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sz="20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were</a:t>
            </a:r>
            <a:r>
              <a:rPr sz="20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you</a:t>
            </a:r>
            <a:r>
              <a:rPr sz="20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born?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&gt;1980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Hi</a:t>
            </a:r>
            <a:r>
              <a:rPr sz="2000" spc="-7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Michael!</a:t>
            </a:r>
            <a:r>
              <a:rPr sz="2000" spc="-5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You</a:t>
            </a:r>
            <a:r>
              <a:rPr sz="2000" spc="-6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are</a:t>
            </a:r>
            <a:r>
              <a:rPr sz="2000" spc="-6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  <a:endParaRPr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239C4-09D3-848D-67BE-FA21E519E4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CN" smtClean="0"/>
              <a:t>14</a:t>
            </a:fld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7BD19E-F151-CC52-81FB-F6CB4FD5BB63}"/>
              </a:ext>
            </a:extLst>
          </p:cNvPr>
          <p:cNvSpPr txBox="1"/>
          <p:nvPr/>
        </p:nvSpPr>
        <p:spPr>
          <a:xfrm>
            <a:off x="838199" y="1788655"/>
            <a:ext cx="7467601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print("What's your name?")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name = input("&gt; ")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print("What year were you born?")</a:t>
            </a: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birthyear = int(input("&gt; "))</a:t>
            </a: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print("Hi ", name, "!", "You are ", 2022 - birthyear)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9EF8A-463B-53F5-1426-8559802C2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2971800"/>
            <a:ext cx="6000750" cy="696595"/>
          </a:xfrm>
        </p:spPr>
        <p:txBody>
          <a:bodyPr/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Q&amp;A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55A5A3-03AE-6318-6ED5-FE0D1EACE9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US" altLang="zh-CN" smtClean="0"/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993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0008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4042</TotalTime>
  <Words>2066</Words>
  <Application>Microsoft Office PowerPoint</Application>
  <PresentationFormat>全屏显示(4:3)</PresentationFormat>
  <Paragraphs>308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urw-din</vt:lpstr>
      <vt:lpstr>Calibri</vt:lpstr>
      <vt:lpstr>Comic Sans MS</vt:lpstr>
      <vt:lpstr>Courier New</vt:lpstr>
      <vt:lpstr>Tahoma</vt:lpstr>
      <vt:lpstr>Times New Roman</vt:lpstr>
      <vt:lpstr>Verdana</vt:lpstr>
      <vt:lpstr>Wingdings</vt:lpstr>
      <vt:lpstr>Office Theme</vt:lpstr>
      <vt:lpstr>Python basics</vt:lpstr>
      <vt:lpstr>Programming basics</vt:lpstr>
      <vt:lpstr>Compiling and interpreting</vt:lpstr>
      <vt:lpstr>The Python Interpreter</vt:lpstr>
      <vt:lpstr>Expressions</vt:lpstr>
      <vt:lpstr>Float division</vt:lpstr>
      <vt:lpstr>Integer division (floor)</vt:lpstr>
      <vt:lpstr>Math commands</vt:lpstr>
      <vt:lpstr>Numbers: Floating Point</vt:lpstr>
      <vt:lpstr>Variables</vt:lpstr>
      <vt:lpstr>Example</vt:lpstr>
      <vt:lpstr>print</vt:lpstr>
      <vt:lpstr>input</vt:lpstr>
      <vt:lpstr>Input: Example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with Python</dc:title>
  <dc:creator>Marty Stepp</dc:creator>
  <cp:lastModifiedBy>慧中 王</cp:lastModifiedBy>
  <cp:revision>258</cp:revision>
  <dcterms:created xsi:type="dcterms:W3CDTF">2022-11-26T05:08:04Z</dcterms:created>
  <dcterms:modified xsi:type="dcterms:W3CDTF">2025-11-19T08:56:42Z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2016-02-01T00:00:00Z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2022-11-26T00:00:00Z</vt:filetime>
  </property>
  <property fmtid="{D5CDD505-2E9C-101B-9397-08002B2CF9AE}" pid="5" name="Producer">
    <vt:lpwstr>Microsoft® Office PowerPoint® 2007</vt:lpwstr>
  </property>
</Properties>
</file>