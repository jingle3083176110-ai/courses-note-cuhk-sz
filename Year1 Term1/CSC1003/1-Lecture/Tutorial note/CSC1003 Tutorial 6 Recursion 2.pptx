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85" r:id="rId4"/>
    <p:sldId id="297" r:id="rId5"/>
    <p:sldId id="298" r:id="rId6"/>
    <p:sldId id="280" r:id="rId7"/>
    <p:sldId id="283" r:id="rId8"/>
    <p:sldId id="294" r:id="rId9"/>
    <p:sldId id="293" r:id="rId10"/>
    <p:sldId id="287" r:id="rId11"/>
    <p:sldId id="295" r:id="rId12"/>
    <p:sldId id="296" r:id="rId13"/>
    <p:sldId id="27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95" autoAdjust="0"/>
    <p:restoredTop sz="74208" autoAdjust="0"/>
  </p:normalViewPr>
  <p:slideViewPr>
    <p:cSldViewPr snapToGrid="0">
      <p:cViewPr>
        <p:scale>
          <a:sx n="75" d="100"/>
          <a:sy n="75" d="100"/>
        </p:scale>
        <p:origin x="171" y="4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78A1D-FE3F-2C49-BF7E-A666C704A103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61AC3-152A-7E45-8900-F62288CA3C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357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61AC3-152A-7E45-8900-F62288CA3C2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691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err="1"/>
              <a:t>findMax</a:t>
            </a:r>
            <a:r>
              <a:rPr lang="en-US" altLang="zh-CN" b="1" dirty="0"/>
              <a:t> Method: </a:t>
            </a:r>
            <a:r>
              <a:rPr lang="en-US" altLang="zh-CN" dirty="0"/>
              <a:t>int[] </a:t>
            </a:r>
            <a:r>
              <a:rPr lang="en-US" altLang="zh-CN" dirty="0" err="1"/>
              <a:t>arr</a:t>
            </a:r>
            <a:r>
              <a:rPr lang="en-US" altLang="zh-CN" dirty="0"/>
              <a:t>: The array to search through, int index: The current index to evaluate.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Base </a:t>
            </a:r>
            <a:r>
              <a:rPr lang="en-US" altLang="zh-CN" b="1" dirty="0" err="1"/>
              <a:t>Case:</a:t>
            </a:r>
            <a:r>
              <a:rPr lang="en-US" altLang="zh-CN" dirty="0" err="1"/>
              <a:t>When</a:t>
            </a:r>
            <a:r>
              <a:rPr lang="en-US" altLang="zh-CN" dirty="0"/>
              <a:t> index is 0, we return the first element of the array, as this is the only element left to compare.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Recursive Case: </a:t>
            </a:r>
            <a:r>
              <a:rPr lang="en-US" altLang="zh-CN" dirty="0"/>
              <a:t>We return the maximum value between the current element (</a:t>
            </a:r>
            <a:r>
              <a:rPr lang="en-US" altLang="zh-CN" dirty="0" err="1"/>
              <a:t>arr</a:t>
            </a:r>
            <a:r>
              <a:rPr lang="en-US" altLang="zh-CN" dirty="0"/>
              <a:t>[index]) and the result of the recursive call to </a:t>
            </a:r>
            <a:r>
              <a:rPr lang="en-US" altLang="zh-CN" dirty="0" err="1"/>
              <a:t>findMax</a:t>
            </a:r>
            <a:r>
              <a:rPr lang="en-US" altLang="zh-CN" dirty="0"/>
              <a:t> with index - 1. This effectively compares each element in the array, working its way back to the start.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61AC3-152A-7E45-8900-F62288CA3C27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7776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main Method: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We create a Scanner object to read user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The user specifies the size of the array, which we read and create.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We loop to populate the array with user inputs.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Finally, we call the </a:t>
            </a:r>
            <a:r>
              <a:rPr lang="en-US" altLang="zh-CN" dirty="0" err="1"/>
              <a:t>findMax</a:t>
            </a:r>
            <a:r>
              <a:rPr lang="en-US" altLang="zh-CN" dirty="0"/>
              <a:t> method to find and print the maximum value in the array.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61AC3-152A-7E45-8900-F62288CA3C27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1621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B832-A606-D4CF-AD17-D3F8E22A2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1B4C36-763F-1701-22C3-37BC746E9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6193D3-053D-1D91-F8C6-161DB04EB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9C72F4-A027-7C94-EF80-C63E7E801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61AC3-152A-7E45-8900-F62288CA3C27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340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Imports and Class </a:t>
            </a:r>
            <a:r>
              <a:rPr lang="en-US" altLang="zh-CN" b="1" dirty="0" err="1"/>
              <a:t>Declaration:</a:t>
            </a:r>
            <a:r>
              <a:rPr lang="en-US" altLang="zh-CN" dirty="0" err="1"/>
              <a:t>We</a:t>
            </a:r>
            <a:r>
              <a:rPr lang="en-US" altLang="zh-CN" dirty="0"/>
              <a:t> import </a:t>
            </a:r>
            <a:r>
              <a:rPr lang="en-US" altLang="zh-CN" dirty="0" err="1"/>
              <a:t>java.util.Scanner</a:t>
            </a:r>
            <a:r>
              <a:rPr lang="en-US" altLang="zh-CN" dirty="0"/>
              <a:t> for user input and declare the class </a:t>
            </a:r>
            <a:r>
              <a:rPr lang="en-US" altLang="zh-CN" dirty="0" err="1"/>
              <a:t>ReverseArray</a:t>
            </a:r>
            <a:r>
              <a:rPr lang="en-US" altLang="zh-CN" dirty="0"/>
              <a:t>.</a:t>
            </a:r>
          </a:p>
          <a:p>
            <a:r>
              <a:rPr lang="en-US" altLang="zh-CN" b="1" dirty="0" err="1"/>
              <a:t>reverseArray</a:t>
            </a:r>
            <a:r>
              <a:rPr lang="en-US" altLang="zh-CN" b="1" dirty="0"/>
              <a:t> Method: </a:t>
            </a:r>
            <a:r>
              <a:rPr lang="en-US" altLang="zh-CN" dirty="0"/>
              <a:t>int[] </a:t>
            </a:r>
            <a:r>
              <a:rPr lang="en-US" altLang="zh-CN" dirty="0" err="1"/>
              <a:t>arr</a:t>
            </a:r>
            <a:r>
              <a:rPr lang="en-US" altLang="zh-CN" dirty="0"/>
              <a:t>: The array to be reversed; int start: The starting index; int end: The ending index.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Base Case: </a:t>
            </a:r>
            <a:r>
              <a:rPr lang="en-US" altLang="zh-CN" dirty="0"/>
              <a:t>If start is greater than or equal to end, we stop recursion. This condition checks if we have crossed the midpoint of the array, meaning all elements have been swapped.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Swap Logic: </a:t>
            </a:r>
            <a:r>
              <a:rPr lang="en-US" altLang="zh-CN" dirty="0"/>
              <a:t>We use a temporary variable temp to swap the elements at indices start and end.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Recursive Call: </a:t>
            </a:r>
            <a:r>
              <a:rPr lang="en-US" altLang="zh-CN" dirty="0"/>
              <a:t>We call </a:t>
            </a:r>
            <a:r>
              <a:rPr lang="en-US" altLang="zh-CN" dirty="0" err="1"/>
              <a:t>reverseArray</a:t>
            </a:r>
            <a:r>
              <a:rPr lang="en-US" altLang="zh-CN" dirty="0"/>
              <a:t> with updated indices: start + 1 (next element) and end - 1 (previous element).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61AC3-152A-7E45-8900-F62288CA3C27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339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main Method: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We create a Scanner object to read user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The user specifies the size of the array, which we read and create.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We loop to populate the array with user inputs.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Finally, we call the </a:t>
            </a:r>
            <a:r>
              <a:rPr lang="en-US" altLang="zh-CN" dirty="0" err="1"/>
              <a:t>reverseArray</a:t>
            </a:r>
            <a:r>
              <a:rPr lang="en-US" altLang="zh-CN" dirty="0"/>
              <a:t> method to reverse the array and print the result.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61AC3-152A-7E45-8900-F62288CA3C27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7268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192E-F387-F845-5ED6-FFBFB5A5B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E54142-A707-AE07-FE2D-BC19243E2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0C4B93-4B04-82AB-8AF6-93BF64289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03CA57-8C2A-DEFA-A3CB-A55B41D75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61AC3-152A-7E45-8900-F62288CA3C27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9908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61AC3-152A-7E45-8900-F62288CA3C27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4890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/>
          <p:nvPr/>
        </p:nvSpPr>
        <p:spPr>
          <a:xfrm>
            <a:off x="3819842" y="2186939"/>
            <a:ext cx="4552315" cy="27784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ctr" rtl="0" eaLnBrk="0">
              <a:lnSpc>
                <a:spcPts val="6115"/>
              </a:lnSpc>
            </a:pPr>
            <a:r>
              <a:rPr lang="en-US" sz="44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Recursion(2)</a:t>
            </a:r>
          </a:p>
          <a:p>
            <a:pPr marL="12700" algn="ctr" rtl="0" eaLnBrk="0">
              <a:lnSpc>
                <a:spcPts val="6115"/>
              </a:lnSpc>
            </a:pPr>
            <a:r>
              <a:rPr lang="en-US" altLang="zh-CN" sz="2400" spc="-20" dirty="0" err="1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Shulun</a:t>
            </a:r>
            <a:r>
              <a:rPr lang="en-US" altLang="zh-CN" sz="240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Zhang</a:t>
            </a:r>
          </a:p>
          <a:p>
            <a:pPr marL="12700" algn="ctr" rtl="0" eaLnBrk="0">
              <a:lnSpc>
                <a:spcPts val="6115"/>
              </a:lnSpc>
            </a:pPr>
            <a:r>
              <a:rPr lang="en-US" altLang="zh-CN" sz="240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225045020@link.cuhk.edu.cn</a:t>
            </a:r>
            <a:endParaRPr lang="en-US" sz="2400" spc="-20" dirty="0">
              <a:solidFill>
                <a:srgbClr val="000000">
                  <a:alpha val="100000"/>
                </a:srgbClr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2165350" y="1319856"/>
            <a:ext cx="7861300" cy="5051733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3600" dirty="0"/>
          </a:p>
          <a:p>
            <a:pPr marL="342900" indent="-342900" algn="l" rtl="0" eaLnBrk="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Review</a:t>
            </a:r>
          </a:p>
          <a:p>
            <a:pPr marL="800100" lvl="1" indent="-342900" eaLnBrk="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recursion?</a:t>
            </a:r>
          </a:p>
          <a:p>
            <a:pPr marL="800100" lvl="1" indent="-342900" eaLnBrk="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recursion?</a:t>
            </a:r>
          </a:p>
          <a:p>
            <a:pPr marL="800100" lvl="1" indent="-342900" eaLnBrk="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recursion?</a:t>
            </a:r>
          </a:p>
          <a:p>
            <a:pPr marL="355600" indent="-342900" algn="l" rtl="0" eaLnBrk="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more examples </a:t>
            </a:r>
          </a:p>
          <a:p>
            <a:pPr marL="812800" lvl="1" indent="-342900" eaLnBrk="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Maximum Element in an Array</a:t>
            </a:r>
          </a:p>
          <a:p>
            <a:pPr marL="812800" lvl="1" indent="-342900" eaLnBrk="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Array Reversal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932815" y="810260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Overvi</a:t>
            </a:r>
            <a:r>
              <a:rPr sz="3200" b="1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3200" b="1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933094" y="1640865"/>
            <a:ext cx="10079355" cy="25730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600" dirty="0"/>
          </a:p>
        </p:txBody>
      </p:sp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148997" y="886088"/>
            <a:ext cx="3430782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/>
            <a:r>
              <a:rPr lang="en-US" altLang="zh-CN" sz="2800" b="1" dirty="0"/>
              <a:t>Brief Review</a:t>
            </a:r>
            <a:endParaRPr lang="zh-CN" altLang="en-US" sz="2800" b="1" dirty="0"/>
          </a:p>
        </p:txBody>
      </p:sp>
      <p:sp>
        <p:nvSpPr>
          <p:cNvPr id="83" name="path"/>
          <p:cNvSpPr/>
          <p:nvPr/>
        </p:nvSpPr>
        <p:spPr>
          <a:xfrm>
            <a:off x="0" y="1540951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DD6B43-58F9-C191-30C5-72CCD1236F09}"/>
              </a:ext>
            </a:extLst>
          </p:cNvPr>
          <p:cNvSpPr txBox="1"/>
          <p:nvPr/>
        </p:nvSpPr>
        <p:spPr>
          <a:xfrm>
            <a:off x="1600768" y="2190187"/>
            <a:ext cx="89904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Recursion?</a:t>
            </a:r>
          </a:p>
          <a:p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is a programming technique where a method calls itself to solve smaller subproblems of the same type. A recursive method typically consists of two parts:</a:t>
            </a:r>
          </a:p>
          <a:p>
            <a:endParaRPr kumimoji="1"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Case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condition under which the recursion ends.</a:t>
            </a:r>
          </a:p>
          <a:p>
            <a:pPr marL="342900" indent="-342900">
              <a:buFontTx/>
              <a:buChar char="-"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Case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part where the method calls itself with a modified argument.</a:t>
            </a:r>
            <a:endParaRPr kumimoji="1"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39E38-7357-AD38-E270-6C0CF566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>
            <a:extLst>
              <a:ext uri="{FF2B5EF4-FFF2-40B4-BE49-F238E27FC236}">
                <a16:creationId xmlns:a16="http://schemas.microsoft.com/office/drawing/2014/main" id="{B73E844E-8B6A-0497-2C7A-AD688DBEB14D}"/>
              </a:ext>
            </a:extLst>
          </p:cNvPr>
          <p:cNvSpPr/>
          <p:nvPr/>
        </p:nvSpPr>
        <p:spPr>
          <a:xfrm>
            <a:off x="933094" y="1640865"/>
            <a:ext cx="10079355" cy="25730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600" dirty="0"/>
          </a:p>
        </p:txBody>
      </p:sp>
      <p:sp>
        <p:nvSpPr>
          <p:cNvPr id="79" name="rect">
            <a:extLst>
              <a:ext uri="{FF2B5EF4-FFF2-40B4-BE49-F238E27FC236}">
                <a16:creationId xmlns:a16="http://schemas.microsoft.com/office/drawing/2014/main" id="{77595944-FA5C-24E4-2495-1B62CC26D693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>
            <a:extLst>
              <a:ext uri="{FF2B5EF4-FFF2-40B4-BE49-F238E27FC236}">
                <a16:creationId xmlns:a16="http://schemas.microsoft.com/office/drawing/2014/main" id="{4AE73D0F-D74E-75E1-F461-A6CAB2AA1F0C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35F8FEDE-7CD7-3635-999A-09B939A73543}"/>
              </a:ext>
            </a:extLst>
          </p:cNvPr>
          <p:cNvSpPr/>
          <p:nvPr/>
        </p:nvSpPr>
        <p:spPr>
          <a:xfrm>
            <a:off x="148997" y="886088"/>
            <a:ext cx="3430782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/>
            <a:r>
              <a:rPr lang="en-US" altLang="zh-CN" sz="2800" b="1" dirty="0"/>
              <a:t>Brief Review</a:t>
            </a:r>
            <a:endParaRPr lang="zh-CN" altLang="en-US" sz="2800" b="1" dirty="0"/>
          </a:p>
        </p:txBody>
      </p:sp>
      <p:sp>
        <p:nvSpPr>
          <p:cNvPr id="83" name="path">
            <a:extLst>
              <a:ext uri="{FF2B5EF4-FFF2-40B4-BE49-F238E27FC236}">
                <a16:creationId xmlns:a16="http://schemas.microsoft.com/office/drawing/2014/main" id="{36B0FA1D-3C60-6D10-64D8-74E59EC7EE78}"/>
              </a:ext>
            </a:extLst>
          </p:cNvPr>
          <p:cNvSpPr/>
          <p:nvPr/>
        </p:nvSpPr>
        <p:spPr>
          <a:xfrm>
            <a:off x="0" y="1540951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3569EE-2E6E-1CEB-AD36-452A45701F48}"/>
              </a:ext>
            </a:extLst>
          </p:cNvPr>
          <p:cNvSpPr txBox="1"/>
          <p:nvPr/>
        </p:nvSpPr>
        <p:spPr>
          <a:xfrm>
            <a:off x="1600768" y="2190187"/>
            <a:ext cx="89904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recursion?</a:t>
            </a:r>
          </a:p>
          <a:p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solving a relatively large problem, you have done something on a part of it, and you find that the remaining part could be solved by the same procedure you used before.</a:t>
            </a:r>
            <a:endParaRPr kumimoji="1"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67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905F4-9214-FCCF-D83E-D3C3D1D7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>
            <a:extLst>
              <a:ext uri="{FF2B5EF4-FFF2-40B4-BE49-F238E27FC236}">
                <a16:creationId xmlns:a16="http://schemas.microsoft.com/office/drawing/2014/main" id="{65205B08-AF88-143A-B368-5BB9981A5D00}"/>
              </a:ext>
            </a:extLst>
          </p:cNvPr>
          <p:cNvSpPr/>
          <p:nvPr/>
        </p:nvSpPr>
        <p:spPr>
          <a:xfrm>
            <a:off x="933094" y="1640865"/>
            <a:ext cx="10079355" cy="25730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600" dirty="0"/>
          </a:p>
        </p:txBody>
      </p:sp>
      <p:sp>
        <p:nvSpPr>
          <p:cNvPr id="79" name="rect">
            <a:extLst>
              <a:ext uri="{FF2B5EF4-FFF2-40B4-BE49-F238E27FC236}">
                <a16:creationId xmlns:a16="http://schemas.microsoft.com/office/drawing/2014/main" id="{A935F0DA-A919-3F51-626A-B2C33A464779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>
            <a:extLst>
              <a:ext uri="{FF2B5EF4-FFF2-40B4-BE49-F238E27FC236}">
                <a16:creationId xmlns:a16="http://schemas.microsoft.com/office/drawing/2014/main" id="{C8203C21-3C8B-EE9C-9F56-8DCCC806C147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E734CDD0-71CA-0673-608B-6CDC2F6D0EB9}"/>
              </a:ext>
            </a:extLst>
          </p:cNvPr>
          <p:cNvSpPr/>
          <p:nvPr/>
        </p:nvSpPr>
        <p:spPr>
          <a:xfrm>
            <a:off x="148997" y="886088"/>
            <a:ext cx="3430782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/>
            <a:r>
              <a:rPr lang="en-US" altLang="zh-CN" sz="2800" b="1" dirty="0"/>
              <a:t>Brief Review</a:t>
            </a:r>
            <a:endParaRPr lang="zh-CN" altLang="en-US" sz="2800" b="1" dirty="0"/>
          </a:p>
        </p:txBody>
      </p:sp>
      <p:sp>
        <p:nvSpPr>
          <p:cNvPr id="83" name="path">
            <a:extLst>
              <a:ext uri="{FF2B5EF4-FFF2-40B4-BE49-F238E27FC236}">
                <a16:creationId xmlns:a16="http://schemas.microsoft.com/office/drawing/2014/main" id="{4862A3B8-6FA8-29C0-9397-BBDBFDF1DE63}"/>
              </a:ext>
            </a:extLst>
          </p:cNvPr>
          <p:cNvSpPr/>
          <p:nvPr/>
        </p:nvSpPr>
        <p:spPr>
          <a:xfrm>
            <a:off x="0" y="1540951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A06A7B-B299-CC4C-76CC-50101F484757}"/>
              </a:ext>
            </a:extLst>
          </p:cNvPr>
          <p:cNvSpPr txBox="1"/>
          <p:nvPr/>
        </p:nvSpPr>
        <p:spPr>
          <a:xfrm>
            <a:off x="1600768" y="2190187"/>
            <a:ext cx="89904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recursion?</a:t>
            </a:r>
          </a:p>
          <a:p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 recursion algorithm must have a base case.</a:t>
            </a:r>
          </a:p>
          <a:p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 recursion algorithm must change its state and move toward to the base case.</a:t>
            </a:r>
          </a:p>
          <a:p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 recursion algorithm must call itself recursively.</a:t>
            </a:r>
          </a:p>
        </p:txBody>
      </p:sp>
    </p:spTree>
    <p:extLst>
      <p:ext uri="{BB962C8B-B14F-4D97-AF65-F5344CB8AC3E}">
        <p14:creationId xmlns:p14="http://schemas.microsoft.com/office/powerpoint/2010/main" val="2430588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933094" y="1640865"/>
            <a:ext cx="10079355" cy="1796783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600" dirty="0"/>
          </a:p>
        </p:txBody>
      </p:sp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772160" y="901660"/>
            <a:ext cx="7929388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r>
              <a:rPr lang="en-US" altLang="zh-CN" sz="2800" b="1" dirty="0">
                <a:effectLst/>
                <a:latin typeface="Arial" panose="020B0604020202020204" pitchFamily="34" charset="0"/>
              </a:rPr>
              <a:t>Ex.1 Finding Maximum Element in an Array</a:t>
            </a:r>
            <a:endParaRPr lang="zh-CN" altLang="en-US" sz="2800" b="1" dirty="0"/>
          </a:p>
        </p:txBody>
      </p:sp>
      <p:sp>
        <p:nvSpPr>
          <p:cNvPr id="83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9CE2E4-37F6-C4FE-165A-BE0688FB8EC0}"/>
              </a:ext>
            </a:extLst>
          </p:cNvPr>
          <p:cNvSpPr txBox="1"/>
          <p:nvPr/>
        </p:nvSpPr>
        <p:spPr>
          <a:xfrm>
            <a:off x="399626" y="1927859"/>
            <a:ext cx="960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recursion to find the maximum element in an array.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51DC9B-5D2E-E5C4-C5D8-79AB73AD9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61" y="2785680"/>
            <a:ext cx="11348677" cy="3371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622300" y="883284"/>
            <a:ext cx="8600358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r>
              <a:rPr lang="en-US" altLang="zh-CN" sz="2800" b="1" dirty="0">
                <a:effectLst/>
                <a:latin typeface="Arial" panose="020B0604020202020204" pitchFamily="34" charset="0"/>
              </a:rPr>
              <a:t>Ex.1 Finding Maximum Element in an Array</a:t>
            </a:r>
            <a:endParaRPr lang="zh-CN" altLang="en-US" sz="2800" b="1" dirty="0"/>
          </a:p>
        </p:txBody>
      </p:sp>
      <p:sp>
        <p:nvSpPr>
          <p:cNvPr id="83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3113EC-B76B-78F5-4AE0-EA1AAFC9A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540" y="3232558"/>
            <a:ext cx="5884920" cy="35476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E3F9EC-F236-4501-A598-CBB7FDD48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540" y="1365574"/>
            <a:ext cx="5884920" cy="174823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0AA7FCC-098D-0900-4194-04E323DD5B2F}"/>
              </a:ext>
            </a:extLst>
          </p:cNvPr>
          <p:cNvSpPr txBox="1"/>
          <p:nvPr/>
        </p:nvSpPr>
        <p:spPr>
          <a:xfrm>
            <a:off x="9222658" y="3232558"/>
            <a:ext cx="3151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Input: 3 1 4 5</a:t>
            </a:r>
          </a:p>
          <a:p>
            <a:r>
              <a:rPr lang="en-US" altLang="zh-CN" sz="3600" dirty="0"/>
              <a:t>Output: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0331-AE77-F7A1-980E-15A4FF8A2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">
            <a:extLst>
              <a:ext uri="{FF2B5EF4-FFF2-40B4-BE49-F238E27FC236}">
                <a16:creationId xmlns:a16="http://schemas.microsoft.com/office/drawing/2014/main" id="{551CA699-5B5E-D167-6244-D58372CC9F95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>
            <a:extLst>
              <a:ext uri="{FF2B5EF4-FFF2-40B4-BE49-F238E27FC236}">
                <a16:creationId xmlns:a16="http://schemas.microsoft.com/office/drawing/2014/main" id="{77387991-63D3-A4D5-E740-1EF8727E0EC3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524DBBEE-7BAD-EAF9-AF61-59EFD3AFAD9D}"/>
              </a:ext>
            </a:extLst>
          </p:cNvPr>
          <p:cNvSpPr/>
          <p:nvPr/>
        </p:nvSpPr>
        <p:spPr>
          <a:xfrm>
            <a:off x="622300" y="883284"/>
            <a:ext cx="8600358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r>
              <a:rPr lang="en-US" altLang="zh-CN" sz="2800" b="1" dirty="0">
                <a:effectLst/>
                <a:latin typeface="Arial" panose="020B0604020202020204" pitchFamily="34" charset="0"/>
              </a:rPr>
              <a:t>Ex.1 Finding Maximum Element in an Array</a:t>
            </a:r>
            <a:endParaRPr lang="zh-CN" altLang="en-US" sz="2800" b="1" dirty="0"/>
          </a:p>
        </p:txBody>
      </p:sp>
      <p:sp>
        <p:nvSpPr>
          <p:cNvPr id="83" name="path">
            <a:extLst>
              <a:ext uri="{FF2B5EF4-FFF2-40B4-BE49-F238E27FC236}">
                <a16:creationId xmlns:a16="http://schemas.microsoft.com/office/drawing/2014/main" id="{B3F00FC1-73ED-0AA7-EE87-3ECFB2A7DA3D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7936753-F6BE-37C9-EBE4-DCFD285E7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179" y="545357"/>
            <a:ext cx="5643641" cy="616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6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textbox 82">
            <a:extLst>
              <a:ext uri="{FF2B5EF4-FFF2-40B4-BE49-F238E27FC236}">
                <a16:creationId xmlns:a16="http://schemas.microsoft.com/office/drawing/2014/main" id="{67C0EFEC-26CD-5CE7-8625-11313087362A}"/>
              </a:ext>
            </a:extLst>
          </p:cNvPr>
          <p:cNvSpPr/>
          <p:nvPr/>
        </p:nvSpPr>
        <p:spPr>
          <a:xfrm>
            <a:off x="317499" y="821054"/>
            <a:ext cx="7951429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r>
              <a:rPr lang="en-US" altLang="zh-CN" sz="2800" b="1" dirty="0">
                <a:effectLst/>
                <a:latin typeface="Arial" panose="020B0604020202020204" pitchFamily="34" charset="0"/>
              </a:rPr>
              <a:t>Ex.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Recursive Array Reversal</a:t>
            </a:r>
            <a:endParaRPr lang="zh-CN" altLang="en-US" sz="28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1E8226-EA36-12DC-5394-016091B504F0}"/>
              </a:ext>
            </a:extLst>
          </p:cNvPr>
          <p:cNvSpPr txBox="1"/>
          <p:nvPr/>
        </p:nvSpPr>
        <p:spPr>
          <a:xfrm>
            <a:off x="399626" y="1927859"/>
            <a:ext cx="960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recursion to reverse an array.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6EAAADF-2F6B-0A90-0129-B86FD5DA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528" y="1903528"/>
            <a:ext cx="7610943" cy="433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9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" name="path"/>
          <p:cNvSpPr/>
          <p:nvPr/>
        </p:nvSpPr>
        <p:spPr>
          <a:xfrm>
            <a:off x="0" y="1559922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" name="textbox 82">
            <a:extLst>
              <a:ext uri="{FF2B5EF4-FFF2-40B4-BE49-F238E27FC236}">
                <a16:creationId xmlns:a16="http://schemas.microsoft.com/office/drawing/2014/main" id="{A39EE50C-6246-DDB9-8A21-E0F784D94FCB}"/>
              </a:ext>
            </a:extLst>
          </p:cNvPr>
          <p:cNvSpPr/>
          <p:nvPr/>
        </p:nvSpPr>
        <p:spPr>
          <a:xfrm>
            <a:off x="317500" y="821054"/>
            <a:ext cx="577850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r>
              <a:rPr lang="en-US" altLang="zh-CN" sz="2800" b="1" dirty="0">
                <a:effectLst/>
                <a:latin typeface="Arial" panose="020B0604020202020204" pitchFamily="34" charset="0"/>
              </a:rPr>
              <a:t>Ex.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Recursive Array Reversal</a:t>
            </a:r>
            <a:endParaRPr lang="zh-CN" altLang="en-US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4EDFC0-37A8-7A9F-3DE9-E25A51991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338" y="1512075"/>
            <a:ext cx="5363323" cy="513469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73EC53-4FFC-66FB-8E41-1001A7C098BD}"/>
              </a:ext>
            </a:extLst>
          </p:cNvPr>
          <p:cNvSpPr txBox="1"/>
          <p:nvPr/>
        </p:nvSpPr>
        <p:spPr>
          <a:xfrm>
            <a:off x="8939894" y="3429000"/>
            <a:ext cx="35962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Input: 3 1 4 5</a:t>
            </a:r>
          </a:p>
          <a:p>
            <a:r>
              <a:rPr lang="en-US" altLang="zh-CN" sz="3600" dirty="0"/>
              <a:t>Output: 5 4 1 3</a:t>
            </a:r>
          </a:p>
        </p:txBody>
      </p:sp>
    </p:spTree>
    <p:extLst>
      <p:ext uri="{BB962C8B-B14F-4D97-AF65-F5344CB8AC3E}">
        <p14:creationId xmlns:p14="http://schemas.microsoft.com/office/powerpoint/2010/main" val="2629430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48D3-490A-D0B6-D417-E36AE742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">
            <a:extLst>
              <a:ext uri="{FF2B5EF4-FFF2-40B4-BE49-F238E27FC236}">
                <a16:creationId xmlns:a16="http://schemas.microsoft.com/office/drawing/2014/main" id="{C07CD05C-C61A-D1A0-932E-4DEC8D517B0D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>
            <a:extLst>
              <a:ext uri="{FF2B5EF4-FFF2-40B4-BE49-F238E27FC236}">
                <a16:creationId xmlns:a16="http://schemas.microsoft.com/office/drawing/2014/main" id="{5A949787-590A-5294-3D23-67F0EB45FF27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" name="path">
            <a:extLst>
              <a:ext uri="{FF2B5EF4-FFF2-40B4-BE49-F238E27FC236}">
                <a16:creationId xmlns:a16="http://schemas.microsoft.com/office/drawing/2014/main" id="{776678B1-810F-5505-5FEB-8158CE1A4C35}"/>
              </a:ext>
            </a:extLst>
          </p:cNvPr>
          <p:cNvSpPr/>
          <p:nvPr/>
        </p:nvSpPr>
        <p:spPr>
          <a:xfrm>
            <a:off x="0" y="1559922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" name="textbox 82">
            <a:extLst>
              <a:ext uri="{FF2B5EF4-FFF2-40B4-BE49-F238E27FC236}">
                <a16:creationId xmlns:a16="http://schemas.microsoft.com/office/drawing/2014/main" id="{0B3458A3-1A1C-46A5-3768-825BDDB2242A}"/>
              </a:ext>
            </a:extLst>
          </p:cNvPr>
          <p:cNvSpPr/>
          <p:nvPr/>
        </p:nvSpPr>
        <p:spPr>
          <a:xfrm>
            <a:off x="317500" y="821054"/>
            <a:ext cx="577850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r>
              <a:rPr lang="en-US" altLang="zh-CN" sz="2800" b="1" dirty="0">
                <a:effectLst/>
                <a:latin typeface="Arial" panose="020B0604020202020204" pitchFamily="34" charset="0"/>
              </a:rPr>
              <a:t>Ex.</a:t>
            </a:r>
            <a:r>
              <a:rPr lang="en-US" altLang="zh-CN" sz="2800" b="1" dirty="0">
                <a:latin typeface="Arial" panose="020B0604020202020204" pitchFamily="34" charset="0"/>
              </a:rPr>
              <a:t>2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Recursive Array Reversal</a:t>
            </a:r>
            <a:endParaRPr lang="zh-CN" altLang="en-US" sz="2800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04C0095-B27F-F515-B833-4F1E65680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062" y="1803668"/>
            <a:ext cx="6285876" cy="455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42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193C6-740F-3066-47DB-AF92FF97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C6410A7F-287C-C789-3DF7-5523A3B08B88}"/>
              </a:ext>
            </a:extLst>
          </p:cNvPr>
          <p:cNvSpPr/>
          <p:nvPr/>
        </p:nvSpPr>
        <p:spPr>
          <a:xfrm>
            <a:off x="516194" y="1658782"/>
            <a:ext cx="11356258" cy="4388957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rtl="0" eaLnBrk="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Basic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fundamental syntax and structure of Java, including data types, variables</a:t>
            </a:r>
          </a:p>
          <a:p>
            <a:pPr marL="342900" indent="-342900" algn="l" rtl="0" eaLnBrk="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for, while, and do-while</a:t>
            </a:r>
          </a:p>
          <a:p>
            <a:pPr marL="342900" indent="-342900" algn="l" rtl="0" eaLnBrk="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int[]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rtl="0" eaLnBrk="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(Input &amp; Output): reading data from and writing data to various sources, such as files and the console</a:t>
            </a:r>
          </a:p>
          <a:p>
            <a:pPr marL="342900" indent="-342900" algn="l" rtl="0" eaLnBrk="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public static void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yourFunction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{}</a:t>
            </a:r>
          </a:p>
          <a:p>
            <a:pPr marL="342900" indent="-342900" algn="l" rtl="0" eaLnBrk="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function calls itself to solve smaller instances of a problem until a base case is reached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17B0344D-5E69-2CB4-54BC-4E6EBB49EF5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70271915-D011-CCA1-F468-DDB722499746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944E747-DC2C-57FA-55B3-0BC63F1E2014}"/>
              </a:ext>
            </a:extLst>
          </p:cNvPr>
          <p:cNvSpPr/>
          <p:nvPr/>
        </p:nvSpPr>
        <p:spPr>
          <a:xfrm>
            <a:off x="932814" y="810260"/>
            <a:ext cx="3137535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sz="3200" b="1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Summary of Java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8F44EC9C-7D56-79F7-A289-23040EDA8C56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452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3" name="textbox 133"/>
          <p:cNvSpPr/>
          <p:nvPr/>
        </p:nvSpPr>
        <p:spPr>
          <a:xfrm>
            <a:off x="279400" y="2206148"/>
            <a:ext cx="11633200" cy="2445703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ctr" rtl="0" eaLnBrk="0">
              <a:lnSpc>
                <a:spcPts val="5810"/>
              </a:lnSpc>
            </a:pPr>
            <a:r>
              <a:rPr lang="en-US" sz="4000" spc="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Next week, we will start to talk about python.</a:t>
            </a:r>
          </a:p>
          <a:p>
            <a:pPr marL="12700" algn="ctr" rtl="0" eaLnBrk="0">
              <a:lnSpc>
                <a:spcPts val="5810"/>
              </a:lnSpc>
            </a:pPr>
            <a:endParaRPr lang="en-US" sz="4000" spc="0" dirty="0"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  <a:miter lim="0"/>
              </a:ln>
              <a:solidFill>
                <a:srgbClr val="000000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12700" algn="ctr" rtl="0" eaLnBrk="0">
              <a:lnSpc>
                <a:spcPts val="5810"/>
              </a:lnSpc>
            </a:pPr>
            <a:r>
              <a:rPr sz="4000" spc="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sz="4000" spc="2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&amp;</a:t>
            </a:r>
            <a:r>
              <a:rPr lang="en-US" sz="4000" spc="2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</a:t>
            </a:r>
            <a:endParaRPr lang="en-US" alt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6272</TotalTime>
  <Words>713</Words>
  <Application>Microsoft Office PowerPoint</Application>
  <PresentationFormat>宽屏</PresentationFormat>
  <Paragraphs>79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MozartLiu</dc:creator>
  <cp:lastModifiedBy>yxj</cp:lastModifiedBy>
  <cp:revision>19</cp:revision>
  <dcterms:created xsi:type="dcterms:W3CDTF">2022-09-26T01:30:00Z</dcterms:created>
  <dcterms:modified xsi:type="dcterms:W3CDTF">2025-10-30T07:04:40Z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2022-09-26T04:59:41Z</vt:filetime>
  </property>
  <property fmtid="{D5CDD505-2E9C-101B-9397-08002B2CF9AE}" pid="4" name="ICV">
    <vt:lpwstr>CA6E1046935FD4CDDE503063A90C075B</vt:lpwstr>
  </property>
  <property fmtid="{D5CDD505-2E9C-101B-9397-08002B2CF9AE}" pid="5" name="KSOProductBuildVer">
    <vt:lpwstr>1033-4.4.1.7360</vt:lpwstr>
  </property>
</Properties>
</file>