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98" r:id="rId4"/>
    <p:sldId id="289" r:id="rId5"/>
    <p:sldId id="290" r:id="rId6"/>
    <p:sldId id="291" r:id="rId7"/>
    <p:sldId id="293" r:id="rId8"/>
    <p:sldId id="294" r:id="rId9"/>
    <p:sldId id="295" r:id="rId10"/>
    <p:sldId id="296" r:id="rId11"/>
    <p:sldId id="297" r:id="rId12"/>
    <p:sldId id="299" r:id="rId13"/>
    <p:sldId id="288" r:id="rId14"/>
    <p:sldId id="262" r:id="rId15"/>
    <p:sldId id="268" r:id="rId16"/>
    <p:sldId id="285" r:id="rId17"/>
    <p:sldId id="271" r:id="rId18"/>
    <p:sldId id="280" r:id="rId19"/>
    <p:sldId id="283" r:id="rId20"/>
    <p:sldId id="284" r:id="rId21"/>
    <p:sldId id="287" r:id="rId22"/>
    <p:sldId id="282" r:id="rId23"/>
    <p:sldId id="286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224045005@link.cuhk.edu.cn" TargetMode="External"/><Relationship Id="rId2" Type="http://schemas.openxmlformats.org/officeDocument/2006/relationships/hyperlink" Target="mailto:224040373@link.cuhk.edu.cn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224045017@link.cuhk.edu.cn" TargetMode="External"/><Relationship Id="rId4" Type="http://schemas.openxmlformats.org/officeDocument/2006/relationships/hyperlink" Target="mailto:119010174@link.cuhk.edu.c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124090467@link.cuhk.edu.cn" TargetMode="External"/><Relationship Id="rId7" Type="http://schemas.openxmlformats.org/officeDocument/2006/relationships/hyperlink" Target="mailto:124090221@link.cuhk.edu.cn" TargetMode="External"/><Relationship Id="rId2" Type="http://schemas.openxmlformats.org/officeDocument/2006/relationships/hyperlink" Target="mailto:124090824@link.cuhk.edu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124040051@link.cuhk.edu.cn" TargetMode="External"/><Relationship Id="rId5" Type="http://schemas.openxmlformats.org/officeDocument/2006/relationships/hyperlink" Target="mailto:124090050@link.cuhk.edu.cn" TargetMode="External"/><Relationship Id="rId4" Type="http://schemas.openxmlformats.org/officeDocument/2006/relationships/hyperlink" Target="mailto:123090059@link.cuhk.edu.c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/>
          <p:nvPr/>
        </p:nvSpPr>
        <p:spPr>
          <a:xfrm>
            <a:off x="2243471" y="2239645"/>
            <a:ext cx="6552550" cy="14325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CSC1003 Tutorial 1</a:t>
            </a:r>
          </a:p>
          <a:p>
            <a:pPr marL="12700" algn="ctr" rtl="0" eaLnBrk="0">
              <a:lnSpc>
                <a:spcPts val="6115"/>
              </a:lnSpc>
            </a:pPr>
            <a:r>
              <a:rPr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440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44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</a:t>
            </a:r>
            <a:r>
              <a:rPr sz="44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4400" b="1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ic</a:t>
            </a:r>
            <a:endParaRPr lang="en-US" altLang="en-US" sz="4400" dirty="0"/>
          </a:p>
          <a:p>
            <a:pPr algn="l" rtl="0" eaLnBrk="0">
              <a:lnSpc>
                <a:spcPct val="104000"/>
              </a:lnSpc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364199" y="1720981"/>
            <a:ext cx="9083544" cy="478961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 Lujie 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班鲁杰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(Leading TA)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224040373@link.cuhk.edu.cn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Thursday 10:00 – 11:30 at TC 212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WANG Huizhong (</a:t>
            </a:r>
            <a:r>
              <a:rPr lang="zh-CN" altLang="en-US" sz="2400" dirty="0"/>
              <a:t>王慧中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hlinkClick r:id="rId3"/>
              </a:rPr>
              <a:t>224045005@link.cuhk.edu.cn </a:t>
            </a:r>
            <a:endParaRPr lang="en-US" altLang="zh-CN" sz="2400" dirty="0"/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Thursday 10:00 – 11:30 at TC 212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LIANG Yuyang</a:t>
            </a:r>
            <a:r>
              <a:rPr lang="zh-CN" altLang="en-US" sz="2400" dirty="0"/>
              <a:t>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2400" dirty="0"/>
              <a:t>梁雨阳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119010174@link.cuhk.edu.cn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Thursday 10:00 – 11:30 at TC 212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ZHANG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Shulun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张书纶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225045020 @link.cuhk.edu.cn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Thursday 10:00 – 11:30 at TC 212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36419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3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40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TAs</a:t>
            </a:r>
            <a:endParaRPr lang="en-US" altLang="en-US" sz="40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302831" y="1727834"/>
            <a:ext cx="9083544" cy="45278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 </a:t>
            </a:r>
            <a:r>
              <a:rPr lang="en-US" alt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Xinjie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俞信杰</a:t>
            </a:r>
            <a:r>
              <a:rPr lang="en-US" altLang="zh-CN" sz="19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)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124090824@link.cuhk.edu.cn 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 </a:t>
            </a:r>
            <a:r>
              <a:rPr lang="en-US" alt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Yuanqing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马源清</a:t>
            </a:r>
            <a:r>
              <a:rPr lang="en-US" altLang="zh-C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124090467@link.cuhk.edu.cn 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 eaLnBrk="0">
              <a:lnSpc>
                <a:spcPct val="83000"/>
              </a:lnSpc>
            </a:pP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 Ziqi (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陈子琦</a:t>
            </a:r>
            <a:r>
              <a:rPr lang="en-US" altLang="zh-C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123090059@link.cuhk.edu.cn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CHEN </a:t>
            </a:r>
            <a:r>
              <a:rPr lang="en-US" alt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Xuluo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陈栩洛</a:t>
            </a:r>
            <a:r>
              <a:rPr lang="en-US" altLang="zh-C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124090050@link.cuhk.edu.cn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GEOFFREY MIKHAEL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124040051@link.cuhk.edu.cn 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 rtl="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HUANG </a:t>
            </a:r>
            <a:r>
              <a:rPr lang="en-US" altLang="en-US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Qianrong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1900" dirty="0" err="1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黄千容</a:t>
            </a:r>
            <a:r>
              <a:rPr lang="en-US" altLang="zh-CN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indent="-457200" eaLnBrk="0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alt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124090221@link.cuhk.edu.cn</a:t>
            </a:r>
            <a:endParaRPr lang="en-US" alt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302831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3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40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USTFs</a:t>
            </a:r>
            <a:endParaRPr lang="en-US" altLang="en-US" sz="40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06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31706" y="1875075"/>
            <a:ext cx="9083544" cy="28482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“GOOG1003”: How to use GOOGLE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Introduction to Java</a:t>
            </a:r>
          </a:p>
          <a:p>
            <a:pPr marL="457200" indent="-457200" algn="l" rtl="0" ea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en-US" sz="2800" dirty="0"/>
              <a:t>Basic Syntax</a:t>
            </a: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Overview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30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98866" y="2714142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marR="0" lvl="0" indent="-444500" algn="l" defTabSz="914400" rtl="0" eaLnBrk="1" fontAlgn="auto" latinLnBrk="0" hangingPunct="1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Tx/>
              <a:buSzPct val="145312"/>
              <a:buFontTx/>
              <a:buChar char="•"/>
              <a:tabLst>
                <a:tab pos="482600" algn="l"/>
              </a:tabLst>
              <a:defRPr/>
            </a:pPr>
            <a:r>
              <a:rPr kumimoji="0" lang="en-US" altLang="zh-CN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lang="en-US" altLang="zh-CN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encouraging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</a:t>
            </a:r>
            <a:r>
              <a:rPr kumimoji="0" lang="en-US" altLang="zh-CN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copy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paste</a:t>
            </a:r>
            <a:r>
              <a:rPr kumimoji="0" lang="en-US" altLang="zh-CN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your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homework</a:t>
            </a:r>
            <a:endParaRPr lang="en-US" altLang="zh-CN" sz="2800" dirty="0">
              <a:solidFill>
                <a:prstClr val="black"/>
              </a:solidFill>
              <a:latin typeface="Trebuchet MS"/>
              <a:cs typeface="Trebuchet MS"/>
            </a:endParaRPr>
          </a:p>
          <a:p>
            <a:pPr marL="482600" marR="0" lvl="0" indent="-444500" algn="l" defTabSz="914400" rtl="0" eaLnBrk="1" fontAlgn="auto" latinLnBrk="0" hangingPunct="1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Tx/>
              <a:buSzPct val="145312"/>
              <a:buFontTx/>
              <a:buChar char="•"/>
              <a:tabLst>
                <a:tab pos="482600" algn="l"/>
              </a:tabLst>
              <a:defRPr/>
            </a:pPr>
            <a:r>
              <a:rPr kumimoji="0" lang="en-US" altLang="zh-CN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encouraging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 </a:t>
            </a:r>
            <a:r>
              <a:rPr kumimoji="0" lang="en-US" altLang="zh-CN" sz="28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skip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classes</a:t>
            </a:r>
            <a:endParaRPr lang="en-US" altLang="zh-CN" sz="2800" dirty="0">
              <a:solidFill>
                <a:prstClr val="black"/>
              </a:solidFill>
              <a:latin typeface="Trebuchet MS"/>
              <a:cs typeface="Trebuchet MS"/>
            </a:endParaRPr>
          </a:p>
          <a:p>
            <a:pPr marL="482600" marR="0" lvl="0" indent="-444500" algn="l" defTabSz="914400" rtl="0" eaLnBrk="1" fontAlgn="auto" latinLnBrk="0" hangingPunct="1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Tx/>
              <a:buSzPct val="145312"/>
              <a:buFontTx/>
              <a:buChar char="•"/>
              <a:tabLst>
                <a:tab pos="482600" algn="l"/>
              </a:tabLst>
              <a:defRPr/>
            </a:pPr>
            <a:r>
              <a:rPr kumimoji="0" lang="en-US" altLang="zh-CN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encouraging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stop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learning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 </a:t>
            </a:r>
            <a:r>
              <a:rPr kumimoji="0" lang="en-US" altLang="zh-CN" sz="2800" b="0" i="0" u="none" strike="noStrike" kern="1200" cap="none" spc="-9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completely</a:t>
            </a:r>
            <a:r>
              <a:rPr kumimoji="0" lang="en-US" altLang="zh-CN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rely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on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internet</a:t>
            </a:r>
            <a:endParaRPr lang="en-US" altLang="zh-CN" sz="2800" dirty="0">
              <a:solidFill>
                <a:prstClr val="black"/>
              </a:solidFill>
              <a:latin typeface="Trebuchet MS"/>
              <a:cs typeface="Trebuchet MS"/>
            </a:endParaRPr>
          </a:p>
          <a:p>
            <a:pPr marL="482600" marR="0" lvl="0" indent="-444500" algn="l" defTabSz="914400" rtl="0" eaLnBrk="1" fontAlgn="auto" latinLnBrk="0" hangingPunct="1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Tx/>
              <a:buSzPct val="145312"/>
              <a:buFontTx/>
              <a:buChar char="•"/>
              <a:tabLst>
                <a:tab pos="482600" algn="l"/>
              </a:tabLst>
              <a:defRPr/>
            </a:pPr>
            <a:r>
              <a:rPr kumimoji="0" lang="en-US" altLang="zh-CN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This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not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encouraging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to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think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that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TA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is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useless</a:t>
            </a:r>
            <a:r>
              <a:rPr kumimoji="0" lang="en-US" altLang="zh-CN" sz="28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and </a:t>
            </a:r>
            <a:r>
              <a:rPr kumimoji="0" lang="en-US" altLang="zh-CN" sz="2800" b="0" i="0" u="none" strike="noStrike" kern="1200" cap="none" spc="-9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you</a:t>
            </a:r>
            <a:r>
              <a:rPr kumimoji="0" lang="en-US" altLang="zh-CN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should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report</a:t>
            </a:r>
            <a:r>
              <a:rPr kumimoji="0" lang="en-US" altLang="zh-CN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altLang="zh-CN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him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482600" indent="-444500">
              <a:spcBef>
                <a:spcPts val="1975"/>
              </a:spcBef>
              <a:buSzPct val="145312"/>
              <a:buChar char="•"/>
              <a:tabLst>
                <a:tab pos="482600" algn="l"/>
              </a:tabLst>
            </a:pPr>
            <a:endParaRPr lang="en-US" altLang="zh-CN" sz="2400" dirty="0">
              <a:latin typeface="Trebuchet MS"/>
              <a:cs typeface="Trebuchet MS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476E814-E03C-456E-2D40-70398A30DCAB}"/>
              </a:ext>
            </a:extLst>
          </p:cNvPr>
          <p:cNvSpPr txBox="1">
            <a:spLocks/>
          </p:cNvSpPr>
          <p:nvPr/>
        </p:nvSpPr>
        <p:spPr>
          <a:xfrm>
            <a:off x="585129" y="1824449"/>
            <a:ext cx="49618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000" b="0" i="0">
                <a:solidFill>
                  <a:srgbClr val="EE220C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714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145" normalizeH="0" baseline="0" noProof="0" dirty="0">
                <a:ln>
                  <a:noFill/>
                </a:ln>
                <a:solidFill>
                  <a:srgbClr val="EE220C"/>
                </a:solidFill>
                <a:effectLst/>
                <a:uLnTx/>
                <a:uFillTx/>
                <a:latin typeface="Arial MT"/>
                <a:ea typeface="+mj-ea"/>
              </a:rPr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88855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437497" y="2429911"/>
            <a:ext cx="11560167" cy="370085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82600" indent="-444500">
              <a:lnSpc>
                <a:spcPts val="3820"/>
              </a:lnSpc>
              <a:spcBef>
                <a:spcPts val="100"/>
              </a:spcBef>
              <a:buSzPct val="145312"/>
              <a:buChar char="•"/>
              <a:tabLst>
                <a:tab pos="482600" algn="l"/>
              </a:tabLst>
            </a:pPr>
            <a:r>
              <a:rPr lang="en-US" altLang="zh-CN" sz="2400" spc="-90" dirty="0">
                <a:latin typeface="Trebuchet MS"/>
                <a:cs typeface="Trebuchet MS"/>
              </a:rPr>
              <a:t>Eﬃcient: </a:t>
            </a:r>
            <a:r>
              <a:rPr lang="en-US" altLang="zh-CN" sz="2400" spc="10" dirty="0">
                <a:latin typeface="Trebuchet MS"/>
                <a:cs typeface="Trebuchet MS"/>
              </a:rPr>
              <a:t>You</a:t>
            </a:r>
            <a:r>
              <a:rPr lang="en-US" altLang="zh-CN" sz="2400" spc="-80" dirty="0">
                <a:latin typeface="Trebuchet MS"/>
                <a:cs typeface="Trebuchet MS"/>
              </a:rPr>
              <a:t> </a:t>
            </a:r>
            <a:r>
              <a:rPr lang="en-US" altLang="zh-CN" sz="2400" spc="65" dirty="0">
                <a:latin typeface="Trebuchet MS"/>
                <a:cs typeface="Trebuchet MS"/>
              </a:rPr>
              <a:t>can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5" dirty="0">
                <a:latin typeface="Trebuchet MS"/>
                <a:cs typeface="Trebuchet MS"/>
              </a:rPr>
              <a:t>almost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20" dirty="0">
                <a:latin typeface="Trebuchet MS"/>
                <a:cs typeface="Trebuchet MS"/>
              </a:rPr>
              <a:t>get</a:t>
            </a:r>
            <a:r>
              <a:rPr lang="en-US" altLang="zh-CN" sz="2400" spc="-80" dirty="0">
                <a:latin typeface="Trebuchet MS"/>
                <a:cs typeface="Trebuchet MS"/>
              </a:rPr>
              <a:t> </a:t>
            </a:r>
            <a:r>
              <a:rPr lang="en-US" altLang="zh-CN" sz="2400" spc="-35" dirty="0">
                <a:latin typeface="Trebuchet MS"/>
                <a:cs typeface="Trebuchet MS"/>
              </a:rPr>
              <a:t>everything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55" dirty="0">
                <a:latin typeface="Trebuchet MS"/>
                <a:cs typeface="Trebuchet MS"/>
              </a:rPr>
              <a:t>you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100" dirty="0">
                <a:latin typeface="Trebuchet MS"/>
                <a:cs typeface="Trebuchet MS"/>
              </a:rPr>
              <a:t>want(for</a:t>
            </a:r>
            <a:r>
              <a:rPr lang="en-US" altLang="zh-CN" sz="2400" spc="-80" dirty="0">
                <a:latin typeface="Trebuchet MS"/>
                <a:cs typeface="Trebuchet MS"/>
              </a:rPr>
              <a:t> </a:t>
            </a:r>
            <a:r>
              <a:rPr lang="en-US" altLang="zh-CN" sz="2400" spc="-35" dirty="0">
                <a:latin typeface="Trebuchet MS"/>
                <a:cs typeface="Trebuchet MS"/>
              </a:rPr>
              <a:t>this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60" dirty="0">
                <a:latin typeface="Trebuchet MS"/>
                <a:cs typeface="Trebuchet MS"/>
              </a:rPr>
              <a:t>course </a:t>
            </a:r>
            <a:r>
              <a:rPr lang="en-US" altLang="zh-CN" sz="2400" spc="-950" dirty="0">
                <a:latin typeface="Trebuchet MS"/>
                <a:cs typeface="Trebuchet MS"/>
              </a:rPr>
              <a:t> </a:t>
            </a:r>
            <a:r>
              <a:rPr lang="en-US" altLang="zh-CN" sz="2400" spc="60" dirty="0">
                <a:latin typeface="Trebuchet MS"/>
                <a:cs typeface="Trebuchet MS"/>
              </a:rPr>
              <a:t>and</a:t>
            </a:r>
            <a:r>
              <a:rPr lang="en-US" altLang="zh-CN" sz="2400" spc="-80" dirty="0">
                <a:latin typeface="Trebuchet MS"/>
                <a:cs typeface="Trebuchet MS"/>
              </a:rPr>
              <a:t> </a:t>
            </a:r>
            <a:r>
              <a:rPr lang="en-US" altLang="zh-CN" sz="2400" spc="-90" dirty="0">
                <a:latin typeface="Trebuchet MS"/>
                <a:cs typeface="Trebuchet MS"/>
              </a:rPr>
              <a:t>the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60" dirty="0">
                <a:latin typeface="Trebuchet MS"/>
                <a:cs typeface="Trebuchet MS"/>
              </a:rPr>
              <a:t>course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100" dirty="0">
                <a:latin typeface="Trebuchet MS"/>
                <a:cs typeface="Trebuchet MS"/>
              </a:rPr>
              <a:t>you’ll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50" dirty="0">
                <a:latin typeface="Trebuchet MS"/>
                <a:cs typeface="Trebuchet MS"/>
              </a:rPr>
              <a:t>ever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110" dirty="0">
                <a:latin typeface="Trebuchet MS"/>
                <a:cs typeface="Trebuchet MS"/>
              </a:rPr>
              <a:t>take)</a:t>
            </a:r>
            <a:r>
              <a:rPr lang="en-US" altLang="zh-CN" sz="2400" spc="-75" dirty="0">
                <a:latin typeface="Trebuchet MS"/>
                <a:cs typeface="Trebuchet MS"/>
              </a:rPr>
              <a:t> from </a:t>
            </a:r>
            <a:r>
              <a:rPr lang="en-US" altLang="zh-CN" sz="2400" spc="20" dirty="0">
                <a:latin typeface="Trebuchet MS"/>
                <a:cs typeface="Trebuchet MS"/>
              </a:rPr>
              <a:t>google.</a:t>
            </a:r>
            <a:endParaRPr lang="en-US" altLang="zh-CN" sz="3600" dirty="0">
              <a:latin typeface="Trebuchet MS"/>
              <a:cs typeface="Trebuchet MS"/>
            </a:endParaRPr>
          </a:p>
          <a:p>
            <a:pPr marL="482600" indent="-444500">
              <a:lnSpc>
                <a:spcPts val="3820"/>
              </a:lnSpc>
              <a:buSzPct val="145312"/>
              <a:buChar char="•"/>
              <a:tabLst>
                <a:tab pos="482600" algn="l"/>
              </a:tabLst>
            </a:pPr>
            <a:r>
              <a:rPr lang="en-US" altLang="zh-CN" sz="2400" spc="-15" dirty="0">
                <a:latin typeface="Trebuchet MS"/>
                <a:cs typeface="Trebuchet MS"/>
              </a:rPr>
              <a:t>Convenient: </a:t>
            </a:r>
            <a:r>
              <a:rPr lang="en-US" altLang="zh-CN" sz="2400" spc="10" dirty="0">
                <a:latin typeface="Trebuchet MS"/>
                <a:cs typeface="Trebuchet MS"/>
              </a:rPr>
              <a:t>You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65" dirty="0">
                <a:latin typeface="Trebuchet MS"/>
                <a:cs typeface="Trebuchet MS"/>
              </a:rPr>
              <a:t>can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20" dirty="0">
                <a:latin typeface="Trebuchet MS"/>
                <a:cs typeface="Trebuchet MS"/>
              </a:rPr>
              <a:t>get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90" dirty="0">
                <a:latin typeface="Trebuchet MS"/>
                <a:cs typeface="Trebuchet MS"/>
              </a:rPr>
              <a:t>the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35" dirty="0">
                <a:latin typeface="Trebuchet MS"/>
                <a:cs typeface="Trebuchet MS"/>
              </a:rPr>
              <a:t>answer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75" dirty="0">
                <a:latin typeface="Trebuchet MS"/>
                <a:cs typeface="Trebuchet MS"/>
              </a:rPr>
              <a:t>without </a:t>
            </a:r>
            <a:r>
              <a:rPr lang="en-US" altLang="zh-CN" sz="2400" spc="-50" dirty="0">
                <a:latin typeface="Trebuchet MS"/>
                <a:cs typeface="Trebuchet MS"/>
              </a:rPr>
              <a:t>waiting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100" dirty="0">
                <a:latin typeface="Trebuchet MS"/>
                <a:cs typeface="Trebuchet MS"/>
              </a:rPr>
              <a:t>for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65" dirty="0">
                <a:latin typeface="Trebuchet MS"/>
                <a:cs typeface="Trebuchet MS"/>
              </a:rPr>
              <a:t>TA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75" dirty="0">
                <a:latin typeface="Trebuchet MS"/>
                <a:cs typeface="Trebuchet MS"/>
              </a:rPr>
              <a:t>to reply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75" dirty="0">
                <a:latin typeface="Trebuchet MS"/>
                <a:cs typeface="Trebuchet MS"/>
              </a:rPr>
              <a:t>to </a:t>
            </a:r>
            <a:r>
              <a:rPr lang="en-US" altLang="zh-CN" sz="2400" spc="-950" dirty="0">
                <a:latin typeface="Trebuchet MS"/>
                <a:cs typeface="Trebuchet MS"/>
              </a:rPr>
              <a:t> </a:t>
            </a:r>
            <a:r>
              <a:rPr lang="en-US" altLang="zh-CN" sz="2400" spc="55" dirty="0">
                <a:latin typeface="Trebuchet MS"/>
                <a:cs typeface="Trebuchet MS"/>
              </a:rPr>
              <a:t>you</a:t>
            </a:r>
            <a:r>
              <a:rPr lang="en-US" altLang="zh-CN" sz="2400" spc="-80" dirty="0">
                <a:latin typeface="Trebuchet MS"/>
                <a:cs typeface="Trebuchet MS"/>
              </a:rPr>
              <a:t> </a:t>
            </a:r>
            <a:r>
              <a:rPr lang="en-US" altLang="zh-CN" sz="2400" spc="100" dirty="0">
                <a:latin typeface="Trebuchet MS"/>
                <a:cs typeface="Trebuchet MS"/>
              </a:rPr>
              <a:t>10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60" dirty="0">
                <a:latin typeface="Trebuchet MS"/>
                <a:cs typeface="Trebuchet MS"/>
              </a:rPr>
              <a:t>hours</a:t>
            </a:r>
            <a:r>
              <a:rPr lang="en-US" altLang="zh-CN" sz="2400" spc="-75" dirty="0">
                <a:latin typeface="Trebuchet MS"/>
                <a:cs typeface="Trebuchet MS"/>
              </a:rPr>
              <a:t> </a:t>
            </a:r>
            <a:r>
              <a:rPr lang="en-US" altLang="zh-CN" sz="2400" spc="-210" dirty="0">
                <a:latin typeface="Trebuchet MS"/>
                <a:cs typeface="Trebuchet MS"/>
              </a:rPr>
              <a:t>later.</a:t>
            </a:r>
            <a:endParaRPr lang="en-US" altLang="zh-CN" sz="3600" dirty="0">
              <a:latin typeface="Trebuchet MS"/>
              <a:cs typeface="Trebuchet MS"/>
            </a:endParaRPr>
          </a:p>
          <a:p>
            <a:pPr marL="482600" indent="-444500">
              <a:lnSpc>
                <a:spcPts val="3820"/>
              </a:lnSpc>
              <a:buSzPct val="145312"/>
              <a:buChar char="•"/>
              <a:tabLst>
                <a:tab pos="482600" algn="l"/>
              </a:tabLst>
            </a:pPr>
            <a:r>
              <a:rPr lang="en-US" altLang="zh-CN" sz="2400" spc="-5" dirty="0">
                <a:latin typeface="Trebuchet MS"/>
                <a:cs typeface="Trebuchet MS"/>
              </a:rPr>
              <a:t>Convention: </a:t>
            </a:r>
            <a:r>
              <a:rPr lang="en-US" altLang="zh-CN" sz="2400" spc="-10" dirty="0">
                <a:latin typeface="Trebuchet MS"/>
                <a:cs typeface="Trebuchet MS"/>
              </a:rPr>
              <a:t>The </a:t>
            </a:r>
            <a:r>
              <a:rPr lang="en-US" altLang="zh-CN" sz="2400" spc="30" dirty="0">
                <a:latin typeface="Trebuchet MS"/>
                <a:cs typeface="Trebuchet MS"/>
              </a:rPr>
              <a:t>knowledge </a:t>
            </a:r>
            <a:r>
              <a:rPr lang="en-US" altLang="zh-CN" sz="2400" spc="60" dirty="0">
                <a:latin typeface="Trebuchet MS"/>
                <a:cs typeface="Trebuchet MS"/>
              </a:rPr>
              <a:t>and </a:t>
            </a:r>
            <a:r>
              <a:rPr lang="en-US" altLang="zh-CN" sz="2400" spc="10" dirty="0">
                <a:latin typeface="Trebuchet MS"/>
                <a:cs typeface="Trebuchet MS"/>
              </a:rPr>
              <a:t>tools </a:t>
            </a:r>
            <a:r>
              <a:rPr lang="en-US" altLang="zh-CN" sz="2400" spc="105" dirty="0">
                <a:latin typeface="Trebuchet MS"/>
                <a:cs typeface="Trebuchet MS"/>
              </a:rPr>
              <a:t>used </a:t>
            </a:r>
            <a:r>
              <a:rPr lang="en-US" altLang="zh-CN" sz="2400" spc="65" dirty="0">
                <a:latin typeface="Trebuchet MS"/>
                <a:cs typeface="Trebuchet MS"/>
              </a:rPr>
              <a:t>by </a:t>
            </a:r>
            <a:r>
              <a:rPr lang="en-US" altLang="zh-CN" sz="2400" dirty="0">
                <a:latin typeface="Trebuchet MS"/>
                <a:cs typeface="Trebuchet MS"/>
              </a:rPr>
              <a:t>computer </a:t>
            </a:r>
            <a:r>
              <a:rPr lang="en-US" altLang="zh-CN" sz="2400" spc="45" dirty="0">
                <a:latin typeface="Trebuchet MS"/>
                <a:cs typeface="Trebuchet MS"/>
              </a:rPr>
              <a:t>science </a:t>
            </a:r>
            <a:r>
              <a:rPr lang="en-US" altLang="zh-CN" sz="2400" spc="-80" dirty="0">
                <a:latin typeface="Trebuchet MS"/>
                <a:cs typeface="Trebuchet MS"/>
              </a:rPr>
              <a:t>are </a:t>
            </a:r>
            <a:r>
              <a:rPr lang="en-US" altLang="zh-CN" sz="2400" spc="-950" dirty="0">
                <a:latin typeface="Trebuchet MS"/>
                <a:cs typeface="Trebuchet MS"/>
              </a:rPr>
              <a:t> </a:t>
            </a:r>
            <a:r>
              <a:rPr lang="en-US" altLang="zh-CN" sz="2400" spc="-10" dirty="0">
                <a:latin typeface="Trebuchet MS"/>
                <a:cs typeface="Trebuchet MS"/>
              </a:rPr>
              <a:t>usually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45" dirty="0">
                <a:latin typeface="Trebuchet MS"/>
                <a:cs typeface="Trebuchet MS"/>
              </a:rPr>
              <a:t>distributed</a:t>
            </a:r>
            <a:r>
              <a:rPr lang="en-US" altLang="zh-CN" sz="2400" spc="-65" dirty="0">
                <a:latin typeface="Trebuchet MS"/>
                <a:cs typeface="Trebuchet MS"/>
              </a:rPr>
              <a:t> </a:t>
            </a:r>
            <a:r>
              <a:rPr lang="en-US" altLang="zh-CN" sz="2400" spc="-90" dirty="0">
                <a:latin typeface="Trebuchet MS"/>
                <a:cs typeface="Trebuchet MS"/>
              </a:rPr>
              <a:t>in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-90" dirty="0">
                <a:latin typeface="Trebuchet MS"/>
                <a:cs typeface="Trebuchet MS"/>
              </a:rPr>
              <a:t>the</a:t>
            </a:r>
            <a:r>
              <a:rPr lang="en-US" altLang="zh-CN" sz="2400" spc="-65" dirty="0">
                <a:latin typeface="Trebuchet MS"/>
                <a:cs typeface="Trebuchet MS"/>
              </a:rPr>
              <a:t> </a:t>
            </a:r>
            <a:r>
              <a:rPr lang="en-US" altLang="zh-CN" sz="2400" spc="-60" dirty="0">
                <a:latin typeface="Trebuchet MS"/>
                <a:cs typeface="Trebuchet MS"/>
              </a:rPr>
              <a:t>form</a:t>
            </a:r>
            <a:r>
              <a:rPr lang="en-US" altLang="zh-CN" sz="2400" spc="-65" dirty="0">
                <a:latin typeface="Trebuchet MS"/>
                <a:cs typeface="Trebuchet MS"/>
              </a:rPr>
              <a:t> </a:t>
            </a:r>
            <a:r>
              <a:rPr lang="en-US" altLang="zh-CN" sz="2400" spc="-60" dirty="0">
                <a:latin typeface="Trebuchet MS"/>
                <a:cs typeface="Trebuchet MS"/>
              </a:rPr>
              <a:t>of</a:t>
            </a:r>
            <a:r>
              <a:rPr lang="en-US" altLang="zh-CN" sz="2400" spc="-70" dirty="0">
                <a:latin typeface="Trebuchet MS"/>
                <a:cs typeface="Trebuchet MS"/>
              </a:rPr>
              <a:t> </a:t>
            </a:r>
            <a:r>
              <a:rPr lang="en-US" altLang="zh-CN" sz="2400" spc="30" dirty="0">
                <a:latin typeface="Trebuchet MS"/>
                <a:cs typeface="Trebuchet MS"/>
              </a:rPr>
              <a:t>websites</a:t>
            </a:r>
            <a:r>
              <a:rPr lang="en-US" altLang="zh-CN" sz="2400" spc="-65" dirty="0">
                <a:latin typeface="Trebuchet MS"/>
                <a:cs typeface="Trebuchet MS"/>
              </a:rPr>
              <a:t> </a:t>
            </a:r>
            <a:r>
              <a:rPr lang="en-US" altLang="zh-CN" sz="2400" spc="-30" dirty="0">
                <a:latin typeface="Trebuchet MS"/>
                <a:cs typeface="Trebuchet MS"/>
              </a:rPr>
              <a:t>or</a:t>
            </a:r>
            <a:r>
              <a:rPr lang="en-US" altLang="zh-CN" sz="2400" spc="-65" dirty="0">
                <a:latin typeface="Trebuchet MS"/>
                <a:cs typeface="Trebuchet MS"/>
              </a:rPr>
              <a:t> </a:t>
            </a:r>
            <a:r>
              <a:rPr lang="en-US" altLang="zh-CN" sz="2400" spc="20" dirty="0">
                <a:latin typeface="Trebuchet MS"/>
                <a:cs typeface="Trebuchet MS"/>
              </a:rPr>
              <a:t>documents.</a:t>
            </a:r>
            <a:endParaRPr lang="en-US" altLang="zh-CN" sz="2400" dirty="0">
              <a:latin typeface="Trebuchet MS"/>
              <a:cs typeface="Trebuchet MS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476E814-E03C-456E-2D40-70398A30DCAB}"/>
              </a:ext>
            </a:extLst>
          </p:cNvPr>
          <p:cNvSpPr txBox="1">
            <a:spLocks/>
          </p:cNvSpPr>
          <p:nvPr/>
        </p:nvSpPr>
        <p:spPr>
          <a:xfrm>
            <a:off x="498866" y="1727834"/>
            <a:ext cx="49618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000" b="0" i="0">
                <a:solidFill>
                  <a:srgbClr val="EE220C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714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spc="95" dirty="0">
                <a:solidFill>
                  <a:srgbClr val="000000"/>
                </a:solidFill>
              </a:rPr>
              <a:t>Why</a:t>
            </a:r>
            <a:r>
              <a:rPr lang="en-US" altLang="zh-CN" sz="3600" spc="-25" dirty="0">
                <a:solidFill>
                  <a:srgbClr val="000000"/>
                </a:solidFill>
              </a:rPr>
              <a:t> </a:t>
            </a:r>
            <a:r>
              <a:rPr lang="en-US" altLang="zh-CN" sz="3600" spc="95" dirty="0">
                <a:solidFill>
                  <a:srgbClr val="000000"/>
                </a:solidFill>
              </a:rPr>
              <a:t>use</a:t>
            </a:r>
            <a:r>
              <a:rPr lang="en-US" altLang="zh-CN" sz="3600" spc="-25" dirty="0">
                <a:solidFill>
                  <a:srgbClr val="000000"/>
                </a:solidFill>
              </a:rPr>
              <a:t> </a:t>
            </a:r>
            <a:r>
              <a:rPr lang="en-US" altLang="zh-CN" sz="3600" spc="185" dirty="0">
                <a:solidFill>
                  <a:srgbClr val="000000"/>
                </a:solidFill>
              </a:rPr>
              <a:t>google?</a:t>
            </a:r>
            <a:endParaRPr kumimoji="0" lang="en-US" sz="3600" b="0" i="0" u="none" strike="noStrike" kern="0" cap="none" spc="145" normalizeH="0" baseline="0" noProof="0" dirty="0">
              <a:ln>
                <a:noFill/>
              </a:ln>
              <a:solidFill>
                <a:srgbClr val="EE220C"/>
              </a:solidFill>
              <a:effectLst/>
              <a:uLnTx/>
              <a:uFillTx/>
              <a:latin typeface="Arial M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6995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DF039656-F816-FE68-8676-CCD38E53E430}"/>
              </a:ext>
            </a:extLst>
          </p:cNvPr>
          <p:cNvSpPr txBox="1"/>
          <p:nvPr/>
        </p:nvSpPr>
        <p:spPr>
          <a:xfrm>
            <a:off x="385578" y="1847119"/>
            <a:ext cx="4385370" cy="35526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21457" indent="-312528">
              <a:spcBef>
                <a:spcPts val="70"/>
              </a:spcBef>
              <a:buSzPct val="145312"/>
              <a:buChar char="•"/>
              <a:tabLst>
                <a:tab pos="321457" algn="l"/>
              </a:tabLst>
            </a:pPr>
            <a:r>
              <a:rPr sz="2250" spc="63" dirty="0">
                <a:latin typeface="Trebuchet MS"/>
                <a:cs typeface="Trebuchet MS"/>
              </a:rPr>
              <a:t>Step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67" dirty="0">
                <a:latin typeface="Trebuchet MS"/>
                <a:cs typeface="Trebuchet MS"/>
              </a:rPr>
              <a:t>1: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Formulate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4" dirty="0">
                <a:latin typeface="Trebuchet MS"/>
                <a:cs typeface="Trebuchet MS"/>
              </a:rPr>
              <a:t>your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11" dirty="0">
                <a:latin typeface="Trebuchet MS"/>
                <a:cs typeface="Trebuchet MS"/>
              </a:rPr>
              <a:t>problem</a:t>
            </a:r>
            <a:endParaRPr sz="2250" dirty="0">
              <a:latin typeface="Trebuchet MS"/>
              <a:cs typeface="Trebuchet MS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65DFDF5-FB1A-E7EB-36E2-F047821022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7067" y="1925275"/>
            <a:ext cx="3734035" cy="351438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69AE72F-1F86-BAF9-72FE-F28FA8A8476D}"/>
              </a:ext>
            </a:extLst>
          </p:cNvPr>
          <p:cNvSpPr txBox="1"/>
          <p:nvPr/>
        </p:nvSpPr>
        <p:spPr>
          <a:xfrm>
            <a:off x="4073899" y="5730401"/>
            <a:ext cx="7699177" cy="35526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250" spc="-7" dirty="0">
                <a:latin typeface="Trebuchet MS"/>
                <a:cs typeface="Trebuchet MS"/>
              </a:rPr>
              <a:t>Q: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67" dirty="0">
                <a:latin typeface="Trebuchet MS"/>
                <a:cs typeface="Trebuchet MS"/>
              </a:rPr>
              <a:t>Should</a:t>
            </a:r>
            <a:r>
              <a:rPr sz="2250" spc="-46" dirty="0">
                <a:latin typeface="Trebuchet MS"/>
                <a:cs typeface="Trebuchet MS"/>
              </a:rPr>
              <a:t> I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60" dirty="0">
                <a:latin typeface="Trebuchet MS"/>
                <a:cs typeface="Trebuchet MS"/>
              </a:rPr>
              <a:t>add</a:t>
            </a:r>
            <a:r>
              <a:rPr sz="2250" spc="-46" dirty="0">
                <a:latin typeface="Trebuchet MS"/>
                <a:cs typeface="Trebuchet MS"/>
              </a:rPr>
              <a:t> </a:t>
            </a:r>
            <a:r>
              <a:rPr sz="2250" spc="-84" dirty="0">
                <a:latin typeface="Trebuchet MS"/>
                <a:cs typeface="Trebuchet MS"/>
              </a:rPr>
              <a:t>‘\bin’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in</a:t>
            </a:r>
            <a:r>
              <a:rPr sz="2250" spc="-46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the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56" dirty="0">
                <a:latin typeface="Trebuchet MS"/>
                <a:cs typeface="Trebuchet MS"/>
              </a:rPr>
              <a:t>‘JAVA_HOME’</a:t>
            </a:r>
            <a:r>
              <a:rPr sz="2250" spc="-46" dirty="0">
                <a:latin typeface="Trebuchet MS"/>
                <a:cs typeface="Trebuchet MS"/>
              </a:rPr>
              <a:t> </a:t>
            </a:r>
            <a:r>
              <a:rPr sz="2250" spc="-95" dirty="0">
                <a:latin typeface="Trebuchet MS"/>
                <a:cs typeface="Trebuchet MS"/>
              </a:rPr>
              <a:t>after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-60" dirty="0">
                <a:latin typeface="Trebuchet MS"/>
                <a:cs typeface="Trebuchet MS"/>
              </a:rPr>
              <a:t>‘\jdk-16.0.2’</a:t>
            </a:r>
            <a:endParaRPr sz="22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905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7A381C2-9D01-ED7E-2043-42C23746EE06}"/>
              </a:ext>
            </a:extLst>
          </p:cNvPr>
          <p:cNvSpPr txBox="1"/>
          <p:nvPr/>
        </p:nvSpPr>
        <p:spPr>
          <a:xfrm>
            <a:off x="585129" y="1897025"/>
            <a:ext cx="7516118" cy="2833316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330387" marR="12501" indent="-312528">
              <a:lnSpc>
                <a:spcPts val="2672"/>
              </a:lnSpc>
              <a:spcBef>
                <a:spcPts val="183"/>
              </a:spcBef>
              <a:buSzPct val="145312"/>
              <a:buChar char="•"/>
              <a:tabLst>
                <a:tab pos="330387" algn="l"/>
              </a:tabLst>
            </a:pPr>
            <a:r>
              <a:rPr sz="2250" spc="88" dirty="0">
                <a:latin typeface="Trebuchet MS"/>
                <a:cs typeface="Trebuchet MS"/>
              </a:rPr>
              <a:t>Asked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14" dirty="0">
                <a:latin typeface="Trebuchet MS"/>
                <a:cs typeface="Trebuchet MS"/>
              </a:rPr>
              <a:t>question: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67" dirty="0">
                <a:latin typeface="Trebuchet MS"/>
                <a:cs typeface="Trebuchet MS"/>
              </a:rPr>
              <a:t>Should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46" dirty="0">
                <a:latin typeface="Trebuchet MS"/>
                <a:cs typeface="Trebuchet MS"/>
              </a:rPr>
              <a:t>I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60" dirty="0">
                <a:latin typeface="Trebuchet MS"/>
                <a:cs typeface="Trebuchet MS"/>
              </a:rPr>
              <a:t>add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84" dirty="0">
                <a:latin typeface="Trebuchet MS"/>
                <a:cs typeface="Trebuchet MS"/>
              </a:rPr>
              <a:t>‘\bin’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in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the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56" dirty="0">
                <a:latin typeface="Trebuchet MS"/>
                <a:cs typeface="Trebuchet MS"/>
              </a:rPr>
              <a:t>‘JAVA_HOME’ </a:t>
            </a:r>
            <a:r>
              <a:rPr sz="2250" spc="-668" dirty="0">
                <a:latin typeface="Trebuchet MS"/>
                <a:cs typeface="Trebuchet MS"/>
              </a:rPr>
              <a:t> </a:t>
            </a:r>
            <a:r>
              <a:rPr sz="2250" spc="-95" dirty="0">
                <a:latin typeface="Trebuchet MS"/>
                <a:cs typeface="Trebuchet MS"/>
              </a:rPr>
              <a:t>after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‘\jdk-16.0.2’?</a:t>
            </a:r>
            <a:endParaRPr sz="2250" dirty="0">
              <a:latin typeface="Trebuchet MS"/>
              <a:cs typeface="Trebuchet MS"/>
            </a:endParaRPr>
          </a:p>
          <a:p>
            <a:pPr>
              <a:spcBef>
                <a:spcPts val="21"/>
              </a:spcBef>
              <a:buFont typeface="Trebuchet MS"/>
              <a:buChar char="•"/>
            </a:pPr>
            <a:endParaRPr sz="2426" dirty="0">
              <a:latin typeface="Trebuchet MS"/>
              <a:cs typeface="Trebuchet MS"/>
            </a:endParaRPr>
          </a:p>
          <a:p>
            <a:pPr marL="330387" indent="-312528">
              <a:lnSpc>
                <a:spcPts val="2686"/>
              </a:lnSpc>
              <a:spcBef>
                <a:spcPts val="4"/>
              </a:spcBef>
              <a:buSzPct val="145312"/>
              <a:buChar char="•"/>
              <a:tabLst>
                <a:tab pos="330387" algn="l"/>
              </a:tabLst>
            </a:pPr>
            <a:r>
              <a:rPr sz="2250" spc="18" dirty="0">
                <a:latin typeface="Trebuchet MS"/>
                <a:cs typeface="Trebuchet MS"/>
              </a:rPr>
              <a:t>Real</a:t>
            </a:r>
            <a:r>
              <a:rPr sz="2250" spc="-84" dirty="0">
                <a:latin typeface="Trebuchet MS"/>
                <a:cs typeface="Trebuchet MS"/>
              </a:rPr>
              <a:t> </a:t>
            </a:r>
            <a:r>
              <a:rPr sz="2250" spc="-14" dirty="0">
                <a:latin typeface="Trebuchet MS"/>
                <a:cs typeface="Trebuchet MS"/>
              </a:rPr>
              <a:t>question:</a:t>
            </a:r>
            <a:endParaRPr sz="2250" dirty="0">
              <a:latin typeface="Trebuchet MS"/>
              <a:cs typeface="Trebuchet MS"/>
            </a:endParaRPr>
          </a:p>
          <a:p>
            <a:pPr marL="330387">
              <a:lnSpc>
                <a:spcPts val="2672"/>
              </a:lnSpc>
            </a:pPr>
            <a:r>
              <a:rPr sz="2250" spc="88" dirty="0">
                <a:latin typeface="Trebuchet MS"/>
                <a:cs typeface="Trebuchet MS"/>
              </a:rPr>
              <a:t>How</a:t>
            </a:r>
            <a:r>
              <a:rPr sz="2250" spc="-60" dirty="0">
                <a:latin typeface="Trebuchet MS"/>
                <a:cs typeface="Trebuchet MS"/>
              </a:rPr>
              <a:t> </a:t>
            </a:r>
            <a:r>
              <a:rPr sz="2250" spc="88" dirty="0">
                <a:latin typeface="Trebuchet MS"/>
                <a:cs typeface="Trebuchet MS"/>
              </a:rPr>
              <a:t>does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the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25" dirty="0">
                <a:latin typeface="Trebuchet MS"/>
                <a:cs typeface="Trebuchet MS"/>
              </a:rPr>
              <a:t>thing</a:t>
            </a:r>
            <a:r>
              <a:rPr sz="2250" spc="-60" dirty="0">
                <a:latin typeface="Trebuchet MS"/>
                <a:cs typeface="Trebuchet MS"/>
              </a:rPr>
              <a:t> </a:t>
            </a:r>
            <a:r>
              <a:rPr sz="2250" spc="56" dirty="0">
                <a:latin typeface="Trebuchet MS"/>
                <a:cs typeface="Trebuchet MS"/>
              </a:rPr>
              <a:t>‘JAVA_HOME’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109" dirty="0">
                <a:latin typeface="Trebuchet MS"/>
                <a:cs typeface="Trebuchet MS"/>
              </a:rPr>
              <a:t>works?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432" dirty="0">
                <a:latin typeface="Trebuchet MS"/>
                <a:cs typeface="Trebuchet MS"/>
              </a:rPr>
              <a:t>/</a:t>
            </a:r>
            <a:endParaRPr sz="2250" dirty="0">
              <a:latin typeface="Trebuchet MS"/>
              <a:cs typeface="Trebuchet MS"/>
            </a:endParaRPr>
          </a:p>
          <a:p>
            <a:pPr marL="330387" marR="20091">
              <a:lnSpc>
                <a:spcPts val="2672"/>
              </a:lnSpc>
              <a:spcBef>
                <a:spcPts val="84"/>
              </a:spcBef>
            </a:pPr>
            <a:r>
              <a:rPr sz="2250" spc="88" dirty="0">
                <a:latin typeface="Trebuchet MS"/>
                <a:cs typeface="Trebuchet MS"/>
              </a:rPr>
              <a:t>How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88" dirty="0">
                <a:latin typeface="Trebuchet MS"/>
                <a:cs typeface="Trebuchet MS"/>
              </a:rPr>
              <a:t>does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the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28" dirty="0">
                <a:latin typeface="Trebuchet MS"/>
                <a:cs typeface="Trebuchet MS"/>
              </a:rPr>
              <a:t>environment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39" dirty="0">
                <a:latin typeface="Trebuchet MS"/>
                <a:cs typeface="Trebuchet MS"/>
              </a:rPr>
              <a:t>variable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4" dirty="0">
                <a:latin typeface="Trebuchet MS"/>
                <a:cs typeface="Trebuchet MS"/>
              </a:rPr>
              <a:t>work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53" dirty="0">
                <a:latin typeface="Trebuchet MS"/>
                <a:cs typeface="Trebuchet MS"/>
              </a:rPr>
              <a:t>on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91" dirty="0">
                <a:latin typeface="Trebuchet MS"/>
                <a:cs typeface="Trebuchet MS"/>
              </a:rPr>
              <a:t>windows?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432" dirty="0">
                <a:latin typeface="Trebuchet MS"/>
                <a:cs typeface="Trebuchet MS"/>
              </a:rPr>
              <a:t>/ </a:t>
            </a:r>
            <a:r>
              <a:rPr sz="2250" spc="-668" dirty="0">
                <a:latin typeface="Trebuchet MS"/>
                <a:cs typeface="Trebuchet MS"/>
              </a:rPr>
              <a:t> </a:t>
            </a:r>
            <a:r>
              <a:rPr sz="2250" spc="88" dirty="0">
                <a:latin typeface="Trebuchet MS"/>
                <a:cs typeface="Trebuchet MS"/>
              </a:rPr>
              <a:t>How </a:t>
            </a:r>
            <a:r>
              <a:rPr sz="2250" spc="46" dirty="0">
                <a:latin typeface="Trebuchet MS"/>
                <a:cs typeface="Trebuchet MS"/>
              </a:rPr>
              <a:t>can </a:t>
            </a:r>
            <a:r>
              <a:rPr sz="2250" spc="-49" dirty="0">
                <a:latin typeface="Trebuchet MS"/>
                <a:cs typeface="Trebuchet MS"/>
              </a:rPr>
              <a:t>certain </a:t>
            </a:r>
            <a:r>
              <a:rPr sz="2250" spc="-4" dirty="0">
                <a:latin typeface="Trebuchet MS"/>
                <a:cs typeface="Trebuchet MS"/>
              </a:rPr>
              <a:t>applications </a:t>
            </a:r>
            <a:r>
              <a:rPr sz="2250" spc="42" dirty="0">
                <a:latin typeface="Trebuchet MS"/>
                <a:cs typeface="Trebuchet MS"/>
              </a:rPr>
              <a:t>know </a:t>
            </a:r>
            <a:r>
              <a:rPr sz="2250" spc="-80" dirty="0">
                <a:latin typeface="Trebuchet MS"/>
                <a:cs typeface="Trebuchet MS"/>
              </a:rPr>
              <a:t>that </a:t>
            </a:r>
            <a:r>
              <a:rPr sz="2250" spc="-74" dirty="0">
                <a:latin typeface="Trebuchet MS"/>
                <a:cs typeface="Trebuchet MS"/>
              </a:rPr>
              <a:t>there </a:t>
            </a:r>
            <a:r>
              <a:rPr sz="2250" spc="35" dirty="0">
                <a:latin typeface="Trebuchet MS"/>
                <a:cs typeface="Trebuchet MS"/>
              </a:rPr>
              <a:t>is </a:t>
            </a:r>
            <a:r>
              <a:rPr sz="2250" spc="21" dirty="0">
                <a:latin typeface="Trebuchet MS"/>
                <a:cs typeface="Trebuchet MS"/>
              </a:rPr>
              <a:t>an </a:t>
            </a:r>
            <a:r>
              <a:rPr sz="2250" spc="25" dirty="0">
                <a:latin typeface="Trebuchet MS"/>
                <a:cs typeface="Trebuchet MS"/>
              </a:rPr>
              <a:t> </a:t>
            </a:r>
            <a:r>
              <a:rPr sz="2250" spc="-28" dirty="0">
                <a:latin typeface="Trebuchet MS"/>
                <a:cs typeface="Trebuchet MS"/>
              </a:rPr>
              <a:t>environment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39" dirty="0">
                <a:latin typeface="Trebuchet MS"/>
                <a:cs typeface="Trebuchet MS"/>
              </a:rPr>
              <a:t>variable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42" dirty="0">
                <a:latin typeface="Trebuchet MS"/>
                <a:cs typeface="Trebuchet MS"/>
              </a:rPr>
              <a:t>and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-84" dirty="0">
                <a:latin typeface="Trebuchet MS"/>
                <a:cs typeface="Trebuchet MS"/>
              </a:rPr>
              <a:t>retrieve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63" dirty="0">
                <a:latin typeface="Trebuchet MS"/>
                <a:cs typeface="Trebuchet MS"/>
              </a:rPr>
              <a:t>the</a:t>
            </a:r>
            <a:r>
              <a:rPr sz="2250" spc="-49" dirty="0">
                <a:latin typeface="Trebuchet MS"/>
                <a:cs typeface="Trebuchet MS"/>
              </a:rPr>
              <a:t> </a:t>
            </a:r>
            <a:r>
              <a:rPr sz="2250" spc="-7" dirty="0">
                <a:latin typeface="Trebuchet MS"/>
                <a:cs typeface="Trebuchet MS"/>
              </a:rPr>
              <a:t>information?</a:t>
            </a:r>
            <a:endParaRPr sz="22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2177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1AAC69C-AC35-22C7-1F06-7BAED706C1FB}"/>
              </a:ext>
            </a:extLst>
          </p:cNvPr>
          <p:cNvSpPr txBox="1"/>
          <p:nvPr/>
        </p:nvSpPr>
        <p:spPr>
          <a:xfrm>
            <a:off x="361031" y="1917397"/>
            <a:ext cx="3885713" cy="70151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21457" indent="-312528">
              <a:spcBef>
                <a:spcPts val="70"/>
              </a:spcBef>
              <a:buSzPct val="145312"/>
              <a:buChar char="•"/>
              <a:tabLst>
                <a:tab pos="321457" algn="l"/>
              </a:tabLst>
            </a:pPr>
            <a:r>
              <a:rPr sz="2250" spc="63" dirty="0">
                <a:latin typeface="Trebuchet MS"/>
                <a:cs typeface="Trebuchet MS"/>
              </a:rPr>
              <a:t>Step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-67" dirty="0">
                <a:latin typeface="Trebuchet MS"/>
                <a:cs typeface="Trebuchet MS"/>
              </a:rPr>
              <a:t>2: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53" dirty="0">
                <a:latin typeface="Trebuchet MS"/>
                <a:cs typeface="Trebuchet MS"/>
              </a:rPr>
              <a:t>Search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42" dirty="0">
                <a:latin typeface="Trebuchet MS"/>
                <a:cs typeface="Trebuchet MS"/>
              </a:rPr>
              <a:t>and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77" dirty="0">
                <a:latin typeface="Trebuchet MS"/>
                <a:cs typeface="Trebuchet MS"/>
              </a:rPr>
              <a:t>choose</a:t>
            </a:r>
            <a:r>
              <a:rPr sz="2250" spc="-53" dirty="0">
                <a:latin typeface="Trebuchet MS"/>
                <a:cs typeface="Trebuchet MS"/>
              </a:rPr>
              <a:t> </a:t>
            </a:r>
            <a:r>
              <a:rPr sz="2250" spc="-39" dirty="0">
                <a:latin typeface="Trebuchet MS"/>
                <a:cs typeface="Trebuchet MS"/>
              </a:rPr>
              <a:t>reputable</a:t>
            </a:r>
            <a:r>
              <a:rPr sz="2250" spc="-56" dirty="0">
                <a:latin typeface="Trebuchet MS"/>
                <a:cs typeface="Trebuchet MS"/>
              </a:rPr>
              <a:t> </a:t>
            </a:r>
            <a:r>
              <a:rPr sz="2250" spc="35" dirty="0">
                <a:latin typeface="Trebuchet MS"/>
                <a:cs typeface="Trebuchet MS"/>
              </a:rPr>
              <a:t>source</a:t>
            </a:r>
            <a:endParaRPr sz="2250" dirty="0">
              <a:latin typeface="Trebuchet MS"/>
              <a:cs typeface="Trebuchet MS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3C981AB9-922A-4785-1AF5-D968B5DE01BE}"/>
              </a:ext>
            </a:extLst>
          </p:cNvPr>
          <p:cNvGrpSpPr/>
          <p:nvPr/>
        </p:nvGrpSpPr>
        <p:grpSpPr>
          <a:xfrm>
            <a:off x="4831880" y="1712550"/>
            <a:ext cx="6999089" cy="4720679"/>
            <a:chOff x="1525449" y="2733082"/>
            <a:chExt cx="9954260" cy="671385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E5073C6-3320-45B5-E1A1-70117383A47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5449" y="2733082"/>
              <a:ext cx="9953901" cy="6713496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E18030A-3845-8ED5-030A-4025389B5E07}"/>
                </a:ext>
              </a:extLst>
            </p:cNvPr>
            <p:cNvSpPr/>
            <p:nvPr/>
          </p:nvSpPr>
          <p:spPr>
            <a:xfrm>
              <a:off x="8692764" y="5125882"/>
              <a:ext cx="701040" cy="769620"/>
            </a:xfrm>
            <a:custGeom>
              <a:avLst/>
              <a:gdLst/>
              <a:ahLst/>
              <a:cxnLst/>
              <a:rect l="l" t="t" r="r" b="b"/>
              <a:pathLst>
                <a:path w="701040" h="769620">
                  <a:moveTo>
                    <a:pt x="700796" y="724509"/>
                  </a:moveTo>
                  <a:lnTo>
                    <a:pt x="507394" y="724509"/>
                  </a:lnTo>
                  <a:lnTo>
                    <a:pt x="585908" y="731505"/>
                  </a:lnTo>
                  <a:lnTo>
                    <a:pt x="647024" y="746897"/>
                  </a:lnTo>
                  <a:lnTo>
                    <a:pt x="686675" y="762288"/>
                  </a:lnTo>
                  <a:lnTo>
                    <a:pt x="700796" y="769284"/>
                  </a:lnTo>
                  <a:lnTo>
                    <a:pt x="700796" y="724509"/>
                  </a:lnTo>
                  <a:close/>
                </a:path>
                <a:path w="701040" h="769620">
                  <a:moveTo>
                    <a:pt x="255696" y="289736"/>
                  </a:moveTo>
                  <a:lnTo>
                    <a:pt x="233987" y="289758"/>
                  </a:lnTo>
                  <a:lnTo>
                    <a:pt x="197995" y="292522"/>
                  </a:lnTo>
                  <a:lnTo>
                    <a:pt x="106123" y="306368"/>
                  </a:lnTo>
                  <a:lnTo>
                    <a:pt x="74723" y="308901"/>
                  </a:lnTo>
                  <a:lnTo>
                    <a:pt x="50074" y="311908"/>
                  </a:lnTo>
                  <a:lnTo>
                    <a:pt x="28575" y="319434"/>
                  </a:lnTo>
                  <a:lnTo>
                    <a:pt x="3730" y="344299"/>
                  </a:lnTo>
                  <a:lnTo>
                    <a:pt x="0" y="375569"/>
                  </a:lnTo>
                  <a:lnTo>
                    <a:pt x="14433" y="405786"/>
                  </a:lnTo>
                  <a:lnTo>
                    <a:pt x="44081" y="427494"/>
                  </a:lnTo>
                  <a:lnTo>
                    <a:pt x="19390" y="452914"/>
                  </a:lnTo>
                  <a:lnTo>
                    <a:pt x="10698" y="484930"/>
                  </a:lnTo>
                  <a:lnTo>
                    <a:pt x="23068" y="517046"/>
                  </a:lnTo>
                  <a:lnTo>
                    <a:pt x="61570" y="542766"/>
                  </a:lnTo>
                  <a:lnTo>
                    <a:pt x="39501" y="574930"/>
                  </a:lnTo>
                  <a:lnTo>
                    <a:pt x="34373" y="606993"/>
                  </a:lnTo>
                  <a:lnTo>
                    <a:pt x="48402" y="634663"/>
                  </a:lnTo>
                  <a:lnTo>
                    <a:pt x="83807" y="653651"/>
                  </a:lnTo>
                  <a:lnTo>
                    <a:pt x="66438" y="686778"/>
                  </a:lnTo>
                  <a:lnTo>
                    <a:pt x="72025" y="717496"/>
                  </a:lnTo>
                  <a:lnTo>
                    <a:pt x="93676" y="740106"/>
                  </a:lnTo>
                  <a:lnTo>
                    <a:pt x="124494" y="748910"/>
                  </a:lnTo>
                  <a:lnTo>
                    <a:pt x="213447" y="748226"/>
                  </a:lnTo>
                  <a:lnTo>
                    <a:pt x="282366" y="746372"/>
                  </a:lnTo>
                  <a:lnTo>
                    <a:pt x="334543" y="743639"/>
                  </a:lnTo>
                  <a:lnTo>
                    <a:pt x="373267" y="740321"/>
                  </a:lnTo>
                  <a:lnTo>
                    <a:pt x="423522" y="733098"/>
                  </a:lnTo>
                  <a:lnTo>
                    <a:pt x="441634" y="729780"/>
                  </a:lnTo>
                  <a:lnTo>
                    <a:pt x="459456" y="727047"/>
                  </a:lnTo>
                  <a:lnTo>
                    <a:pt x="480280" y="725192"/>
                  </a:lnTo>
                  <a:lnTo>
                    <a:pt x="507394" y="724509"/>
                  </a:lnTo>
                  <a:lnTo>
                    <a:pt x="700796" y="724509"/>
                  </a:lnTo>
                  <a:lnTo>
                    <a:pt x="700796" y="421303"/>
                  </a:lnTo>
                  <a:lnTo>
                    <a:pt x="643841" y="403371"/>
                  </a:lnTo>
                  <a:lnTo>
                    <a:pt x="590964" y="383939"/>
                  </a:lnTo>
                  <a:lnTo>
                    <a:pt x="538105" y="360182"/>
                  </a:lnTo>
                  <a:lnTo>
                    <a:pt x="497048" y="327330"/>
                  </a:lnTo>
                  <a:lnTo>
                    <a:pt x="476207" y="292077"/>
                  </a:lnTo>
                  <a:lnTo>
                    <a:pt x="475526" y="290225"/>
                  </a:lnTo>
                  <a:lnTo>
                    <a:pt x="262966" y="290225"/>
                  </a:lnTo>
                  <a:lnTo>
                    <a:pt x="255696" y="289736"/>
                  </a:lnTo>
                  <a:close/>
                </a:path>
                <a:path w="701040" h="769620">
                  <a:moveTo>
                    <a:pt x="283821" y="0"/>
                  </a:moveTo>
                  <a:lnTo>
                    <a:pt x="243688" y="40726"/>
                  </a:lnTo>
                  <a:lnTo>
                    <a:pt x="235560" y="97363"/>
                  </a:lnTo>
                  <a:lnTo>
                    <a:pt x="245628" y="140045"/>
                  </a:lnTo>
                  <a:lnTo>
                    <a:pt x="261950" y="175096"/>
                  </a:lnTo>
                  <a:lnTo>
                    <a:pt x="275979" y="208092"/>
                  </a:lnTo>
                  <a:lnTo>
                    <a:pt x="279167" y="244609"/>
                  </a:lnTo>
                  <a:lnTo>
                    <a:pt x="262966" y="290225"/>
                  </a:lnTo>
                  <a:lnTo>
                    <a:pt x="475526" y="290225"/>
                  </a:lnTo>
                  <a:lnTo>
                    <a:pt x="455407" y="235534"/>
                  </a:lnTo>
                  <a:lnTo>
                    <a:pt x="431110" y="184242"/>
                  </a:lnTo>
                  <a:lnTo>
                    <a:pt x="400933" y="151946"/>
                  </a:lnTo>
                  <a:lnTo>
                    <a:pt x="371623" y="129095"/>
                  </a:lnTo>
                  <a:lnTo>
                    <a:pt x="349931" y="106137"/>
                  </a:lnTo>
                  <a:lnTo>
                    <a:pt x="339417" y="88013"/>
                  </a:lnTo>
                  <a:lnTo>
                    <a:pt x="327969" y="64344"/>
                  </a:lnTo>
                  <a:lnTo>
                    <a:pt x="316698" y="38823"/>
                  </a:lnTo>
                  <a:lnTo>
                    <a:pt x="306719" y="15146"/>
                  </a:lnTo>
                  <a:lnTo>
                    <a:pt x="302769" y="8685"/>
                  </a:lnTo>
                  <a:lnTo>
                    <a:pt x="297304" y="3923"/>
                  </a:lnTo>
                  <a:lnTo>
                    <a:pt x="290822" y="986"/>
                  </a:lnTo>
                  <a:lnTo>
                    <a:pt x="283821" y="0"/>
                  </a:lnTo>
                  <a:close/>
                </a:path>
              </a:pathLst>
            </a:custGeom>
            <a:solidFill>
              <a:srgbClr val="00A2FF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</p:spTree>
    <p:extLst>
      <p:ext uri="{BB962C8B-B14F-4D97-AF65-F5344CB8AC3E}">
        <p14:creationId xmlns:p14="http://schemas.microsoft.com/office/powerpoint/2010/main" val="267525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5CAF1BB-9640-71BC-5DC4-5BAB93A2DAC3}"/>
              </a:ext>
            </a:extLst>
          </p:cNvPr>
          <p:cNvSpPr txBox="1"/>
          <p:nvPr/>
        </p:nvSpPr>
        <p:spPr>
          <a:xfrm>
            <a:off x="526727" y="1889100"/>
            <a:ext cx="3162449" cy="35526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21457" indent="-312528">
              <a:spcBef>
                <a:spcPts val="70"/>
              </a:spcBef>
              <a:buSzPct val="145312"/>
              <a:buChar char="•"/>
              <a:tabLst>
                <a:tab pos="321457" algn="l"/>
              </a:tabLst>
            </a:pPr>
            <a:r>
              <a:rPr sz="2250" spc="63" dirty="0">
                <a:latin typeface="Trebuchet MS"/>
                <a:cs typeface="Trebuchet MS"/>
              </a:rPr>
              <a:t>Step</a:t>
            </a:r>
            <a:r>
              <a:rPr sz="2250" spc="-67" dirty="0">
                <a:latin typeface="Trebuchet MS"/>
                <a:cs typeface="Trebuchet MS"/>
              </a:rPr>
              <a:t> 3:</a:t>
            </a:r>
            <a:r>
              <a:rPr sz="2250" spc="-63" dirty="0">
                <a:latin typeface="Trebuchet MS"/>
                <a:cs typeface="Trebuchet MS"/>
              </a:rPr>
              <a:t> </a:t>
            </a:r>
            <a:r>
              <a:rPr sz="2250" spc="77" dirty="0">
                <a:latin typeface="Trebuchet MS"/>
                <a:cs typeface="Trebuchet MS"/>
              </a:rPr>
              <a:t>Read</a:t>
            </a:r>
            <a:r>
              <a:rPr sz="2250" spc="-63" dirty="0">
                <a:latin typeface="Trebuchet MS"/>
                <a:cs typeface="Trebuchet MS"/>
              </a:rPr>
              <a:t> patiently</a:t>
            </a:r>
            <a:endParaRPr sz="2250" dirty="0">
              <a:latin typeface="Trebuchet MS"/>
              <a:cs typeface="Trebuchet MS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8E4A64D-DDAB-F672-891E-B04850B572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68" y="2887671"/>
            <a:ext cx="6078712" cy="270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8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D38FF51B-5DCC-E064-CBF4-DF2D49FB17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458" y="1891422"/>
            <a:ext cx="6657082" cy="38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9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85D1-5943-4D26-3DD5-831379AB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">
            <a:extLst>
              <a:ext uri="{FF2B5EF4-FFF2-40B4-BE49-F238E27FC236}">
                <a16:creationId xmlns:a16="http://schemas.microsoft.com/office/drawing/2014/main" id="{F12F6326-8272-4A97-A359-044CD11A1DCF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57B68652-A257-EA2C-7B33-2E7776DD28C4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22D1B4E-02C5-3DD5-3DF1-F8DD2785EB4D}"/>
              </a:ext>
            </a:extLst>
          </p:cNvPr>
          <p:cNvSpPr/>
          <p:nvPr/>
        </p:nvSpPr>
        <p:spPr>
          <a:xfrm>
            <a:off x="585129" y="821054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GOOG1003</a:t>
            </a:r>
            <a:endParaRPr lang="en-US" altLang="en-US" sz="3200" dirty="0"/>
          </a:p>
        </p:txBody>
      </p:sp>
      <p:sp>
        <p:nvSpPr>
          <p:cNvPr id="18" name="path">
            <a:extLst>
              <a:ext uri="{FF2B5EF4-FFF2-40B4-BE49-F238E27FC236}">
                <a16:creationId xmlns:a16="http://schemas.microsoft.com/office/drawing/2014/main" id="{E89CC894-C76D-7460-F08B-443D55B13A2C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6CCEF51-9116-C618-27B4-789D86758ADF}"/>
              </a:ext>
            </a:extLst>
          </p:cNvPr>
          <p:cNvSpPr txBox="1"/>
          <p:nvPr/>
        </p:nvSpPr>
        <p:spPr>
          <a:xfrm>
            <a:off x="526727" y="1889100"/>
            <a:ext cx="10584969" cy="35526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321457" indent="-312528">
              <a:spcBef>
                <a:spcPts val="70"/>
              </a:spcBef>
              <a:buSzPct val="145312"/>
              <a:buChar char="•"/>
              <a:tabLst>
                <a:tab pos="321457" algn="l"/>
              </a:tabLst>
            </a:pPr>
            <a:r>
              <a:rPr lang="en-US" sz="2250" spc="63" dirty="0">
                <a:latin typeface="Trebuchet MS"/>
                <a:cs typeface="Trebuchet MS"/>
              </a:rPr>
              <a:t>You may also use Large Language Models (LLMs) to get the answer:</a:t>
            </a:r>
            <a:endParaRPr sz="2250" dirty="0">
              <a:latin typeface="Trebuchet MS"/>
              <a:cs typeface="Trebuchet M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2B7AC4-5199-BEDC-1AE5-B603234B7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233" y="2453638"/>
            <a:ext cx="6334556" cy="2981309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174A88DA-AD0E-8F1A-8EE6-CC33397A120A}"/>
              </a:ext>
            </a:extLst>
          </p:cNvPr>
          <p:cNvSpPr txBox="1"/>
          <p:nvPr/>
        </p:nvSpPr>
        <p:spPr>
          <a:xfrm>
            <a:off x="378134" y="2659158"/>
            <a:ext cx="5123699" cy="1434086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330387" marR="12501" indent="-312528">
              <a:lnSpc>
                <a:spcPts val="2672"/>
              </a:lnSpc>
              <a:spcBef>
                <a:spcPts val="183"/>
              </a:spcBef>
              <a:buSzPct val="145312"/>
              <a:buChar char="•"/>
              <a:tabLst>
                <a:tab pos="330387" algn="l"/>
              </a:tabLst>
            </a:pPr>
            <a:r>
              <a:rPr lang="en-US" sz="2250" spc="88" dirty="0">
                <a:latin typeface="Trebuchet MS"/>
                <a:cs typeface="Trebuchet MS"/>
              </a:rPr>
              <a:t>Be careful! The generated content may not be accurate.</a:t>
            </a:r>
          </a:p>
          <a:p>
            <a:pPr marL="330387" marR="12501" indent="-312528">
              <a:lnSpc>
                <a:spcPts val="2672"/>
              </a:lnSpc>
              <a:spcBef>
                <a:spcPts val="183"/>
              </a:spcBef>
              <a:buSzPct val="145312"/>
              <a:buChar char="•"/>
              <a:tabLst>
                <a:tab pos="330387" algn="l"/>
              </a:tabLst>
            </a:pPr>
            <a:r>
              <a:rPr lang="en-US" sz="2250" spc="88" dirty="0">
                <a:solidFill>
                  <a:srgbClr val="FF0000"/>
                </a:solidFill>
                <a:latin typeface="Trebuchet MS"/>
                <a:cs typeface="Trebuchet MS"/>
              </a:rPr>
              <a:t>The use of LLMs for completing coursework is prohibited</a:t>
            </a:r>
            <a:r>
              <a:rPr lang="zh-CN" altLang="en-US" sz="2250" spc="88" dirty="0">
                <a:solidFill>
                  <a:srgbClr val="FF0000"/>
                </a:solidFill>
                <a:latin typeface="Trebuchet MS"/>
                <a:cs typeface="Trebuchet MS"/>
              </a:rPr>
              <a:t>！</a:t>
            </a:r>
            <a:endParaRPr sz="225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4554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54444" y="2242118"/>
            <a:ext cx="9083544" cy="28482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2800" dirty="0"/>
          </a:p>
          <a:p>
            <a:pPr marL="355600" indent="-342900" algn="l" rtl="0" eaLnBrk="0">
              <a:lnSpc>
                <a:spcPts val="2670"/>
              </a:lnSpc>
              <a:buFont typeface="Arial" panose="020B0604020202020204" pitchFamily="34" charset="0"/>
              <a:buChar char="•"/>
            </a:pP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language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similar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8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</a:t>
            </a:r>
            <a:r>
              <a:rPr sz="2800" spc="120" dirty="0" err="1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++</a:t>
            </a:r>
            <a:r>
              <a:rPr sz="280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sz="2800" dirty="0"/>
          </a:p>
          <a:p>
            <a:pPr marL="355600" indent="-342900" algn="l" rtl="0" eaLnBrk="0">
              <a:lnSpc>
                <a:spcPts val="2670"/>
              </a:lnSpc>
              <a:buFont typeface="Arial" panose="020B0604020202020204" pitchFamily="34" charset="0"/>
              <a:buChar char="•"/>
            </a:pP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developed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James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Gosling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his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team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Sun</a:t>
            </a:r>
            <a:r>
              <a:rPr lang="en" sz="280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Microsystems</a:t>
            </a:r>
            <a:r>
              <a:rPr lang="en" sz="28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" altLang="en-US" sz="2800" dirty="0"/>
          </a:p>
          <a:p>
            <a:pPr marL="355600" indent="-342900" algn="l" rtl="0" eaLnBrk="0">
              <a:lnSpc>
                <a:spcPts val="268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cross-platform running is the obvious advantage compare to C++.</a:t>
            </a:r>
            <a:endParaRPr lang="en-US" altLang="en-US" sz="2800" dirty="0"/>
          </a:p>
          <a:p>
            <a:pPr marL="355600" indent="-342900" algn="l" rtl="0" eaLnBrk="0">
              <a:lnSpc>
                <a:spcPts val="268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first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released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1995</a:t>
            </a:r>
            <a:r>
              <a:rPr sz="280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 Sun Microsystems.</a:t>
            </a:r>
            <a:endParaRPr lang="en-US" altLang="en-US" sz="2800" dirty="0"/>
          </a:p>
          <a:p>
            <a:pPr marL="355600" indent="-342900" algn="l" rtl="0" eaLnBrk="0">
              <a:lnSpc>
                <a:spcPts val="268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1.8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released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8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014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altLang="en-US" sz="2800" dirty="0"/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50614" y="2042160"/>
            <a:ext cx="1610868" cy="2679191"/>
          </a:xfrm>
          <a:prstGeom prst="rect">
            <a:avLst/>
          </a:prstGeom>
        </p:spPr>
      </p:pic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932815" y="810260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altLang="en-US" sz="3200" dirty="0"/>
          </a:p>
        </p:txBody>
      </p:sp>
      <p:sp>
        <p:nvSpPr>
          <p:cNvPr id="17" name="textbox 17"/>
          <p:cNvSpPr/>
          <p:nvPr/>
        </p:nvSpPr>
        <p:spPr>
          <a:xfrm>
            <a:off x="851217" y="1815770"/>
            <a:ext cx="3090545" cy="4337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210"/>
              </a:lnSpc>
            </a:pPr>
            <a:r>
              <a:rPr sz="40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400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40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’s Java?</a:t>
            </a:r>
            <a:endParaRPr lang="en-US" altLang="en-US" sz="4000" dirty="0"/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013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/>
          <p:nvPr/>
        </p:nvSpPr>
        <p:spPr>
          <a:xfrm>
            <a:off x="541657" y="1824101"/>
            <a:ext cx="8348344" cy="31267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200" dirty="0"/>
          </a:p>
          <a:p>
            <a:pPr marL="12700" algn="l" rtl="0" eaLnBrk="0">
              <a:lnSpc>
                <a:spcPts val="3180"/>
              </a:lnSpc>
            </a:pPr>
            <a:r>
              <a:rPr sz="240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</a:t>
            </a:r>
            <a:r>
              <a:rPr sz="24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4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24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40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?</a:t>
            </a:r>
            <a:endParaRPr lang="en-US" altLang="en-US" sz="2400" dirty="0"/>
          </a:p>
          <a:p>
            <a:pPr marL="467360" algn="l" rtl="0" eaLnBrk="0">
              <a:lnSpc>
                <a:spcPts val="2715"/>
              </a:lnSpc>
            </a:pP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popular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languages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always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top</a:t>
            </a:r>
            <a:r>
              <a:rPr sz="24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ranks</a:t>
            </a:r>
            <a:r>
              <a:rPr sz="240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2400" dirty="0"/>
          </a:p>
          <a:p>
            <a:pPr marL="467360" algn="l" rtl="0" eaLnBrk="0">
              <a:lnSpc>
                <a:spcPts val="2665"/>
              </a:lnSpc>
            </a:pPr>
            <a:r>
              <a:rPr sz="200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Some</a:t>
            </a:r>
            <a:r>
              <a:rPr sz="200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Applications</a:t>
            </a:r>
            <a:endParaRPr lang="en-US" altLang="en-US" sz="2000" dirty="0"/>
          </a:p>
          <a:p>
            <a:pPr marL="922020" algn="l" rtl="0" eaLnBrk="0">
              <a:lnSpc>
                <a:spcPts val="2250"/>
              </a:lnSpc>
              <a:spcBef>
                <a:spcPts val="80"/>
              </a:spcBef>
            </a:pPr>
            <a:r>
              <a:rPr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Android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considered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official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language.</a:t>
            </a:r>
            <a:endParaRPr lang="en-US" altLang="en-US" dirty="0"/>
          </a:p>
          <a:p>
            <a:pPr marL="1168400" indent="-245745" algn="l" rtl="0" eaLnBrk="0">
              <a:lnSpc>
                <a:spcPct val="120000"/>
              </a:lnSpc>
              <a:spcBef>
                <a:spcPts val="15"/>
              </a:spcBef>
            </a:pPr>
            <a:r>
              <a:rPr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BigData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 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developing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Big</a:t>
            </a:r>
            <a:r>
              <a:rPr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Data.                                                                   many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famous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bigdata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sorftwares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writen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lang="en-US" altLang="en-US" dirty="0"/>
          </a:p>
          <a:p>
            <a:pPr marL="1379220" algn="l" rtl="0" eaLnBrk="0">
              <a:lnSpc>
                <a:spcPts val="2165"/>
              </a:lnSpc>
            </a:pPr>
            <a:r>
              <a:rPr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Hiv</a:t>
            </a:r>
            <a:r>
              <a:rPr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endParaRPr lang="en-US" altLang="en-US" dirty="0"/>
          </a:p>
          <a:p>
            <a:pPr marL="1379220" algn="l" rtl="0" eaLnBrk="0">
              <a:lnSpc>
                <a:spcPct val="75000"/>
              </a:lnSpc>
              <a:spcBef>
                <a:spcPts val="685"/>
              </a:spcBef>
            </a:pPr>
            <a:r>
              <a:rPr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HDF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endParaRPr lang="en-US" altLang="en-US" dirty="0"/>
          </a:p>
          <a:p>
            <a:pPr marL="1379220" algn="l" rtl="0" eaLnBrk="0">
              <a:lnSpc>
                <a:spcPts val="2165"/>
              </a:lnSpc>
              <a:spcBef>
                <a:spcPts val="195"/>
              </a:spcBef>
            </a:pPr>
            <a:r>
              <a:rPr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Fl</a:t>
            </a:r>
            <a:r>
              <a:rPr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nk</a:t>
            </a:r>
            <a:r>
              <a:rPr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endParaRPr lang="en-US" altLang="en-US" dirty="0"/>
          </a:p>
          <a:p>
            <a:pPr marL="1379220" algn="l" rtl="0" eaLnBrk="0">
              <a:lnSpc>
                <a:spcPts val="2165"/>
              </a:lnSpc>
              <a:spcBef>
                <a:spcPts val="75"/>
              </a:spcBef>
            </a:pPr>
            <a:r>
              <a:rPr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etc</a:t>
            </a:r>
            <a:r>
              <a:rPr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dirty="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12468" y="2871661"/>
            <a:ext cx="4293107" cy="2880359"/>
          </a:xfrm>
          <a:prstGeom prst="rect">
            <a:avLst/>
          </a:prstGeom>
        </p:spPr>
      </p:pic>
      <p:sp>
        <p:nvSpPr>
          <p:cNvPr id="3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" name="textbox 35"/>
          <p:cNvSpPr/>
          <p:nvPr/>
        </p:nvSpPr>
        <p:spPr>
          <a:xfrm>
            <a:off x="932815" y="810260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lang="en-US" altLang="en-US" sz="3200" b="1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altLang="en-US" sz="3200" dirty="0"/>
          </a:p>
        </p:txBody>
      </p:sp>
      <p:sp>
        <p:nvSpPr>
          <p:cNvPr id="36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5"/>
          <p:cNvSpPr/>
          <p:nvPr/>
        </p:nvSpPr>
        <p:spPr>
          <a:xfrm>
            <a:off x="932815" y="1647190"/>
            <a:ext cx="9669780" cy="3463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170"/>
              </a:lnSpc>
            </a:pPr>
            <a:r>
              <a:rPr sz="230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23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Hello</a:t>
            </a:r>
            <a:r>
              <a:rPr sz="230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World</a:t>
            </a:r>
            <a:r>
              <a:rPr sz="230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spc="16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altLang="en-US" sz="2300" dirty="0"/>
          </a:p>
          <a:p>
            <a:pPr marL="467360" algn="l" rtl="0" eaLnBrk="0">
              <a:lnSpc>
                <a:spcPts val="2610"/>
              </a:lnSpc>
            </a:pP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//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represents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commented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line</a:t>
            </a:r>
            <a:r>
              <a:rPr sz="190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import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.*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classes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marL="467360" algn="l" rtl="0" eaLnBrk="0">
              <a:lnSpc>
                <a:spcPts val="2660"/>
              </a:lnSpc>
            </a:pP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package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90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imported.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</a:t>
            </a: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declare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Java</a:t>
            </a:r>
            <a:r>
              <a:rPr sz="190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public</a:t>
            </a:r>
            <a:r>
              <a:rPr sz="1900" spc="13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visible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90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190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static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there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object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invoke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method</a:t>
            </a:r>
            <a:r>
              <a:rPr sz="190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5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void</a:t>
            </a:r>
            <a:r>
              <a:rPr sz="1900" spc="15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method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doesn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return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any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value</a:t>
            </a:r>
            <a:r>
              <a:rPr sz="190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8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main</a:t>
            </a:r>
            <a:r>
              <a:rPr sz="1900" spc="18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represents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starting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point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90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</a:t>
            </a:r>
            <a:r>
              <a:rPr sz="190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60"/>
              </a:lnSpc>
            </a:pPr>
            <a:r>
              <a:rPr sz="1900" spc="15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String</a:t>
            </a:r>
            <a:r>
              <a:rPr sz="1900" spc="15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[]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args</a:t>
            </a:r>
            <a:r>
              <a:rPr sz="1900" spc="15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command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line</a:t>
            </a:r>
            <a:r>
              <a:rPr sz="190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argument</a:t>
            </a:r>
            <a:r>
              <a:rPr sz="190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  <a:p>
            <a:pPr marL="467360" algn="l" rtl="0" eaLnBrk="0">
              <a:lnSpc>
                <a:spcPts val="2670"/>
              </a:lnSpc>
            </a:pP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System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900" spc="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println</a:t>
            </a:r>
            <a:r>
              <a:rPr sz="1900" spc="160" dirty="0">
                <a:solidFill>
                  <a:srgbClr val="0070C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()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device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computer</a:t>
            </a:r>
            <a:r>
              <a:rPr sz="190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screen</a:t>
            </a:r>
            <a:r>
              <a:rPr sz="190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en-US" sz="1900" dirty="0"/>
          </a:p>
        </p:txBody>
      </p:sp>
      <p:sp>
        <p:nvSpPr>
          <p:cNvPr id="66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textbox 68"/>
          <p:cNvSpPr/>
          <p:nvPr/>
        </p:nvSpPr>
        <p:spPr>
          <a:xfrm>
            <a:off x="944880" y="810260"/>
            <a:ext cx="448183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First</a:t>
            </a:r>
            <a:r>
              <a:rPr sz="320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</a:t>
            </a:r>
            <a:r>
              <a:rPr sz="3200" b="1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am</a:t>
            </a:r>
            <a:endParaRPr lang="en-US" altLang="en-US" sz="3200" dirty="0"/>
          </a:p>
        </p:txBody>
      </p:sp>
      <p:sp>
        <p:nvSpPr>
          <p:cNvPr id="69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0" y="1738630"/>
            <a:ext cx="4276725" cy="1991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44880" y="810260"/>
            <a:ext cx="381127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Basic</a:t>
            </a:r>
            <a:r>
              <a:rPr sz="320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lang="en-US" altLang="en-US" sz="3200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15" y="1640840"/>
            <a:ext cx="7408545" cy="47580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44880" y="810260"/>
            <a:ext cx="381127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Basic</a:t>
            </a:r>
            <a:r>
              <a:rPr sz="320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lang="en-US" altLang="en-US" sz="3200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5" y="1742440"/>
            <a:ext cx="8051800" cy="41389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873490" y="1738630"/>
            <a:ext cx="33191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Extension:</a:t>
            </a:r>
          </a:p>
          <a:p>
            <a:r>
              <a:rPr lang="en-US" sz="2000"/>
              <a:t>other built-in numeric types:</a:t>
            </a:r>
          </a:p>
          <a:p>
            <a:r>
              <a:rPr lang="en-US" sz="2000"/>
              <a:t>short, float, long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886825" y="2687320"/>
            <a:ext cx="29775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non-p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rimitive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data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types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: 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class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,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enum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,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Interface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, 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e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.</a:t>
            </a:r>
            <a:r>
              <a:rPr sz="20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g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,</a:t>
            </a:r>
            <a:endParaRPr lang="en-US" sz="2000"/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33485" y="3860165"/>
            <a:ext cx="3084195" cy="1894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44880" y="810260"/>
            <a:ext cx="381127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Basic</a:t>
            </a:r>
            <a:r>
              <a:rPr sz="320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lang="en-US" altLang="en-US" sz="3200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42072" y="1738628"/>
            <a:ext cx="11051245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 prints the given string.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 automatically converts numbers to strings for output.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using command line arguments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usage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[1]… in sample program of practice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the parameters before you run the program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using `scanner` of `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bufferedreader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e.g.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usage of Scanner,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scanner.nextInt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scanner.nextLine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given after you run the program.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44880" y="810260"/>
            <a:ext cx="381127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Basic</a:t>
            </a:r>
            <a:r>
              <a:rPr sz="320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lang="en-US" altLang="en-US" sz="3200" dirty="0"/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22300" y="1738630"/>
            <a:ext cx="54095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Bold" panose="020B0604020202020204" charset="0"/>
                <a:cs typeface="Arial Bold" panose="020B0604020202020204" charset="0"/>
              </a:rPr>
              <a:t>Computing for different data type</a:t>
            </a:r>
          </a:p>
          <a:p>
            <a:endParaRPr lang="en-US" sz="2000" dirty="0"/>
          </a:p>
          <a:p>
            <a:r>
              <a:rPr lang="en-US" sz="2000" dirty="0"/>
              <a:t>String: + (concatenate)</a:t>
            </a:r>
          </a:p>
          <a:p>
            <a:r>
              <a:rPr lang="en-US" sz="2000" dirty="0"/>
              <a:t>Int/Double: similar to math operations</a:t>
            </a:r>
          </a:p>
          <a:p>
            <a:r>
              <a:rPr lang="en-US" sz="2000" dirty="0"/>
              <a:t>Boolean: !  &amp;&amp;  ||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Comparison: similar to math comparison</a:t>
            </a:r>
          </a:p>
          <a:p>
            <a:r>
              <a:rPr lang="en-US" sz="2000" dirty="0"/>
              <a:t>	note: !=    ==    =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3436620"/>
            <a:ext cx="5257800" cy="21717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880100" y="1882348"/>
            <a:ext cx="6311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i.e.:</a:t>
            </a:r>
          </a:p>
          <a:p>
            <a:pPr marL="514350" indent="-514350">
              <a:buAutoNum type="arabicPeriod"/>
            </a:pPr>
            <a:r>
              <a:rPr lang="en-US" sz="2800" dirty="0"/>
              <a:t>a &amp;&amp; !a</a:t>
            </a:r>
          </a:p>
          <a:p>
            <a:pPr marL="514350" indent="-514350">
              <a:buAutoNum type="arabicPeriod"/>
            </a:pPr>
            <a:r>
              <a:rPr lang="en-US" sz="2800" dirty="0"/>
              <a:t>int a = 1; int b = 1; </a:t>
            </a:r>
          </a:p>
          <a:p>
            <a:r>
              <a:rPr lang="en-US" altLang="zh-CN" sz="2800" dirty="0"/>
              <a:t>     </a:t>
            </a:r>
            <a:r>
              <a:rPr lang="en-US" altLang="zh-CN" sz="2800" dirty="0" err="1"/>
              <a:t>System.out.println</a:t>
            </a:r>
            <a:r>
              <a:rPr lang="en-US" altLang="zh-CN" sz="2800" dirty="0"/>
              <a:t>(a == b);</a:t>
            </a:r>
          </a:p>
          <a:p>
            <a:pPr marL="514350" indent="-514350">
              <a:buAutoNum type="arabicPeriod" startAt="3"/>
            </a:pPr>
            <a:r>
              <a:rPr lang="en-US" sz="2800" dirty="0"/>
              <a:t>char a = ‘a’; char b = ‘a’; </a:t>
            </a:r>
            <a:r>
              <a:rPr lang="en-US" sz="2800" dirty="0" err="1"/>
              <a:t>System.out.println</a:t>
            </a:r>
            <a:r>
              <a:rPr lang="en-US" sz="2800" dirty="0"/>
              <a:t>(a == b); </a:t>
            </a:r>
          </a:p>
          <a:p>
            <a:r>
              <a:rPr lang="en-US" sz="2800" dirty="0"/>
              <a:t>4.  String a = new String(“hello”);      String b = new String(“hello”); </a:t>
            </a:r>
          </a:p>
          <a:p>
            <a:r>
              <a:rPr lang="en-US" sz="2800" dirty="0"/>
              <a:t>     </a:t>
            </a:r>
            <a:r>
              <a:rPr lang="en-US" sz="2800" dirty="0" err="1"/>
              <a:t>System.out.println</a:t>
            </a:r>
            <a:r>
              <a:rPr lang="en-US" sz="2800" dirty="0"/>
              <a:t>(a == b);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944880" y="810260"/>
            <a:ext cx="802259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Basic</a:t>
            </a:r>
            <a:r>
              <a:rPr sz="320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3200" b="1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Type Conversion (tricky)</a:t>
            </a:r>
          </a:p>
        </p:txBody>
      </p:sp>
      <p:sp>
        <p:nvSpPr>
          <p:cNvPr id="83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748155"/>
            <a:ext cx="9626600" cy="44577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0043160" y="5260975"/>
            <a:ext cx="179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think:</a:t>
            </a:r>
          </a:p>
          <a:p>
            <a:r>
              <a:rPr lang="en-US" dirty="0"/>
              <a:t>(int) (11 * 0.25)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>
            <a:extLst>
              <a:ext uri="{FF2B5EF4-FFF2-40B4-BE49-F238E27FC236}">
                <a16:creationId xmlns:a16="http://schemas.microsoft.com/office/drawing/2014/main" id="{04857A21-4B03-82EC-D8AF-7F13CB3641F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path">
            <a:extLst>
              <a:ext uri="{FF2B5EF4-FFF2-40B4-BE49-F238E27FC236}">
                <a16:creationId xmlns:a16="http://schemas.microsoft.com/office/drawing/2014/main" id="{1F833894-784A-DC60-0AE5-8EDCE2C1D9CB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rect">
            <a:extLst>
              <a:ext uri="{FF2B5EF4-FFF2-40B4-BE49-F238E27FC236}">
                <a16:creationId xmlns:a16="http://schemas.microsoft.com/office/drawing/2014/main" id="{2FFFBCBC-2723-A4FC-0A42-32452D878E28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2745D0-68DF-E6EE-253B-F04C9A3FE777}"/>
              </a:ext>
            </a:extLst>
          </p:cNvPr>
          <p:cNvSpPr txBox="1"/>
          <p:nvPr/>
        </p:nvSpPr>
        <p:spPr>
          <a:xfrm>
            <a:off x="467832" y="793164"/>
            <a:ext cx="3467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/>
              <a:t>More examples:</a:t>
            </a:r>
            <a:endParaRPr kumimoji="1" lang="zh-CN" altLang="en-US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AB06DC-AB86-9B0B-028D-46E124698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09" y="1699943"/>
            <a:ext cx="4934754" cy="27352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014FCA-F6A7-C78C-700C-82F67011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27" y="1991865"/>
            <a:ext cx="3677143" cy="2059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050846-22E5-4F35-CBD0-FC10B7C5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32" y="4465259"/>
            <a:ext cx="5137425" cy="20578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818F5B-E541-C549-BF3A-4B8412246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45" y="4629190"/>
            <a:ext cx="930617" cy="7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4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3094" y="1640865"/>
            <a:ext cx="10079355" cy="2573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600" dirty="0"/>
          </a:p>
        </p:txBody>
      </p:sp>
      <p:sp>
        <p:nvSpPr>
          <p:cNvPr id="79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15" y="706120"/>
            <a:ext cx="9495790" cy="5822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>
            <a:extLst>
              <a:ext uri="{FF2B5EF4-FFF2-40B4-BE49-F238E27FC236}">
                <a16:creationId xmlns:a16="http://schemas.microsoft.com/office/drawing/2014/main" id="{BA7F0C7B-2087-14F6-447C-D76C62DC94C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>
            <a:extLst>
              <a:ext uri="{FF2B5EF4-FFF2-40B4-BE49-F238E27FC236}">
                <a16:creationId xmlns:a16="http://schemas.microsoft.com/office/drawing/2014/main" id="{C571678A-4B2F-C313-501E-5E9E9B4FF6D6}"/>
              </a:ext>
            </a:extLst>
          </p:cNvPr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ED6547-B8A1-B4FA-A1B7-26716DDADE28}"/>
              </a:ext>
            </a:extLst>
          </p:cNvPr>
          <p:cNvSpPr txBox="1"/>
          <p:nvPr/>
        </p:nvSpPr>
        <p:spPr>
          <a:xfrm>
            <a:off x="563526" y="854792"/>
            <a:ext cx="2212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Reminder:</a:t>
            </a:r>
            <a:endParaRPr kumimoji="1"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E5094D-1DA0-1D41-A3A6-F0073EA117CE}"/>
              </a:ext>
            </a:extLst>
          </p:cNvPr>
          <p:cNvSpPr txBox="1"/>
          <p:nvPr/>
        </p:nvSpPr>
        <p:spPr>
          <a:xfrm>
            <a:off x="563526" y="1871330"/>
            <a:ext cx="724077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CN" sz="2800" dirty="0"/>
              <a:t>We will do JDK configuration and IDE installation in the practice session this week. </a:t>
            </a:r>
          </a:p>
          <a:p>
            <a:pPr marL="342900" indent="-342900">
              <a:buAutoNum type="arabicPeriod"/>
            </a:pPr>
            <a:endParaRPr kumimoji="1" lang="en-US" altLang="zh-CN" sz="2800" dirty="0"/>
          </a:p>
          <a:p>
            <a:pPr marL="342900" indent="-342900">
              <a:buFontTx/>
              <a:buAutoNum type="arabicPeriod"/>
            </a:pPr>
            <a:r>
              <a:rPr kumimoji="1" lang="en-US" altLang="zh-CN" sz="2800" dirty="0"/>
              <a:t>You will learn how to use OJ system in the practice session next week. </a:t>
            </a:r>
            <a:r>
              <a:rPr kumimoji="1" lang="en-US" altLang="zh-CN" sz="2800" dirty="0">
                <a:solidFill>
                  <a:srgbClr val="FF0000"/>
                </a:solidFill>
              </a:rPr>
              <a:t>(!important)</a:t>
            </a:r>
          </a:p>
          <a:p>
            <a:pPr marL="342900" indent="-342900">
              <a:buAutoNum type="arabicPeriod"/>
            </a:pPr>
            <a:endParaRPr kumimoji="1" lang="en-US" altLang="zh-CN" sz="2800" dirty="0"/>
          </a:p>
          <a:p>
            <a:pPr marL="342900" indent="-342900">
              <a:buAutoNum type="arabicPeriod"/>
            </a:pPr>
            <a:endParaRPr kumimoji="1" lang="en-US" altLang="zh-CN" dirty="0"/>
          </a:p>
          <a:p>
            <a:pPr marL="342900" indent="-342900">
              <a:buAutoNum type="arabicPeriod"/>
            </a:pPr>
            <a:endParaRPr kumimoji="1" lang="zh-CN" altLang="en-US" dirty="0"/>
          </a:p>
        </p:txBody>
      </p:sp>
      <p:sp>
        <p:nvSpPr>
          <p:cNvPr id="7" name="path">
            <a:extLst>
              <a:ext uri="{FF2B5EF4-FFF2-40B4-BE49-F238E27FC236}">
                <a16:creationId xmlns:a16="http://schemas.microsoft.com/office/drawing/2014/main" id="{51DEACF1-E5F8-F60D-E428-98E59D2C43FB}"/>
              </a:ext>
            </a:extLst>
          </p:cNvPr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381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5480494" y="2683752"/>
            <a:ext cx="1390014" cy="897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r" rtl="0" eaLnBrk="0">
              <a:lnSpc>
                <a:spcPct val="84000"/>
              </a:lnSpc>
              <a:spcBef>
                <a:spcPts val="0"/>
              </a:spcBef>
            </a:pPr>
            <a:endParaRPr lang="en-US" altLang="en-US" sz="4400" dirty="0"/>
          </a:p>
        </p:txBody>
      </p:sp>
      <p:sp>
        <p:nvSpPr>
          <p:cNvPr id="133" name="textbox 133"/>
          <p:cNvSpPr/>
          <p:nvPr/>
        </p:nvSpPr>
        <p:spPr>
          <a:xfrm>
            <a:off x="5023293" y="2750743"/>
            <a:ext cx="1390013" cy="763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5810"/>
              </a:lnSpc>
            </a:pPr>
            <a:r>
              <a:rPr sz="44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en-US"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alt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5029</TotalTime>
  <Words>1027</Words>
  <Application>Microsoft Macintosh PowerPoint</Application>
  <PresentationFormat>宽屏</PresentationFormat>
  <Paragraphs>174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黑体</vt:lpstr>
      <vt:lpstr>微软雅黑</vt:lpstr>
      <vt:lpstr>Arial Bold</vt:lpstr>
      <vt:lpstr>Arial MT</vt:lpstr>
      <vt:lpstr>Arial</vt:lpstr>
      <vt:lpstr>Calibri</vt:lpstr>
      <vt:lpstr>Times New Roman</vt:lpstr>
      <vt:lpstr>Trebuchet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Lujie Ban (SDS,224040373)</cp:lastModifiedBy>
  <cp:revision>27</cp:revision>
  <dcterms:created xsi:type="dcterms:W3CDTF">2022-09-26T01:30:00Z</dcterms:created>
  <dcterms:modified xsi:type="dcterms:W3CDTF">2025-09-06T05:01:37Z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2022-09-26T04:59:41Z</vt:filetime>
  </property>
  <property fmtid="{D5CDD505-2E9C-101B-9397-08002B2CF9AE}" pid="4" name="ICV">
    <vt:lpwstr>CA6E1046935FD4CDDE503063A90C075B</vt:lpwstr>
  </property>
  <property fmtid="{D5CDD505-2E9C-101B-9397-08002B2CF9AE}" pid="5" name="KSOProductBuildVer">
    <vt:lpwstr>1033-4.4.1.7360</vt:lpwstr>
  </property>
</Properties>
</file>