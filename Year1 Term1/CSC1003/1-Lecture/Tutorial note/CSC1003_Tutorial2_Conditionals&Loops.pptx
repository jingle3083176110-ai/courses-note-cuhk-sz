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98" r:id="rId4"/>
    <p:sldId id="302" r:id="rId5"/>
    <p:sldId id="303" r:id="rId6"/>
    <p:sldId id="299" r:id="rId7"/>
    <p:sldId id="304" r:id="rId8"/>
    <p:sldId id="301" r:id="rId9"/>
    <p:sldId id="300" r:id="rId10"/>
    <p:sldId id="305" r:id="rId11"/>
    <p:sldId id="306" r:id="rId12"/>
    <p:sldId id="307" r:id="rId13"/>
    <p:sldId id="27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4372" y="811149"/>
            <a:ext cx="5106035" cy="513715"/>
          </a:xfrm>
        </p:spPr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315" y="1905076"/>
            <a:ext cx="9284970" cy="1575435"/>
          </a:xfrm>
        </p:spPr>
        <p:txBody>
          <a:bodyPr lIns="0" tIns="0" rIns="0" bIns="0"/>
          <a:lstStyle>
            <a:lvl1pPr>
              <a:defRPr sz="2000" b="0" i="0">
                <a:solidFill>
                  <a:srgbClr val="3333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jetbrains.com/education/2025/07/31/should-you-use-ai-to-learn/" TargetMode="External"/><Relationship Id="rId2" Type="http://schemas.openxmlformats.org/officeDocument/2006/relationships/hyperlink" Target="https://blog.jetbrains.com/education/2025/05/12/five-lessons-for-novice-programmers-ai-world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/>
          <p:nvPr/>
        </p:nvSpPr>
        <p:spPr>
          <a:xfrm>
            <a:off x="2107565" y="1790700"/>
            <a:ext cx="7849235" cy="143256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ctr" rtl="0" eaLnBrk="0">
              <a:lnSpc>
                <a:spcPts val="6115"/>
              </a:lnSpc>
            </a:pPr>
            <a:r>
              <a:rPr lang="en-US" sz="4400" b="1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Conditionals &amp; Loops</a:t>
            </a:r>
          </a:p>
          <a:p>
            <a:pPr marL="12700" algn="ctr" rtl="0" eaLnBrk="0">
              <a:lnSpc>
                <a:spcPts val="6115"/>
              </a:lnSpc>
            </a:pPr>
            <a:endParaRPr lang="en-US" sz="2400" spc="-20" dirty="0">
              <a:solidFill>
                <a:srgbClr val="000000">
                  <a:alpha val="100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42385" y="4752340"/>
            <a:ext cx="4507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Yuyang Liang</a:t>
            </a:r>
          </a:p>
          <a:p>
            <a:pPr algn="ctr"/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119010174@link.cuhk.edu.cn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1041654" y="1403856"/>
            <a:ext cx="7861300" cy="46438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457200" indent="-457200" algn="l" rtl="0" eaLnBrk="0">
              <a:lnSpc>
                <a:spcPct val="83000"/>
              </a:lnSpc>
              <a:buFont typeface="Arial" panose="020B0604020202090204" pitchFamily="34" charset="0"/>
              <a:buChar char="•"/>
            </a:pPr>
            <a:endParaRPr lang="en-US" altLang="en-US" sz="2800" dirty="0"/>
          </a:p>
          <a:p>
            <a:pPr marL="457200" indent="-457200">
              <a:lnSpc>
                <a:spcPct val="100000"/>
              </a:lnSpc>
              <a:spcBef>
                <a:spcPts val="100"/>
              </a:spcBef>
              <a:buFont typeface="Arial" panose="020B0604020202090204" pitchFamily="34" charset="0"/>
              <a:buChar char="•"/>
              <a:tabLst>
                <a:tab pos="354965" algn="l"/>
              </a:tabLst>
            </a:pPr>
            <a:r>
              <a:rPr sz="2800" spc="-2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Conditionals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00000"/>
              </a:lnSpc>
              <a:buFont typeface="Arial" panose="020B0604020202090204" pitchFamily="34" charset="0"/>
              <a:buChar char="•"/>
              <a:tabLst>
                <a:tab pos="812165" algn="l"/>
              </a:tabLst>
            </a:pP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The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95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if</a:t>
            </a:r>
            <a:r>
              <a:rPr lang="en-US" sz="2800" spc="-95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sz="2800" spc="-9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&amp;</a:t>
            </a:r>
            <a:r>
              <a:rPr lang="en-US" sz="2800" spc="-95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else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statement</a:t>
            </a:r>
            <a:endParaRPr lang="en-US" sz="2800" spc="-10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914400" lvl="1" indent="-457200">
              <a:lnSpc>
                <a:spcPct val="100000"/>
              </a:lnSpc>
              <a:buFont typeface="Arial" panose="020B0604020202090204" pitchFamily="34" charset="0"/>
              <a:buChar char="•"/>
              <a:tabLst>
                <a:tab pos="812165" algn="l"/>
              </a:tabLst>
            </a:pPr>
            <a:r>
              <a:rPr lang="en-US" sz="2800" spc="-1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Logical Operators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00000"/>
              </a:lnSpc>
              <a:buFont typeface="Arial" panose="020B0604020202090204" pitchFamily="34" charset="0"/>
              <a:buChar char="•"/>
              <a:tabLst>
                <a:tab pos="354965" algn="l"/>
              </a:tabLst>
            </a:pP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Loops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00000"/>
              </a:lnSpc>
              <a:buFont typeface="Arial" panose="020B0604020202090204" pitchFamily="34" charset="0"/>
              <a:buChar char="•"/>
              <a:tabLst>
                <a:tab pos="812165" algn="l"/>
              </a:tabLst>
            </a:pPr>
            <a:r>
              <a:rPr sz="2800" spc="-1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The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100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while</a:t>
            </a:r>
            <a:r>
              <a:rPr sz="2800" spc="-325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statement</a:t>
            </a:r>
            <a:endParaRPr lang="en-US" sz="2800" spc="-10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914400" lvl="1" indent="-457200">
              <a:buFont typeface="Arial" panose="020B0604020202090204" pitchFamily="34" charset="0"/>
              <a:buChar char="•"/>
              <a:tabLst>
                <a:tab pos="812165" algn="l"/>
              </a:tabLst>
            </a:pPr>
            <a:r>
              <a:rPr lang="en" altLang="zh-CN" sz="2800" spc="-10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The</a:t>
            </a:r>
            <a:r>
              <a:rPr lang="en" altLang="zh-CN" sz="2800" spc="-26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" altLang="zh-CN" sz="2800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do</a:t>
            </a:r>
            <a:r>
              <a:rPr lang="en" altLang="zh-CN" sz="2800" spc="-90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" altLang="zh-CN" sz="2800" spc="-110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while</a:t>
            </a:r>
            <a:r>
              <a:rPr lang="en" altLang="zh-CN" sz="2800" spc="-505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</a:t>
            </a:r>
            <a:r>
              <a:rPr lang="en" altLang="zh-CN" sz="2800" spc="-1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statement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00000"/>
              </a:lnSpc>
              <a:buFont typeface="Arial" panose="020B0604020202090204" pitchFamily="34" charset="0"/>
              <a:buChar char="•"/>
              <a:tabLst>
                <a:tab pos="812165" algn="l"/>
              </a:tabLst>
            </a:pP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The</a:t>
            </a:r>
            <a:r>
              <a:rPr sz="2800" spc="-23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90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for</a:t>
            </a:r>
            <a:r>
              <a:rPr sz="2800" spc="-330" dirty="0">
                <a:solidFill>
                  <a:srgbClr val="4471C4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2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loop</a:t>
            </a:r>
            <a:endParaRPr lang="en-US" sz="2800" spc="-20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457200" indent="-457200">
              <a:buFont typeface="Arial" panose="020B0604020202090204" pitchFamily="34" charset="0"/>
              <a:buChar char="•"/>
              <a:tabLst>
                <a:tab pos="812165" algn="l"/>
              </a:tabLst>
            </a:pPr>
            <a:r>
              <a:rPr lang="en-US" altLang="zh-CN"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How to use AI Tools Properly</a:t>
            </a:r>
            <a:endParaRPr lang="en-US" altLang="en-US" sz="2800" spc="-1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textbox 16"/>
          <p:cNvSpPr/>
          <p:nvPr/>
        </p:nvSpPr>
        <p:spPr>
          <a:xfrm>
            <a:off x="932815" y="810260"/>
            <a:ext cx="2927350" cy="5905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4450"/>
              </a:lnSpc>
            </a:pPr>
            <a:r>
              <a:rPr sz="3200" b="1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Overvi</a:t>
            </a:r>
            <a:r>
              <a:rPr sz="3200" b="1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</a:t>
            </a:r>
            <a:r>
              <a:rPr sz="3200" b="1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path"/>
          <p:cNvSpPr/>
          <p:nvPr/>
        </p:nvSpPr>
        <p:spPr>
          <a:xfrm>
            <a:off x="0" y="1546859"/>
            <a:ext cx="12192000" cy="45720"/>
          </a:xfrm>
          <a:custGeom>
            <a:avLst/>
            <a:gdLst/>
            <a:ahLst/>
            <a:cxnLst/>
            <a:rect l="0" t="0" r="0" b="0"/>
            <a:pathLst>
              <a:path w="19200" h="72">
                <a:moveTo>
                  <a:pt x="0" y="72"/>
                </a:moveTo>
                <a:lnTo>
                  <a:pt x="19200" y="72"/>
                </a:lnTo>
                <a:lnTo>
                  <a:pt x="19200" y="0"/>
                </a:lnTo>
                <a:lnTo>
                  <a:pt x="0" y="0"/>
                </a:lnTo>
                <a:lnTo>
                  <a:pt x="0" y="72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5" y="4794830"/>
            <a:ext cx="5639587" cy="1648055"/>
          </a:xfrm>
          <a:prstGeom prst="rect">
            <a:avLst/>
          </a:prstGeom>
        </p:spPr>
      </p:pic>
      <p:pic>
        <p:nvPicPr>
          <p:cNvPr id="7" name="object 7"/>
          <p:cNvPicPr/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5927344" y="1738629"/>
            <a:ext cx="5951220" cy="2517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else</a:t>
            </a:r>
            <a:r>
              <a:rPr spc="-2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54686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1780" y="1648426"/>
            <a:ext cx="7395845" cy="21679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14" dirty="0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sz="2800"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0" dirty="0">
                <a:latin typeface="Calibri" panose="020F0502020204030204" pitchFamily="34" charset="0"/>
                <a:cs typeface="Calibri" panose="020F0502020204030204" pitchFamily="34" charset="0"/>
              </a:rPr>
              <a:t>certain</a:t>
            </a:r>
            <a:r>
              <a:rPr sz="2800" spc="-22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0" dirty="0">
                <a:latin typeface="Calibri" panose="020F0502020204030204" pitchFamily="34" charset="0"/>
                <a:cs typeface="Calibri" panose="020F0502020204030204" pitchFamily="34" charset="0"/>
              </a:rPr>
              <a:t>statements</a:t>
            </a:r>
            <a:r>
              <a:rPr sz="2800" spc="-22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</a:rPr>
              <a:t>depending</a:t>
            </a:r>
            <a:r>
              <a:rPr sz="2800"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25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sz="2800" spc="-1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2800" spc="-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80" dirty="0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sz="2800" spc="-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4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2800" spc="-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0" dirty="0">
                <a:latin typeface="Calibri" panose="020F0502020204030204" pitchFamily="34" charset="0"/>
                <a:cs typeface="Calibri" panose="020F0502020204030204" pitchFamily="34" charset="0"/>
              </a:rPr>
              <a:t>certain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40" dirty="0"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800" spc="-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0" dirty="0">
                <a:latin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sz="2800"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expression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65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sz="2800" spc="-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14" dirty="0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sz="2800" spc="-2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statement</a:t>
            </a:r>
            <a:r>
              <a:rPr lang="en-US"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, if </a:t>
            </a:r>
            <a:r>
              <a:rPr lang="en-US" sz="2800" spc="-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lang="en-US"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, do nothing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2800" spc="-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85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else</a:t>
            </a:r>
            <a:r>
              <a:rPr sz="2800" spc="-1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95" dirty="0">
                <a:latin typeface="Calibri" panose="020F0502020204030204" pitchFamily="34" charset="0"/>
                <a:cs typeface="Calibri" panose="020F0502020204030204" pitchFamily="34" charset="0"/>
              </a:rPr>
              <a:t>option:</a:t>
            </a:r>
            <a:r>
              <a:rPr sz="2800" spc="-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65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sz="2800" spc="-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14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false</a:t>
            </a:r>
            <a:r>
              <a:rPr sz="2800" spc="-114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20" dirty="0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sz="2800" spc="-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9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800" spc="-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95" dirty="0">
                <a:latin typeface="Calibri" panose="020F0502020204030204" pitchFamily="34" charset="0"/>
                <a:cs typeface="Calibri" panose="020F0502020204030204" pitchFamily="34" charset="0"/>
              </a:rPr>
              <a:t>different</a:t>
            </a:r>
            <a:r>
              <a:rPr sz="2800" spc="-2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statement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4921" y="4005368"/>
            <a:ext cx="5259841" cy="237265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305259" y="3872173"/>
            <a:ext cx="4417015" cy="2852632"/>
            <a:chOff x="7264907" y="3208020"/>
            <a:chExt cx="4556760" cy="29063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64907" y="3208020"/>
              <a:ext cx="4556759" cy="29062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437625" y="4399013"/>
              <a:ext cx="1219200" cy="263525"/>
            </a:xfrm>
            <a:custGeom>
              <a:avLst/>
              <a:gdLst/>
              <a:ahLst/>
              <a:cxnLst/>
              <a:rect l="l" t="t" r="r" b="b"/>
              <a:pathLst>
                <a:path w="1219200" h="263525">
                  <a:moveTo>
                    <a:pt x="0" y="263156"/>
                  </a:moveTo>
                  <a:lnTo>
                    <a:pt x="1219200" y="263156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26315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6EDB-7440-C942-E929-21BD752F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BFCCF8-96C4-FDA8-9FC9-F83F881F9E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pc="-2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else</a:t>
            </a:r>
            <a:r>
              <a:rPr spc="-21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58D9561-FAF1-5175-EB2E-B790457E6B28}"/>
              </a:ext>
            </a:extLst>
          </p:cNvPr>
          <p:cNvSpPr/>
          <p:nvPr/>
        </p:nvSpPr>
        <p:spPr>
          <a:xfrm>
            <a:off x="0" y="154686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7CCECBD-8521-004A-FE01-E1CDE0FF5826}"/>
              </a:ext>
            </a:extLst>
          </p:cNvPr>
          <p:cNvSpPr txBox="1"/>
          <p:nvPr/>
        </p:nvSpPr>
        <p:spPr>
          <a:xfrm>
            <a:off x="1041780" y="1648426"/>
            <a:ext cx="8509724" cy="11778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" sz="2800" dirty="0">
                <a:latin typeface="Calibri" panose="020F0502020204030204" pitchFamily="34" charset="0"/>
                <a:cs typeface="Calibri" panose="020F0502020204030204" pitchFamily="34" charset="0"/>
              </a:rPr>
              <a:t>Ternary Operator: A short version of if-else statement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spcBef>
                <a:spcPts val="105"/>
              </a:spcBef>
            </a:pP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variable = (condition) </a:t>
            </a:r>
            <a:r>
              <a:rPr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ExpressionTrue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ExpressionFalse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0" name="图片 9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6EFCC64C-C021-4D88-455B-2934BEF45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80" y="3337765"/>
            <a:ext cx="4174280" cy="1684735"/>
          </a:xfrm>
          <a:prstGeom prst="rect">
            <a:avLst/>
          </a:prstGeom>
        </p:spPr>
      </p:pic>
      <p:pic>
        <p:nvPicPr>
          <p:cNvPr id="12" name="图片 11" descr="图片包含 图表&#10;&#10;AI 生成的内容可能不正确。">
            <a:extLst>
              <a:ext uri="{FF2B5EF4-FFF2-40B4-BE49-F238E27FC236}">
                <a16:creationId xmlns:a16="http://schemas.microsoft.com/office/drawing/2014/main" id="{1EB74237-CEAB-EB52-88E5-F4F5D8248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80" y="5593587"/>
            <a:ext cx="7607300" cy="965200"/>
          </a:xfrm>
          <a:prstGeom prst="rect">
            <a:avLst/>
          </a:prstGeom>
        </p:spPr>
      </p:pic>
      <p:sp>
        <p:nvSpPr>
          <p:cNvPr id="13" name="等于 12">
            <a:extLst>
              <a:ext uri="{FF2B5EF4-FFF2-40B4-BE49-F238E27FC236}">
                <a16:creationId xmlns:a16="http://schemas.microsoft.com/office/drawing/2014/main" id="{B541FDD6-615A-B644-529A-5BEA7AE9B5D3}"/>
              </a:ext>
            </a:extLst>
          </p:cNvPr>
          <p:cNvSpPr/>
          <p:nvPr/>
        </p:nvSpPr>
        <p:spPr>
          <a:xfrm rot="16200000">
            <a:off x="2918216" y="4971945"/>
            <a:ext cx="421409" cy="475256"/>
          </a:xfrm>
          <a:prstGeom prst="mathEqual">
            <a:avLst>
              <a:gd name="adj1" fmla="val 12061"/>
              <a:gd name="adj2" fmla="val 1176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8897EE-EF23-9657-74A2-9B5321F79A62}"/>
              </a:ext>
            </a:extLst>
          </p:cNvPr>
          <p:cNvSpPr txBox="1"/>
          <p:nvPr/>
        </p:nvSpPr>
        <p:spPr>
          <a:xfrm>
            <a:off x="8356323" y="6558787"/>
            <a:ext cx="60976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chemeClr val="bg1">
                    <a:lumMod val="65000"/>
                  </a:schemeClr>
                </a:solidFill>
              </a:rPr>
              <a:t>Ref: </a:t>
            </a:r>
            <a:r>
              <a:rPr lang="zh-CN" altLang="en-US" sz="900" dirty="0">
                <a:solidFill>
                  <a:schemeClr val="bg1">
                    <a:lumMod val="65000"/>
                  </a:schemeClr>
                </a:solidFill>
              </a:rPr>
              <a:t>https://www.w3schools.com/java/java_conditions_shorthand.asp</a:t>
            </a:r>
          </a:p>
        </p:txBody>
      </p:sp>
    </p:spTree>
    <p:extLst>
      <p:ext uri="{BB962C8B-B14F-4D97-AF65-F5344CB8AC3E}">
        <p14:creationId xmlns:p14="http://schemas.microsoft.com/office/powerpoint/2010/main" val="71806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F1EE5-CF57-11C4-36B6-616150BB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3C1A219-A4A7-DDE5-6BF3-DB61BD042F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F638C4-BEE1-778A-256E-F680843C9612}"/>
              </a:ext>
            </a:extLst>
          </p:cNvPr>
          <p:cNvSpPr/>
          <p:nvPr/>
        </p:nvSpPr>
        <p:spPr>
          <a:xfrm>
            <a:off x="0" y="154686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98AD32C-97B1-8AAC-10B2-89EA06057899}"/>
              </a:ext>
            </a:extLst>
          </p:cNvPr>
          <p:cNvSpPr txBox="1"/>
          <p:nvPr/>
        </p:nvSpPr>
        <p:spPr>
          <a:xfrm>
            <a:off x="8356323" y="6558787"/>
            <a:ext cx="60976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chemeClr val="bg1">
                    <a:lumMod val="65000"/>
                  </a:schemeClr>
                </a:solidFill>
              </a:rPr>
              <a:t>Ref: </a:t>
            </a:r>
            <a:r>
              <a:rPr lang="zh-CN" altLang="en-US" sz="900" dirty="0">
                <a:solidFill>
                  <a:schemeClr val="bg1">
                    <a:lumMod val="65000"/>
                  </a:schemeClr>
                </a:solidFill>
              </a:rPr>
              <a:t>https://www.w3schools.com/java/java_conditions_shorthand.asp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831D67-9CF7-14FA-9501-BB76849A74ED}"/>
              </a:ext>
            </a:extLst>
          </p:cNvPr>
          <p:cNvSpPr txBox="1"/>
          <p:nvPr/>
        </p:nvSpPr>
        <p:spPr>
          <a:xfrm>
            <a:off x="834887" y="1908313"/>
            <a:ext cx="186461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AND (</a:t>
            </a:r>
            <a:r>
              <a:rPr kumimoji="1" lang="en-US" altLang="zh-CN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OR (</a:t>
            </a:r>
            <a:r>
              <a:rPr kumimoji="1" lang="en-US" altLang="zh-CN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NOT (</a:t>
            </a:r>
            <a:r>
              <a:rPr kumimoji="1" lang="en-US" altLang="zh-CN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63DF4F-27A4-E58A-A2F2-C6D37B5FEBC4}"/>
              </a:ext>
            </a:extLst>
          </p:cNvPr>
          <p:cNvSpPr txBox="1"/>
          <p:nvPr/>
        </p:nvSpPr>
        <p:spPr>
          <a:xfrm>
            <a:off x="3843460" y="1997765"/>
            <a:ext cx="3906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If (a&gt;b &amp;&amp; b&gt;c)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(”a&gt;c”)</a:t>
            </a:r>
          </a:p>
          <a:p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46ABEA-625D-F372-FC70-EFA2914366A3}"/>
              </a:ext>
            </a:extLst>
          </p:cNvPr>
          <p:cNvSpPr txBox="1"/>
          <p:nvPr/>
        </p:nvSpPr>
        <p:spPr>
          <a:xfrm>
            <a:off x="3843460" y="3308696"/>
            <a:ext cx="77668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If (a&gt;c || b&gt;c)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(”One of a and b is larger than c”)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F79BEA-866A-A291-DC60-A1ADFEC6E12A}"/>
              </a:ext>
            </a:extLst>
          </p:cNvPr>
          <p:cNvSpPr txBox="1"/>
          <p:nvPr/>
        </p:nvSpPr>
        <p:spPr>
          <a:xfrm>
            <a:off x="3843460" y="4624354"/>
            <a:ext cx="4044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If (!(a&gt;c))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(”a&lt;c”)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99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4686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pc="-22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3315" y="1752981"/>
            <a:ext cx="7248525" cy="2167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14" dirty="0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sz="2800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0" dirty="0">
                <a:latin typeface="Calibri" panose="020F0502020204030204" pitchFamily="34" charset="0"/>
                <a:cs typeface="Calibri" panose="020F0502020204030204" pitchFamily="34" charset="0"/>
              </a:rPr>
              <a:t>certain</a:t>
            </a:r>
            <a:r>
              <a:rPr sz="2800" spc="-1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0" dirty="0">
                <a:latin typeface="Calibri" panose="020F0502020204030204" pitchFamily="34" charset="0"/>
                <a:cs typeface="Calibri" panose="020F0502020204030204" pitchFamily="34" charset="0"/>
              </a:rPr>
              <a:t>statements</a:t>
            </a:r>
            <a:r>
              <a:rPr sz="2800" spc="-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0" dirty="0">
                <a:latin typeface="Calibri" panose="020F0502020204030204" pitchFamily="34" charset="0"/>
                <a:cs typeface="Calibri" panose="020F0502020204030204" pitchFamily="34" charset="0"/>
              </a:rPr>
              <a:t>repeatedly</a:t>
            </a:r>
            <a:r>
              <a:rPr sz="2800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90" dirty="0">
                <a:latin typeface="Calibri" panose="020F0502020204030204" pitchFamily="34" charset="0"/>
                <a:cs typeface="Calibri" panose="020F0502020204030204" pitchFamily="34" charset="0"/>
              </a:rPr>
              <a:t>until</a:t>
            </a:r>
            <a:r>
              <a:rPr sz="2800" spc="-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0" dirty="0">
                <a:latin typeface="Calibri" panose="020F0502020204030204" pitchFamily="34" charset="0"/>
                <a:cs typeface="Calibri" panose="020F0502020204030204" pitchFamily="34" charset="0"/>
              </a:rPr>
              <a:t>certain</a:t>
            </a:r>
            <a:r>
              <a:rPr sz="2800" spc="-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0" dirty="0">
                <a:latin typeface="Calibri" panose="020F0502020204030204" pitchFamily="34" charset="0"/>
                <a:cs typeface="Calibri" panose="020F0502020204030204" pitchFamily="34" charset="0"/>
              </a:rPr>
              <a:t>conditions</a:t>
            </a:r>
            <a:r>
              <a:rPr lang="en-US" sz="2800" spc="-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sz="2800" spc="-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25" dirty="0">
                <a:latin typeface="Calibri" panose="020F0502020204030204" pitchFamily="34" charset="0"/>
                <a:cs typeface="Calibri" panose="020F0502020204030204" pitchFamily="34" charset="0"/>
              </a:rPr>
              <a:t>met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800" spc="-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0" dirty="0">
                <a:latin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sz="2800"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expression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65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sz="2800" spc="-1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2800" spc="-2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14" dirty="0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sz="2800" spc="-2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800" spc="-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85" dirty="0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sz="2800" spc="-1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statements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Repeat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6684" y="2290572"/>
            <a:ext cx="4253483" cy="403402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44245" y="5043170"/>
            <a:ext cx="580771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105"/>
              </a:spcBef>
              <a:buFont typeface="Arial" panose="020B0604020202090204" pitchFamily="34" charset="0"/>
              <a:buChar char="•"/>
              <a:tabLst>
                <a:tab pos="354965" algn="l"/>
              </a:tabLst>
            </a:pPr>
            <a:r>
              <a:rPr sz="2800" spc="-4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Add</a:t>
            </a:r>
            <a:r>
              <a:rPr sz="2800" spc="-22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braces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00000"/>
              </a:lnSpc>
              <a:buFont typeface="Arial" panose="020B0604020202090204" pitchFamily="34" charset="0"/>
              <a:buChar char="•"/>
              <a:tabLst>
                <a:tab pos="354965" algn="l"/>
              </a:tabLst>
            </a:pP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Do</a:t>
            </a:r>
            <a:r>
              <a:rPr sz="2800" spc="-17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4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not</a:t>
            </a:r>
            <a:r>
              <a:rPr sz="2800" spc="-22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5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add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the</a:t>
            </a:r>
            <a:r>
              <a:rPr sz="2800" spc="-22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semicolon</a:t>
            </a:r>
            <a:r>
              <a:rPr sz="2800" spc="-26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after</a:t>
            </a:r>
            <a:r>
              <a:rPr sz="2800" spc="-26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the</a:t>
            </a:r>
            <a:r>
              <a:rPr sz="2800" spc="-225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sz="2800" spc="-7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“while”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1340485" y="45072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600" spc="-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Cautions</a:t>
            </a:r>
            <a:r>
              <a:rPr lang="zh-CN" sz="3600" spc="-10" dirty="0">
                <a:solidFill>
                  <a:srgbClr val="FF0000"/>
                </a:solidFill>
                <a:latin typeface="Calibri" panose="020F0502020204030204" pitchFamily="34" charset="0"/>
                <a:ea typeface="宋体" charset="0"/>
                <a:cs typeface="Calibri" panose="020F0502020204030204" pitchFamily="34" charset="0"/>
                <a:sym typeface="+mn-ea"/>
              </a:rPr>
              <a:t>！</a:t>
            </a:r>
            <a:endParaRPr sz="3600" spc="-1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CEA0-2EEA-DB95-AD6B-807A9611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D0CF54-27FF-C979-DEB7-9E0CFEC98578}"/>
              </a:ext>
            </a:extLst>
          </p:cNvPr>
          <p:cNvSpPr/>
          <p:nvPr/>
        </p:nvSpPr>
        <p:spPr>
          <a:xfrm>
            <a:off x="0" y="154686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E223BF8-23D2-8CAC-ADE3-AE8C3C4E8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pc="-22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4E138D-B11E-D36B-5C1D-F5F9519BD9D1}"/>
              </a:ext>
            </a:extLst>
          </p:cNvPr>
          <p:cNvSpPr txBox="1"/>
          <p:nvPr/>
        </p:nvSpPr>
        <p:spPr>
          <a:xfrm>
            <a:off x="944372" y="3091070"/>
            <a:ext cx="45961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 countdown = 5;</a:t>
            </a:r>
          </a:p>
          <a:p>
            <a:endParaRPr lang="e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while (countdown &gt; 0) {</a:t>
            </a:r>
          </a:p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(countdown);</a:t>
            </a:r>
          </a:p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countdown--;</a:t>
            </a:r>
          </a:p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# Output: 5,4,3,2,1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AA9EC7-9730-F570-6992-250B74C81D89}"/>
              </a:ext>
            </a:extLst>
          </p:cNvPr>
          <p:cNvSpPr txBox="1"/>
          <p:nvPr/>
        </p:nvSpPr>
        <p:spPr>
          <a:xfrm>
            <a:off x="944372" y="1927247"/>
            <a:ext cx="7616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Example: Build a countdown timer with while loop</a:t>
            </a:r>
            <a:endParaRPr kumimoji="1"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224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63624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pc="-10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pc="-27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3315" y="1752981"/>
            <a:ext cx="5108575" cy="3460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2800" spc="-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</a:rPr>
              <a:t>do/while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55" dirty="0">
                <a:latin typeface="Calibri" panose="020F0502020204030204" pitchFamily="34" charset="0"/>
                <a:cs typeface="Calibri" panose="020F0502020204030204" pitchFamily="34" charset="0"/>
              </a:rPr>
              <a:t>loop</a:t>
            </a:r>
            <a:r>
              <a:rPr sz="2800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50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2800" spc="-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800" spc="-2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95" dirty="0">
                <a:latin typeface="Calibri" panose="020F0502020204030204" pitchFamily="34" charset="0"/>
                <a:cs typeface="Calibri" panose="020F0502020204030204" pitchFamily="34" charset="0"/>
              </a:rPr>
              <a:t>variant</a:t>
            </a:r>
            <a:r>
              <a:rPr sz="2800" spc="-2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4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2800" spc="-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2800" spc="-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90" dirty="0">
                <a:latin typeface="Calibri" panose="020F0502020204030204" pitchFamily="34" charset="0"/>
                <a:cs typeface="Calibri" panose="020F0502020204030204" pitchFamily="34" charset="0"/>
              </a:rPr>
              <a:t>while</a:t>
            </a:r>
            <a:r>
              <a:rPr sz="2800" spc="-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20" dirty="0">
                <a:latin typeface="Calibri" panose="020F0502020204030204" pitchFamily="34" charset="0"/>
                <a:cs typeface="Calibri" panose="020F0502020204030204" pitchFamily="34" charset="0"/>
              </a:rPr>
              <a:t>loop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114" dirty="0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sz="2800" spc="-2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2800" spc="-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80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sz="2800" spc="-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90" dirty="0">
                <a:latin typeface="Calibri" panose="020F0502020204030204" pitchFamily="34" charset="0"/>
                <a:cs typeface="Calibri" panose="020F0502020204030204" pitchFamily="34" charset="0"/>
              </a:rPr>
              <a:t>block</a:t>
            </a:r>
            <a:r>
              <a:rPr sz="2800" spc="-2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65" dirty="0">
                <a:latin typeface="Calibri" panose="020F0502020204030204" pitchFamily="34" charset="0"/>
                <a:cs typeface="Calibri" panose="020F0502020204030204" pitchFamily="34" charset="0"/>
              </a:rPr>
              <a:t>once</a:t>
            </a:r>
            <a:r>
              <a:rPr sz="2800" spc="-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90" dirty="0">
                <a:latin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sz="2800" spc="-22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0" dirty="0">
                <a:latin typeface="Calibri" panose="020F0502020204030204" pitchFamily="34" charset="0"/>
                <a:cs typeface="Calibri" panose="020F0502020204030204" pitchFamily="34" charset="0"/>
              </a:rPr>
              <a:t>checking</a:t>
            </a:r>
            <a:r>
              <a:rPr sz="2800" spc="-2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25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8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2800" spc="-1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85" dirty="0">
                <a:latin typeface="Calibri" panose="020F0502020204030204" pitchFamily="34" charset="0"/>
                <a:cs typeface="Calibri" panose="020F0502020204030204" pitchFamily="34" charset="0"/>
              </a:rPr>
              <a:t>condition</a:t>
            </a:r>
            <a:r>
              <a:rPr sz="2800" spc="-1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50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sz="2800" spc="-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20" dirty="0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sz="2800"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800" spc="-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0" dirty="0">
                <a:latin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sz="2800"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expression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65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sz="2800" spc="-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2800" spc="-2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14" dirty="0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sz="2800" spc="-2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2800" spc="-1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80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sz="2800" spc="-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block</a:t>
            </a:r>
            <a:r>
              <a:rPr lang="en-US"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again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800" spc="-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Repeat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8191" y="2692907"/>
            <a:ext cx="5337047" cy="3601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4686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254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3254" y="1546860"/>
            <a:ext cx="8592820" cy="2598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sz="28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10" dirty="0">
                <a:latin typeface="Calibri" panose="020F0502020204030204" pitchFamily="34" charset="0"/>
                <a:cs typeface="Calibri" panose="020F0502020204030204" pitchFamily="34" charset="0"/>
              </a:rPr>
              <a:t>alternative</a:t>
            </a:r>
            <a:r>
              <a:rPr sz="2800" spc="-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30" dirty="0">
                <a:latin typeface="Calibri" panose="020F0502020204030204" pitchFamily="34" charset="0"/>
                <a:cs typeface="Calibri" panose="020F0502020204030204" pitchFamily="34" charset="0"/>
              </a:rPr>
              <a:t>repetition</a:t>
            </a:r>
            <a:r>
              <a:rPr lang="en-US" sz="2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30" dirty="0">
                <a:latin typeface="Calibri" panose="020F0502020204030204" pitchFamily="34" charset="0"/>
                <a:cs typeface="Calibri" panose="020F0502020204030204" pitchFamily="34" charset="0"/>
              </a:rPr>
              <a:t>structure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sz="2800" spc="-2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45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sz="2800" spc="-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10" dirty="0">
                <a:latin typeface="Calibri" panose="020F0502020204030204" pitchFamily="34" charset="0"/>
                <a:cs typeface="Calibri" panose="020F0502020204030204" pitchFamily="34" charset="0"/>
              </a:rPr>
              <a:t>initialization</a:t>
            </a:r>
            <a:r>
              <a:rPr sz="2800"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statement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105" dirty="0">
                <a:latin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sz="2800"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800" spc="-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0" dirty="0">
                <a:latin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sz="2800" spc="-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0" dirty="0">
                <a:latin typeface="Calibri" panose="020F0502020204030204" pitchFamily="34" charset="0"/>
                <a:cs typeface="Calibri" panose="020F0502020204030204" pitchFamily="34" charset="0"/>
              </a:rPr>
              <a:t>expression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65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sz="2800" spc="-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10" dirty="0">
                <a:latin typeface="Calibri" panose="020F0502020204030204" pitchFamily="34" charset="0"/>
                <a:cs typeface="Calibri" panose="020F0502020204030204" pitchFamily="34" charset="0"/>
              </a:rPr>
              <a:t>true,</a:t>
            </a:r>
            <a:r>
              <a:rPr sz="2800" spc="-2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20" dirty="0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sz="2800" spc="-2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800" spc="-1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85" dirty="0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sz="2800" spc="-20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4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2800" spc="-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10" dirty="0">
                <a:latin typeface="Calibri" panose="020F0502020204030204" pitchFamily="34" charset="0"/>
                <a:cs typeface="Calibri" panose="020F0502020204030204" pitchFamily="34" charset="0"/>
              </a:rPr>
              <a:t>statements,</a:t>
            </a:r>
            <a:r>
              <a:rPr sz="2800" spc="-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75" dirty="0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sz="2800" spc="-1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114" dirty="0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sz="2800" spc="-2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35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sz="2800" spc="-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95" dirty="0">
                <a:latin typeface="Calibri" panose="020F0502020204030204" pitchFamily="34" charset="0"/>
                <a:cs typeface="Calibri" panose="020F0502020204030204" pitchFamily="34" charset="0"/>
              </a:rPr>
              <a:t>increment</a:t>
            </a:r>
            <a:r>
              <a:rPr sz="2800" spc="-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800" spc="-30" dirty="0">
                <a:latin typeface="Calibri" panose="020F0502020204030204" pitchFamily="34" charset="0"/>
                <a:cs typeface="Calibri" panose="020F0502020204030204" pitchFamily="34" charset="0"/>
              </a:rPr>
              <a:t>statement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Repeat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5889" y="4177157"/>
            <a:ext cx="8657844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6E963-7AE8-3458-A3AD-2A11D0C4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FF1C17-7CC4-490B-286C-CA8E69442B17}"/>
              </a:ext>
            </a:extLst>
          </p:cNvPr>
          <p:cNvSpPr/>
          <p:nvPr/>
        </p:nvSpPr>
        <p:spPr>
          <a:xfrm>
            <a:off x="0" y="154686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3208284-EBEE-BF5C-52DA-A22604D377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254" dirty="0">
                <a:solidFill>
                  <a:srgbClr val="4471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3247B5C-F3CC-FA4B-9185-E0D574140E43}"/>
              </a:ext>
            </a:extLst>
          </p:cNvPr>
          <p:cNvSpPr txBox="1"/>
          <p:nvPr/>
        </p:nvSpPr>
        <p:spPr>
          <a:xfrm>
            <a:off x="1033254" y="1546860"/>
            <a:ext cx="85928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Example1: Print numbers 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4DEB40-A4DC-4286-717E-307A70A7DD8B}"/>
              </a:ext>
            </a:extLst>
          </p:cNvPr>
          <p:cNvSpPr txBox="1"/>
          <p:nvPr/>
        </p:nvSpPr>
        <p:spPr>
          <a:xfrm>
            <a:off x="1630017" y="2213208"/>
            <a:ext cx="41825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b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6F2F177-CE0A-E737-6854-C617FFBEFCE1}"/>
              </a:ext>
            </a:extLst>
          </p:cNvPr>
          <p:cNvSpPr txBox="1"/>
          <p:nvPr/>
        </p:nvSpPr>
        <p:spPr>
          <a:xfrm>
            <a:off x="1033254" y="3205983"/>
            <a:ext cx="85928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Example2: Print even numbers 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7F2F2B-8ECA-6769-CBFF-B4EC734E704C}"/>
              </a:ext>
            </a:extLst>
          </p:cNvPr>
          <p:cNvSpPr txBox="1"/>
          <p:nvPr/>
        </p:nvSpPr>
        <p:spPr>
          <a:xfrm>
            <a:off x="1630016" y="3889644"/>
            <a:ext cx="45961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=i+2) {</a:t>
            </a:r>
            <a:b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70EB7E3-2956-41C3-F481-84895469C78A}"/>
              </a:ext>
            </a:extLst>
          </p:cNvPr>
          <p:cNvSpPr txBox="1"/>
          <p:nvPr/>
        </p:nvSpPr>
        <p:spPr>
          <a:xfrm>
            <a:off x="1023313" y="4866788"/>
            <a:ext cx="85928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Example2: Countdown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B43AE4-C3DE-C729-07EC-CD551792A998}"/>
              </a:ext>
            </a:extLst>
          </p:cNvPr>
          <p:cNvSpPr txBox="1"/>
          <p:nvPr/>
        </p:nvSpPr>
        <p:spPr>
          <a:xfrm>
            <a:off x="1630016" y="5487416"/>
            <a:ext cx="41825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for (int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&lt; 5;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--) {</a:t>
            </a:r>
            <a:b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4677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6D539-4F85-0C0B-E1E4-10A47467C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AI Tools Properly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64C521-3FA3-1EB4-DE91-5A00F129B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3315" y="1905076"/>
            <a:ext cx="9284970" cy="41417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 beginner, </a:t>
            </a:r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not completely rely on AI tools for your homework</a:t>
            </a:r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Overusing AI tools introduce new traps in your study, such as</a:t>
            </a:r>
          </a:p>
          <a:p>
            <a:pPr lvl="1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Overestimating your progress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AI assistance can generate working code that surpasses your current understanding, you’re falling behind and don’t realize it.</a:t>
            </a:r>
          </a:p>
          <a:p>
            <a:pPr lvl="1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Trusting misleading advices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You trust a suggestion that seems right but actually takes you in the wrong direction.</a:t>
            </a:r>
          </a:p>
          <a:p>
            <a:pPr lvl="1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Getting distracted by suggestions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Every time you try to focus, an AI code-completion tool throws a suggestion at you, breaking your train of thought.</a:t>
            </a:r>
          </a:p>
          <a:p>
            <a:pPr lvl="2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29CAD4-4A41-654B-A9F9-001205B68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998" y="161174"/>
            <a:ext cx="2245112" cy="44486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D357CE4-1101-5028-862F-EAF4E3F27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998" y="696402"/>
            <a:ext cx="1225337" cy="26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1643621C-8E6A-8DFB-51D7-A59AFAE8FAE6}"/>
              </a:ext>
            </a:extLst>
          </p:cNvPr>
          <p:cNvSpPr/>
          <p:nvPr/>
        </p:nvSpPr>
        <p:spPr>
          <a:xfrm>
            <a:off x="0" y="154686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pic>
        <p:nvPicPr>
          <p:cNvPr id="1030" name="Picture 6" descr="ChatGPT &amp; other LLM">
            <a:extLst>
              <a:ext uri="{FF2B5EF4-FFF2-40B4-BE49-F238E27FC236}">
                <a16:creationId xmlns:a16="http://schemas.microsoft.com/office/drawing/2014/main" id="{D7DB98F0-8644-A85A-6F6A-1710F428A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998" y="1098721"/>
            <a:ext cx="1225338" cy="35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8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ABA79-48F8-7727-3BE9-F315D75B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32493-C6D6-48F5-437F-A90957EE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AI Tools Properly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0FC57E-7DDA-0FA9-9409-88170075A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372" y="1814576"/>
            <a:ext cx="9284970" cy="492764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goal is not to avoid AI entirely but to learn how to think effectively alongside it. Here are some suggestions for you during programming:</a:t>
            </a:r>
          </a:p>
          <a:p>
            <a:pPr lvl="1"/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Problem Solving, Not Just Output</a:t>
            </a:r>
          </a:p>
          <a:p>
            <a:pPr lvl="2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Struggling with code is part of learning.</a:t>
            </a:r>
          </a:p>
          <a:p>
            <a:pPr lvl="2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tools can generate code, but understanding the logic is essential for growth.</a:t>
            </a:r>
          </a:p>
          <a:p>
            <a:pPr lvl="1"/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Emotions of Learning</a:t>
            </a:r>
          </a:p>
          <a:p>
            <a:pPr lvl="2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involves emotional highs and lows.</a:t>
            </a:r>
          </a:p>
          <a:p>
            <a:pPr lvl="2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 confidence, resilience, and joy in coding is key to long-term success.</a:t>
            </a:r>
          </a:p>
          <a:p>
            <a:pPr lvl="1"/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Don’t Rush Towards ill-Conceived Code</a:t>
            </a:r>
          </a:p>
          <a:p>
            <a:pPr lvl="2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coding often leads to more debugging.</a:t>
            </a:r>
          </a:p>
          <a:p>
            <a:pPr lvl="2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your solution and data structures before writing any code.</a:t>
            </a:r>
          </a:p>
          <a:p>
            <a:pPr lvl="1"/>
            <a:endParaRPr lang="en-US" altLang="zh-C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zh-CN" altLang="en-US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E8F45F4-B82A-248C-3058-F272C2D7DEEE}"/>
              </a:ext>
            </a:extLst>
          </p:cNvPr>
          <p:cNvSpPr/>
          <p:nvPr/>
        </p:nvSpPr>
        <p:spPr>
          <a:xfrm>
            <a:off x="0" y="1546860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19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4C6E7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341A19-43B1-0DC1-6D9A-25DFB89A77B9}"/>
              </a:ext>
            </a:extLst>
          </p:cNvPr>
          <p:cNvSpPr txBox="1"/>
          <p:nvPr/>
        </p:nvSpPr>
        <p:spPr>
          <a:xfrm>
            <a:off x="944372" y="5539019"/>
            <a:ext cx="910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Recommended Readings:</a:t>
            </a:r>
          </a:p>
          <a:p>
            <a:r>
              <a:rPr lang="en-US" altLang="zh-CN" sz="1200" dirty="0">
                <a:hlinkClick r:id="rId2"/>
              </a:rPr>
              <a:t>Learning to Think in an AI World: 5 Lessons for Novice Programmers | The JetBrains Academy Blog</a:t>
            </a:r>
            <a:endParaRPr lang="en-US" altLang="zh-CN" sz="1200" dirty="0"/>
          </a:p>
          <a:p>
            <a:r>
              <a:rPr lang="en-US" altLang="zh-CN" sz="1200" dirty="0">
                <a:hlinkClick r:id="rId3"/>
              </a:rPr>
              <a:t>Should You Use AI to Learn to Code? | The JetBrains Academy Blog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77025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1" name="rect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3" name="textbox 133"/>
          <p:cNvSpPr/>
          <p:nvPr/>
        </p:nvSpPr>
        <p:spPr>
          <a:xfrm>
            <a:off x="5415130" y="3047047"/>
            <a:ext cx="1361740" cy="76390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marL="12700" algn="l" rtl="0" eaLnBrk="0">
              <a:lnSpc>
                <a:spcPts val="5810"/>
              </a:lnSpc>
            </a:pPr>
            <a:r>
              <a:rPr sz="4400" spc="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44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&amp;</a:t>
            </a:r>
            <a:r>
              <a:rPr lang="en-US" sz="4400" spc="20" dirty="0">
                <a:ln w="12700" cap="flat" cmpd="sng">
                  <a:solidFill>
                    <a:srgbClr val="000000">
                      <a:alpha val="100000"/>
                    </a:srgbClr>
                  </a:solidFill>
                  <a:prstDash val="solid"/>
                  <a:miter lim="0"/>
                </a:ln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</a:t>
            </a:r>
            <a:endParaRPr lang="en-US" altLang="en-US" sz="4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707</Words>
  <Application>Microsoft Macintosh PowerPoint</Application>
  <PresentationFormat>宽屏</PresentationFormat>
  <Paragraphs>100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微软雅黑</vt:lpstr>
      <vt:lpstr>Arial MT</vt:lpstr>
      <vt:lpstr>Arial</vt:lpstr>
      <vt:lpstr>Calibri</vt:lpstr>
      <vt:lpstr>Courier New</vt:lpstr>
      <vt:lpstr>Times New Roman</vt:lpstr>
      <vt:lpstr>Office theme</vt:lpstr>
      <vt:lpstr>PowerPoint 演示文稿</vt:lpstr>
      <vt:lpstr>PowerPoint 演示文稿</vt:lpstr>
      <vt:lpstr>The if &amp; else statement</vt:lpstr>
      <vt:lpstr>The if &amp; else statement</vt:lpstr>
      <vt:lpstr>Logical Operators</vt:lpstr>
      <vt:lpstr>The while statement</vt:lpstr>
      <vt:lpstr>The while statement</vt:lpstr>
      <vt:lpstr>The do while statement</vt:lpstr>
      <vt:lpstr>The for loop</vt:lpstr>
      <vt:lpstr>The for loop</vt:lpstr>
      <vt:lpstr>How to use AI Tools Properly</vt:lpstr>
      <vt:lpstr>How to use AI Tools Properly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MozartLiu</dc:creator>
  <cp:lastModifiedBy>梁雨阳</cp:lastModifiedBy>
  <cp:revision>89</cp:revision>
  <dcterms:created xsi:type="dcterms:W3CDTF">2024-09-19T03:16:03Z</dcterms:created>
  <dcterms:modified xsi:type="dcterms:W3CDTF">2025-09-16T03:11:08Z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2022-09-27T04:59:41Z</vt:filetime>
  </property>
  <property fmtid="{D5CDD505-2E9C-101B-9397-08002B2CF9AE}" pid="4" name="ICV">
    <vt:lpwstr>CA6E1046935FD4CDDE503063A90C075B</vt:lpwstr>
  </property>
  <property fmtid="{D5CDD505-2E9C-101B-9397-08002B2CF9AE}" pid="5" name="KSOProductBuildVer">
    <vt:lpwstr>2052-6.7.1.8828</vt:lpwstr>
  </property>
</Properties>
</file>