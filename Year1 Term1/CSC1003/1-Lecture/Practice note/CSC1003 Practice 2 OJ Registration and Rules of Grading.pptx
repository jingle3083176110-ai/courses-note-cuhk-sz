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91" r:id="rId4"/>
    <p:sldId id="317" r:id="rId5"/>
    <p:sldId id="318" r:id="rId6"/>
    <p:sldId id="319" r:id="rId7"/>
    <p:sldId id="320" r:id="rId8"/>
    <p:sldId id="321" r:id="rId9"/>
    <p:sldId id="316" r:id="rId10"/>
    <p:sldId id="322" r:id="rId11"/>
    <p:sldId id="323" r:id="rId12"/>
    <p:sldId id="324" r:id="rId13"/>
    <p:sldId id="325" r:id="rId14"/>
    <p:sldId id="326" r:id="rId15"/>
    <p:sldId id="327" r:id="rId16"/>
    <p:sldId id="330" r:id="rId17"/>
    <p:sldId id="331" r:id="rId18"/>
    <p:sldId id="328" r:id="rId19"/>
    <p:sldId id="332" r:id="rId20"/>
    <p:sldId id="329" r:id="rId21"/>
    <p:sldId id="27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27"/>
  </p:normalViewPr>
  <p:slideViewPr>
    <p:cSldViewPr snapToGrid="0">
      <p:cViewPr>
        <p:scale>
          <a:sx n="100" d="100"/>
          <a:sy n="100" d="100"/>
        </p:scale>
        <p:origin x="4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09:32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24575,'65'1'0,"70"-2"0,-62-8 0,-67 9 0,0-1 0,0 0 0,0 0 0,12-5 0,-12 4 0,0 0 0,0 0 0,1 1 0,12-1 0,52 2 0,99-6 0,-113 2 0,82 4 0,-51 2 0,1598-2-1365,-1676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09:41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24575,'0'170'-1365,"0"-161"-5461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09:43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24575,'0'1'0,"0"3"0,0 1 0,0 2 0,0 1 0,0 2 0,0 1 0,0 0 0,0 0 0,0-1 0,0 2 0,0-1 0,0 0 0,0-1 0,0 0 0,0 1 0,0 0 0,0-2-8191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09:45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24575,'0'1'0,"0"4"0,0 2 0,0 2 0,0 1 0,0-1 0,0 3 0,0-1 0,0 1 0,0-2 0,0 0 0,0 1 0,0 0 0,0 0 0,0 0 0,0-2 0,0-1-8191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09:46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24575,'0'3'0,"0"3"0,0 1 0,0 1 0,0 2 0,0 1 0,0 0 0,0 0 0,0 0 0,0-1 0,0 1 0,0 0 0,0-1-8191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10:11.72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24 24575,'186'-12'0,"-44"0"0,1654 13-1365,-1783-1-5461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10:17.32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281 232 24575,'-68'5'0,"36"-2"0,17-1 0,0-1 0,0 0 0,0-1 0,-1-1 0,-16-3 0,27 2 0,-1 0 0,1-1 0,1 1 0,-1-1 0,0 0 0,1-1 0,-1 1 0,1-1 0,0 0 0,0 0 0,-6-9 0,8 7 0,0 0 0,0 0 0,1 0 0,-1 0 0,1-1 0,1 1 0,-1 0 0,1-1 0,0 1 0,1 0 0,-1-1 0,3-10 0,-2 15 0,0 0 0,0 0 0,1 0 0,-1 0 0,0 0 0,0 1 0,1-1 0,0 0 0,-1 1 0,1-1 0,0 1 0,-1-1 0,4-1 0,30-14 0,-11 6 0,-12 5 0,-1 1 0,1 0 0,0 1 0,15-3 0,-4 1 0,-7 3 0,0 0 0,1 2 0,-1-1 0,24 3 0,22-3 0,-14-1 0,78 6 0,-124-3 0,1 1 0,-1 0 0,1-1 0,-1 1 0,1 0 0,-1 1 0,0-1 0,0 0 0,0 0 0,1 1 0,-1 0 0,0-1 0,-1 1 0,1 0 0,0 0 0,-1 0 0,1 0 0,1 3 0,1 1 0,0 1 0,0 0 0,-1 0 0,4 13 0,-5-17 0,-1 0 0,0 0 0,0 0 0,0 0 0,-1 1 0,1-1 0,-1 0 0,0 0 0,1 1 0,-2-1 0,1 0 0,0 0 0,-1 0 0,1 1 0,-1-1 0,0 0 0,0 0 0,0 0 0,0 0 0,-1 0 0,1 0 0,-1 0 0,0-1 0,0 1 0,0-1 0,0 1 0,0-1 0,0 1 0,-1-1 0,1 0 0,-1 0 0,0-1 0,1 1 0,-7 2 0,-51 28 0,48-26 0,0-1 0,-1 0 0,0 0 0,1-1 0,-1-1 0,-1 0 0,-23 1 0,-99-3 0,68-3 0,58 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10:42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199 210 24575,'-3'0'0,"-26"0"0,-39-5 0,60 4 0,0-1 0,0 0 0,1 0 0,-1-1 0,1 0 0,-10-6 0,13 5 0,0-2 0,0 1 0,1 0 0,0-1 0,0 1 0,0-1 0,1 0 0,0 0 0,0 0 0,0 0 0,1 0 0,0-1 0,0 1 0,1 0 0,0 0 0,0-11 0,1 15 0,0 0 0,1 0 0,-1 0 0,0 0 0,1 0 0,-1 0 0,1 1 0,-1-1 0,1 0 0,0 1 0,0-1 0,0 1 0,0 0 0,0 0 0,0 0 0,0 0 0,0 0 0,0 0 0,4 0 0,45-12 0,-49 13 0,24-4 0,30 0 0,-14 1 0,4 2 0,-28 1 0,29-3 0,-21-2 0,-15 2 0,0 1 0,1 0 0,12 1 0,15-1 0,-20 1 0,0 1 0,26 3 0,-43-2 0,0 0 0,0-1 0,0 1 0,0 0 0,0 1 0,0-1 0,0 0 0,-1 0 0,1 1 0,0-1 0,-1 1 0,1 0 0,-1-1 0,0 1 0,1 0 0,-1 0 0,0 0 0,0 0 0,1 4 0,15 44 0,-15-41 0,-1-6 0,0 0 0,0-1 0,-1 1 0,1 0 0,-1 0 0,0 0 0,0 0 0,0 0 0,0 0 0,0 0 0,-1 0 0,1 0 0,-1 0 0,0 0 0,0-1 0,0 1 0,0 0 0,0 0 0,-1-1 0,1 1 0,-1-1 0,0 1 0,0-1 0,0 0 0,0 0 0,0 0 0,0 0 0,0 0 0,-1 0 0,1-1 0,-1 1 0,-3 1 0,-8 3 0,0 0 0,-1-1 0,0-1 0,1 0 0,-17 2 0,6-1 0,-33 7 0,-69-3-1365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11:00.2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60 24575,'341'0'0,"-228"-6"0,856 6 0,-835-5 0,-15-1 0,-49-6 0,63 6 0,-41 0 0,21 0 0,-9 0 0,79 6 0,-181 0-151,1 0-1,-1-1 0,0 1 0,1-1 1,-1 1-1,0-1 0,0 0 1,4-2-1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12:11:12.9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236 231 24575,'-18'0'0,"-5"1"0,-37-5 0,53 3 0,-1-1 0,2 1 0,-1-1 0,0-1 0,0 1 0,0-1 0,1 0 0,0-1 0,-10-6 0,3 1 0,11 8 0,0 0 0,0 0 0,0-1 0,1 1 0,-1 0 0,0-1 0,1 0 0,-1 1 0,1-1 0,-1 0 0,1 0 0,0 0 0,0 0 0,0 0 0,-1-3 0,-1-2 0,0 1 0,0 1 0,1 0 0,0 0 0,0-1 0,1 0 0,0 1 0,0-1 0,0 0 0,0 1 0,1-1 0,0 0 0,0 0 0,2-8 0,-2 13 0,1 1 0,-1-1 0,1 0 0,-1 0 0,1 1 0,0-1 0,-1 0 0,1 1 0,0-1 0,-1 1 0,1-1 0,0 1 0,0-1 0,-1 1 0,1-1 0,0 1 0,0 0 0,0-1 0,0 1 0,0 0 0,-1 0 0,1 0 0,2-1 0,27 0 0,-10 0 0,9-2 0,1 1 0,56 3 0,-23 1 0,44-9 0,-52 2 0,21-6 0,-55 6 0,1 2 0,34-2 0,77 0 0,2 0 0,50 2 0,-97 5 0,600-2 0,-677 1 0,-1 1 0,0 1 0,0-1 0,0 1 0,0 1 0,-1 0 0,18 10 0,-11-6 0,-14-7 0,0 0 0,-1 1 0,0-1 0,1 0 0,-1 1 0,0-1 0,0 1 0,0-1 0,0 1 0,0-1 0,0 1 0,0 0 0,0-1 0,-1 1 0,1 0 0,-1 0 0,1 0 0,-1-1 0,0 1 0,1 4 0,-2 44 0,0-31 0,2-15 0,-1-1 0,0 1 0,-1 0 0,1-1 0,-1 1 0,1-1 0,-3 6 0,2-7 0,0 0 0,0-1 0,-1 1 0,1 0 0,-1-1 0,1 1 0,-1-1 0,0 1 0,1-1 0,-1 0 0,0 0 0,0 0 0,-3 2 0,-104 43 0,97-42 0,0-2 0,-21 3 0,9-1 0,14-3 0,-1-1 0,-20-1 0,21 1 0,-1-1 0,-19 3 0,6 3 0,18-3 0,0 0 0,0-1 0,0 0 0,-10 0 0,-83 0 0,-68-3 0,-9-10 0,99 6 0,-92 3 0,7 1 0,-196-5-79,239 8-1207,112-1-5540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1CEB3-1737-48E7-B160-0A8403B6B0E2}" type="datetimeFigureOut">
              <a:rPr lang="en-ID" smtClean="0"/>
              <a:t>14/09/2025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B584-3FF3-43E6-B942-5FF3ED2244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775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B584-3FF3-43E6-B942-5FF3ED22447E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867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18" Type="http://schemas.openxmlformats.org/officeDocument/2006/relationships/image" Target="../media/image1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4.png"/><Relationship Id="rId19" Type="http://schemas.openxmlformats.org/officeDocument/2006/relationships/customXml" Target="../ink/ink9.xml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/>
          <p:nvPr/>
        </p:nvSpPr>
        <p:spPr>
          <a:xfrm>
            <a:off x="1596323" y="2301014"/>
            <a:ext cx="8999354" cy="14325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CSC1003 Practice 2</a:t>
            </a:r>
          </a:p>
          <a:p>
            <a:pPr marL="12700" algn="ctr" rtl="0" eaLnBrk="0">
              <a:lnSpc>
                <a:spcPts val="6115"/>
              </a:lnSpc>
            </a:pPr>
            <a:r>
              <a:rPr lang="en-US" alt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OJ Registration and Rules of Grading</a:t>
            </a:r>
            <a:endParaRPr lang="en-US" altLang="en-US" sz="4400" dirty="0"/>
          </a:p>
          <a:p>
            <a:pPr algn="l" rtl="0" eaLnBrk="0">
              <a:lnSpc>
                <a:spcPct val="104000"/>
              </a:lnSpc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31706" y="1875075"/>
            <a:ext cx="9083544" cy="28482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How to register on OJ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The grading rules of assignments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Practice on OJ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Overview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30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5"/>
            <a:ext cx="11185816" cy="437225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400" spc="5" dirty="0">
                <a:latin typeface="Georgia"/>
                <a:cs typeface="Georgia"/>
              </a:rPr>
              <a:t>OJ link: </a:t>
            </a:r>
            <a:r>
              <a:rPr lang="en-US" altLang="zh-CN" sz="2400" spc="5" dirty="0">
                <a:solidFill>
                  <a:schemeClr val="accent4">
                    <a:lumMod val="75000"/>
                  </a:schemeClr>
                </a:solidFill>
                <a:latin typeface="Georgia"/>
                <a:cs typeface="Georgia"/>
              </a:rPr>
              <a:t>https://oj.cuhk.edu.cn/d/csc1003_2025_fall/ </a:t>
            </a:r>
            <a:r>
              <a:rPr lang="en-US" altLang="zh-CN" sz="2000" spc="5" dirty="0">
                <a:latin typeface="Georgia"/>
                <a:cs typeface="Georgia"/>
              </a:rPr>
              <a:t>(neither “https://oj.cuhk.edu.cn” nor “https://oj.cuhk.edu.cn/d/csc1003_2025_fall” works! You need to copy the whole link!)</a:t>
            </a:r>
          </a:p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400" spc="5" dirty="0">
                <a:latin typeface="Georgia"/>
                <a:cs typeface="Georgia"/>
              </a:rPr>
              <a:t>How to register:</a:t>
            </a:r>
            <a:endParaRPr lang="en-US" altLang="zh-CN" sz="2000" spc="5" dirty="0">
              <a:latin typeface="Georgia"/>
              <a:cs typeface="Georgia"/>
            </a:endParaRPr>
          </a:p>
          <a:p>
            <a:pPr marL="1270000" lvl="2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1: Access </a:t>
            </a:r>
            <a:r>
              <a:rPr lang="en-US" altLang="zh-CN" sz="2000" spc="5" dirty="0">
                <a:solidFill>
                  <a:schemeClr val="accent4">
                    <a:lumMod val="75000"/>
                  </a:schemeClr>
                </a:solidFill>
                <a:latin typeface="Georgia"/>
                <a:cs typeface="Georgia"/>
              </a:rPr>
              <a:t>https://oj.cuhk.edu.cn/d/csc1003_2025_fall/ </a:t>
            </a:r>
          </a:p>
          <a:p>
            <a:pPr marL="1270000" lvl="2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2: Click “Login” button at the top-right corner</a:t>
            </a:r>
          </a:p>
          <a:p>
            <a:pPr marL="1270000" lvl="2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3: Click “Forgot password or username?” button</a:t>
            </a:r>
          </a:p>
          <a:p>
            <a:pPr marL="1270000" lvl="2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4: Enter your email (student_id@link.cuhk.edu.cn) and send reset email</a:t>
            </a:r>
          </a:p>
          <a:p>
            <a:pPr marL="1270000" lvl="2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5: Check your email and reset your password, and then login (username is your student id instead of your email).</a:t>
            </a:r>
            <a:endParaRPr lang="en-US" altLang="zh-CN" sz="2400" spc="5" dirty="0">
              <a:latin typeface="Georgia"/>
              <a:cs typeface="Georgia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5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6"/>
            <a:ext cx="11185816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1: Access </a:t>
            </a:r>
            <a:r>
              <a:rPr lang="en-US" altLang="zh-CN" sz="2000" spc="5" dirty="0">
                <a:solidFill>
                  <a:schemeClr val="accent4">
                    <a:lumMod val="75000"/>
                  </a:schemeClr>
                </a:solidFill>
                <a:latin typeface="Georgia"/>
                <a:cs typeface="Georgia"/>
              </a:rPr>
              <a:t>https://oj.cuhk.edu.cn/d/csc1003_2025_fall/ 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E30145-12BB-6A18-AA66-BCFCC7ECDE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565" y="2355177"/>
            <a:ext cx="7035193" cy="419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2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6"/>
            <a:ext cx="11185816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2: Click “Login” button at the top-right corner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B6E5B9-E604-D306-0E4B-E1EDC71CF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67" y="2336569"/>
            <a:ext cx="7563928" cy="41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0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6"/>
            <a:ext cx="11185816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3: Click “Forgot password or username?” button</a:t>
            </a: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endParaRPr lang="en-US" altLang="zh-CN" sz="2400" spc="5" dirty="0">
              <a:latin typeface="Georgia"/>
              <a:cs typeface="Georgia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C0C402-54B5-F88B-7292-6E8B6666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48" y="2272663"/>
            <a:ext cx="7018688" cy="412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87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6"/>
            <a:ext cx="11185816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4: Enter your email (student_id@link.cuhk.edu.cn) and send reset email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3E2777-2C55-9B6E-617F-135239F4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51" y="2272663"/>
            <a:ext cx="6750157" cy="400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03092" y="1862846"/>
            <a:ext cx="11185816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55600" indent="-342900">
              <a:spcBef>
                <a:spcPts val="819"/>
              </a:spcBef>
              <a:buFont typeface="Wingdings" panose="05000000000000000000" pitchFamily="2" charset="2"/>
              <a:buChar char="l"/>
            </a:pPr>
            <a:r>
              <a:rPr lang="en-US" altLang="zh-CN" sz="2000" spc="5" dirty="0">
                <a:latin typeface="Georgia"/>
                <a:cs typeface="Georgia"/>
              </a:rPr>
              <a:t>Step 5: Check your email and reset your password, and then login (username is your student id instead of your email).</a:t>
            </a: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Wingdings" panose="05000000000000000000" pitchFamily="2" charset="2"/>
              <a:buChar char="l"/>
            </a:pPr>
            <a:endParaRPr lang="en-US" altLang="zh-CN" sz="2400" spc="5" dirty="0">
              <a:latin typeface="Georgia"/>
              <a:cs typeface="Georgia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8" y="821054"/>
            <a:ext cx="5713403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b="1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dirty="0"/>
              <a:t>OJ Registration</a:t>
            </a: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453E8C-D16D-16B2-A763-DD8F88EB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41" y="2513502"/>
            <a:ext cx="7589315" cy="385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Select a Problem: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Submission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783DAF-410E-4768-46FD-782F85420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36" y="1867856"/>
            <a:ext cx="7390952" cy="432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8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Click “Submit”: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Submission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42AF41-AEDF-CAAB-1F73-B31F7211D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486" y="1794030"/>
            <a:ext cx="7658066" cy="45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6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Paste your code here: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Submission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5B586B-A3AD-069B-D29D-0D0D065F5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59" y="1815086"/>
            <a:ext cx="8095143" cy="446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93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Click “Submit”: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Submission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9C7689-471D-187E-3B23-1285FA81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799" y="1727834"/>
            <a:ext cx="7475579" cy="47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5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View your results: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Submission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9CFF22-62B8-E501-6EB1-B43F4B5F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33" y="1959771"/>
            <a:ext cx="7276333" cy="40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3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752874" y="3529496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latin typeface="Trebuchet MS"/>
                <a:cs typeface="Trebuchet MS"/>
              </a:rPr>
              <a:t>Input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Grading Rules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BE63F3-5836-8AA2-0754-2B9C68618BD2}"/>
              </a:ext>
            </a:extLst>
          </p:cNvPr>
          <p:cNvSpPr/>
          <p:nvPr/>
        </p:nvSpPr>
        <p:spPr>
          <a:xfrm>
            <a:off x="3037772" y="3471389"/>
            <a:ext cx="1933127" cy="583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Your Program</a:t>
            </a:r>
            <a:endParaRPr lang="zh-CN" altLang="en-US" b="1" dirty="0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3FC19C94-3827-5E8E-32D0-32DA9D8FB6C6}"/>
              </a:ext>
            </a:extLst>
          </p:cNvPr>
          <p:cNvSpPr/>
          <p:nvPr/>
        </p:nvSpPr>
        <p:spPr>
          <a:xfrm>
            <a:off x="5860832" y="3527961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latin typeface="Trebuchet MS"/>
                <a:cs typeface="Trebuchet MS"/>
              </a:rPr>
              <a:t>Output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A2169EDB-82B7-B225-2E78-410F539F6A65}"/>
              </a:ext>
            </a:extLst>
          </p:cNvPr>
          <p:cNvSpPr/>
          <p:nvPr/>
        </p:nvSpPr>
        <p:spPr>
          <a:xfrm>
            <a:off x="5363742" y="5060639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 algn="ctr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latin typeface="Trebuchet MS"/>
                <a:cs typeface="Trebuchet MS"/>
              </a:rPr>
              <a:t>Standard Output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173F26F-6F99-A9F8-636B-32573F721EF7}"/>
              </a:ext>
            </a:extLst>
          </p:cNvPr>
          <p:cNvCxnSpPr/>
          <p:nvPr/>
        </p:nvCxnSpPr>
        <p:spPr>
          <a:xfrm>
            <a:off x="2098824" y="3727605"/>
            <a:ext cx="840757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D94AEF4-5BD8-2C3D-0973-042D0A634FAC}"/>
              </a:ext>
            </a:extLst>
          </p:cNvPr>
          <p:cNvCxnSpPr/>
          <p:nvPr/>
        </p:nvCxnSpPr>
        <p:spPr>
          <a:xfrm>
            <a:off x="5255243" y="3727605"/>
            <a:ext cx="840757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783BE62-3A64-AEFC-12EE-98F3B9FC92EC}"/>
              </a:ext>
            </a:extLst>
          </p:cNvPr>
          <p:cNvCxnSpPr/>
          <p:nvPr/>
        </p:nvCxnSpPr>
        <p:spPr>
          <a:xfrm>
            <a:off x="6842658" y="4054395"/>
            <a:ext cx="0" cy="93434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33D96B1-BDD5-2BAC-30D5-983E0C17FD84}"/>
              </a:ext>
            </a:extLst>
          </p:cNvPr>
          <p:cNvSpPr txBox="1"/>
          <p:nvPr/>
        </p:nvSpPr>
        <p:spPr>
          <a:xfrm>
            <a:off x="6885616" y="4336902"/>
            <a:ext cx="11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Compare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D8A159F-6C1D-971B-57A9-9C9CCB7D8C5F}"/>
              </a:ext>
            </a:extLst>
          </p:cNvPr>
          <p:cNvCxnSpPr>
            <a:cxnSpLocks/>
          </p:cNvCxnSpPr>
          <p:nvPr/>
        </p:nvCxnSpPr>
        <p:spPr>
          <a:xfrm flipV="1">
            <a:off x="8045573" y="3727605"/>
            <a:ext cx="1135249" cy="79396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D129104-10EB-DCFA-00C2-6FA22888201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045573" y="4521568"/>
            <a:ext cx="1135249" cy="831962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F7A617B-FBBC-4A79-7FF0-7A55F6534353}"/>
              </a:ext>
            </a:extLst>
          </p:cNvPr>
          <p:cNvSpPr txBox="1"/>
          <p:nvPr/>
        </p:nvSpPr>
        <p:spPr>
          <a:xfrm>
            <a:off x="527775" y="3887452"/>
            <a:ext cx="2393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Trebuchet MS"/>
                <a:cs typeface="Trebuchet MS"/>
              </a:rPr>
              <a:t>(multiple test cases)</a:t>
            </a:r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0B78DC-B9DC-1EC0-33F8-EC0C0C54B825}"/>
              </a:ext>
            </a:extLst>
          </p:cNvPr>
          <p:cNvSpPr txBox="1"/>
          <p:nvPr/>
        </p:nvSpPr>
        <p:spPr>
          <a:xfrm>
            <a:off x="8002616" y="3686736"/>
            <a:ext cx="11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Same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966199-70C7-9F6D-5426-8A0FBD20B483}"/>
              </a:ext>
            </a:extLst>
          </p:cNvPr>
          <p:cNvSpPr txBox="1"/>
          <p:nvPr/>
        </p:nvSpPr>
        <p:spPr>
          <a:xfrm>
            <a:off x="7729481" y="5024453"/>
            <a:ext cx="11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Different</a:t>
            </a:r>
            <a:endParaRPr lang="zh-CN" altLang="en-US" dirty="0"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C6286CD9-F46A-4837-9BC7-D9A7991990DC}"/>
              </a:ext>
            </a:extLst>
          </p:cNvPr>
          <p:cNvSpPr/>
          <p:nvPr/>
        </p:nvSpPr>
        <p:spPr>
          <a:xfrm>
            <a:off x="8855729" y="3447131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solidFill>
                  <a:srgbClr val="00B050"/>
                </a:solidFill>
                <a:latin typeface="Trebuchet MS"/>
                <a:cs typeface="Trebuchet MS"/>
              </a:rPr>
              <a:t>AC </a:t>
            </a: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solidFill>
                  <a:srgbClr val="00B050"/>
                </a:solidFill>
                <a:latin typeface="Trebuchet MS"/>
                <a:cs typeface="Trebuchet MS"/>
              </a:rPr>
              <a:t>(full points)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0CFBC4D3-76E6-8B51-A2DF-7ACA7A77E394}"/>
              </a:ext>
            </a:extLst>
          </p:cNvPr>
          <p:cNvSpPr/>
          <p:nvPr/>
        </p:nvSpPr>
        <p:spPr>
          <a:xfrm>
            <a:off x="8825081" y="4952414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rebuchet MS"/>
                <a:cs typeface="Trebuchet MS"/>
              </a:rPr>
              <a:t>WA</a:t>
            </a: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rebuchet MS"/>
                <a:cs typeface="Trebuchet MS"/>
              </a:rPr>
              <a:t>(0 point)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D1BBAA9-2D3A-D4F9-172A-62074EAF1DDA}"/>
              </a:ext>
            </a:extLst>
          </p:cNvPr>
          <p:cNvCxnSpPr>
            <a:cxnSpLocks/>
          </p:cNvCxnSpPr>
          <p:nvPr/>
        </p:nvCxnSpPr>
        <p:spPr>
          <a:xfrm flipV="1">
            <a:off x="4004335" y="2294636"/>
            <a:ext cx="1426833" cy="102077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1A85F44-B0B2-A943-566A-E63E49D68258}"/>
              </a:ext>
            </a:extLst>
          </p:cNvPr>
          <p:cNvSpPr txBox="1"/>
          <p:nvPr/>
        </p:nvSpPr>
        <p:spPr>
          <a:xfrm>
            <a:off x="3754849" y="2283574"/>
            <a:ext cx="115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Error occurs</a:t>
            </a:r>
            <a:endParaRPr lang="zh-CN" altLang="en-US" dirty="0"/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FDEFFB0E-7D3C-1F4D-D8C8-2C06317DABBF}"/>
              </a:ext>
            </a:extLst>
          </p:cNvPr>
          <p:cNvSpPr/>
          <p:nvPr/>
        </p:nvSpPr>
        <p:spPr>
          <a:xfrm>
            <a:off x="5098790" y="2107998"/>
            <a:ext cx="2448628" cy="5857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rebuchet MS"/>
                <a:cs typeface="Trebuchet MS"/>
              </a:rPr>
              <a:t>0 point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FE6153-A1CA-378A-0CCF-2331B9BA6802}"/>
              </a:ext>
            </a:extLst>
          </p:cNvPr>
          <p:cNvSpPr txBox="1"/>
          <p:nvPr/>
        </p:nvSpPr>
        <p:spPr>
          <a:xfrm>
            <a:off x="856921" y="4233507"/>
            <a:ext cx="5705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 “Scanner”:</a:t>
            </a:r>
          </a:p>
          <a:p>
            <a:r>
              <a:rPr lang="en-US" altLang="zh-CN" dirty="0">
                <a:solidFill>
                  <a:srgbClr val="FFC000"/>
                </a:solidFill>
              </a:rPr>
              <a:t>https://www.w3schools.com/java/java_user_input.asp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8561010-9C85-B437-0C94-868B9112AAFB}"/>
              </a:ext>
            </a:extLst>
          </p:cNvPr>
          <p:cNvSpPr txBox="1"/>
          <p:nvPr/>
        </p:nvSpPr>
        <p:spPr>
          <a:xfrm>
            <a:off x="5207031" y="3216263"/>
            <a:ext cx="340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 “</a:t>
            </a:r>
            <a:r>
              <a:rPr lang="en-US" altLang="zh-CN" dirty="0" err="1"/>
              <a:t>System.out.print</a:t>
            </a:r>
            <a:r>
              <a:rPr lang="en-US" altLang="zh-CN" dirty="0"/>
              <a:t>/</a:t>
            </a:r>
            <a:r>
              <a:rPr lang="en-US" altLang="zh-CN" dirty="0" err="1"/>
              <a:t>println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595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43856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2 kinds of test cases: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Pre-test cases: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Available before the due date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Used to self-test your program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Not counted into the assignment score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Real test cases: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Not visible by students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Used to grade your program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Score of a case is given if and only if the result is “AC”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Grading Rules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180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43856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Example: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A question has 2 pre-test cases and 10 real test cases;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Your program passes 2 pre-test cases;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Among 10 real test cases (10 points each), 6 are “AC” and 4 are others (WA, MLE, TEL, etc.);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Your score for this question is 10 * 6 = 60.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Grading Rules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98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43856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Additional Rules: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1. The score you get for assignments is based on your code submitted on OJ;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2. You also need to </a:t>
            </a: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submit your code on blackboard</a:t>
            </a:r>
            <a:r>
              <a:rPr lang="en-US" altLang="zh-CN" sz="2000" dirty="0">
                <a:latin typeface="Trebuchet MS"/>
                <a:cs typeface="Trebuchet MS"/>
              </a:rPr>
              <a:t>, or you will get </a:t>
            </a: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0</a:t>
            </a:r>
            <a:r>
              <a:rPr lang="en-US" altLang="zh-CN" sz="2000" dirty="0">
                <a:latin typeface="Trebuchet MS"/>
                <a:cs typeface="Trebuchet MS"/>
              </a:rPr>
              <a:t> for this assignment.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3. When submitting on blackboard, please </a:t>
            </a: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directly submit your .java files</a:t>
            </a:r>
            <a:r>
              <a:rPr lang="en-US" altLang="zh-CN" sz="2000" dirty="0">
                <a:latin typeface="Trebuchet MS"/>
                <a:cs typeface="Trebuchet MS"/>
              </a:rPr>
              <a:t>. You will also get </a:t>
            </a: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0</a:t>
            </a:r>
            <a:r>
              <a:rPr lang="en-US" altLang="zh-CN" sz="2000" dirty="0">
                <a:latin typeface="Trebuchet MS"/>
                <a:cs typeface="Trebuchet MS"/>
              </a:rPr>
              <a:t> if you submit in other forms.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4. Late submission </a:t>
            </a: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will not be accepted</a:t>
            </a:r>
            <a:r>
              <a:rPr lang="en-US" altLang="zh-CN" sz="2000" dirty="0">
                <a:latin typeface="Trebuchet MS"/>
                <a:cs typeface="Trebuchet MS"/>
              </a:rPr>
              <a:t>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Grading Rules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7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15611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The rule of compare your program’s output with standard output: all characters should be the same except extra blank lines and spaces </a:t>
            </a:r>
            <a:r>
              <a:rPr lang="en-US" altLang="zh-CN" sz="2000" b="1" dirty="0">
                <a:solidFill>
                  <a:srgbClr val="FF0000"/>
                </a:solidFill>
                <a:latin typeface="Trebuchet MS"/>
                <a:cs typeface="Trebuchet MS"/>
              </a:rPr>
              <a:t>at the end of the output</a:t>
            </a:r>
          </a:p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endParaRPr lang="en-US" altLang="zh-CN"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b="1" dirty="0">
                <a:latin typeface="Trebuchet MS"/>
                <a:cs typeface="Trebuchet MS"/>
              </a:rPr>
              <a:t>Standard</a:t>
            </a:r>
            <a:r>
              <a:rPr lang="en-US" altLang="zh-CN" sz="2000" dirty="0">
                <a:latin typeface="Trebuchet MS"/>
                <a:cs typeface="Trebuchet MS"/>
              </a:rPr>
              <a:t> output (</a:t>
            </a:r>
            <a:r>
              <a:rPr lang="en-US" altLang="zh-CN" sz="2000" i="1" dirty="0">
                <a:latin typeface="Trebuchet MS"/>
                <a:cs typeface="Trebuchet MS"/>
              </a:rPr>
              <a:t>use “_” to represent space</a:t>
            </a:r>
            <a:r>
              <a:rPr lang="en-US" altLang="zh-CN" sz="2000" dirty="0">
                <a:latin typeface="Trebuchet MS"/>
                <a:cs typeface="Trebuchet MS"/>
              </a:rPr>
              <a:t>): 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Grading Rules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523026-D4F5-2526-5FB0-0D126079ECA8}"/>
              </a:ext>
            </a:extLst>
          </p:cNvPr>
          <p:cNvSpPr txBox="1"/>
          <p:nvPr/>
        </p:nvSpPr>
        <p:spPr>
          <a:xfrm>
            <a:off x="6087898" y="2922418"/>
            <a:ext cx="122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</a:t>
            </a:r>
          </a:p>
          <a:p>
            <a:r>
              <a:rPr lang="en-US" altLang="zh-CN" dirty="0"/>
              <a:t>4,_5,_6</a:t>
            </a:r>
            <a:endParaRPr lang="zh-CN" altLang="en-US" dirty="0"/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D8A545BC-7531-A83A-1CF0-A7C5A4CE0390}"/>
              </a:ext>
            </a:extLst>
          </p:cNvPr>
          <p:cNvSpPr/>
          <p:nvPr/>
        </p:nvSpPr>
        <p:spPr>
          <a:xfrm>
            <a:off x="0" y="3796458"/>
            <a:ext cx="10167088" cy="4932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solidFill>
                  <a:srgbClr val="00B050"/>
                </a:solidFill>
                <a:latin typeface="Trebuchet MS"/>
                <a:cs typeface="Trebuchet MS"/>
              </a:rPr>
              <a:t>Acceptable</a:t>
            </a:r>
            <a:r>
              <a:rPr lang="en-US" altLang="zh-CN" sz="2000" dirty="0">
                <a:latin typeface="Trebuchet MS"/>
                <a:cs typeface="Trebuchet MS"/>
              </a:rPr>
              <a:t> outputs: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5F43DF-7538-E31D-9E0D-BF90F0B5C185}"/>
              </a:ext>
            </a:extLst>
          </p:cNvPr>
          <p:cNvSpPr txBox="1"/>
          <p:nvPr/>
        </p:nvSpPr>
        <p:spPr>
          <a:xfrm>
            <a:off x="3165625" y="3790391"/>
            <a:ext cx="1227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</a:t>
            </a:r>
          </a:p>
          <a:p>
            <a:r>
              <a:rPr lang="en-US" altLang="zh-CN" dirty="0"/>
              <a:t>4,_5,_6</a:t>
            </a:r>
          </a:p>
          <a:p>
            <a:r>
              <a:rPr lang="en-US" altLang="zh-CN" dirty="0"/>
              <a:t>(blank line)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035CF9-1F66-BCF4-3CBC-20F534666554}"/>
              </a:ext>
            </a:extLst>
          </p:cNvPr>
          <p:cNvSpPr txBox="1"/>
          <p:nvPr/>
        </p:nvSpPr>
        <p:spPr>
          <a:xfrm>
            <a:off x="4913623" y="3790391"/>
            <a:ext cx="122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</a:t>
            </a:r>
          </a:p>
          <a:p>
            <a:r>
              <a:rPr lang="en-US" altLang="zh-CN" dirty="0"/>
              <a:t>4,_5,_6_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3A4A49-1E3C-EC8C-3605-E16E49D5321C}"/>
              </a:ext>
            </a:extLst>
          </p:cNvPr>
          <p:cNvSpPr txBox="1"/>
          <p:nvPr/>
        </p:nvSpPr>
        <p:spPr>
          <a:xfrm>
            <a:off x="6661620" y="3790391"/>
            <a:ext cx="2629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</a:t>
            </a:r>
          </a:p>
          <a:p>
            <a:r>
              <a:rPr lang="en-US" altLang="zh-CN" dirty="0"/>
              <a:t>4,_5,_6_____</a:t>
            </a:r>
          </a:p>
          <a:p>
            <a:r>
              <a:rPr lang="en-US" altLang="zh-CN" dirty="0"/>
              <a:t>(blank line)</a:t>
            </a:r>
            <a:endParaRPr lang="zh-CN" altLang="en-US" dirty="0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CDAC093-13EF-1586-9E97-74AD61181439}"/>
              </a:ext>
            </a:extLst>
          </p:cNvPr>
          <p:cNvSpPr/>
          <p:nvPr/>
        </p:nvSpPr>
        <p:spPr>
          <a:xfrm>
            <a:off x="0" y="4817897"/>
            <a:ext cx="10167088" cy="4932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Trebuchet MS"/>
                <a:cs typeface="Trebuchet MS"/>
              </a:rPr>
              <a:t>Wrong</a:t>
            </a:r>
            <a:r>
              <a:rPr lang="en-US" altLang="zh-CN" sz="2000" dirty="0">
                <a:latin typeface="Trebuchet MS"/>
                <a:cs typeface="Trebuchet MS"/>
              </a:rPr>
              <a:t> outputs:					   </a:t>
            </a:r>
          </a:p>
          <a:p>
            <a:pPr marL="495300" lvl="1">
              <a:lnSpc>
                <a:spcPct val="2000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							   </a:t>
            </a:r>
          </a:p>
          <a:p>
            <a:pPr marL="495300" lvl="1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  			      ( only extra spaces at the end are tolerated )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24BA99-4D36-3BA5-D19C-3D61EA47D628}"/>
              </a:ext>
            </a:extLst>
          </p:cNvPr>
          <p:cNvSpPr txBox="1"/>
          <p:nvPr/>
        </p:nvSpPr>
        <p:spPr>
          <a:xfrm>
            <a:off x="2711494" y="4819655"/>
            <a:ext cx="122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1,_2,_3_</a:t>
            </a:r>
          </a:p>
          <a:p>
            <a:r>
              <a:rPr lang="en-US" altLang="zh-CN" dirty="0"/>
              <a:t>4,_5,_6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5955FE-343D-481B-38C4-38E863CE1DEF}"/>
              </a:ext>
            </a:extLst>
          </p:cNvPr>
          <p:cNvSpPr txBox="1"/>
          <p:nvPr/>
        </p:nvSpPr>
        <p:spPr>
          <a:xfrm>
            <a:off x="4146508" y="4818358"/>
            <a:ext cx="1227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1,_2,_3</a:t>
            </a:r>
          </a:p>
          <a:p>
            <a:r>
              <a:rPr lang="en-US" altLang="zh-CN" dirty="0"/>
              <a:t>(blank line)</a:t>
            </a:r>
          </a:p>
          <a:p>
            <a:r>
              <a:rPr lang="en-US" altLang="zh-CN" dirty="0"/>
              <a:t>4,_5,_6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2663AB-D631-6F14-C9CD-BB88DE0DD85F}"/>
              </a:ext>
            </a:extLst>
          </p:cNvPr>
          <p:cNvSpPr txBox="1"/>
          <p:nvPr/>
        </p:nvSpPr>
        <p:spPr>
          <a:xfrm>
            <a:off x="5854616" y="4818358"/>
            <a:ext cx="122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1,2,3</a:t>
            </a:r>
          </a:p>
          <a:p>
            <a:r>
              <a:rPr lang="en-US" altLang="zh-CN" dirty="0"/>
              <a:t>4,5,6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D5F516A-71B5-7E90-9E2C-0B1A0DA2787D}"/>
                  </a:ext>
                </a:extLst>
              </p14:cNvPr>
              <p14:cNvContentPartPr/>
              <p14:nvPr/>
            </p14:nvContentPartPr>
            <p14:xfrm>
              <a:off x="4343120" y="5409165"/>
              <a:ext cx="929160" cy="14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D5F516A-71B5-7E90-9E2C-0B1A0DA278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7000" y="5403045"/>
                <a:ext cx="9414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C7108D-325A-0BCD-2841-A45EEC2A9DFE}"/>
              </a:ext>
            </a:extLst>
          </p:cNvPr>
          <p:cNvGrpSpPr/>
          <p:nvPr/>
        </p:nvGrpSpPr>
        <p:grpSpPr>
          <a:xfrm>
            <a:off x="6089300" y="4965465"/>
            <a:ext cx="222840" cy="74520"/>
            <a:chOff x="6089300" y="4965465"/>
            <a:chExt cx="22284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C7CDBAF-29E9-8CD5-12BF-B0005599E22B}"/>
                    </a:ext>
                  </a:extLst>
                </p14:cNvPr>
                <p14:cNvContentPartPr/>
                <p14:nvPr/>
              </p14:nvContentPartPr>
              <p14:xfrm>
                <a:off x="6089300" y="4975185"/>
                <a:ext cx="360" cy="64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C7CDBAF-29E9-8CD5-12BF-B0005599E2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83180" y="4969065"/>
                  <a:ext cx="12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04018C-0211-4F86-2B81-C50228021156}"/>
                    </a:ext>
                  </a:extLst>
                </p14:cNvPr>
                <p14:cNvContentPartPr/>
                <p14:nvPr/>
              </p14:nvContentPartPr>
              <p14:xfrm>
                <a:off x="6311780" y="4965465"/>
                <a:ext cx="360" cy="59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04018C-0211-4F86-2B81-C502280211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05660" y="4959345"/>
                  <a:ext cx="1260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FACCD30-1D93-318B-369D-325BFF397734}"/>
              </a:ext>
            </a:extLst>
          </p:cNvPr>
          <p:cNvGrpSpPr/>
          <p:nvPr/>
        </p:nvGrpSpPr>
        <p:grpSpPr>
          <a:xfrm>
            <a:off x="6099020" y="5251305"/>
            <a:ext cx="213120" cy="57240"/>
            <a:chOff x="6099020" y="5251305"/>
            <a:chExt cx="21312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448290-8C0B-BF50-4BEB-408A8682D83E}"/>
                    </a:ext>
                  </a:extLst>
                </p14:cNvPr>
                <p14:cNvContentPartPr/>
                <p14:nvPr/>
              </p14:nvContentPartPr>
              <p14:xfrm>
                <a:off x="6099020" y="5251305"/>
                <a:ext cx="360" cy="57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448290-8C0B-BF50-4BEB-408A8682D8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92900" y="5245185"/>
                  <a:ext cx="12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86C815-6C20-7E7D-2089-593B565091E5}"/>
                    </a:ext>
                  </a:extLst>
                </p14:cNvPr>
                <p14:cNvContentPartPr/>
                <p14:nvPr/>
              </p14:nvContentPartPr>
              <p14:xfrm>
                <a:off x="6311780" y="5254545"/>
                <a:ext cx="360" cy="43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86C815-6C20-7E7D-2089-593B565091E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05660" y="5248425"/>
                  <a:ext cx="126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79A163-7AD6-9753-375C-41E5847E2AC8}"/>
                  </a:ext>
                </a:extLst>
              </p14:cNvPr>
              <p14:cNvContentPartPr/>
              <p14:nvPr/>
            </p14:nvContentPartPr>
            <p14:xfrm>
              <a:off x="3458347" y="4656420"/>
              <a:ext cx="769680" cy="9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79A163-7AD6-9753-375C-41E5847E2A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2227" y="4650300"/>
                <a:ext cx="7819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673D93C-08FE-AB1E-E215-EB7349F296F7}"/>
                  </a:ext>
                </a:extLst>
              </p14:cNvPr>
              <p14:cNvContentPartPr/>
              <p14:nvPr/>
            </p14:nvContentPartPr>
            <p14:xfrm>
              <a:off x="5731210" y="4329695"/>
              <a:ext cx="214560" cy="892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673D93C-08FE-AB1E-E215-EB7349F296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25090" y="4323575"/>
                <a:ext cx="2268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7E665AD-9233-81B7-6472-4C33D6E9ADF1}"/>
                  </a:ext>
                </a:extLst>
              </p14:cNvPr>
              <p14:cNvContentPartPr/>
              <p14:nvPr/>
            </p14:nvContentPartPr>
            <p14:xfrm>
              <a:off x="3527210" y="5082140"/>
              <a:ext cx="212400" cy="85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7E665AD-9233-81B7-6472-4C33D6E9ADF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21090" y="5076020"/>
                <a:ext cx="2246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43E384D-A2F0-CB22-4AD4-669F35A112E0}"/>
                  </a:ext>
                </a:extLst>
              </p14:cNvPr>
              <p14:cNvContentPartPr/>
              <p14:nvPr/>
            </p14:nvContentPartPr>
            <p14:xfrm>
              <a:off x="6885253" y="4628600"/>
              <a:ext cx="862560" cy="219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43E384D-A2F0-CB22-4AD4-669F35A112E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79133" y="4622480"/>
                <a:ext cx="8748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4C6BD2B-CBF0-E622-164A-35DBD36C46F9}"/>
                  </a:ext>
                </a:extLst>
              </p14:cNvPr>
              <p14:cNvContentPartPr/>
              <p14:nvPr/>
            </p14:nvContentPartPr>
            <p14:xfrm>
              <a:off x="7482133" y="4321520"/>
              <a:ext cx="712440" cy="101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4C6BD2B-CBF0-E622-164A-35DBD36C46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476013" y="4315400"/>
                <a:ext cx="724680" cy="1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160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632E-4D96-BD57-95C6-823DF224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1AC013DE-4CF3-60DC-1387-26BFC2ED186B}"/>
              </a:ext>
            </a:extLst>
          </p:cNvPr>
          <p:cNvSpPr/>
          <p:nvPr/>
        </p:nvSpPr>
        <p:spPr>
          <a:xfrm>
            <a:off x="0" y="1867856"/>
            <a:ext cx="10167088" cy="15611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Your code should begin with “public class </a:t>
            </a:r>
            <a:r>
              <a:rPr lang="en-US" altLang="zh-CN" sz="2800" b="1" dirty="0">
                <a:latin typeface="Trebuchet MS"/>
                <a:cs typeface="Trebuchet MS"/>
              </a:rPr>
              <a:t>M</a:t>
            </a:r>
            <a:r>
              <a:rPr lang="en-US" altLang="zh-CN" sz="2000" dirty="0">
                <a:latin typeface="Trebuchet MS"/>
                <a:cs typeface="Trebuchet MS"/>
              </a:rPr>
              <a:t>ain” (capital M);</a:t>
            </a: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Example:</a:t>
            </a:r>
          </a:p>
          <a:p>
            <a:pPr marL="952500" lvl="2">
              <a:lnSpc>
                <a:spcPct val="1500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800" dirty="0">
              <a:latin typeface="Trebuchet MS"/>
              <a:cs typeface="Trebuchet MS"/>
            </a:endParaRPr>
          </a:p>
          <a:p>
            <a:pPr marL="952500" lvl="2">
              <a:lnSpc>
                <a:spcPts val="28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		        	</a:t>
            </a:r>
            <a:r>
              <a:rPr lang="en-US" altLang="zh-CN" dirty="0">
                <a:latin typeface="Trebuchet MS"/>
                <a:cs typeface="Trebuchet MS"/>
              </a:rPr>
              <a:t>// your code here </a:t>
            </a:r>
          </a:p>
          <a:p>
            <a:pPr marL="952500" lvl="2">
              <a:lnSpc>
                <a:spcPct val="150000"/>
              </a:lnSpc>
              <a:spcBef>
                <a:spcPts val="100"/>
              </a:spcBef>
              <a:buSzPct val="145312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  <a:p>
            <a:pPr marL="1295400" lvl="2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Your score is based on the 10 </a:t>
            </a:r>
            <a:r>
              <a:rPr lang="en-US" altLang="zh-CN" sz="2000" b="1" dirty="0">
                <a:latin typeface="Trebuchet MS"/>
                <a:cs typeface="Trebuchet MS"/>
              </a:rPr>
              <a:t>hidden</a:t>
            </a:r>
            <a:r>
              <a:rPr lang="en-US" altLang="zh-CN" sz="2000" dirty="0">
                <a:latin typeface="Trebuchet MS"/>
                <a:cs typeface="Trebuchet MS"/>
              </a:rPr>
              <a:t> test cases, </a:t>
            </a:r>
          </a:p>
          <a:p>
            <a:pPr marL="1752600" lvl="3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b="1" dirty="0">
                <a:latin typeface="Trebuchet MS"/>
                <a:cs typeface="Trebuchet MS"/>
              </a:rPr>
              <a:t>NOT </a:t>
            </a:r>
            <a:r>
              <a:rPr lang="en-US" altLang="zh-CN" sz="2000" dirty="0">
                <a:latin typeface="Trebuchet MS"/>
                <a:cs typeface="Trebuchet MS"/>
              </a:rPr>
              <a:t>the test cases that you see in the examples (so, make sure your code works within the problem scope) </a:t>
            </a:r>
            <a:r>
              <a:rPr lang="en-US" altLang="zh-CN" sz="2000" dirty="0">
                <a:latin typeface="Trebuchet MS"/>
                <a:cs typeface="Trebuchet MS"/>
                <a:sym typeface="Wingdings" panose="05000000000000000000" pitchFamily="2" charset="2"/>
              </a:rPr>
              <a:t> See example below.</a:t>
            </a: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DEEC13D3-9555-5335-5A4A-D82405B3C136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BDF0BB04-66FA-B738-D633-E3B26B0BB557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CD801A6-3F49-BAEB-2A9D-E0FC0EC57B11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Notes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B65FE382-FA7E-99BE-7EDC-B26C7777BAF6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DF66C-6657-A1CC-1A5B-F427FEBB4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92" y="2247449"/>
            <a:ext cx="6093297" cy="9737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9A1F92-9A4A-6D59-D57F-FB050823A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09" y="3495959"/>
            <a:ext cx="940824" cy="6252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8E581B-5646-44D1-34EE-643DA1260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690" y="5220208"/>
            <a:ext cx="6213764" cy="11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44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7CF7-EC27-0002-65A1-EDC29A69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69F6716E-C819-DD82-4615-AD94261D1E97}"/>
              </a:ext>
            </a:extLst>
          </p:cNvPr>
          <p:cNvSpPr/>
          <p:nvPr/>
        </p:nvSpPr>
        <p:spPr>
          <a:xfrm>
            <a:off x="0" y="1867856"/>
            <a:ext cx="10167088" cy="43856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1F54911-A353-983F-C7A1-470045D2B7F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49F85308-649C-2E52-577C-FB36706D614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1D24E18-76F8-D6A0-BF8F-984F5100AC3E}"/>
              </a:ext>
            </a:extLst>
          </p:cNvPr>
          <p:cNvSpPr/>
          <p:nvPr/>
        </p:nvSpPr>
        <p:spPr>
          <a:xfrm>
            <a:off x="585129" y="821054"/>
            <a:ext cx="611646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Practice on OJ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209055D5-A9EE-8C58-4F6F-119D96D1E6E3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15A45B53-247E-234D-E63A-421F8966581C}"/>
              </a:ext>
            </a:extLst>
          </p:cNvPr>
          <p:cNvSpPr/>
          <p:nvPr/>
        </p:nvSpPr>
        <p:spPr>
          <a:xfrm>
            <a:off x="152400" y="2020256"/>
            <a:ext cx="10167088" cy="43856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 err="1">
                <a:latin typeface="Trebuchet MS"/>
                <a:cs typeface="Trebuchet MS"/>
              </a:rPr>
              <a:t>Helloworld</a:t>
            </a:r>
            <a:r>
              <a:rPr lang="en-US" altLang="zh-CN" sz="2000" dirty="0">
                <a:latin typeface="Trebuchet MS"/>
                <a:cs typeface="Trebuchet MS"/>
              </a:rPr>
              <a:t>: https://oj.cuhk.edu.cn/d/csc1003_2025_fall/p/P1000</a:t>
            </a:r>
          </a:p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r>
              <a:rPr lang="en-US" altLang="zh-CN" sz="2000" dirty="0">
                <a:latin typeface="Trebuchet MS"/>
                <a:cs typeface="Trebuchet MS"/>
              </a:rPr>
              <a:t>A+B Problem: https://oj.cuhk.edu.cn/d/csc1003_2025_fall/p/P1001</a:t>
            </a:r>
          </a:p>
          <a:p>
            <a:pPr marL="838200" lvl="1" indent="-342900">
              <a:lnSpc>
                <a:spcPts val="2800"/>
              </a:lnSpc>
              <a:spcBef>
                <a:spcPts val="100"/>
              </a:spcBef>
              <a:buSzPct val="145312"/>
              <a:buFont typeface="Wingdings" panose="05000000000000000000" pitchFamily="2" charset="2"/>
              <a:buChar char="l"/>
              <a:tabLst>
                <a:tab pos="482600" algn="l"/>
              </a:tabLst>
            </a:pPr>
            <a:endParaRPr lang="en-US" altLang="zh-CN"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78121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5480494" y="2683752"/>
            <a:ext cx="1390014" cy="897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r" rtl="0" eaLnBrk="0">
              <a:lnSpc>
                <a:spcPct val="84000"/>
              </a:lnSpc>
              <a:spcBef>
                <a:spcPts val="0"/>
              </a:spcBef>
            </a:pPr>
            <a:endParaRPr lang="en-US" altLang="en-US" sz="4400" dirty="0"/>
          </a:p>
        </p:txBody>
      </p:sp>
      <p:sp>
        <p:nvSpPr>
          <p:cNvPr id="133" name="textbox 133"/>
          <p:cNvSpPr/>
          <p:nvPr/>
        </p:nvSpPr>
        <p:spPr>
          <a:xfrm>
            <a:off x="5023293" y="2750743"/>
            <a:ext cx="1390013" cy="763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5810"/>
              </a:lnSpc>
            </a:pPr>
            <a:r>
              <a:rPr sz="44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en-US"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alt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844</Words>
  <Application>Microsoft Office PowerPoint</Application>
  <PresentationFormat>Widescreen</PresentationFormat>
  <Paragraphs>133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微软雅黑</vt:lpstr>
      <vt:lpstr>Aptos</vt:lpstr>
      <vt:lpstr>Arial</vt:lpstr>
      <vt:lpstr>Calibri</vt:lpstr>
      <vt:lpstr>Georgia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sawz starker</dc:creator>
  <cp:lastModifiedBy>Geoffrey Mikhael (SDS, 124040051)</cp:lastModifiedBy>
  <cp:revision>130</cp:revision>
  <dcterms:created xsi:type="dcterms:W3CDTF">2022-09-26T01:30:00Z</dcterms:created>
  <dcterms:modified xsi:type="dcterms:W3CDTF">2025-09-14T12:16:31Z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2022-09-26T04:59:41Z</vt:filetime>
  </property>
  <property fmtid="{D5CDD505-2E9C-101B-9397-08002B2CF9AE}" pid="4" name="ICV">
    <vt:lpwstr>CA6E1046935FD4CDDE503063A90C075B</vt:lpwstr>
  </property>
  <property fmtid="{D5CDD505-2E9C-101B-9397-08002B2CF9AE}" pid="5" name="KSOProductBuildVer">
    <vt:lpwstr>1033-4.4.1.7360</vt:lpwstr>
  </property>
</Properties>
</file>