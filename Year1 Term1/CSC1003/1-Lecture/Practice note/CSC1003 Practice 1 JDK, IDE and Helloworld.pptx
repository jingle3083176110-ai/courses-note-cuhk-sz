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media/image23.jpg" ContentType="image/jpg"/>
  <Override PartName="/ppt/media/image24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9" r:id="rId3"/>
    <p:sldId id="291" r:id="rId4"/>
    <p:sldId id="312" r:id="rId5"/>
    <p:sldId id="317" r:id="rId6"/>
    <p:sldId id="318" r:id="rId7"/>
    <p:sldId id="307" r:id="rId8"/>
    <p:sldId id="310" r:id="rId9"/>
    <p:sldId id="299" r:id="rId10"/>
    <p:sldId id="298" r:id="rId11"/>
    <p:sldId id="309" r:id="rId12"/>
    <p:sldId id="301" r:id="rId13"/>
    <p:sldId id="300" r:id="rId14"/>
    <p:sldId id="302" r:id="rId15"/>
    <p:sldId id="303" r:id="rId16"/>
    <p:sldId id="293" r:id="rId17"/>
    <p:sldId id="304" r:id="rId18"/>
    <p:sldId id="27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6327"/>
  </p:normalViewPr>
  <p:slideViewPr>
    <p:cSldViewPr snapToGrid="0">
      <p:cViewPr>
        <p:scale>
          <a:sx n="91" d="100"/>
          <a:sy n="91" d="100"/>
        </p:scale>
        <p:origin x="4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/>
          <p:nvPr/>
        </p:nvSpPr>
        <p:spPr>
          <a:xfrm>
            <a:off x="2243470" y="2239645"/>
            <a:ext cx="6970103" cy="14325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ctr" rtl="0" eaLnBrk="0">
              <a:lnSpc>
                <a:spcPts val="6115"/>
              </a:lnSpc>
            </a:pPr>
            <a:r>
              <a:rPr lang="en-US" sz="44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CSC1003 Practice 1</a:t>
            </a:r>
          </a:p>
          <a:p>
            <a:pPr marL="12700" algn="ctr" rtl="0" eaLnBrk="0">
              <a:lnSpc>
                <a:spcPts val="6115"/>
              </a:lnSpc>
            </a:pPr>
            <a:r>
              <a:rPr lang="en-US" sz="44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JDK, </a:t>
            </a:r>
            <a:r>
              <a:rPr lang="en-US" sz="4400" b="1" spc="-20" dirty="0" err="1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VSCode</a:t>
            </a:r>
            <a:r>
              <a:rPr lang="en-US" sz="44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and HelloWorld</a:t>
            </a:r>
            <a:endParaRPr lang="en-US" altLang="en-US" sz="4400" dirty="0"/>
          </a:p>
          <a:p>
            <a:pPr algn="l" rtl="0" eaLnBrk="0">
              <a:lnSpc>
                <a:spcPct val="104000"/>
              </a:lnSpc>
            </a:pPr>
            <a:endParaRPr lang="en-US" alt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431706" y="1875075"/>
            <a:ext cx="9083544" cy="284828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457200" indent="-457200" algn="l" rtl="0" eaLnBrk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en-US" sz="2800" dirty="0"/>
              <a:t>Install JDK: Java Development Kit</a:t>
            </a:r>
          </a:p>
          <a:p>
            <a:pPr marL="457200" indent="-457200" algn="l" rtl="0" eaLnBrk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en-US" sz="2800" dirty="0"/>
              <a:t>Install </a:t>
            </a:r>
            <a:r>
              <a:rPr lang="en-US" altLang="en-US" sz="2800" dirty="0" err="1"/>
              <a:t>VSCode</a:t>
            </a:r>
            <a:r>
              <a:rPr lang="en-US" altLang="en-US" sz="2800" dirty="0"/>
              <a:t>: Code editor</a:t>
            </a:r>
          </a:p>
          <a:p>
            <a:pPr marL="457200" indent="-457200" algn="l" rtl="0" eaLnBrk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en-US" sz="2800" dirty="0"/>
              <a:t>Run your first program</a:t>
            </a:r>
          </a:p>
        </p:txBody>
      </p:sp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9" y="821054"/>
            <a:ext cx="292735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Overview</a:t>
            </a:r>
            <a:endParaRPr lang="en-US" altLang="en-US" sz="32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301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155199" y="1727834"/>
            <a:ext cx="11560167" cy="370085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38100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Download Microsoft OpenJDK 24: </a:t>
            </a:r>
          </a:p>
          <a:p>
            <a:pPr marL="38100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r>
              <a:rPr lang="en-GB" altLang="zh-CN" sz="2000" dirty="0"/>
              <a:t>https://www.oracle.com/cn/java/technologies/downloads/#jdk24-windows</a:t>
            </a:r>
            <a:endParaRPr lang="en-US" altLang="zh-CN" sz="2000" dirty="0">
              <a:latin typeface="Trebuchet MS"/>
              <a:cs typeface="Trebuchet MS"/>
            </a:endParaRPr>
          </a:p>
        </p:txBody>
      </p:sp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8" y="821054"/>
            <a:ext cx="5713403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Download JDK - Windows</a:t>
            </a:r>
            <a:endParaRPr lang="en-US" altLang="en-US" sz="32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078CBD-0DD2-7FD1-74E1-63F4F679B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99" y="2536118"/>
            <a:ext cx="7945575" cy="371115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077A1A8-D1B8-8C6B-D98D-E1488202D168}"/>
              </a:ext>
            </a:extLst>
          </p:cNvPr>
          <p:cNvSpPr/>
          <p:nvPr/>
        </p:nvSpPr>
        <p:spPr>
          <a:xfrm>
            <a:off x="272226" y="5428686"/>
            <a:ext cx="7754950" cy="399741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955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FF122-9599-B5C8-FD38-A183409C6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">
            <a:extLst>
              <a:ext uri="{FF2B5EF4-FFF2-40B4-BE49-F238E27FC236}">
                <a16:creationId xmlns:a16="http://schemas.microsoft.com/office/drawing/2014/main" id="{16B588B4-6182-F8DB-2A91-C2769FB91910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>
            <a:extLst>
              <a:ext uri="{FF2B5EF4-FFF2-40B4-BE49-F238E27FC236}">
                <a16:creationId xmlns:a16="http://schemas.microsoft.com/office/drawing/2014/main" id="{A80476E9-8921-D38F-2E2C-72DC0248B374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7F6D1F7-0ADE-0D59-64C5-BF3F9F041A55}"/>
              </a:ext>
            </a:extLst>
          </p:cNvPr>
          <p:cNvSpPr/>
          <p:nvPr/>
        </p:nvSpPr>
        <p:spPr>
          <a:xfrm>
            <a:off x="585128" y="821054"/>
            <a:ext cx="5109993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Install JDK - Windows</a:t>
            </a:r>
            <a:endParaRPr lang="en-US" altLang="en-US" sz="3200" dirty="0"/>
          </a:p>
        </p:txBody>
      </p:sp>
      <p:sp>
        <p:nvSpPr>
          <p:cNvPr id="18" name="path">
            <a:extLst>
              <a:ext uri="{FF2B5EF4-FFF2-40B4-BE49-F238E27FC236}">
                <a16:creationId xmlns:a16="http://schemas.microsoft.com/office/drawing/2014/main" id="{0BE7221D-4FFF-7B3D-57C1-377455F9EBA7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2AB31D6-A423-3C5A-71FC-2904F7A198A0}"/>
              </a:ext>
            </a:extLst>
          </p:cNvPr>
          <p:cNvCxnSpPr>
            <a:cxnSpLocks/>
          </p:cNvCxnSpPr>
          <p:nvPr/>
        </p:nvCxnSpPr>
        <p:spPr>
          <a:xfrm>
            <a:off x="3614224" y="2986405"/>
            <a:ext cx="78327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A49B24-5988-CEFC-AF6D-BE410C2398E0}"/>
              </a:ext>
            </a:extLst>
          </p:cNvPr>
          <p:cNvCxnSpPr/>
          <p:nvPr/>
        </p:nvCxnSpPr>
        <p:spPr>
          <a:xfrm>
            <a:off x="7987495" y="3042284"/>
            <a:ext cx="87464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971ADF5-98B1-4F04-F03D-A63BB9B22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82" y="1727834"/>
            <a:ext cx="3256983" cy="24711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0BD015-4F1D-9D35-37B7-F69B27ACC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255" y="1727833"/>
            <a:ext cx="3269586" cy="247110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CF5D1F2-7EA2-68B8-94C7-4289FAC7CE5E}"/>
              </a:ext>
            </a:extLst>
          </p:cNvPr>
          <p:cNvSpPr/>
          <p:nvPr/>
        </p:nvSpPr>
        <p:spPr>
          <a:xfrm>
            <a:off x="2087066" y="3929826"/>
            <a:ext cx="753856" cy="2668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4D15323-90A4-6D1F-BCD4-9E1618F68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497" y="3971790"/>
            <a:ext cx="681902" cy="24353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83DDDDE-A8C2-14C3-26B3-AE751D11CF0E}"/>
              </a:ext>
            </a:extLst>
          </p:cNvPr>
          <p:cNvSpPr/>
          <p:nvPr/>
        </p:nvSpPr>
        <p:spPr>
          <a:xfrm>
            <a:off x="4724400" y="2560554"/>
            <a:ext cx="433933" cy="14774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E3E7B9-88B2-02C2-F96B-FE3D4D983376}"/>
              </a:ext>
            </a:extLst>
          </p:cNvPr>
          <p:cNvSpPr/>
          <p:nvPr/>
        </p:nvSpPr>
        <p:spPr>
          <a:xfrm>
            <a:off x="5045488" y="3320172"/>
            <a:ext cx="1732240" cy="3353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AF51F37-DCF9-3188-B0E4-B5DFE2F74171}"/>
              </a:ext>
            </a:extLst>
          </p:cNvPr>
          <p:cNvCxnSpPr/>
          <p:nvPr/>
        </p:nvCxnSpPr>
        <p:spPr>
          <a:xfrm flipH="1">
            <a:off x="5158333" y="1242467"/>
            <a:ext cx="1472812" cy="131808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6C7E44B-7569-AAA9-0A83-D3FB1D4A4AE9}"/>
              </a:ext>
            </a:extLst>
          </p:cNvPr>
          <p:cNvCxnSpPr>
            <a:cxnSpLocks/>
          </p:cNvCxnSpPr>
          <p:nvPr/>
        </p:nvCxnSpPr>
        <p:spPr>
          <a:xfrm flipV="1">
            <a:off x="4641802" y="3655561"/>
            <a:ext cx="2554735" cy="75961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DC45C69-40EE-9C4F-59CB-343D9CBDD107}"/>
              </a:ext>
            </a:extLst>
          </p:cNvPr>
          <p:cNvSpPr txBox="1"/>
          <p:nvPr/>
        </p:nvSpPr>
        <p:spPr>
          <a:xfrm>
            <a:off x="6777728" y="1172666"/>
            <a:ext cx="4814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Check your storage space. You need 420MB.</a:t>
            </a:r>
            <a:endParaRPr lang="zh-CN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9931D5-51B3-BFBA-2562-2EBECD90FBD0}"/>
              </a:ext>
            </a:extLst>
          </p:cNvPr>
          <p:cNvSpPr txBox="1"/>
          <p:nvPr/>
        </p:nvSpPr>
        <p:spPr>
          <a:xfrm>
            <a:off x="1745038" y="4545279"/>
            <a:ext cx="4095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Change your route of installation here.</a:t>
            </a:r>
            <a:endParaRPr lang="zh-CN" alt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A16D0DE-A0CC-FED0-2660-D92EA1D742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2139" y="1749292"/>
            <a:ext cx="3250300" cy="246603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868E32A-C552-009C-A7B9-3F6F365D09ED}"/>
              </a:ext>
            </a:extLst>
          </p:cNvPr>
          <p:cNvSpPr txBox="1"/>
          <p:nvPr/>
        </p:nvSpPr>
        <p:spPr>
          <a:xfrm>
            <a:off x="8862139" y="4428410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Completed.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3860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31A1D-3380-2A2E-525D-96AE35C0E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">
            <a:extLst>
              <a:ext uri="{FF2B5EF4-FFF2-40B4-BE49-F238E27FC236}">
                <a16:creationId xmlns:a16="http://schemas.microsoft.com/office/drawing/2014/main" id="{60BF4DD8-4DF3-1E4B-D939-55E8376F114B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>
            <a:extLst>
              <a:ext uri="{FF2B5EF4-FFF2-40B4-BE49-F238E27FC236}">
                <a16:creationId xmlns:a16="http://schemas.microsoft.com/office/drawing/2014/main" id="{C492764B-8228-278B-8644-B2F4C2D8D50A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2D847FC-1916-4C0A-10BA-EE7FD14116D2}"/>
              </a:ext>
            </a:extLst>
          </p:cNvPr>
          <p:cNvSpPr/>
          <p:nvPr/>
        </p:nvSpPr>
        <p:spPr>
          <a:xfrm>
            <a:off x="765067" y="883903"/>
            <a:ext cx="5109993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Verify JDK installation</a:t>
            </a:r>
            <a:endParaRPr lang="en-US" altLang="en-US" sz="3200" dirty="0"/>
          </a:p>
        </p:txBody>
      </p:sp>
      <p:sp>
        <p:nvSpPr>
          <p:cNvPr id="18" name="path">
            <a:extLst>
              <a:ext uri="{FF2B5EF4-FFF2-40B4-BE49-F238E27FC236}">
                <a16:creationId xmlns:a16="http://schemas.microsoft.com/office/drawing/2014/main" id="{DE4F381B-C8E4-FD6E-C5D7-6F3BE231BD0F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7D307F-9DD8-75B7-801C-0997B9DC3A73}"/>
              </a:ext>
            </a:extLst>
          </p:cNvPr>
          <p:cNvSpPr txBox="1"/>
          <p:nvPr/>
        </p:nvSpPr>
        <p:spPr>
          <a:xfrm>
            <a:off x="335047" y="1727834"/>
            <a:ext cx="822571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Use </a:t>
            </a:r>
            <a:r>
              <a:rPr lang="en-US" altLang="zh-CN" dirty="0" err="1"/>
              <a:t>cmd</a:t>
            </a:r>
            <a:r>
              <a:rPr lang="en-US" altLang="zh-CN" dirty="0"/>
              <a:t> to check whether you have successfully installed JDK</a:t>
            </a:r>
          </a:p>
          <a:p>
            <a:endParaRPr lang="en-US" altLang="zh-CN" dirty="0"/>
          </a:p>
          <a:p>
            <a:r>
              <a:rPr lang="en-US" altLang="zh-CN" dirty="0"/>
              <a:t>1.Press </a:t>
            </a:r>
            <a:r>
              <a:rPr lang="en-US" altLang="zh-CN" dirty="0" err="1"/>
              <a:t>Win+R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2.Input </a:t>
            </a:r>
            <a:r>
              <a:rPr lang="en-US" altLang="zh-CN" dirty="0" err="1"/>
              <a:t>cmd</a:t>
            </a:r>
            <a:r>
              <a:rPr lang="en-US" altLang="zh-CN" dirty="0"/>
              <a:t>, and then return.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3.Input java –version.</a:t>
            </a:r>
          </a:p>
          <a:p>
            <a:r>
              <a:rPr lang="en-US" altLang="zh-CN" dirty="0"/>
              <a:t>If it turns out to be something similar, then you’ve completed the step.</a:t>
            </a:r>
          </a:p>
          <a:p>
            <a:r>
              <a:rPr lang="en-US" altLang="zh-CN" dirty="0"/>
              <a:t>(version “21.0.4” for instance. You may see version “24.0.2” on your computer.)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2A6AFD-F6E7-248F-6537-7D04ED169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047" y="5155072"/>
            <a:ext cx="9801990" cy="9826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995A85-D47D-C728-1600-01207CA6A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212" y="2178976"/>
            <a:ext cx="4332149" cy="221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83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74AAD-7BCB-80E4-AE75-105B18F98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2ACB1BAB-7A7F-54D1-5FC9-0FF4E8534D70}"/>
              </a:ext>
            </a:extLst>
          </p:cNvPr>
          <p:cNvSpPr/>
          <p:nvPr/>
        </p:nvSpPr>
        <p:spPr>
          <a:xfrm>
            <a:off x="155199" y="1727834"/>
            <a:ext cx="11560167" cy="370085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482600" indent="-444500">
              <a:lnSpc>
                <a:spcPts val="2800"/>
              </a:lnSpc>
              <a:spcBef>
                <a:spcPts val="100"/>
              </a:spcBef>
              <a:buSzPct val="145312"/>
              <a:buChar char="•"/>
              <a:tabLst>
                <a:tab pos="482600" algn="l"/>
              </a:tabLst>
            </a:pPr>
            <a:endParaRPr lang="en-US" altLang="zh-CN" sz="2000" dirty="0">
              <a:latin typeface="Trebuchet MS"/>
              <a:cs typeface="Trebuchet MS"/>
            </a:endParaRP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6C798A6B-1FAB-11D7-5B1D-B124D6B29688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>
            <a:extLst>
              <a:ext uri="{FF2B5EF4-FFF2-40B4-BE49-F238E27FC236}">
                <a16:creationId xmlns:a16="http://schemas.microsoft.com/office/drawing/2014/main" id="{F52A22E7-1162-D10C-14E0-8B0F6613D482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E289FD3-0D22-F81A-1E17-64CD2C4BF7AF}"/>
              </a:ext>
            </a:extLst>
          </p:cNvPr>
          <p:cNvSpPr/>
          <p:nvPr/>
        </p:nvSpPr>
        <p:spPr>
          <a:xfrm>
            <a:off x="585128" y="821054"/>
            <a:ext cx="5109993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Install JDK - MacOS</a:t>
            </a:r>
            <a:endParaRPr lang="en-US" altLang="en-US" sz="3200" dirty="0"/>
          </a:p>
        </p:txBody>
      </p:sp>
      <p:sp>
        <p:nvSpPr>
          <p:cNvPr id="18" name="path">
            <a:extLst>
              <a:ext uri="{FF2B5EF4-FFF2-40B4-BE49-F238E27FC236}">
                <a16:creationId xmlns:a16="http://schemas.microsoft.com/office/drawing/2014/main" id="{0821BDC2-1D9C-AB70-F893-E45A4197BB75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BDBC5-F00B-07AE-DFAD-F5A670B680C5}"/>
              </a:ext>
            </a:extLst>
          </p:cNvPr>
          <p:cNvSpPr txBox="1"/>
          <p:nvPr/>
        </p:nvSpPr>
        <p:spPr>
          <a:xfrm>
            <a:off x="423444" y="1976643"/>
            <a:ext cx="83920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Check your version:</a:t>
            </a:r>
          </a:p>
          <a:p>
            <a:pPr marL="342900" indent="-342900">
              <a:buAutoNum type="arabicPeriod"/>
            </a:pPr>
            <a:r>
              <a:rPr lang="en-US" altLang="zh-CN" dirty="0"/>
              <a:t>Press Command + Space and enter Terminal.</a:t>
            </a:r>
          </a:p>
          <a:p>
            <a:pPr marL="342900" indent="-342900">
              <a:buAutoNum type="arabicPeriod"/>
            </a:pPr>
            <a:r>
              <a:rPr lang="en-US" altLang="zh-CN" dirty="0"/>
              <a:t>Enter </a:t>
            </a:r>
            <a:r>
              <a:rPr lang="en-US" altLang="zh-CN" dirty="0" err="1"/>
              <a:t>uname</a:t>
            </a:r>
            <a:r>
              <a:rPr lang="en-US" altLang="zh-CN" dirty="0"/>
              <a:t> –a</a:t>
            </a:r>
          </a:p>
          <a:p>
            <a:pPr marL="342900" indent="-342900">
              <a:buAutoNum type="arabicPeriod"/>
            </a:pPr>
            <a:r>
              <a:rPr lang="en-US" altLang="zh-CN" dirty="0"/>
              <a:t>If the output ends with “arm64”, choose Option 1; otherwise, choose Option 2</a:t>
            </a:r>
            <a:endParaRPr lang="zh-CN" alt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F0C8723-AC7E-FD99-FE5F-2A524BBB8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4" y="3325539"/>
            <a:ext cx="9979292" cy="285187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0669C6C-1F86-5A37-5DCE-502CB90F13C9}"/>
              </a:ext>
            </a:extLst>
          </p:cNvPr>
          <p:cNvSpPr txBox="1"/>
          <p:nvPr/>
        </p:nvSpPr>
        <p:spPr>
          <a:xfrm>
            <a:off x="10271195" y="4802345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Option 1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4ECAA2-68B5-2964-CCB9-B959C1EBFF8A}"/>
              </a:ext>
            </a:extLst>
          </p:cNvPr>
          <p:cNvSpPr txBox="1"/>
          <p:nvPr/>
        </p:nvSpPr>
        <p:spPr>
          <a:xfrm>
            <a:off x="10271195" y="5751924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Option 2</a:t>
            </a:r>
            <a:endParaRPr lang="zh-CN" alt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34471FD-8445-F026-620B-8D0CF361AD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121" y="2097036"/>
            <a:ext cx="7099300" cy="7620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6C553F2-34B9-9400-36B9-046C2614B2C2}"/>
              </a:ext>
            </a:extLst>
          </p:cNvPr>
          <p:cNvSpPr txBox="1"/>
          <p:nvPr/>
        </p:nvSpPr>
        <p:spPr>
          <a:xfrm>
            <a:off x="423444" y="1584333"/>
            <a:ext cx="7917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/>
              <a:t>https://www.oracle.com/cn/java/technologies/downloads/#jdk24-mac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1320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FF122-9599-B5C8-FD38-A183409C6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FA42F366-89C9-E77B-E8C9-0087FE3039BD}"/>
              </a:ext>
            </a:extLst>
          </p:cNvPr>
          <p:cNvSpPr/>
          <p:nvPr/>
        </p:nvSpPr>
        <p:spPr>
          <a:xfrm>
            <a:off x="155199" y="1727834"/>
            <a:ext cx="11560167" cy="370085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482600" indent="-444500">
              <a:lnSpc>
                <a:spcPts val="2800"/>
              </a:lnSpc>
              <a:spcBef>
                <a:spcPts val="100"/>
              </a:spcBef>
              <a:buSzPct val="145312"/>
              <a:buChar char="•"/>
              <a:tabLst>
                <a:tab pos="482600" algn="l"/>
              </a:tabLst>
            </a:pPr>
            <a:endParaRPr lang="en-US" altLang="zh-CN" sz="2000" dirty="0">
              <a:latin typeface="Trebuchet MS"/>
              <a:cs typeface="Trebuchet MS"/>
            </a:endParaRP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16B588B4-6182-F8DB-2A91-C2769FB91910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>
            <a:extLst>
              <a:ext uri="{FF2B5EF4-FFF2-40B4-BE49-F238E27FC236}">
                <a16:creationId xmlns:a16="http://schemas.microsoft.com/office/drawing/2014/main" id="{A80476E9-8921-D38F-2E2C-72DC0248B374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7F6D1F7-0ADE-0D59-64C5-BF3F9F041A55}"/>
              </a:ext>
            </a:extLst>
          </p:cNvPr>
          <p:cNvSpPr/>
          <p:nvPr/>
        </p:nvSpPr>
        <p:spPr>
          <a:xfrm>
            <a:off x="585128" y="821054"/>
            <a:ext cx="5109993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Install JDK - MacOS</a:t>
            </a:r>
            <a:endParaRPr lang="en-US" altLang="en-US" sz="3200" dirty="0"/>
          </a:p>
        </p:txBody>
      </p:sp>
      <p:sp>
        <p:nvSpPr>
          <p:cNvPr id="18" name="path">
            <a:extLst>
              <a:ext uri="{FF2B5EF4-FFF2-40B4-BE49-F238E27FC236}">
                <a16:creationId xmlns:a16="http://schemas.microsoft.com/office/drawing/2014/main" id="{0BE7221D-4FFF-7B3D-57C1-377455F9EBA7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A92D09-DE1E-699D-126C-FBF664C1A6D3}"/>
              </a:ext>
            </a:extLst>
          </p:cNvPr>
          <p:cNvSpPr txBox="1"/>
          <p:nvPr/>
        </p:nvSpPr>
        <p:spPr>
          <a:xfrm>
            <a:off x="544551" y="3507669"/>
            <a:ext cx="1630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Double click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2AB31D6-A423-3C5A-71FC-2904F7A198A0}"/>
              </a:ext>
            </a:extLst>
          </p:cNvPr>
          <p:cNvCxnSpPr>
            <a:cxnSpLocks/>
          </p:cNvCxnSpPr>
          <p:nvPr/>
        </p:nvCxnSpPr>
        <p:spPr>
          <a:xfrm>
            <a:off x="1994828" y="2591364"/>
            <a:ext cx="798903" cy="17171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C5ACB58-E538-E0C4-DE7C-3D839476270F}"/>
              </a:ext>
            </a:extLst>
          </p:cNvPr>
          <p:cNvSpPr txBox="1"/>
          <p:nvPr/>
        </p:nvSpPr>
        <p:spPr>
          <a:xfrm>
            <a:off x="4154768" y="4377165"/>
            <a:ext cx="1361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Continue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AE1F76-E590-DD0F-E933-ED97E20BC2AF}"/>
              </a:ext>
            </a:extLst>
          </p:cNvPr>
          <p:cNvSpPr txBox="1"/>
          <p:nvPr/>
        </p:nvSpPr>
        <p:spPr>
          <a:xfrm>
            <a:off x="9212037" y="4396099"/>
            <a:ext cx="1361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Continue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A49B24-5988-CEFC-AF6D-BE410C2398E0}"/>
              </a:ext>
            </a:extLst>
          </p:cNvPr>
          <p:cNvCxnSpPr/>
          <p:nvPr/>
        </p:nvCxnSpPr>
        <p:spPr>
          <a:xfrm>
            <a:off x="6947452" y="2763078"/>
            <a:ext cx="87464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5D1FCC2-E731-2AB0-1A7D-DE9962962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34" y="1914710"/>
            <a:ext cx="1569167" cy="14356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A7F06A-E10C-74AA-D96F-68125CDEF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124" y="1772446"/>
            <a:ext cx="3390948" cy="243072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AA43F31-1AFB-0414-422F-BB62B70D4A36}"/>
              </a:ext>
            </a:extLst>
          </p:cNvPr>
          <p:cNvSpPr/>
          <p:nvPr/>
        </p:nvSpPr>
        <p:spPr>
          <a:xfrm>
            <a:off x="6016892" y="3964727"/>
            <a:ext cx="411829" cy="2384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C58566-FC14-07E1-5ADF-72A7DB57BE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874" y="1820809"/>
            <a:ext cx="3337458" cy="238236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D35CD0E-79F3-436B-93B7-41CDE61DE291}"/>
              </a:ext>
            </a:extLst>
          </p:cNvPr>
          <p:cNvSpPr/>
          <p:nvPr/>
        </p:nvSpPr>
        <p:spPr>
          <a:xfrm>
            <a:off x="10984606" y="3964726"/>
            <a:ext cx="411829" cy="2384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02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9E7D0-6CEF-7003-8EB6-77D96A1FE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4452E143-16A8-0A7B-814D-1562F3B8A260}"/>
              </a:ext>
            </a:extLst>
          </p:cNvPr>
          <p:cNvSpPr/>
          <p:nvPr/>
        </p:nvSpPr>
        <p:spPr>
          <a:xfrm>
            <a:off x="155199" y="1727834"/>
            <a:ext cx="11560167" cy="370085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482600" indent="-444500">
              <a:lnSpc>
                <a:spcPts val="2800"/>
              </a:lnSpc>
              <a:spcBef>
                <a:spcPts val="100"/>
              </a:spcBef>
              <a:buSzPct val="145312"/>
              <a:buChar char="•"/>
              <a:tabLst>
                <a:tab pos="482600" algn="l"/>
              </a:tabLst>
            </a:pPr>
            <a:endParaRPr lang="en-US" altLang="zh-CN" sz="2000" dirty="0">
              <a:latin typeface="Trebuchet MS"/>
              <a:cs typeface="Trebuchet MS"/>
            </a:endParaRP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FB86C2DF-5F32-8CEE-0643-03418805DF82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>
            <a:extLst>
              <a:ext uri="{FF2B5EF4-FFF2-40B4-BE49-F238E27FC236}">
                <a16:creationId xmlns:a16="http://schemas.microsoft.com/office/drawing/2014/main" id="{D45977D7-4865-9CC5-E1DE-ED4A95E51E86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D97C9B1-955A-7208-5CBC-0CD2249BC39D}"/>
              </a:ext>
            </a:extLst>
          </p:cNvPr>
          <p:cNvSpPr/>
          <p:nvPr/>
        </p:nvSpPr>
        <p:spPr>
          <a:xfrm>
            <a:off x="585128" y="821054"/>
            <a:ext cx="5109993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Install JDK - MacOS</a:t>
            </a:r>
            <a:endParaRPr lang="en-US" altLang="en-US" sz="3200" dirty="0"/>
          </a:p>
        </p:txBody>
      </p:sp>
      <p:sp>
        <p:nvSpPr>
          <p:cNvPr id="18" name="path">
            <a:extLst>
              <a:ext uri="{FF2B5EF4-FFF2-40B4-BE49-F238E27FC236}">
                <a16:creationId xmlns:a16="http://schemas.microsoft.com/office/drawing/2014/main" id="{6641952C-147C-8C60-6C0C-FA58D17D6DA9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82FE0A-B18D-B511-E3D0-C328F749ADA2}"/>
              </a:ext>
            </a:extLst>
          </p:cNvPr>
          <p:cNvSpPr txBox="1"/>
          <p:nvPr/>
        </p:nvSpPr>
        <p:spPr>
          <a:xfrm>
            <a:off x="1769165" y="5029200"/>
            <a:ext cx="1669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Install</a:t>
            </a:r>
            <a:endParaRPr lang="en-CN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9AE4486-D293-46C3-202F-0D1C1368380C}"/>
              </a:ext>
            </a:extLst>
          </p:cNvPr>
          <p:cNvCxnSpPr/>
          <p:nvPr/>
        </p:nvCxnSpPr>
        <p:spPr>
          <a:xfrm>
            <a:off x="-258417" y="2912165"/>
            <a:ext cx="675860" cy="13914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E0FDDD4-1A17-F24D-5A27-870F496A7E6A}"/>
              </a:ext>
            </a:extLst>
          </p:cNvPr>
          <p:cNvCxnSpPr>
            <a:cxnSpLocks/>
          </p:cNvCxnSpPr>
          <p:nvPr/>
        </p:nvCxnSpPr>
        <p:spPr>
          <a:xfrm>
            <a:off x="5145302" y="3260035"/>
            <a:ext cx="101909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68E192E-F223-38D0-A6D0-8268ABCEB7E6}"/>
              </a:ext>
            </a:extLst>
          </p:cNvPr>
          <p:cNvSpPr txBox="1"/>
          <p:nvPr/>
        </p:nvSpPr>
        <p:spPr>
          <a:xfrm>
            <a:off x="8258431" y="5029200"/>
            <a:ext cx="1431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Completed</a:t>
            </a:r>
            <a:endParaRPr lang="en-C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0CAC12-3718-FBBC-5FCA-99DE32526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90" y="1694316"/>
            <a:ext cx="4401167" cy="31416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2522644-0C35-7EE6-4D20-487B12DD75A1}"/>
              </a:ext>
            </a:extLst>
          </p:cNvPr>
          <p:cNvSpPr/>
          <p:nvPr/>
        </p:nvSpPr>
        <p:spPr>
          <a:xfrm>
            <a:off x="4349588" y="4555571"/>
            <a:ext cx="411829" cy="2384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F1706D-A08F-9D22-49BE-3DB4B0414C18}"/>
              </a:ext>
            </a:extLst>
          </p:cNvPr>
          <p:cNvSpPr txBox="1"/>
          <p:nvPr/>
        </p:nvSpPr>
        <p:spPr>
          <a:xfrm>
            <a:off x="4089651" y="1024922"/>
            <a:ext cx="5006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Check your storage space. You need 407.2MB.</a:t>
            </a:r>
            <a:endParaRPr lang="zh-CN" alt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96B0241-8B16-85AA-DE6B-8CFC0D68595E}"/>
              </a:ext>
            </a:extLst>
          </p:cNvPr>
          <p:cNvCxnSpPr>
            <a:cxnSpLocks/>
          </p:cNvCxnSpPr>
          <p:nvPr/>
        </p:nvCxnSpPr>
        <p:spPr>
          <a:xfrm flipH="1">
            <a:off x="3082690" y="1445122"/>
            <a:ext cx="2612431" cy="81874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3903D12-BED0-3D21-DDBF-98980A1C6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337" y="1706591"/>
            <a:ext cx="4401167" cy="3131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6C9AD8-DB5E-0125-FBA4-033E108A93F1}"/>
              </a:ext>
            </a:extLst>
          </p:cNvPr>
          <p:cNvSpPr txBox="1"/>
          <p:nvPr/>
        </p:nvSpPr>
        <p:spPr>
          <a:xfrm>
            <a:off x="2826962" y="5311141"/>
            <a:ext cx="4095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Change your route of installation here.</a:t>
            </a:r>
            <a:endParaRPr lang="zh-CN" alt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12252D-DDB2-2A74-5F2A-CFF5016E520C}"/>
              </a:ext>
            </a:extLst>
          </p:cNvPr>
          <p:cNvCxnSpPr>
            <a:cxnSpLocks/>
          </p:cNvCxnSpPr>
          <p:nvPr/>
        </p:nvCxnSpPr>
        <p:spPr>
          <a:xfrm flipH="1" flipV="1">
            <a:off x="4761417" y="4360030"/>
            <a:ext cx="1457899" cy="94890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452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"/>
          <p:cNvSpPr/>
          <p:nvPr/>
        </p:nvSpPr>
        <p:spPr>
          <a:xfrm>
            <a:off x="-3490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8" y="821054"/>
            <a:ext cx="6097969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Verify JDK installation</a:t>
            </a:r>
            <a:endParaRPr lang="en-US" altLang="en-US" sz="32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231A95-57BA-8DD1-7691-2969C3979A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532"/>
          <a:stretch>
            <a:fillRect/>
          </a:stretch>
        </p:blipFill>
        <p:spPr>
          <a:xfrm>
            <a:off x="585128" y="3873985"/>
            <a:ext cx="10480054" cy="22266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2E9B77-32B5-A306-2E26-7459BAC9D676}"/>
              </a:ext>
            </a:extLst>
          </p:cNvPr>
          <p:cNvSpPr txBox="1"/>
          <p:nvPr/>
        </p:nvSpPr>
        <p:spPr>
          <a:xfrm>
            <a:off x="585128" y="2024244"/>
            <a:ext cx="658385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dirty="0"/>
              <a:t>Press Command + Space. Then enter terminal.</a:t>
            </a:r>
          </a:p>
          <a:p>
            <a:endParaRPr lang="en-GB" altLang="zh-CN" dirty="0"/>
          </a:p>
          <a:p>
            <a:r>
              <a:rPr lang="en-GB" altLang="zh-CN" dirty="0"/>
              <a:t>Input java --version</a:t>
            </a:r>
          </a:p>
          <a:p>
            <a:endParaRPr lang="en-GB" altLang="zh-CN" dirty="0"/>
          </a:p>
          <a:p>
            <a:r>
              <a:rPr lang="en-GB" altLang="zh-CN" dirty="0"/>
              <a:t>If you have similar output, you’ve successfully installed JDK24.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1824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155199" y="1660328"/>
            <a:ext cx="11560167" cy="370085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482600" indent="-444500">
              <a:lnSpc>
                <a:spcPts val="2800"/>
              </a:lnSpc>
              <a:spcBef>
                <a:spcPts val="100"/>
              </a:spcBef>
              <a:buSzPct val="145312"/>
              <a:buChar char="•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Download VS Code:</a:t>
            </a:r>
          </a:p>
          <a:p>
            <a:pPr marL="495300" lvl="1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Official Website: </a:t>
            </a:r>
            <a:r>
              <a:rPr lang="en-US" altLang="zh-CN" sz="2000" dirty="0">
                <a:latin typeface="Trebuchet MS"/>
                <a:cs typeface="Trebuchet MS"/>
                <a:hlinkClick r:id="rId2"/>
              </a:rPr>
              <a:t>https://code.visualstudio.com/</a:t>
            </a:r>
            <a:endParaRPr lang="en-US" altLang="zh-CN" sz="2000" dirty="0">
              <a:latin typeface="Trebuchet MS"/>
              <a:cs typeface="Trebuchet MS"/>
            </a:endParaRPr>
          </a:p>
          <a:p>
            <a:pPr marL="495300" lvl="1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endParaRPr lang="en-US" altLang="zh-CN" sz="2000" dirty="0">
              <a:latin typeface="Trebuchet MS"/>
              <a:cs typeface="Microsoft YaHei"/>
            </a:endParaRPr>
          </a:p>
          <a:p>
            <a:pPr marL="495300" lvl="1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endParaRPr lang="en-US" altLang="zh-CN" sz="2000" dirty="0">
              <a:latin typeface="Trebuchet MS"/>
              <a:cs typeface="Microsoft YaHei"/>
            </a:endParaRPr>
          </a:p>
          <a:p>
            <a:pPr marL="495300" lvl="1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endParaRPr lang="en-US" altLang="zh-CN" sz="2000" dirty="0">
              <a:latin typeface="Trebuchet MS"/>
              <a:cs typeface="Microsoft YaHei"/>
            </a:endParaRPr>
          </a:p>
          <a:p>
            <a:pPr marL="495300" lvl="1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endParaRPr lang="en-US" altLang="zh-CN" sz="2000" dirty="0">
              <a:latin typeface="Trebuchet MS"/>
              <a:cs typeface="Microsoft YaHei"/>
            </a:endParaRPr>
          </a:p>
          <a:p>
            <a:pPr marL="495300" lvl="1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endParaRPr lang="en-US" altLang="zh-CN" sz="2000" dirty="0">
              <a:latin typeface="Trebuchet MS"/>
              <a:cs typeface="Microsoft YaHei"/>
            </a:endParaRPr>
          </a:p>
          <a:p>
            <a:pPr marL="495300" lvl="1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endParaRPr lang="en-US" altLang="zh-CN" sz="2000" dirty="0">
              <a:latin typeface="Microsoft YaHei"/>
              <a:cs typeface="Microsoft YaHei"/>
            </a:endParaRPr>
          </a:p>
          <a:p>
            <a:pPr marL="495300" lvl="1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endParaRPr lang="en-US" altLang="zh-CN" sz="2000" dirty="0">
              <a:latin typeface="Microsoft YaHei"/>
              <a:cs typeface="Microsoft YaHei"/>
            </a:endParaRPr>
          </a:p>
          <a:p>
            <a:pPr marL="495300" lvl="1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endParaRPr lang="en-US" altLang="zh-CN" sz="2000" dirty="0">
              <a:latin typeface="Microsoft YaHei"/>
              <a:cs typeface="Microsoft YaHei"/>
            </a:endParaRPr>
          </a:p>
          <a:p>
            <a:pPr marL="495300" lvl="1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endParaRPr lang="en-US" altLang="zh-CN" sz="2000" dirty="0">
              <a:latin typeface="Microsoft YaHei"/>
              <a:cs typeface="Microsoft YaHei"/>
            </a:endParaRPr>
          </a:p>
          <a:p>
            <a:pPr marL="482600" indent="-444500">
              <a:lnSpc>
                <a:spcPts val="2800"/>
              </a:lnSpc>
              <a:spcBef>
                <a:spcPts val="100"/>
              </a:spcBef>
              <a:buSzPct val="145312"/>
              <a:buChar char="•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Install VS Code:</a:t>
            </a:r>
          </a:p>
          <a:p>
            <a:pPr marL="495300" lvl="1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Follow the same operations when installing new applications on your platform.</a:t>
            </a:r>
          </a:p>
          <a:p>
            <a:pPr marL="939800" lvl="1" indent="-444500">
              <a:lnSpc>
                <a:spcPts val="2800"/>
              </a:lnSpc>
              <a:spcBef>
                <a:spcPts val="100"/>
              </a:spcBef>
              <a:buSzPct val="145312"/>
              <a:buChar char="•"/>
              <a:tabLst>
                <a:tab pos="482600" algn="l"/>
              </a:tabLst>
            </a:pPr>
            <a:endParaRPr lang="en-US" altLang="zh-CN" sz="2000" dirty="0">
              <a:latin typeface="Trebuchet MS"/>
              <a:cs typeface="Trebuchet MS"/>
            </a:endParaRPr>
          </a:p>
        </p:txBody>
      </p:sp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9" y="821054"/>
            <a:ext cx="292735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en-US" altLang="en-US" sz="100" dirty="0"/>
              <a:t>D</a:t>
            </a:r>
            <a:endParaRPr lang="en-US" altLang="en-US" sz="32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1A503F-D6D2-EE9B-3418-10E6A2FD06F5}"/>
              </a:ext>
            </a:extLst>
          </p:cNvPr>
          <p:cNvSpPr txBox="1"/>
          <p:nvPr/>
        </p:nvSpPr>
        <p:spPr>
          <a:xfrm>
            <a:off x="515555" y="826829"/>
            <a:ext cx="48206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Download &amp; install VSCode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70324A-A297-5C2B-62E5-BF5154098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87" y="2313912"/>
            <a:ext cx="4913284" cy="315600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50761A69-8F22-3543-F36D-CF5B9293A414}"/>
              </a:ext>
            </a:extLst>
          </p:cNvPr>
          <p:cNvSpPr/>
          <p:nvPr/>
        </p:nvSpPr>
        <p:spPr>
          <a:xfrm>
            <a:off x="411829" y="4048489"/>
            <a:ext cx="1165686" cy="6700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EB20DD-458F-15EE-67E7-BFFA24C0FDE0}"/>
              </a:ext>
            </a:extLst>
          </p:cNvPr>
          <p:cNvSpPr/>
          <p:nvPr/>
        </p:nvSpPr>
        <p:spPr>
          <a:xfrm>
            <a:off x="3936806" y="4125270"/>
            <a:ext cx="1280765" cy="6700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804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214C7-D764-11E5-0751-F5E0C0177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01BED0C4-5EA5-BA71-9349-6F2682C06F48}"/>
              </a:ext>
            </a:extLst>
          </p:cNvPr>
          <p:cNvSpPr/>
          <p:nvPr/>
        </p:nvSpPr>
        <p:spPr>
          <a:xfrm>
            <a:off x="406812" y="3429000"/>
            <a:ext cx="3631277" cy="19826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38100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r>
              <a:rPr lang="en-US" altLang="zh-CN" sz="2400" dirty="0">
                <a:latin typeface="Trebuchet MS"/>
                <a:cs typeface="Trebuchet MS"/>
              </a:rPr>
              <a:t>Click the button to open the extension interface</a:t>
            </a: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9B32D94C-356C-1E16-74A6-F28224AD1EB6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>
            <a:extLst>
              <a:ext uri="{FF2B5EF4-FFF2-40B4-BE49-F238E27FC236}">
                <a16:creationId xmlns:a16="http://schemas.microsoft.com/office/drawing/2014/main" id="{5AEABEE2-2C93-1B69-42DE-4A5A80340B08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225E7F4-C088-B3CA-455A-C6D002963C87}"/>
              </a:ext>
            </a:extLst>
          </p:cNvPr>
          <p:cNvSpPr/>
          <p:nvPr/>
        </p:nvSpPr>
        <p:spPr>
          <a:xfrm>
            <a:off x="585128" y="821054"/>
            <a:ext cx="6097969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 err="1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VSCode</a:t>
            </a: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 Install Java Extension</a:t>
            </a:r>
            <a:endParaRPr lang="en-US" altLang="en-US" sz="3200" dirty="0"/>
          </a:p>
        </p:txBody>
      </p:sp>
      <p:sp>
        <p:nvSpPr>
          <p:cNvPr id="18" name="path">
            <a:extLst>
              <a:ext uri="{FF2B5EF4-FFF2-40B4-BE49-F238E27FC236}">
                <a16:creationId xmlns:a16="http://schemas.microsoft.com/office/drawing/2014/main" id="{EF503F19-29F0-06C1-3D1C-12EF21F7F81E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928350-14FB-7595-225E-AEA8AE853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565" y="1978397"/>
            <a:ext cx="6637603" cy="400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955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406812" y="3429000"/>
            <a:ext cx="3631277" cy="19826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38100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r>
              <a:rPr lang="en-US" altLang="zh-CN" sz="2400" dirty="0">
                <a:latin typeface="Trebuchet MS"/>
                <a:cs typeface="Trebuchet MS"/>
              </a:rPr>
              <a:t>Search “Java”, and install “Extension Pack for Java”</a:t>
            </a:r>
          </a:p>
        </p:txBody>
      </p:sp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8" y="821054"/>
            <a:ext cx="6097969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 err="1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VSCode</a:t>
            </a: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 Install Java Extension</a:t>
            </a:r>
            <a:endParaRPr lang="en-US" altLang="en-US" sz="32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B2E97E8-68BC-AC22-E849-0403281ED1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5458" y="1978397"/>
            <a:ext cx="6593817" cy="400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684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355957" y="2042311"/>
            <a:ext cx="4306337" cy="19826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38100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r>
              <a:rPr lang="en-US" altLang="zh-CN" sz="2400" dirty="0">
                <a:latin typeface="Trebuchet MS"/>
                <a:cs typeface="Trebuchet MS"/>
              </a:rPr>
              <a:t>Search “Chinese (Simplified)”</a:t>
            </a:r>
          </a:p>
          <a:p>
            <a:pPr marL="38100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r>
              <a:rPr lang="en-US" altLang="zh-CN" sz="2400" dirty="0">
                <a:latin typeface="Trebuchet MS"/>
                <a:cs typeface="Trebuchet MS"/>
              </a:rPr>
              <a:t>And click “Install”.</a:t>
            </a:r>
          </a:p>
          <a:p>
            <a:pPr marL="38100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endParaRPr lang="en-US" altLang="zh-CN" sz="2400" dirty="0">
              <a:latin typeface="Trebuchet MS"/>
              <a:cs typeface="Trebuchet MS"/>
            </a:endParaRPr>
          </a:p>
          <a:p>
            <a:pPr marL="38100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r>
              <a:rPr lang="en-US" altLang="zh-CN" sz="2400" dirty="0">
                <a:latin typeface="Trebuchet MS"/>
                <a:cs typeface="Trebuchet MS"/>
              </a:rPr>
              <a:t>Choose </a:t>
            </a:r>
            <a:r>
              <a:rPr lang="en-US" altLang="zh-CN" sz="2400" b="1" dirty="0">
                <a:latin typeface="Trebuchet MS"/>
                <a:cs typeface="Trebuchet MS"/>
              </a:rPr>
              <a:t>Change Language and Restart</a:t>
            </a:r>
            <a:r>
              <a:rPr lang="en-US" altLang="zh-CN" sz="2400" dirty="0">
                <a:latin typeface="Trebuchet MS"/>
                <a:cs typeface="Trebuchet MS"/>
              </a:rPr>
              <a:t> when installed.</a:t>
            </a:r>
          </a:p>
        </p:txBody>
      </p:sp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dirty="0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8" y="821054"/>
            <a:ext cx="6097969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 err="1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VSCode</a:t>
            </a: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 Install Simplified Chinese</a:t>
            </a:r>
            <a:endParaRPr lang="en-US" altLang="en-US" sz="32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9F5D20-A092-8264-CFFA-D6A97ED8C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708" y="1982510"/>
            <a:ext cx="6716098" cy="4054436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F571300-F26C-E038-C949-940BADF1D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7" y="4390159"/>
            <a:ext cx="4729094" cy="157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937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423464" y="3312722"/>
            <a:ext cx="4306337" cy="19826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38100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r>
              <a:rPr lang="en-US" altLang="zh-CN" sz="2400" dirty="0">
                <a:latin typeface="Trebuchet MS"/>
                <a:cs typeface="Trebuchet MS"/>
              </a:rPr>
              <a:t>Choose “Explorer” menu, and click “Open Folder” (You can create a new folder first)</a:t>
            </a:r>
          </a:p>
        </p:txBody>
      </p:sp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8" y="821054"/>
            <a:ext cx="6097969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 err="1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VSCode</a:t>
            </a: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 Begin your first program</a:t>
            </a:r>
            <a:endParaRPr lang="en-US" altLang="en-US" sz="32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9F5D20-A092-8264-CFFA-D6A97ED8CB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2708" y="1982510"/>
            <a:ext cx="6716098" cy="405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14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454149" y="3177710"/>
            <a:ext cx="4306337" cy="19826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38100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r>
              <a:rPr lang="en-US" altLang="zh-CN" sz="2400" dirty="0">
                <a:latin typeface="Trebuchet MS"/>
                <a:cs typeface="Trebuchet MS"/>
              </a:rPr>
              <a:t>Click the “New File” button, and name it as “xxxx</a:t>
            </a:r>
            <a:r>
              <a:rPr lang="en-US" altLang="zh-CN" sz="2400" dirty="0">
                <a:solidFill>
                  <a:srgbClr val="FF0000"/>
                </a:solidFill>
                <a:latin typeface="Trebuchet MS"/>
                <a:cs typeface="Trebuchet MS"/>
              </a:rPr>
              <a:t>.java</a:t>
            </a:r>
            <a:r>
              <a:rPr lang="en-US" altLang="zh-CN" sz="2400" dirty="0">
                <a:latin typeface="Trebuchet MS"/>
                <a:cs typeface="Trebuchet MS"/>
              </a:rPr>
              <a:t>”. Now you can try writing and running code!  </a:t>
            </a:r>
          </a:p>
        </p:txBody>
      </p:sp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8" y="821054"/>
            <a:ext cx="6097969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 err="1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VSCode</a:t>
            </a: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 Begin your first program</a:t>
            </a:r>
            <a:endParaRPr lang="en-US" altLang="en-US" sz="32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9F5D20-A092-8264-CFFA-D6A97ED8CB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2708" y="1989651"/>
            <a:ext cx="6716098" cy="404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295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8" y="821054"/>
            <a:ext cx="4244621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Your first program</a:t>
            </a:r>
            <a:endParaRPr lang="en-US" altLang="en-US" sz="32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F4566916-0961-2272-03DE-F430FCF585BE}"/>
              </a:ext>
            </a:extLst>
          </p:cNvPr>
          <p:cNvSpPr txBox="1"/>
          <p:nvPr/>
        </p:nvSpPr>
        <p:spPr>
          <a:xfrm>
            <a:off x="297621" y="1767474"/>
            <a:ext cx="4341885" cy="46376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1A1A1A"/>
                </a:solidFill>
                <a:latin typeface="Yu Gothic UI"/>
                <a:cs typeface="Yu Gothic UI"/>
              </a:rPr>
              <a:t>Goal</a:t>
            </a:r>
            <a:endParaRPr sz="2800" dirty="0">
              <a:latin typeface="Yu Gothic UI"/>
              <a:cs typeface="Yu Gothic UI"/>
            </a:endParaRPr>
          </a:p>
          <a:p>
            <a:pPr marL="225425" marR="5080" indent="-213360">
              <a:lnSpc>
                <a:spcPct val="144500"/>
              </a:lnSpc>
              <a:spcBef>
                <a:spcPts val="1420"/>
              </a:spcBef>
            </a:pPr>
            <a:r>
              <a:rPr spc="-55" dirty="0">
                <a:solidFill>
                  <a:srgbClr val="333333"/>
                </a:solidFill>
                <a:latin typeface="Tahoma"/>
                <a:cs typeface="Tahoma"/>
              </a:rPr>
              <a:t>1.</a:t>
            </a:r>
            <a:r>
              <a:rPr spc="-5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pc="-20" dirty="0">
                <a:solidFill>
                  <a:srgbClr val="333333"/>
                </a:solidFill>
                <a:latin typeface="Tahoma"/>
                <a:cs typeface="Tahoma"/>
              </a:rPr>
              <a:t>Use</a:t>
            </a:r>
            <a:r>
              <a:rPr spc="-4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pc="-15" dirty="0">
                <a:solidFill>
                  <a:srgbClr val="333333"/>
                </a:solidFill>
                <a:latin typeface="Tahoma"/>
                <a:cs typeface="Tahoma"/>
              </a:rPr>
              <a:t>either</a:t>
            </a:r>
            <a:r>
              <a:rPr spc="-4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i="1" spc="-20" dirty="0">
                <a:solidFill>
                  <a:srgbClr val="333333"/>
                </a:solidFill>
                <a:latin typeface="Arial"/>
                <a:cs typeface="Arial"/>
              </a:rPr>
              <a:t>multiple</a:t>
            </a:r>
            <a:r>
              <a:rPr i="1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i="1" spc="-35" dirty="0">
                <a:solidFill>
                  <a:srgbClr val="333333"/>
                </a:solidFill>
                <a:latin typeface="Arial"/>
                <a:cs typeface="Arial"/>
              </a:rPr>
              <a:t>virtual</a:t>
            </a:r>
            <a:r>
              <a:rPr i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i="1" spc="-40" dirty="0">
                <a:solidFill>
                  <a:srgbClr val="333333"/>
                </a:solidFill>
                <a:latin typeface="Arial"/>
                <a:cs typeface="Arial"/>
              </a:rPr>
              <a:t>ternimals</a:t>
            </a:r>
            <a:r>
              <a:rPr i="1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pc="5" dirty="0">
                <a:solidFill>
                  <a:srgbClr val="333333"/>
                </a:solidFill>
                <a:latin typeface="Tahoma"/>
                <a:cs typeface="Tahoma"/>
              </a:rPr>
              <a:t>or</a:t>
            </a:r>
            <a:r>
              <a:rPr spc="-3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i="1" spc="-35" dirty="0">
                <a:solidFill>
                  <a:srgbClr val="333333"/>
                </a:solidFill>
                <a:latin typeface="Arial"/>
                <a:cs typeface="Arial"/>
              </a:rPr>
              <a:t>Integrated</a:t>
            </a:r>
            <a:r>
              <a:rPr i="1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i="1" spc="-40" dirty="0">
                <a:solidFill>
                  <a:srgbClr val="333333"/>
                </a:solidFill>
                <a:latin typeface="Arial"/>
                <a:cs typeface="Arial"/>
              </a:rPr>
              <a:t>Development</a:t>
            </a:r>
            <a:r>
              <a:rPr i="1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i="1" spc="-65" dirty="0">
                <a:solidFill>
                  <a:srgbClr val="333333"/>
                </a:solidFill>
                <a:latin typeface="Arial"/>
                <a:cs typeface="Arial"/>
              </a:rPr>
              <a:t>Environment(IDE)</a:t>
            </a:r>
            <a:r>
              <a:rPr i="1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pc="5" dirty="0">
                <a:solidFill>
                  <a:srgbClr val="333333"/>
                </a:solidFill>
                <a:latin typeface="Tahoma"/>
                <a:cs typeface="Tahoma"/>
              </a:rPr>
              <a:t>to</a:t>
            </a:r>
            <a:r>
              <a:rPr spc="-4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pc="-20" dirty="0">
                <a:solidFill>
                  <a:srgbClr val="333333"/>
                </a:solidFill>
                <a:latin typeface="Tahoma"/>
                <a:cs typeface="Tahoma"/>
              </a:rPr>
              <a:t>run</a:t>
            </a:r>
            <a:r>
              <a:rPr spc="-3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pc="-15" dirty="0">
                <a:solidFill>
                  <a:srgbClr val="333333"/>
                </a:solidFill>
                <a:latin typeface="Tahoma"/>
                <a:cs typeface="Tahoma"/>
              </a:rPr>
              <a:t>the </a:t>
            </a:r>
            <a:r>
              <a:rPr spc="-33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pc="-30" dirty="0">
                <a:solidFill>
                  <a:srgbClr val="333333"/>
                </a:solidFill>
                <a:latin typeface="Tahoma"/>
                <a:cs typeface="Tahoma"/>
              </a:rPr>
              <a:t>first</a:t>
            </a:r>
            <a:r>
              <a:rPr spc="-5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pc="-45" dirty="0">
                <a:solidFill>
                  <a:srgbClr val="333333"/>
                </a:solidFill>
                <a:latin typeface="Tahoma"/>
                <a:cs typeface="Tahoma"/>
              </a:rPr>
              <a:t>Java </a:t>
            </a:r>
            <a:r>
              <a:rPr spc="-20" dirty="0">
                <a:solidFill>
                  <a:srgbClr val="333333"/>
                </a:solidFill>
                <a:latin typeface="Tahoma"/>
                <a:cs typeface="Tahoma"/>
              </a:rPr>
              <a:t>program:</a:t>
            </a:r>
            <a:r>
              <a:rPr spc="-5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pc="-5" dirty="0">
                <a:solidFill>
                  <a:srgbClr val="333333"/>
                </a:solidFill>
                <a:latin typeface="Tahoma"/>
                <a:cs typeface="Tahoma"/>
              </a:rPr>
              <a:t>HelloWorld.</a:t>
            </a:r>
            <a:r>
              <a:rPr spc="-4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pc="-55" dirty="0">
                <a:solidFill>
                  <a:srgbClr val="333333"/>
                </a:solidFill>
                <a:latin typeface="Tahoma"/>
                <a:cs typeface="Tahoma"/>
              </a:rPr>
              <a:t>(The</a:t>
            </a:r>
            <a:r>
              <a:rPr spc="-4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pc="5" dirty="0">
                <a:solidFill>
                  <a:srgbClr val="333333"/>
                </a:solidFill>
                <a:latin typeface="Tahoma"/>
                <a:cs typeface="Tahoma"/>
              </a:rPr>
              <a:t>code</a:t>
            </a:r>
            <a:r>
              <a:rPr spc="-4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333333"/>
                </a:solidFill>
                <a:latin typeface="Tahoma"/>
                <a:cs typeface="Tahoma"/>
              </a:rPr>
              <a:t>for</a:t>
            </a:r>
            <a:r>
              <a:rPr spc="-4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pc="5" dirty="0">
                <a:solidFill>
                  <a:srgbClr val="333333"/>
                </a:solidFill>
                <a:latin typeface="Tahoma"/>
                <a:cs typeface="Tahoma"/>
              </a:rPr>
              <a:t>HelloWorld</a:t>
            </a:r>
            <a:r>
              <a:rPr spc="-4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pc="-25" dirty="0">
                <a:solidFill>
                  <a:srgbClr val="333333"/>
                </a:solidFill>
                <a:latin typeface="Tahoma"/>
                <a:cs typeface="Tahoma"/>
              </a:rPr>
              <a:t>is</a:t>
            </a:r>
            <a:r>
              <a:rPr spc="-4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pc="-15" dirty="0">
                <a:solidFill>
                  <a:srgbClr val="333333"/>
                </a:solidFill>
                <a:latin typeface="Tahoma"/>
                <a:cs typeface="Tahoma"/>
              </a:rPr>
              <a:t>in</a:t>
            </a:r>
            <a:r>
              <a:rPr spc="-4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pc="-15" dirty="0">
                <a:solidFill>
                  <a:srgbClr val="333333"/>
                </a:solidFill>
                <a:latin typeface="Tahoma"/>
                <a:cs typeface="Tahoma"/>
              </a:rPr>
              <a:t>lecture</a:t>
            </a:r>
            <a:r>
              <a:rPr spc="-5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pc="-30" dirty="0">
                <a:solidFill>
                  <a:srgbClr val="333333"/>
                </a:solidFill>
                <a:latin typeface="Tahoma"/>
                <a:cs typeface="Tahoma"/>
              </a:rPr>
              <a:t>notes)</a:t>
            </a:r>
            <a:endParaRPr lang="en-US" spc="-30" dirty="0">
              <a:solidFill>
                <a:srgbClr val="333333"/>
              </a:solidFill>
              <a:latin typeface="Tahoma"/>
              <a:cs typeface="Tahoma"/>
            </a:endParaRPr>
          </a:p>
          <a:p>
            <a:pPr marL="225425" marR="5080" indent="-213360">
              <a:lnSpc>
                <a:spcPct val="144500"/>
              </a:lnSpc>
              <a:spcBef>
                <a:spcPts val="1420"/>
              </a:spcBef>
            </a:pPr>
            <a:r>
              <a:rPr lang="en-US" altLang="zh-CN" sz="1600" spc="-55" dirty="0">
                <a:solidFill>
                  <a:srgbClr val="333333"/>
                </a:solidFill>
                <a:latin typeface="Tahoma"/>
                <a:cs typeface="Tahoma"/>
              </a:rPr>
              <a:t>2. </a:t>
            </a:r>
            <a:r>
              <a:rPr lang="en-US" altLang="zh-CN" sz="1600" spc="-5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lang="en-US" altLang="zh-CN" sz="1600" spc="-20" dirty="0">
                <a:solidFill>
                  <a:srgbClr val="333333"/>
                </a:solidFill>
                <a:latin typeface="Tahoma"/>
                <a:cs typeface="Tahoma"/>
              </a:rPr>
              <a:t>Use</a:t>
            </a:r>
            <a:r>
              <a:rPr lang="en-US" altLang="zh-CN" sz="1600" spc="-4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lang="en-US" altLang="zh-CN" sz="1600" spc="-15" dirty="0">
                <a:solidFill>
                  <a:srgbClr val="333333"/>
                </a:solidFill>
                <a:latin typeface="Tahoma"/>
                <a:cs typeface="Tahoma"/>
              </a:rPr>
              <a:t>either</a:t>
            </a:r>
            <a:r>
              <a:rPr lang="en-US" altLang="zh-CN" sz="1600" spc="-4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lang="en-US" altLang="zh-CN" i="1" spc="-20" dirty="0">
                <a:solidFill>
                  <a:srgbClr val="333333"/>
                </a:solidFill>
                <a:latin typeface="Arial"/>
                <a:cs typeface="Arial"/>
              </a:rPr>
              <a:t>multiple</a:t>
            </a:r>
            <a:r>
              <a:rPr lang="en-US" altLang="zh-CN" i="1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altLang="zh-CN" i="1" spc="-35" dirty="0">
                <a:solidFill>
                  <a:srgbClr val="333333"/>
                </a:solidFill>
                <a:latin typeface="Arial"/>
                <a:cs typeface="Arial"/>
              </a:rPr>
              <a:t>virtual</a:t>
            </a:r>
            <a:r>
              <a:rPr lang="en-US" altLang="zh-CN" i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altLang="zh-CN" i="1" spc="-40" dirty="0" err="1">
                <a:solidFill>
                  <a:srgbClr val="333333"/>
                </a:solidFill>
                <a:latin typeface="Arial"/>
                <a:cs typeface="Arial"/>
              </a:rPr>
              <a:t>ternimals</a:t>
            </a:r>
            <a:r>
              <a:rPr lang="en-US" altLang="zh-CN" i="1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altLang="zh-CN" sz="1600" spc="5" dirty="0">
                <a:solidFill>
                  <a:srgbClr val="333333"/>
                </a:solidFill>
                <a:latin typeface="Tahoma"/>
                <a:cs typeface="Tahoma"/>
              </a:rPr>
              <a:t>or</a:t>
            </a:r>
            <a:r>
              <a:rPr lang="en-US" altLang="zh-CN" sz="1600" spc="-4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lang="en-US" altLang="zh-CN" i="1" spc="-35" dirty="0">
                <a:solidFill>
                  <a:srgbClr val="333333"/>
                </a:solidFill>
                <a:latin typeface="Arial"/>
                <a:cs typeface="Arial"/>
              </a:rPr>
              <a:t>Integrated</a:t>
            </a:r>
            <a:r>
              <a:rPr lang="en-US" altLang="zh-CN" i="1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altLang="zh-CN" i="1" spc="-40" dirty="0">
                <a:solidFill>
                  <a:srgbClr val="333333"/>
                </a:solidFill>
                <a:latin typeface="Arial"/>
                <a:cs typeface="Arial"/>
              </a:rPr>
              <a:t>Development</a:t>
            </a:r>
            <a:r>
              <a:rPr lang="en-US" altLang="zh-CN" i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altLang="zh-CN" i="1" spc="-65" dirty="0">
                <a:solidFill>
                  <a:srgbClr val="333333"/>
                </a:solidFill>
                <a:latin typeface="Arial"/>
                <a:cs typeface="Arial"/>
              </a:rPr>
              <a:t>Environment(IDE)</a:t>
            </a:r>
            <a:r>
              <a:rPr lang="en-US" altLang="zh-CN" i="1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altLang="zh-CN" sz="1600" spc="5" dirty="0">
                <a:solidFill>
                  <a:srgbClr val="333333"/>
                </a:solidFill>
                <a:latin typeface="Tahoma"/>
                <a:cs typeface="Tahoma"/>
              </a:rPr>
              <a:t>to</a:t>
            </a:r>
            <a:r>
              <a:rPr lang="en-US" altLang="zh-CN" sz="1600" spc="-4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lang="en-US" altLang="zh-CN" sz="1600" spc="-25" dirty="0">
                <a:solidFill>
                  <a:srgbClr val="333333"/>
                </a:solidFill>
                <a:latin typeface="Tahoma"/>
                <a:cs typeface="Tahoma"/>
              </a:rPr>
              <a:t>pass </a:t>
            </a:r>
            <a:r>
              <a:rPr lang="en-US" altLang="zh-CN" sz="1600" spc="-2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lang="en-US" altLang="zh-CN" sz="1600" spc="-15" dirty="0">
                <a:solidFill>
                  <a:srgbClr val="333333"/>
                </a:solidFill>
                <a:latin typeface="Tahoma"/>
                <a:cs typeface="Tahoma"/>
              </a:rPr>
              <a:t>arguments</a:t>
            </a:r>
            <a:r>
              <a:rPr lang="en-US" altLang="zh-CN" sz="1600" spc="-4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Tahoma"/>
                <a:cs typeface="Tahoma"/>
              </a:rPr>
              <a:t>to</a:t>
            </a:r>
            <a:r>
              <a:rPr lang="en-US" altLang="zh-CN" sz="1600" spc="-3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lang="en-US" altLang="zh-CN" sz="1600" spc="-45" dirty="0">
                <a:solidFill>
                  <a:srgbClr val="333333"/>
                </a:solidFill>
                <a:latin typeface="Tahoma"/>
                <a:cs typeface="Tahoma"/>
              </a:rPr>
              <a:t>Java</a:t>
            </a:r>
            <a:r>
              <a:rPr lang="en-US" altLang="zh-CN" sz="1600" spc="-4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lang="en-US" altLang="zh-CN" sz="1600" spc="-15" dirty="0">
                <a:solidFill>
                  <a:srgbClr val="333333"/>
                </a:solidFill>
                <a:latin typeface="Tahoma"/>
                <a:cs typeface="Tahoma"/>
              </a:rPr>
              <a:t>program.</a:t>
            </a:r>
            <a:r>
              <a:rPr lang="en-US" altLang="zh-CN" sz="1600" spc="-4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lang="en-US" altLang="zh-CN" sz="1600" spc="-15" dirty="0">
                <a:solidFill>
                  <a:srgbClr val="333333"/>
                </a:solidFill>
                <a:latin typeface="Tahoma"/>
                <a:cs typeface="Tahoma"/>
              </a:rPr>
              <a:t>For</a:t>
            </a:r>
            <a:r>
              <a:rPr lang="en-US" altLang="zh-CN" sz="1600" spc="-4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lang="en-US" altLang="zh-CN" sz="1600" spc="-25" dirty="0">
                <a:solidFill>
                  <a:srgbClr val="333333"/>
                </a:solidFill>
                <a:latin typeface="Tahoma"/>
                <a:cs typeface="Tahoma"/>
              </a:rPr>
              <a:t>example,</a:t>
            </a:r>
            <a:r>
              <a:rPr lang="en-US" altLang="zh-CN" sz="1600" spc="-4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lang="en-US" altLang="zh-CN" sz="1600" spc="-15" dirty="0">
                <a:solidFill>
                  <a:srgbClr val="333333"/>
                </a:solidFill>
                <a:latin typeface="Tahoma"/>
                <a:cs typeface="Tahoma"/>
              </a:rPr>
              <a:t>run</a:t>
            </a:r>
            <a:r>
              <a:rPr lang="en-US" altLang="zh-CN" sz="1600" spc="-3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lang="en-US" altLang="zh-CN" sz="1600" spc="-20" dirty="0">
                <a:solidFill>
                  <a:srgbClr val="333333"/>
                </a:solidFill>
                <a:latin typeface="Tahoma"/>
                <a:cs typeface="Tahoma"/>
              </a:rPr>
              <a:t>the</a:t>
            </a:r>
            <a:r>
              <a:rPr lang="en-US" altLang="zh-CN" sz="1600" spc="-4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lang="en-US" altLang="zh-CN" sz="1600" spc="-5" dirty="0">
                <a:solidFill>
                  <a:srgbClr val="333333"/>
                </a:solidFill>
                <a:latin typeface="Tahoma"/>
                <a:cs typeface="Tahoma"/>
              </a:rPr>
              <a:t>following</a:t>
            </a:r>
            <a:r>
              <a:rPr lang="en-US" altLang="zh-CN" sz="1600" spc="-4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lang="en-US" altLang="zh-CN" sz="1600" spc="-5" dirty="0">
                <a:solidFill>
                  <a:srgbClr val="333333"/>
                </a:solidFill>
                <a:latin typeface="Tahoma"/>
                <a:cs typeface="Tahoma"/>
              </a:rPr>
              <a:t>program</a:t>
            </a:r>
            <a:r>
              <a:rPr lang="en-US" altLang="zh-CN" sz="1600" spc="-4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lang="en-US" altLang="zh-CN" sz="1600" spc="-30" dirty="0">
                <a:solidFill>
                  <a:srgbClr val="333333"/>
                </a:solidFill>
                <a:latin typeface="Tahoma"/>
                <a:cs typeface="Tahoma"/>
              </a:rPr>
              <a:t>with</a:t>
            </a:r>
            <a:r>
              <a:rPr lang="en-US" altLang="zh-CN" sz="1600" spc="-3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lang="en-US" altLang="zh-CN" sz="1600" spc="-25" dirty="0">
                <a:solidFill>
                  <a:srgbClr val="333333"/>
                </a:solidFill>
                <a:latin typeface="Tahoma"/>
                <a:cs typeface="Tahoma"/>
              </a:rPr>
              <a:t>arguments.</a:t>
            </a:r>
            <a:r>
              <a:rPr lang="en-US" altLang="zh-CN" sz="1600" spc="-4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lang="en-US" altLang="zh-CN" sz="1600" spc="-40" dirty="0">
                <a:solidFill>
                  <a:srgbClr val="333333"/>
                </a:solidFill>
                <a:latin typeface="Tahoma"/>
                <a:cs typeface="Tahoma"/>
              </a:rPr>
              <a:t>(can </a:t>
            </a:r>
            <a:r>
              <a:rPr lang="en-US" altLang="zh-CN" sz="1600" spc="-32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lang="en-US" altLang="zh-CN" sz="1600" spc="5" dirty="0">
                <a:solidFill>
                  <a:srgbClr val="333333"/>
                </a:solidFill>
                <a:latin typeface="Tahoma"/>
                <a:cs typeface="Tahoma"/>
              </a:rPr>
              <a:t>be</a:t>
            </a:r>
            <a:r>
              <a:rPr lang="en-US" altLang="zh-CN" sz="1600" spc="-5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lang="en-US" altLang="zh-CN" sz="1600" spc="-10" dirty="0">
                <a:solidFill>
                  <a:srgbClr val="333333"/>
                </a:solidFill>
                <a:latin typeface="Tahoma"/>
                <a:cs typeface="Tahoma"/>
              </a:rPr>
              <a:t>optional)</a:t>
            </a:r>
            <a:endParaRPr lang="en-US" altLang="zh-CN" sz="1600" dirty="0">
              <a:latin typeface="Tahoma"/>
              <a:cs typeface="Tahoma"/>
            </a:endParaRPr>
          </a:p>
        </p:txBody>
      </p:sp>
      <p:pic>
        <p:nvPicPr>
          <p:cNvPr id="8" name="object 5">
            <a:extLst>
              <a:ext uri="{FF2B5EF4-FFF2-40B4-BE49-F238E27FC236}">
                <a16:creationId xmlns:a16="http://schemas.microsoft.com/office/drawing/2014/main" id="{CF6A8B2C-EA5E-53DB-7160-B5C285076BA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42588" y="2010968"/>
            <a:ext cx="6951791" cy="409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59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8" y="821054"/>
            <a:ext cx="4244621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Your first program</a:t>
            </a:r>
            <a:endParaRPr lang="en-US" altLang="en-US" sz="32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F4566916-0961-2272-03DE-F430FCF585BE}"/>
              </a:ext>
            </a:extLst>
          </p:cNvPr>
          <p:cNvSpPr txBox="1"/>
          <p:nvPr/>
        </p:nvSpPr>
        <p:spPr>
          <a:xfrm>
            <a:off x="254663" y="2453638"/>
            <a:ext cx="4341885" cy="256159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400" b="1" spc="-1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related materials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spc="-1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passing arguments to Java program in IDEs, e.g., Eclipse and IntelliJ:  https://stackoverflow.com/questions/19646719/eclipse-command-line-arguments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spc="-1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https://stackoverflow.com/questions/2066307/how-do-you-input-command-line-arguments-  in-</a:t>
            </a:r>
            <a:r>
              <a:rPr lang="en-US" sz="2000" spc="-10" dirty="0" err="1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intellij</a:t>
            </a:r>
            <a:r>
              <a:rPr lang="en-US" sz="2000" spc="-1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-idea</a:t>
            </a:r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id="{E8E10D22-8113-358C-3B73-DF15F871855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9748" y="1833867"/>
            <a:ext cx="6989945" cy="424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958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1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" name="textbox 132"/>
          <p:cNvSpPr/>
          <p:nvPr/>
        </p:nvSpPr>
        <p:spPr>
          <a:xfrm>
            <a:off x="5480494" y="2683752"/>
            <a:ext cx="1390014" cy="89788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lang="en-US" altLang="en-US" sz="1000" dirty="0"/>
          </a:p>
          <a:p>
            <a:pPr algn="r" rtl="0" eaLnBrk="0">
              <a:lnSpc>
                <a:spcPct val="84000"/>
              </a:lnSpc>
              <a:spcBef>
                <a:spcPts val="0"/>
              </a:spcBef>
            </a:pPr>
            <a:endParaRPr lang="en-US" altLang="en-US" sz="4400" dirty="0"/>
          </a:p>
        </p:txBody>
      </p:sp>
      <p:sp>
        <p:nvSpPr>
          <p:cNvPr id="133" name="textbox 133"/>
          <p:cNvSpPr/>
          <p:nvPr/>
        </p:nvSpPr>
        <p:spPr>
          <a:xfrm>
            <a:off x="5023293" y="2750743"/>
            <a:ext cx="1390013" cy="7639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5810"/>
              </a:lnSpc>
            </a:pPr>
            <a:r>
              <a:rPr sz="4400" spc="0" dirty="0">
                <a:ln w="1270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Q</a:t>
            </a:r>
            <a:r>
              <a:rPr sz="4400" spc="20" dirty="0">
                <a:ln w="1270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&amp;</a:t>
            </a:r>
            <a:r>
              <a:rPr lang="en-US" sz="4400" spc="20" dirty="0">
                <a:ln w="1270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A</a:t>
            </a:r>
            <a:endParaRPr lang="en-US" alt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2368</TotalTime>
  <Words>528</Words>
  <Application>Microsoft Office PowerPoint</Application>
  <PresentationFormat>Widescreen</PresentationFormat>
  <Paragraphs>103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Yu Gothic UI</vt:lpstr>
      <vt:lpstr>Microsoft YaHei</vt:lpstr>
      <vt:lpstr>Microsoft YaHei</vt:lpstr>
      <vt:lpstr>Arial</vt:lpstr>
      <vt:lpstr>Calibri</vt:lpstr>
      <vt:lpstr>Tahoma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Rose</dc:creator>
  <cp:lastModifiedBy>Qianrong Huang (SDS,124090221)</cp:lastModifiedBy>
  <cp:revision>90</cp:revision>
  <dcterms:created xsi:type="dcterms:W3CDTF">2022-09-26T01:30:00Z</dcterms:created>
  <dcterms:modified xsi:type="dcterms:W3CDTF">2025-09-07T06:07:05Z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wqlLaW5nc29mdCBQREYgdG8gV1BTIDgw</vt:lpwstr>
  </property>
  <property fmtid="{D5CDD505-2E9C-101B-9397-08002B2CF9AE}" pid="3" name="Created">
    <vt:filetime>2022-09-26T04:59:41Z</vt:filetime>
  </property>
  <property fmtid="{D5CDD505-2E9C-101B-9397-08002B2CF9AE}" pid="4" name="ICV">
    <vt:lpwstr>CA6E1046935FD4CDDE503063A90C075B</vt:lpwstr>
  </property>
  <property fmtid="{D5CDD505-2E9C-101B-9397-08002B2CF9AE}" pid="5" name="KSOProductBuildVer">
    <vt:lpwstr>1033-4.4.1.7360</vt:lpwstr>
  </property>
</Properties>
</file>