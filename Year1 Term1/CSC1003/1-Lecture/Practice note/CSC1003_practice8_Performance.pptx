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73" r:id="rId2"/>
    <p:sldId id="274" r:id="rId3"/>
    <p:sldId id="275" r:id="rId4"/>
    <p:sldId id="276" r:id="rId5"/>
    <p:sldId id="277" r:id="rId6"/>
    <p:sldId id="283" r:id="rId7"/>
    <p:sldId id="278" r:id="rId8"/>
    <p:sldId id="279" r:id="rId9"/>
    <p:sldId id="280" r:id="rId10"/>
    <p:sldId id="281" r:id="rId11"/>
    <p:sldId id="282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mbri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mbria Bold"/>
          <a:ea typeface="Cambria Bold"/>
          <a:cs typeface="Cambri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mbria Bold"/>
          <a:ea typeface="Cambria Bold"/>
          <a:cs typeface="Cambri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mbria Bold"/>
          <a:ea typeface="Cambria Bold"/>
          <a:cs typeface="Cambri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mbria"/>
      </a:defRPr>
    </a:lvl1pPr>
    <a:lvl2pPr indent="228600" latinLnBrk="0">
      <a:defRPr sz="1200">
        <a:latin typeface="+mj-lt"/>
        <a:ea typeface="+mj-ea"/>
        <a:cs typeface="+mj-cs"/>
        <a:sym typeface="Cambria"/>
      </a:defRPr>
    </a:lvl2pPr>
    <a:lvl3pPr indent="457200" latinLnBrk="0">
      <a:defRPr sz="1200">
        <a:latin typeface="+mj-lt"/>
        <a:ea typeface="+mj-ea"/>
        <a:cs typeface="+mj-cs"/>
        <a:sym typeface="Cambria"/>
      </a:defRPr>
    </a:lvl3pPr>
    <a:lvl4pPr indent="685800" latinLnBrk="0">
      <a:defRPr sz="1200">
        <a:latin typeface="+mj-lt"/>
        <a:ea typeface="+mj-ea"/>
        <a:cs typeface="+mj-cs"/>
        <a:sym typeface="Cambria"/>
      </a:defRPr>
    </a:lvl4pPr>
    <a:lvl5pPr indent="914400" latinLnBrk="0">
      <a:defRPr sz="1200">
        <a:latin typeface="+mj-lt"/>
        <a:ea typeface="+mj-ea"/>
        <a:cs typeface="+mj-cs"/>
        <a:sym typeface="Cambria"/>
      </a:defRPr>
    </a:lvl5pPr>
    <a:lvl6pPr indent="1143000" latinLnBrk="0">
      <a:defRPr sz="1200">
        <a:latin typeface="+mj-lt"/>
        <a:ea typeface="+mj-ea"/>
        <a:cs typeface="+mj-cs"/>
        <a:sym typeface="Cambria"/>
      </a:defRPr>
    </a:lvl6pPr>
    <a:lvl7pPr indent="1371600" latinLnBrk="0">
      <a:defRPr sz="1200">
        <a:latin typeface="+mj-lt"/>
        <a:ea typeface="+mj-ea"/>
        <a:cs typeface="+mj-cs"/>
        <a:sym typeface="Cambria"/>
      </a:defRPr>
    </a:lvl7pPr>
    <a:lvl8pPr indent="1600200" latinLnBrk="0">
      <a:defRPr sz="1200">
        <a:latin typeface="+mj-lt"/>
        <a:ea typeface="+mj-ea"/>
        <a:cs typeface="+mj-cs"/>
        <a:sym typeface="Cambria"/>
      </a:defRPr>
    </a:lvl8pPr>
    <a:lvl9pPr indent="1828800" latinLnBrk="0">
      <a:defRPr sz="1200">
        <a:latin typeface="+mj-lt"/>
        <a:ea typeface="+mj-ea"/>
        <a:cs typeface="+mj-cs"/>
        <a:sym typeface="Cambria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mbr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2" name="textbox 3"/>
          <p:cNvSpPr txBox="1"/>
          <p:nvPr/>
        </p:nvSpPr>
        <p:spPr>
          <a:xfrm>
            <a:off x="2383422" y="2656649"/>
            <a:ext cx="7425155" cy="1530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83000"/>
              </a:lnSpc>
              <a:defRPr sz="100"/>
            </a:pPr>
            <a:endParaRPr dirty="0"/>
          </a:p>
          <a:p>
            <a:pPr indent="12700" algn="ctr">
              <a:lnSpc>
                <a:spcPts val="6100"/>
              </a:lnSpc>
              <a:defRPr sz="4400" b="1" spc="-19"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CSC1003 Practice </a:t>
            </a:r>
            <a:r>
              <a:rPr lang="en-US" altLang="zh-CN" dirty="0"/>
              <a:t>8</a:t>
            </a:r>
          </a:p>
          <a:p>
            <a:pPr indent="12700" algn="ctr">
              <a:lnSpc>
                <a:spcPts val="6100"/>
              </a:lnSpc>
              <a:defRPr sz="4400" b="1" spc="-19">
                <a:latin typeface="Calibri"/>
                <a:ea typeface="Calibri"/>
                <a:cs typeface="Calibri"/>
                <a:sym typeface="Calibri"/>
              </a:defRPr>
            </a:pPr>
            <a:r>
              <a:rPr lang="en-US" dirty="0"/>
              <a:t>P</a:t>
            </a:r>
            <a:r>
              <a:rPr lang="en-US" altLang="zh-CN" dirty="0"/>
              <a:t>erformance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6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7" name="textbox 16"/>
          <p:cNvSpPr txBox="1"/>
          <p:nvPr/>
        </p:nvSpPr>
        <p:spPr>
          <a:xfrm>
            <a:off x="690492" y="342900"/>
            <a:ext cx="2927351" cy="107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3000"/>
              </a:lnSpc>
              <a:defRPr sz="100"/>
            </a:pPr>
            <a:endParaRPr sz="4000" dirty="0"/>
          </a:p>
          <a:p>
            <a:pPr indent="12700">
              <a:lnSpc>
                <a:spcPts val="4400"/>
              </a:lnSpc>
              <a:defRPr sz="3200" b="1" spc="-20">
                <a:latin typeface="Calibri"/>
                <a:ea typeface="Calibri"/>
                <a:cs typeface="Calibri"/>
                <a:sym typeface="Calibri"/>
              </a:defRPr>
            </a:pPr>
            <a:r>
              <a:rPr lang="en-US" sz="4000" dirty="0"/>
              <a:t>Brief Review</a:t>
            </a:r>
            <a:endParaRPr sz="4000" spc="0" dirty="0"/>
          </a:p>
        </p:txBody>
      </p:sp>
      <p:sp>
        <p:nvSpPr>
          <p:cNvPr id="28" name="path"/>
          <p:cNvSpPr/>
          <p:nvPr/>
        </p:nvSpPr>
        <p:spPr>
          <a:xfrm>
            <a:off x="0" y="1546858"/>
            <a:ext cx="12192000" cy="45721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089B4A-D475-39B4-1800-F9010C07E0F6}"/>
              </a:ext>
            </a:extLst>
          </p:cNvPr>
          <p:cNvSpPr txBox="1"/>
          <p:nvPr/>
        </p:nvSpPr>
        <p:spPr>
          <a:xfrm>
            <a:off x="1649895" y="2438199"/>
            <a:ext cx="4711148" cy="5975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55600" indent="-342900"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spc="-5" dirty="0">
                <a:latin typeface="Calibri"/>
                <a:cs typeface="Calibri"/>
              </a:rPr>
              <a:t>What is performance?</a:t>
            </a:r>
            <a:endParaRPr lang="en-US" altLang="zh-CN" sz="3200" dirty="0">
              <a:latin typeface="Calibri"/>
              <a:cs typeface="Calibr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BB08406-583A-F5EF-6EBB-12CC9C369B2E}"/>
              </a:ext>
            </a:extLst>
          </p:cNvPr>
          <p:cNvSpPr txBox="1"/>
          <p:nvPr/>
        </p:nvSpPr>
        <p:spPr>
          <a:xfrm>
            <a:off x="2037521" y="3094992"/>
            <a:ext cx="7881731" cy="18774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</a:rPr>
              <a:t>The essence: </a:t>
            </a:r>
            <a:r>
              <a:rPr lang="en-US" altLang="zh-CN" sz="2400" dirty="0"/>
              <a:t> </a:t>
            </a:r>
            <a:r>
              <a:rPr lang="en-US" altLang="zh-CN" sz="2400" dirty="0">
                <a:latin typeface="+mn-lt"/>
              </a:rPr>
              <a:t>the efficiency of a program in using computational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ea"/>
                <a:ea typeface="+mn-ea"/>
              </a:rPr>
              <a:t>The two most critical resources are time and space(memory).</a:t>
            </a:r>
            <a:br>
              <a:rPr lang="en-US" altLang="zh-CN" sz="2000" dirty="0"/>
            </a:b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Cambria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1D92D-A921-6FB9-527E-E8ED75ED8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">
            <a:extLst>
              <a:ext uri="{FF2B5EF4-FFF2-40B4-BE49-F238E27FC236}">
                <a16:creationId xmlns:a16="http://schemas.microsoft.com/office/drawing/2014/main" id="{A6C008BB-10E4-4FDA-1B7D-7B977ACA3ADD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6" name="rect">
            <a:extLst>
              <a:ext uri="{FF2B5EF4-FFF2-40B4-BE49-F238E27FC236}">
                <a16:creationId xmlns:a16="http://schemas.microsoft.com/office/drawing/2014/main" id="{EBC5DF9A-7083-DF1D-DF78-A5C1E02B2541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B2ECA4DE-4C57-EDEF-E71A-0319054BA997}"/>
              </a:ext>
            </a:extLst>
          </p:cNvPr>
          <p:cNvSpPr txBox="1"/>
          <p:nvPr/>
        </p:nvSpPr>
        <p:spPr>
          <a:xfrm>
            <a:off x="690492" y="342900"/>
            <a:ext cx="2927351" cy="107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3000"/>
              </a:lnSpc>
              <a:defRPr sz="100"/>
            </a:pPr>
            <a:endParaRPr sz="4000" dirty="0"/>
          </a:p>
          <a:p>
            <a:pPr indent="12700">
              <a:lnSpc>
                <a:spcPts val="4400"/>
              </a:lnSpc>
              <a:defRPr sz="3200" b="1" spc="-20">
                <a:latin typeface="Calibri"/>
                <a:ea typeface="Calibri"/>
                <a:cs typeface="Calibri"/>
                <a:sym typeface="Calibri"/>
              </a:defRPr>
            </a:pPr>
            <a:r>
              <a:rPr lang="en-US" sz="4000" dirty="0"/>
              <a:t>Brief Review</a:t>
            </a:r>
            <a:endParaRPr sz="4000" spc="0" dirty="0"/>
          </a:p>
        </p:txBody>
      </p:sp>
      <p:sp>
        <p:nvSpPr>
          <p:cNvPr id="28" name="path">
            <a:extLst>
              <a:ext uri="{FF2B5EF4-FFF2-40B4-BE49-F238E27FC236}">
                <a16:creationId xmlns:a16="http://schemas.microsoft.com/office/drawing/2014/main" id="{C592D5D1-4F8E-AF87-5FC9-F2DEA2D82BA0}"/>
              </a:ext>
            </a:extLst>
          </p:cNvPr>
          <p:cNvSpPr/>
          <p:nvPr/>
        </p:nvSpPr>
        <p:spPr>
          <a:xfrm>
            <a:off x="0" y="1546858"/>
            <a:ext cx="12192000" cy="45721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A297D7-E0F3-A070-7BCC-62429EB9DB03}"/>
              </a:ext>
            </a:extLst>
          </p:cNvPr>
          <p:cNvSpPr txBox="1"/>
          <p:nvPr/>
        </p:nvSpPr>
        <p:spPr>
          <a:xfrm>
            <a:off x="1702903" y="2832131"/>
            <a:ext cx="9275372" cy="19646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55600" indent="-342900"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altLang="zh-CN" sz="2400" dirty="0">
                <a:latin typeface="+mn-lt"/>
              </a:rPr>
              <a:t>While doubling the input size N, record the running time.</a:t>
            </a:r>
            <a:r>
              <a:rPr lang="en-GB" altLang="zh-CN" sz="2400" dirty="0">
                <a:latin typeface="+mn-lt"/>
              </a:rPr>
              <a:t> </a:t>
            </a:r>
          </a:p>
          <a:p>
            <a:pPr marL="355600" indent="-342900"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altLang="zh-CN" sz="2400" dirty="0">
                <a:latin typeface="+mn-lt"/>
                <a:cs typeface="Calibri"/>
              </a:rPr>
              <a:t>Find the cost and the frequency of execution of each operation. And the total running time is sum of cost × frequency for all operations(by Knuth). We always use only the fastest-growing term to simplify the calculations.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87A0BF-A053-AC1C-0F15-07F9AE09E20D}"/>
              </a:ext>
            </a:extLst>
          </p:cNvPr>
          <p:cNvSpPr txBox="1"/>
          <p:nvPr/>
        </p:nvSpPr>
        <p:spPr>
          <a:xfrm>
            <a:off x="1384851" y="2154838"/>
            <a:ext cx="8602367" cy="5975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12700">
              <a:spcBef>
                <a:spcPts val="100"/>
              </a:spcBef>
              <a:tabLst>
                <a:tab pos="354965" algn="l"/>
                <a:tab pos="355600" algn="l"/>
              </a:tabLst>
            </a:pPr>
            <a:r>
              <a:rPr lang="en-US" altLang="zh-CN" sz="3200" spc="-5" dirty="0">
                <a:latin typeface="Calibri"/>
                <a:cs typeface="Calibri"/>
              </a:rPr>
              <a:t>The way to predict the performance of a program:</a:t>
            </a:r>
            <a:endParaRPr lang="en-US" altLang="zh-CN"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896172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0367D-6043-AE30-A3F9-FB284167C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">
            <a:extLst>
              <a:ext uri="{FF2B5EF4-FFF2-40B4-BE49-F238E27FC236}">
                <a16:creationId xmlns:a16="http://schemas.microsoft.com/office/drawing/2014/main" id="{AA236C3C-762C-DD18-9A3B-7CECE6E65FC7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6" name="rect">
            <a:extLst>
              <a:ext uri="{FF2B5EF4-FFF2-40B4-BE49-F238E27FC236}">
                <a16:creationId xmlns:a16="http://schemas.microsoft.com/office/drawing/2014/main" id="{BF96F8C7-D450-E65B-AA83-A7C3F3098B5A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3557642E-6293-2515-7D98-BE0E740CEB69}"/>
              </a:ext>
            </a:extLst>
          </p:cNvPr>
          <p:cNvSpPr txBox="1"/>
          <p:nvPr/>
        </p:nvSpPr>
        <p:spPr>
          <a:xfrm>
            <a:off x="690492" y="342900"/>
            <a:ext cx="2927351" cy="107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3000"/>
              </a:lnSpc>
              <a:defRPr sz="100"/>
            </a:pPr>
            <a:endParaRPr sz="4000" dirty="0"/>
          </a:p>
          <a:p>
            <a:pPr indent="12700">
              <a:lnSpc>
                <a:spcPts val="4400"/>
              </a:lnSpc>
              <a:defRPr sz="3200" b="1" spc="-20">
                <a:latin typeface="Calibri"/>
                <a:ea typeface="Calibri"/>
                <a:cs typeface="Calibri"/>
                <a:sym typeface="Calibri"/>
              </a:defRPr>
            </a:pPr>
            <a:r>
              <a:rPr lang="en-US" sz="4000" dirty="0"/>
              <a:t>Brief Review</a:t>
            </a:r>
            <a:endParaRPr sz="4000" spc="0" dirty="0"/>
          </a:p>
        </p:txBody>
      </p:sp>
      <p:sp>
        <p:nvSpPr>
          <p:cNvPr id="28" name="path">
            <a:extLst>
              <a:ext uri="{FF2B5EF4-FFF2-40B4-BE49-F238E27FC236}">
                <a16:creationId xmlns:a16="http://schemas.microsoft.com/office/drawing/2014/main" id="{05C4CC78-94F9-E21F-2E23-329E75D43861}"/>
              </a:ext>
            </a:extLst>
          </p:cNvPr>
          <p:cNvSpPr/>
          <p:nvPr/>
        </p:nvSpPr>
        <p:spPr>
          <a:xfrm>
            <a:off x="0" y="1546858"/>
            <a:ext cx="12192000" cy="45721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3CB4E2-6957-0DE2-701F-C113B905B09D}"/>
              </a:ext>
            </a:extLst>
          </p:cNvPr>
          <p:cNvSpPr txBox="1"/>
          <p:nvPr/>
        </p:nvSpPr>
        <p:spPr>
          <a:xfrm>
            <a:off x="3048828" y="3244334"/>
            <a:ext cx="609765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30596F-204F-9F34-6028-1D14CE593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36" y="1741271"/>
            <a:ext cx="4818953" cy="30541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141541F-C095-5073-4AB4-7D18C341B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763" y="1714085"/>
            <a:ext cx="5657201" cy="379916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D822932-6EF9-C34B-018E-4127A16F98EB}"/>
              </a:ext>
            </a:extLst>
          </p:cNvPr>
          <p:cNvSpPr txBox="1"/>
          <p:nvPr/>
        </p:nvSpPr>
        <p:spPr>
          <a:xfrm>
            <a:off x="302164" y="5145663"/>
            <a:ext cx="5657201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+mn-lt"/>
              </a:rPr>
              <a:t>Using Knuth's method, we can determine that the time complexity is O(n³).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52970005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C316A-FD53-17ED-CB03-5FE1D3428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">
            <a:extLst>
              <a:ext uri="{FF2B5EF4-FFF2-40B4-BE49-F238E27FC236}">
                <a16:creationId xmlns:a16="http://schemas.microsoft.com/office/drawing/2014/main" id="{18C85818-FE49-841E-EDD1-9269BE621A9F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6" name="rect">
            <a:extLst>
              <a:ext uri="{FF2B5EF4-FFF2-40B4-BE49-F238E27FC236}">
                <a16:creationId xmlns:a16="http://schemas.microsoft.com/office/drawing/2014/main" id="{356560A3-808E-BA28-27F2-DEB11FFFFDFE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1F66BACB-86AE-4F87-CCEC-A34031869939}"/>
              </a:ext>
            </a:extLst>
          </p:cNvPr>
          <p:cNvSpPr txBox="1"/>
          <p:nvPr/>
        </p:nvSpPr>
        <p:spPr>
          <a:xfrm>
            <a:off x="690492" y="342900"/>
            <a:ext cx="5938908" cy="107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83000"/>
              </a:lnSpc>
              <a:defRPr sz="100"/>
            </a:pPr>
            <a:endParaRPr sz="4000" dirty="0"/>
          </a:p>
          <a:p>
            <a:pPr indent="12700">
              <a:lnSpc>
                <a:spcPts val="4400"/>
              </a:lnSpc>
              <a:defRPr sz="3200" b="1" spc="-20">
                <a:latin typeface="Calibri"/>
                <a:ea typeface="Calibri"/>
                <a:cs typeface="Calibri"/>
                <a:sym typeface="Calibri"/>
              </a:defRPr>
            </a:pPr>
            <a:r>
              <a:rPr lang="en-US" sz="4000" dirty="0"/>
              <a:t>Practice A</a:t>
            </a:r>
            <a:endParaRPr sz="4000" spc="0" dirty="0"/>
          </a:p>
        </p:txBody>
      </p:sp>
      <p:sp>
        <p:nvSpPr>
          <p:cNvPr id="28" name="path">
            <a:extLst>
              <a:ext uri="{FF2B5EF4-FFF2-40B4-BE49-F238E27FC236}">
                <a16:creationId xmlns:a16="http://schemas.microsoft.com/office/drawing/2014/main" id="{305BA320-15B1-525B-CA67-F1E28651F13D}"/>
              </a:ext>
            </a:extLst>
          </p:cNvPr>
          <p:cNvSpPr/>
          <p:nvPr/>
        </p:nvSpPr>
        <p:spPr>
          <a:xfrm>
            <a:off x="0" y="1546858"/>
            <a:ext cx="12192000" cy="45721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365095-4327-1D75-F6B5-5BBCF5AE3904}"/>
              </a:ext>
            </a:extLst>
          </p:cNvPr>
          <p:cNvSpPr txBox="1"/>
          <p:nvPr/>
        </p:nvSpPr>
        <p:spPr>
          <a:xfrm>
            <a:off x="1548020" y="2471020"/>
            <a:ext cx="609765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B95ED6-D049-A0F3-D5E5-E8ED70F6B8F6}"/>
              </a:ext>
            </a:extLst>
          </p:cNvPr>
          <p:cNvSpPr txBox="1"/>
          <p:nvPr/>
        </p:nvSpPr>
        <p:spPr>
          <a:xfrm>
            <a:off x="815842" y="1808573"/>
            <a:ext cx="7380905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+mn-lt"/>
              </a:rPr>
              <a:t>Analyze the time complexity of the following program.</a:t>
            </a:r>
          </a:p>
          <a:p>
            <a:br>
              <a:rPr lang="en-US" altLang="zh-CN" sz="2400" dirty="0">
                <a:latin typeface="+mn-lt"/>
              </a:rPr>
            </a:b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Cambri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6B41244-0230-1029-D415-7CA572448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98" y="2402580"/>
            <a:ext cx="8353710" cy="397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24678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A08D-B761-9A53-7B8E-E71B280B9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">
            <a:extLst>
              <a:ext uri="{FF2B5EF4-FFF2-40B4-BE49-F238E27FC236}">
                <a16:creationId xmlns:a16="http://schemas.microsoft.com/office/drawing/2014/main" id="{7B78C091-FEBF-23AF-9FA8-85F0A75DBE93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6" name="rect">
            <a:extLst>
              <a:ext uri="{FF2B5EF4-FFF2-40B4-BE49-F238E27FC236}">
                <a16:creationId xmlns:a16="http://schemas.microsoft.com/office/drawing/2014/main" id="{9B3E967E-847F-9442-870D-7F776AC6CF68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134580F6-9E45-5C25-2277-143057BD1FCC}"/>
              </a:ext>
            </a:extLst>
          </p:cNvPr>
          <p:cNvSpPr txBox="1"/>
          <p:nvPr/>
        </p:nvSpPr>
        <p:spPr>
          <a:xfrm>
            <a:off x="690492" y="342900"/>
            <a:ext cx="5938908" cy="107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83000"/>
              </a:lnSpc>
              <a:defRPr sz="100"/>
            </a:pPr>
            <a:endParaRPr sz="4000" dirty="0"/>
          </a:p>
          <a:p>
            <a:pPr indent="12700">
              <a:lnSpc>
                <a:spcPts val="4400"/>
              </a:lnSpc>
              <a:defRPr sz="3200" b="1" spc="-20">
                <a:latin typeface="Calibri"/>
                <a:ea typeface="Calibri"/>
                <a:cs typeface="Calibri"/>
                <a:sym typeface="Calibri"/>
              </a:defRPr>
            </a:pPr>
            <a:r>
              <a:rPr lang="en-US" sz="4000" dirty="0"/>
              <a:t>Practice A</a:t>
            </a:r>
            <a:endParaRPr sz="4000" spc="0" dirty="0"/>
          </a:p>
        </p:txBody>
      </p:sp>
      <p:sp>
        <p:nvSpPr>
          <p:cNvPr id="28" name="path">
            <a:extLst>
              <a:ext uri="{FF2B5EF4-FFF2-40B4-BE49-F238E27FC236}">
                <a16:creationId xmlns:a16="http://schemas.microsoft.com/office/drawing/2014/main" id="{8234FC3D-15EC-07D4-1142-D4E6EE5D3C84}"/>
              </a:ext>
            </a:extLst>
          </p:cNvPr>
          <p:cNvSpPr/>
          <p:nvPr/>
        </p:nvSpPr>
        <p:spPr>
          <a:xfrm>
            <a:off x="0" y="1546858"/>
            <a:ext cx="12192000" cy="45721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5018B2-5B1A-DE95-9B2F-8C5AF38F4E08}"/>
              </a:ext>
            </a:extLst>
          </p:cNvPr>
          <p:cNvSpPr txBox="1"/>
          <p:nvPr/>
        </p:nvSpPr>
        <p:spPr>
          <a:xfrm>
            <a:off x="1548020" y="2471020"/>
            <a:ext cx="609765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BD5EC7A-64C0-2B1F-A5F1-64596E6029A6}"/>
                  </a:ext>
                </a:extLst>
              </p:cNvPr>
              <p:cNvSpPr txBox="1"/>
              <p:nvPr/>
            </p:nvSpPr>
            <p:spPr>
              <a:xfrm>
                <a:off x="394231" y="2860334"/>
                <a:ext cx="4097461" cy="1098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kumimoji="0" lang="zh-CN" alt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mbria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  <m:aln/>
                            </m:rPr>
                            <a:rPr kumimoji="0" lang="en-US" altLang="zh-CN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mbria"/>
                            </a:rPr>
                            <m:t>𝑖</m:t>
                          </m:r>
                          <m:r>
                            <a:rPr kumimoji="0" lang="zh-CN" alt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mbria"/>
                            </a:rPr>
                            <m:t>=1</m:t>
                          </m:r>
                        </m:sub>
                        <m:sup>
                          <m:r>
                            <a:rPr kumimoji="0" lang="zh-CN" alt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mbria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kumimoji="0" lang="zh-CN" alt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mbria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mbria"/>
                                </a:rPr>
                                <m:t>𝑛</m:t>
                              </m:r>
                              <m:r>
                                <a:rPr kumimoji="0" lang="zh-CN" alt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mbria"/>
                                </a:rPr>
                                <m:t>−ⅈ−1</m:t>
                              </m:r>
                            </m:e>
                          </m:d>
                        </m:e>
                      </m:nary>
                      <m:r>
                        <a:rPr kumimoji="0" lang="zh-CN" alt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mbria"/>
                        </a:rPr>
                        <m:t>=</m:t>
                      </m:r>
                      <m:f>
                        <m:fPr>
                          <m:ctrlPr>
                            <a:rPr kumimoji="0" lang="zh-CN" altLang="en-US" sz="24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mbria"/>
                            </a:rPr>
                          </m:ctrlPr>
                        </m:fPr>
                        <m:num>
                          <m:r>
                            <a:rPr kumimoji="0" lang="zh-CN" altLang="en-US" sz="2400" b="0" i="0" u="none" strike="noStrike" cap="none" spc="0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mbria"/>
                            </a:rPr>
                            <m:t>𝑛</m:t>
                          </m:r>
                          <m:d>
                            <m:dPr>
                              <m:ctrlPr>
                                <a:rPr kumimoji="0" lang="zh-CN" altLang="en-US" sz="2400" b="0" i="1" u="none" strike="noStrike" cap="none" spc="0" normalizeH="0" baseline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mbria"/>
                                </a:rPr>
                              </m:ctrlPr>
                            </m:dPr>
                            <m:e>
                              <m:r>
                                <a:rPr kumimoji="0" lang="zh-CN" altLang="en-US" sz="2400" b="0" i="0" u="none" strike="noStrike" cap="none" spc="0" normalizeH="0" baseline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mbria"/>
                                </a:rPr>
                                <m:t>𝑛</m:t>
                              </m:r>
                              <m:r>
                                <a:rPr kumimoji="0" lang="zh-CN" altLang="en-US" sz="2400" b="0" i="0" u="none" strike="noStrike" cap="none" spc="0" normalizeH="0" baseline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mbria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kumimoji="0" lang="zh-CN" altLang="en-US" sz="2400" b="0" i="0" u="none" strike="noStrike" cap="none" spc="0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mbria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j-ea"/>
                  <a:cs typeface="+mj-cs"/>
                  <a:sym typeface="Cambria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BD5EC7A-64C0-2B1F-A5F1-64596E602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31" y="2860334"/>
                <a:ext cx="4097461" cy="10985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A3C82BA-7925-622F-5352-ACD50F0C8946}"/>
                  </a:ext>
                </a:extLst>
              </p:cNvPr>
              <p:cNvSpPr txBox="1"/>
              <p:nvPr/>
            </p:nvSpPr>
            <p:spPr>
              <a:xfrm>
                <a:off x="690492" y="4235112"/>
                <a:ext cx="7235017" cy="4616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ea typeface="+mj-ea"/>
                    <a:cs typeface="+mj-cs"/>
                    <a:sym typeface="Cambria"/>
                  </a:rPr>
                  <a:t>We can find the complexity of the program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pt-BR" altLang="zh-CN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mbria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mbria"/>
                          </a:rPr>
                          <m:t>𝑂</m:t>
                        </m:r>
                        <m:r>
                          <a:rPr kumimoji="0" lang="en-US" altLang="zh-CN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mbria"/>
                          </a:rPr>
                          <m:t>(</m:t>
                        </m:r>
                        <m:r>
                          <a:rPr kumimoji="0" lang="en-US" altLang="zh-CN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mbria"/>
                          </a:rPr>
                          <m:t>𝑛</m:t>
                        </m:r>
                      </m:e>
                      <m:sup>
                        <m:r>
                          <a:rPr kumimoji="0" lang="pt-BR" altLang="zh-CN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mbria"/>
                          </a:rPr>
                          <m:t>2</m:t>
                        </m:r>
                      </m:sup>
                    </m:sSup>
                    <m:r>
                      <a:rPr kumimoji="0" lang="en-US" altLang="zh-CN" sz="24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  <a:sym typeface="Cambria"/>
                      </a:rPr>
                      <m:t>)</m:t>
                    </m:r>
                  </m:oMath>
                </a14:m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j-ea"/>
                  <a:cs typeface="+mj-cs"/>
                  <a:sym typeface="Cambria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A3C82BA-7925-622F-5352-ACD50F0C8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492" y="4235112"/>
                <a:ext cx="7235017" cy="461663"/>
              </a:xfrm>
              <a:prstGeom prst="rect">
                <a:avLst/>
              </a:prstGeom>
              <a:blipFill>
                <a:blip r:embed="rId3"/>
                <a:stretch>
                  <a:fillRect l="-1938" t="-10667" b="-306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916741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2008-2BDC-62C3-9317-86881AA6B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">
            <a:extLst>
              <a:ext uri="{FF2B5EF4-FFF2-40B4-BE49-F238E27FC236}">
                <a16:creationId xmlns:a16="http://schemas.microsoft.com/office/drawing/2014/main" id="{923D7DE7-A0E8-AFF1-E27D-DBD61E8BF298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6" name="rect">
            <a:extLst>
              <a:ext uri="{FF2B5EF4-FFF2-40B4-BE49-F238E27FC236}">
                <a16:creationId xmlns:a16="http://schemas.microsoft.com/office/drawing/2014/main" id="{B5539539-ABEA-E64E-CA2A-28864C706575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23F10873-ACB0-A771-3510-CC8296F8AEF0}"/>
              </a:ext>
            </a:extLst>
          </p:cNvPr>
          <p:cNvSpPr txBox="1"/>
          <p:nvPr/>
        </p:nvSpPr>
        <p:spPr>
          <a:xfrm>
            <a:off x="690492" y="342900"/>
            <a:ext cx="2927351" cy="107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3000"/>
              </a:lnSpc>
              <a:defRPr sz="100"/>
            </a:pPr>
            <a:endParaRPr sz="4000" dirty="0"/>
          </a:p>
          <a:p>
            <a:pPr indent="12700">
              <a:lnSpc>
                <a:spcPts val="4400"/>
              </a:lnSpc>
              <a:defRPr sz="3200" b="1" spc="-20">
                <a:latin typeface="Calibri"/>
                <a:ea typeface="Calibri"/>
                <a:cs typeface="Calibri"/>
                <a:sym typeface="Calibri"/>
              </a:defRPr>
            </a:pPr>
            <a:r>
              <a:rPr lang="en-US" sz="4000" dirty="0"/>
              <a:t>Practice </a:t>
            </a:r>
            <a:r>
              <a:rPr lang="en-US" altLang="zh-CN" sz="4000" dirty="0"/>
              <a:t>B</a:t>
            </a:r>
            <a:endParaRPr sz="4000" spc="0" dirty="0"/>
          </a:p>
        </p:txBody>
      </p:sp>
      <p:sp>
        <p:nvSpPr>
          <p:cNvPr id="28" name="path">
            <a:extLst>
              <a:ext uri="{FF2B5EF4-FFF2-40B4-BE49-F238E27FC236}">
                <a16:creationId xmlns:a16="http://schemas.microsoft.com/office/drawing/2014/main" id="{695E56DB-8400-E86A-4594-C40EECE8522D}"/>
              </a:ext>
            </a:extLst>
          </p:cNvPr>
          <p:cNvSpPr/>
          <p:nvPr/>
        </p:nvSpPr>
        <p:spPr>
          <a:xfrm>
            <a:off x="0" y="1546858"/>
            <a:ext cx="12192000" cy="45721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07BD70-5A1F-9BB0-293E-2374A66B484F}"/>
              </a:ext>
            </a:extLst>
          </p:cNvPr>
          <p:cNvSpPr txBox="1"/>
          <p:nvPr/>
        </p:nvSpPr>
        <p:spPr>
          <a:xfrm>
            <a:off x="1548020" y="2471020"/>
            <a:ext cx="609765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99066A-D03B-A440-CC1D-EFE2E1CE5946}"/>
              </a:ext>
            </a:extLst>
          </p:cNvPr>
          <p:cNvSpPr txBox="1"/>
          <p:nvPr/>
        </p:nvSpPr>
        <p:spPr>
          <a:xfrm>
            <a:off x="5312464" y="3479765"/>
            <a:ext cx="3220279" cy="15703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mbri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C549C7A-6EF9-2F35-F263-1E7B25A8C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22" y="1721371"/>
            <a:ext cx="6472625" cy="451735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A3A6012-1331-4BEC-001B-F83F49DDEA25}"/>
              </a:ext>
            </a:extLst>
          </p:cNvPr>
          <p:cNvSpPr txBox="1"/>
          <p:nvPr/>
        </p:nvSpPr>
        <p:spPr>
          <a:xfrm>
            <a:off x="6922603" y="1829525"/>
            <a:ext cx="5409745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Cambria"/>
              </a:rPr>
              <a:t>Tips: consider the length(right-left+1)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91305272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1594E-6117-B635-745F-65333F112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">
            <a:extLst>
              <a:ext uri="{FF2B5EF4-FFF2-40B4-BE49-F238E27FC236}">
                <a16:creationId xmlns:a16="http://schemas.microsoft.com/office/drawing/2014/main" id="{56CC268D-9AFE-F854-616B-12690DEA8F86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6" name="rect">
            <a:extLst>
              <a:ext uri="{FF2B5EF4-FFF2-40B4-BE49-F238E27FC236}">
                <a16:creationId xmlns:a16="http://schemas.microsoft.com/office/drawing/2014/main" id="{4F2B5584-BF05-590F-4B63-6C735C538844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9C05DEA1-2F29-C6B0-830F-B0D68C354ED4}"/>
              </a:ext>
            </a:extLst>
          </p:cNvPr>
          <p:cNvSpPr txBox="1"/>
          <p:nvPr/>
        </p:nvSpPr>
        <p:spPr>
          <a:xfrm>
            <a:off x="690492" y="342900"/>
            <a:ext cx="2927351" cy="107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3000"/>
              </a:lnSpc>
              <a:defRPr sz="100"/>
            </a:pPr>
            <a:endParaRPr sz="4000" dirty="0"/>
          </a:p>
          <a:p>
            <a:pPr indent="12700">
              <a:lnSpc>
                <a:spcPts val="4400"/>
              </a:lnSpc>
              <a:defRPr sz="3200" b="1" spc="-20">
                <a:latin typeface="Calibri"/>
                <a:ea typeface="Calibri"/>
                <a:cs typeface="Calibri"/>
                <a:sym typeface="Calibri"/>
              </a:defRPr>
            </a:pPr>
            <a:r>
              <a:rPr lang="en-US" sz="4000" dirty="0"/>
              <a:t>Practice </a:t>
            </a:r>
            <a:r>
              <a:rPr lang="en-US" altLang="zh-CN" sz="4000" dirty="0"/>
              <a:t>B</a:t>
            </a:r>
            <a:endParaRPr sz="4000" spc="0" dirty="0"/>
          </a:p>
        </p:txBody>
      </p:sp>
      <p:sp>
        <p:nvSpPr>
          <p:cNvPr id="28" name="path">
            <a:extLst>
              <a:ext uri="{FF2B5EF4-FFF2-40B4-BE49-F238E27FC236}">
                <a16:creationId xmlns:a16="http://schemas.microsoft.com/office/drawing/2014/main" id="{06B1F2DD-1940-34AD-EB94-3B2947B495AE}"/>
              </a:ext>
            </a:extLst>
          </p:cNvPr>
          <p:cNvSpPr/>
          <p:nvPr/>
        </p:nvSpPr>
        <p:spPr>
          <a:xfrm>
            <a:off x="0" y="1546858"/>
            <a:ext cx="12192000" cy="45721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508374-FE4C-E1BE-E783-65A84D67C1CF}"/>
              </a:ext>
            </a:extLst>
          </p:cNvPr>
          <p:cNvSpPr txBox="1"/>
          <p:nvPr/>
        </p:nvSpPr>
        <p:spPr>
          <a:xfrm>
            <a:off x="1548020" y="2471020"/>
            <a:ext cx="609765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1E88A2E-AC54-C6C0-FCC0-E50E13D78108}"/>
              </a:ext>
            </a:extLst>
          </p:cNvPr>
          <p:cNvSpPr txBox="1"/>
          <p:nvPr/>
        </p:nvSpPr>
        <p:spPr>
          <a:xfrm>
            <a:off x="5312464" y="3479765"/>
            <a:ext cx="3220279" cy="15703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2A80FDF-E513-00FF-275F-763A37E7FBB3}"/>
                  </a:ext>
                </a:extLst>
              </p:cNvPr>
              <p:cNvSpPr txBox="1"/>
              <p:nvPr/>
            </p:nvSpPr>
            <p:spPr>
              <a:xfrm>
                <a:off x="906229" y="2583323"/>
                <a:ext cx="9365344" cy="47076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+mn-lt"/>
                  </a:rPr>
                  <a:t>We can observe that the length is halved each time.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4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2400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altLang="zh-CN" sz="2400" dirty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+mn-lt"/>
                  </a:rPr>
                  <a:t>Therefore, the time complexity of this program is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altLang="zh-CN" sz="2400" dirty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+mn-lt"/>
                </a:endParaRPr>
              </a:p>
              <a:p>
                <a:br>
                  <a:rPr lang="en-US" altLang="zh-CN" sz="2400" dirty="0"/>
                </a:br>
                <a:endParaRPr lang="en-US" altLang="zh-CN" sz="2400" dirty="0">
                  <a:latin typeface="+mn-lt"/>
                </a:endParaRPr>
              </a:p>
              <a:p>
                <a:endParaRPr lang="en-US" altLang="zh-CN" sz="2400" dirty="0">
                  <a:latin typeface="+mn-lt"/>
                </a:endParaRPr>
              </a:p>
              <a:p>
                <a:br>
                  <a:rPr lang="en-US" altLang="zh-CN" sz="2400" dirty="0">
                    <a:latin typeface="+mn-lt"/>
                  </a:rPr>
                </a:b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j-ea"/>
                  <a:cs typeface="+mj-cs"/>
                  <a:sym typeface="Cambria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2A80FDF-E513-00FF-275F-763A37E7F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29" y="2583323"/>
                <a:ext cx="9365344" cy="4707697"/>
              </a:xfrm>
              <a:prstGeom prst="rect">
                <a:avLst/>
              </a:prstGeom>
              <a:blipFill>
                <a:blip r:embed="rId2"/>
                <a:stretch>
                  <a:fillRect l="-1367" t="-90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417438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B0911-37CC-2647-5716-4F78ACE9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">
            <a:extLst>
              <a:ext uri="{FF2B5EF4-FFF2-40B4-BE49-F238E27FC236}">
                <a16:creationId xmlns:a16="http://schemas.microsoft.com/office/drawing/2014/main" id="{9D042EE9-2423-ABE6-4909-6B5E3C022390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6" name="rect">
            <a:extLst>
              <a:ext uri="{FF2B5EF4-FFF2-40B4-BE49-F238E27FC236}">
                <a16:creationId xmlns:a16="http://schemas.microsoft.com/office/drawing/2014/main" id="{DFCB98B8-C8DE-4FA3-EA5E-364936B4F0F6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A59DC8C1-B2DA-0DA0-C4E1-60BE338DB02D}"/>
              </a:ext>
            </a:extLst>
          </p:cNvPr>
          <p:cNvSpPr txBox="1"/>
          <p:nvPr/>
        </p:nvSpPr>
        <p:spPr>
          <a:xfrm>
            <a:off x="690492" y="342900"/>
            <a:ext cx="2927351" cy="107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3000"/>
              </a:lnSpc>
              <a:defRPr sz="100"/>
            </a:pPr>
            <a:endParaRPr sz="4000" dirty="0"/>
          </a:p>
          <a:p>
            <a:pPr indent="12700">
              <a:lnSpc>
                <a:spcPts val="4400"/>
              </a:lnSpc>
              <a:defRPr sz="3200" b="1" spc="-20">
                <a:latin typeface="Calibri"/>
                <a:ea typeface="Calibri"/>
                <a:cs typeface="Calibri"/>
                <a:sym typeface="Calibri"/>
              </a:defRPr>
            </a:pPr>
            <a:r>
              <a:rPr lang="en-US" sz="4000" dirty="0"/>
              <a:t>Extra practice</a:t>
            </a:r>
            <a:endParaRPr sz="4000" spc="0" dirty="0"/>
          </a:p>
        </p:txBody>
      </p:sp>
      <p:sp>
        <p:nvSpPr>
          <p:cNvPr id="28" name="path">
            <a:extLst>
              <a:ext uri="{FF2B5EF4-FFF2-40B4-BE49-F238E27FC236}">
                <a16:creationId xmlns:a16="http://schemas.microsoft.com/office/drawing/2014/main" id="{733D847B-8D9C-5ABA-C71B-3A6364F40334}"/>
              </a:ext>
            </a:extLst>
          </p:cNvPr>
          <p:cNvSpPr/>
          <p:nvPr/>
        </p:nvSpPr>
        <p:spPr>
          <a:xfrm>
            <a:off x="0" y="1546858"/>
            <a:ext cx="12192000" cy="45721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A90585-5058-2FFB-5281-CE4968100ACB}"/>
              </a:ext>
            </a:extLst>
          </p:cNvPr>
          <p:cNvSpPr txBox="1"/>
          <p:nvPr/>
        </p:nvSpPr>
        <p:spPr>
          <a:xfrm>
            <a:off x="1548020" y="2471020"/>
            <a:ext cx="609765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0249C2-38B9-6BF1-9866-F417C2F2F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62" y="1658593"/>
            <a:ext cx="6160898" cy="482859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F8CE267-BD20-103E-0C64-320707CA39D1}"/>
              </a:ext>
            </a:extLst>
          </p:cNvPr>
          <p:cNvSpPr txBox="1"/>
          <p:nvPr/>
        </p:nvSpPr>
        <p:spPr>
          <a:xfrm>
            <a:off x="6524216" y="1658593"/>
            <a:ext cx="5576157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+mn-lt"/>
              </a:rPr>
              <a:t>We define n as right - left + 1.</a:t>
            </a:r>
          </a:p>
          <a:p>
            <a:endParaRPr lang="en-US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Tips: Consider the final values of </a:t>
            </a:r>
            <a:r>
              <a:rPr lang="en-US" altLang="zh-CN" sz="2400" dirty="0" err="1">
                <a:latin typeface="+mn-lt"/>
              </a:rPr>
              <a:t>i</a:t>
            </a:r>
            <a:r>
              <a:rPr lang="en-US" altLang="zh-CN" sz="2400" dirty="0">
                <a:latin typeface="+mn-lt"/>
              </a:rPr>
              <a:t> and j.</a:t>
            </a:r>
          </a:p>
          <a:p>
            <a:br>
              <a:rPr lang="en-US" altLang="zh-CN" dirty="0"/>
            </a:b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6310368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A98EA-6163-4669-702F-64729C353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">
            <a:extLst>
              <a:ext uri="{FF2B5EF4-FFF2-40B4-BE49-F238E27FC236}">
                <a16:creationId xmlns:a16="http://schemas.microsoft.com/office/drawing/2014/main" id="{F9287153-B50C-15FE-DF21-8AA8464E73F7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6" name="rect">
            <a:extLst>
              <a:ext uri="{FF2B5EF4-FFF2-40B4-BE49-F238E27FC236}">
                <a16:creationId xmlns:a16="http://schemas.microsoft.com/office/drawing/2014/main" id="{2CEAB69D-F869-2CD3-DAAA-E835ED297779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D2487632-C4A8-9094-526E-7942E6B2E845}"/>
              </a:ext>
            </a:extLst>
          </p:cNvPr>
          <p:cNvSpPr txBox="1"/>
          <p:nvPr/>
        </p:nvSpPr>
        <p:spPr>
          <a:xfrm>
            <a:off x="505368" y="342900"/>
            <a:ext cx="2927351" cy="107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3000"/>
              </a:lnSpc>
              <a:defRPr sz="100"/>
            </a:pPr>
            <a:endParaRPr sz="4000" dirty="0"/>
          </a:p>
          <a:p>
            <a:pPr indent="12700">
              <a:lnSpc>
                <a:spcPts val="4400"/>
              </a:lnSpc>
              <a:defRPr sz="3200" b="1" spc="-20">
                <a:latin typeface="Calibri"/>
                <a:ea typeface="Calibri"/>
                <a:cs typeface="Calibri"/>
                <a:sym typeface="Calibri"/>
              </a:defRPr>
            </a:pPr>
            <a:r>
              <a:rPr lang="en-US" sz="4000" dirty="0"/>
              <a:t>Extra practice</a:t>
            </a:r>
            <a:endParaRPr sz="4000" spc="0" dirty="0"/>
          </a:p>
        </p:txBody>
      </p:sp>
      <p:sp>
        <p:nvSpPr>
          <p:cNvPr id="28" name="path">
            <a:extLst>
              <a:ext uri="{FF2B5EF4-FFF2-40B4-BE49-F238E27FC236}">
                <a16:creationId xmlns:a16="http://schemas.microsoft.com/office/drawing/2014/main" id="{718908BE-F2F8-213A-6C49-DFA103629F9C}"/>
              </a:ext>
            </a:extLst>
          </p:cNvPr>
          <p:cNvSpPr/>
          <p:nvPr/>
        </p:nvSpPr>
        <p:spPr>
          <a:xfrm>
            <a:off x="0" y="1546858"/>
            <a:ext cx="12192000" cy="45721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500A66-11D9-1EAD-D763-2445F98A43EB}"/>
              </a:ext>
            </a:extLst>
          </p:cNvPr>
          <p:cNvSpPr txBox="1"/>
          <p:nvPr/>
        </p:nvSpPr>
        <p:spPr>
          <a:xfrm>
            <a:off x="1548020" y="2471020"/>
            <a:ext cx="609765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8AFC0B-2230-B590-7EF9-AA0ECCC5C5AD}"/>
              </a:ext>
            </a:extLst>
          </p:cNvPr>
          <p:cNvSpPr txBox="1"/>
          <p:nvPr/>
        </p:nvSpPr>
        <p:spPr>
          <a:xfrm>
            <a:off x="295692" y="2731464"/>
            <a:ext cx="11782241" cy="1569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2400" dirty="0">
                <a:latin typeface="+mn-lt"/>
              </a:rPr>
              <a:t>We can see that the final value of </a:t>
            </a:r>
            <a:r>
              <a:rPr lang="en-US" altLang="zh-CN" sz="2400" dirty="0" err="1">
                <a:latin typeface="+mn-lt"/>
              </a:rPr>
              <a:t>i</a:t>
            </a:r>
            <a:r>
              <a:rPr lang="en-US" altLang="zh-CN" sz="2400" dirty="0">
                <a:latin typeface="+mn-lt"/>
              </a:rPr>
              <a:t> is mid + 1 and the final value of j is right + 1. Furthermore, in every iteration except the last one, either </a:t>
            </a:r>
            <a:r>
              <a:rPr lang="en-US" altLang="zh-CN" sz="2400" dirty="0" err="1">
                <a:latin typeface="+mn-lt"/>
              </a:rPr>
              <a:t>i</a:t>
            </a:r>
            <a:r>
              <a:rPr lang="en-US" altLang="zh-CN" sz="2400" dirty="0">
                <a:latin typeface="+mn-lt"/>
              </a:rPr>
              <a:t> or j is incremented by 1.</a:t>
            </a: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zh-C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Cambria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2400" dirty="0">
                <a:latin typeface="+mn-lt"/>
              </a:rPr>
              <a:t>So the complexity is O(mid + 1 – left + right + 1 – (mid + 1) + right – left + 1) = O(n).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1982323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123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B4C7E7"/>
          </a:solidFill>
          <a:ln w="12700">
            <a:miter lim="400000"/>
          </a:ln>
        </p:spPr>
        <p:txBody>
          <a:bodyPr lIns="45719" rIns="45719"/>
          <a:lstStyle/>
          <a:p>
            <a:pPr algn="ctr"/>
            <a:endParaRPr/>
          </a:p>
        </p:txBody>
      </p:sp>
      <p:sp>
        <p:nvSpPr>
          <p:cNvPr id="124" name="textbox 133"/>
          <p:cNvSpPr txBox="1"/>
          <p:nvPr/>
        </p:nvSpPr>
        <p:spPr>
          <a:xfrm>
            <a:off x="5415129" y="3047046"/>
            <a:ext cx="1361741" cy="728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3000"/>
              </a:lnSpc>
              <a:defRPr sz="100"/>
            </a:pPr>
            <a:endParaRPr/>
          </a:p>
          <a:p>
            <a:pPr indent="12700">
              <a:lnSpc>
                <a:spcPts val="5800"/>
              </a:lnSpc>
              <a:defRPr sz="4400">
                <a:ln w="12700" cap="flat">
                  <a:solidFill>
                    <a:srgbClr val="000000"/>
                  </a:solidFill>
                  <a:prstDash val="solid"/>
                  <a:miter lim="0"/>
                </a:ln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Q</a:t>
            </a:r>
            <a:r>
              <a:rPr spc="19"/>
              <a:t>&amp;A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mbria"/>
        <a:ea typeface="Cambria"/>
        <a:cs typeface="Cambria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mbr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mbr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mbria"/>
        <a:ea typeface="Cambria"/>
        <a:cs typeface="Cambria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mbr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mbr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298</Words>
  <Application>Microsoft Office PowerPoint</Application>
  <PresentationFormat>宽屏</PresentationFormat>
  <Paragraphs>52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Arial MT</vt:lpstr>
      <vt:lpstr>Arial</vt:lpstr>
      <vt:lpstr>Calibri</vt:lpstr>
      <vt:lpstr>Cambria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MoFei Zhou</cp:lastModifiedBy>
  <cp:revision>7</cp:revision>
  <dcterms:modified xsi:type="dcterms:W3CDTF">2025-11-10T05:00:18Z</dcterms:modified>
</cp:coreProperties>
</file>