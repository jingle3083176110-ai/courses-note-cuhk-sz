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507" r:id="rId3"/>
    <p:sldId id="508" r:id="rId4"/>
    <p:sldId id="509" r:id="rId5"/>
    <p:sldId id="510" r:id="rId6"/>
    <p:sldId id="276" r:id="rId7"/>
    <p:sldId id="600" r:id="rId8"/>
    <p:sldId id="599" r:id="rId9"/>
    <p:sldId id="649" r:id="rId10"/>
    <p:sldId id="628" r:id="rId11"/>
    <p:sldId id="269" r:id="rId12"/>
    <p:sldId id="652" r:id="rId13"/>
    <p:sldId id="270" r:id="rId14"/>
    <p:sldId id="258" r:id="rId15"/>
    <p:sldId id="647" r:id="rId16"/>
    <p:sldId id="259" r:id="rId17"/>
    <p:sldId id="646" r:id="rId18"/>
    <p:sldId id="640" r:id="rId19"/>
    <p:sldId id="263" r:id="rId20"/>
    <p:sldId id="641" r:id="rId21"/>
    <p:sldId id="653" r:id="rId22"/>
    <p:sldId id="642" r:id="rId23"/>
    <p:sldId id="643" r:id="rId24"/>
    <p:sldId id="266" r:id="rId25"/>
    <p:sldId id="644" r:id="rId26"/>
    <p:sldId id="645" r:id="rId27"/>
    <p:sldId id="257" r:id="rId28"/>
    <p:sldId id="650" r:id="rId29"/>
    <p:sldId id="651" r:id="rId30"/>
    <p:sldId id="629" r:id="rId31"/>
    <p:sldId id="635" r:id="rId32"/>
    <p:sldId id="654" r:id="rId33"/>
    <p:sldId id="633" r:id="rId34"/>
    <p:sldId id="655" r:id="rId35"/>
    <p:sldId id="634" r:id="rId36"/>
    <p:sldId id="656" r:id="rId37"/>
    <p:sldId id="657" r:id="rId38"/>
    <p:sldId id="636" r:id="rId39"/>
    <p:sldId id="639" r:id="rId40"/>
    <p:sldId id="637" r:id="rId41"/>
    <p:sldId id="638" r:id="rId42"/>
    <p:sldId id="630" r:id="rId43"/>
    <p:sldId id="631" r:id="rId44"/>
    <p:sldId id="297" r:id="rId45"/>
    <p:sldId id="296" r:id="rId46"/>
  </p:sldIdLst>
  <p:sldSz cx="14630400" cy="8229600"/>
  <p:notesSz cx="8229600" cy="14630400"/>
  <p:embeddedFontLst>
    <p:embeddedFont>
      <p:font typeface="Roboto" panose="02000000000000000000" pitchFamily="2" charset="0"/>
      <p:regular r:id="rId48"/>
      <p:bold r:id="rId49"/>
      <p:italic r:id="rId50"/>
      <p:boldItalic r:id="rId51"/>
    </p:embeddedFont>
    <p:embeddedFont>
      <p:font typeface="Roboto Slab" pitchFamily="2" charset="0"/>
      <p:regular r:id="rId52"/>
      <p:bold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7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18" autoAdjust="0"/>
    <p:restoredTop sz="94150" autoAdjust="0"/>
  </p:normalViewPr>
  <p:slideViewPr>
    <p:cSldViewPr snapToGrid="0" snapToObjects="1">
      <p:cViewPr varScale="1">
        <p:scale>
          <a:sx n="100" d="100"/>
          <a:sy n="100" d="100"/>
        </p:scale>
        <p:origin x="11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5659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04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73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30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78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01B8-5846-45E8-E456-CB373102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7EBA9-6333-D369-5729-AEA0D7431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A984E-F424-748D-22F2-87CD9F44B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90294-7F07-3F4F-DC08-6B52771D70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28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96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311EF-D719-FFB2-3E54-750F92603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6B0F6C-1565-DA81-12AA-B94CD8F98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B0AAA6-368D-7ABC-2973-64E163D81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www.cgtn.com</a:t>
            </a:r>
            <a:r>
              <a:rPr lang="en-US" dirty="0"/>
              <a:t>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37E38-8349-6F53-4E1D-FB9C5763B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03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14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AFA7D-7A11-C800-6D72-711100A65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1AAAF-860E-6EC8-9BA1-92D9B2ECE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82BA7-9234-FD6D-768E-97CDAF906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D5870-A152-A762-2FAC-8906C54E8F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014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55C4B-1E6C-BCDD-42CC-27A2F9845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B5AAE-6BFB-27D9-C9A7-0B87184F9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748B4-30D2-AED7-0038-91F30FC7F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EAEC2-D755-656E-16EC-03D00EAD2E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84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CE0E5-C071-682C-5287-AE8633D1B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4FD5F-5C9C-BC76-71FE-58639F43E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A4F70-BCF7-6C96-2826-B8378E81B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90B8D-72B8-D399-99AB-6475BF9F2D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7313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/>
              <a:t>https://</a:t>
            </a:r>
            <a:r>
              <a:rPr kumimoji="1" lang="en-US" altLang="zh-CN" dirty="0" err="1"/>
              <a:t>www.cgtn.com</a:t>
            </a:r>
            <a:r>
              <a:rPr kumimoji="1" lang="en-US" altLang="zh-CN" dirty="0"/>
              <a:t>/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9588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27B3D-ABF2-77AD-BB03-265133D20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A06C7-A9D3-C81E-F015-CB4E3EBA6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29ACC-EEF2-0534-60D7-12A558F27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CE8CF-AF58-16A4-EE07-A054767473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0860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/>
              <a:t>Read {{inpu1}} to find 2 news related to {{topic}} and list their 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79947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37C37-8D4D-E334-76F4-1988305F4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13DB5B9-0FCC-8005-E477-BC3DCFDB0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D01F7B-3D9B-91A4-1AD1-F2F1F794B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/>
              <a:t>Read {{inpu1}} to find 2 news related to {{topic}} and list their 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52775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/>
              <a:t>List the news </a:t>
            </a:r>
            <a:r>
              <a:rPr kumimoji="1" lang="en-US" altLang="zh-CN" dirty="0" err="1"/>
              <a:t>accroding</a:t>
            </a:r>
            <a:r>
              <a:rPr kumimoji="1" lang="en-US" altLang="zh-CN" dirty="0"/>
              <a:t> to the following format and requirement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News Source 1:</a:t>
            </a:r>
          </a:p>
          <a:p>
            <a:r>
              <a:rPr kumimoji="1" lang="en-US" altLang="zh-CN" dirty="0"/>
              <a:t>Based on {{input}}, list 5 news, including title{{</a:t>
            </a:r>
            <a:r>
              <a:rPr kumimoji="1" lang="en-US" altLang="zh-CN" dirty="0" err="1"/>
              <a:t>input.news_results</a:t>
            </a:r>
            <a:r>
              <a:rPr kumimoji="1" lang="en-US" altLang="zh-CN" dirty="0"/>
              <a:t>[0].title}}, and link {{</a:t>
            </a:r>
            <a:r>
              <a:rPr kumimoji="1" lang="en-US" altLang="zh-CN" dirty="0" err="1"/>
              <a:t>input.news_results</a:t>
            </a:r>
            <a:r>
              <a:rPr kumimoji="1" lang="en-US" altLang="zh-CN" dirty="0"/>
              <a:t>[0].link}}.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News Source 2:</a:t>
            </a:r>
          </a:p>
          <a:p>
            <a:r>
              <a:rPr kumimoji="1" lang="en-US" altLang="zh-CN" dirty="0"/>
              <a:t>Based on {{input2}} list 2 news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17984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F8E44-6521-97FA-DFE2-B135715AE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6D435-54AF-E42C-3ADE-B1C7053C1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D5C73-BDD8-8E85-CE7A-0C3EA0E94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972AD-CE3F-42D9-0605-C6E5533C08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933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E0A77-820F-2EF9-DC0F-63CB2F0BD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D4B2E-EFE9-6B5E-D1F7-5F1B3D82D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32265-1C83-67F2-2A93-1309BD8CB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499DF-2F6E-94CA-C79C-1F7AE7408B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193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77F8E-FFB2-9779-D0E9-CA4FE469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17280-A0E0-D8A8-F2F3-2135077453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B38BB-EDFF-717D-A8C0-1934B5E2C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www.cgtn.com</a:t>
            </a:r>
            <a:r>
              <a:rPr lang="en-US" dirty="0"/>
              <a:t>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76735-82D9-C996-2BC4-31B5C31C57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287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2587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E4EA1-E887-46C0-4CD3-A1B932EF9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296071-6BE1-8A2E-9F38-E03581D0C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86B563-B5D7-9326-747D-718301E26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www.cgtn.com</a:t>
            </a:r>
            <a:r>
              <a:rPr lang="en-US" dirty="0"/>
              <a:t>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D768D-AAD6-0A8A-4C6A-315F42FC3B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519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055C4-A968-BB55-4244-AE0C08CAF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2C1E0-88A2-78DB-09F1-6B197346C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A4DD9-DC93-7F5D-10EB-6F1AD8DC6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51039-CFC0-C9E2-A60C-02F853D648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083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A1791-9DA4-6E42-585E-67909C64A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6008AF-EA18-78F2-E0B6-7F46A2673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9D1D7-F1D8-27A1-7F45-D99BBE7E1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www.cgtn.com</a:t>
            </a:r>
            <a:r>
              <a:rPr lang="en-US" dirty="0"/>
              <a:t>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1065C-6379-5799-3F40-1AF50D3A4B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160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DA93E-78C7-82D9-C7D8-D2A43B890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45B2F-D045-B061-853B-682EBF490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FBD6BA-F944-C3D9-5912-B61428D71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32F42-00A4-77A9-D0F9-D683BD55B9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171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DA1F0-3033-4F72-5D59-FAE4F1437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5E14E0-9594-F9ED-2C00-97687D29D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5536D-F64B-DA21-109D-8A8D59DBD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8E970-CE92-BD30-E3A4-A768C7615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5256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500C7-FC22-1012-EE5F-6C7AC25D2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DE541-BB9F-6FA2-06C2-2D4454AF7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BF415-7EE5-2561-7777-CF65FB2A5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2B6EC-C108-D365-413A-8333B4E114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919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coze.com/" TargetMode="External"/><Relationship Id="rId5" Type="http://schemas.openxmlformats.org/officeDocument/2006/relationships/hyperlink" Target="https://coze.cn/" TargetMode="Externa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oze.cn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coze.cn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coze.com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chXMRwuWxE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Relationship Id="rId4" Type="http://schemas.openxmlformats.org/officeDocument/2006/relationships/hyperlink" Target="https://www.youtube.com/watch?v=44eFf-tRiSg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15289" y="1894403"/>
            <a:ext cx="9999702" cy="1249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00"/>
              </a:lnSpc>
              <a:buNone/>
            </a:pPr>
            <a:r>
              <a:rPr lang="en-US" sz="7850" b="1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DAI 1000</a:t>
            </a:r>
            <a:endParaRPr lang="en-US" sz="7850" dirty="0"/>
          </a:p>
        </p:txBody>
      </p:sp>
      <p:sp>
        <p:nvSpPr>
          <p:cNvPr id="3" name="Text 1"/>
          <p:cNvSpPr/>
          <p:nvPr/>
        </p:nvSpPr>
        <p:spPr>
          <a:xfrm>
            <a:off x="1964888" y="3661886"/>
            <a:ext cx="10700504" cy="1249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00"/>
              </a:lnSpc>
              <a:buNone/>
            </a:pPr>
            <a:r>
              <a:rPr lang="en-US" sz="7850" b="1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Digital and AI Literacy</a:t>
            </a:r>
            <a:endParaRPr lang="en-US" sz="7850" dirty="0"/>
          </a:p>
        </p:txBody>
      </p:sp>
      <p:sp>
        <p:nvSpPr>
          <p:cNvPr id="4" name="Text 2"/>
          <p:cNvSpPr/>
          <p:nvPr/>
        </p:nvSpPr>
        <p:spPr>
          <a:xfrm>
            <a:off x="1846540" y="5429369"/>
            <a:ext cx="10937200" cy="90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100"/>
              </a:lnSpc>
              <a:buNone/>
            </a:pPr>
            <a:r>
              <a:rPr lang="en-US" sz="5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</a:t>
            </a:r>
            <a:r>
              <a:rPr lang="en-US" altLang="zh-CN" sz="5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11</a:t>
            </a:r>
            <a:r>
              <a:rPr lang="en-US" sz="5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- AI </a:t>
            </a:r>
            <a:r>
              <a:rPr lang="en-US" altLang="zh-CN" sz="5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Application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2927"/>
            <a:ext cx="7088267" cy="885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950"/>
              </a:lnSpc>
              <a:buNone/>
            </a:pPr>
            <a:r>
              <a:rPr lang="en-US" sz="5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Class Objectives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3095847"/>
            <a:ext cx="13042821" cy="56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50000"/>
              </a:lnSpc>
              <a:buSzPct val="100000"/>
            </a:pPr>
            <a:r>
              <a:rPr lang="en-US" altLang="zh-CN" sz="2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</a:t>
            </a:r>
            <a:r>
              <a:rPr lang="zh-CN" altLang="en-US" sz="2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Recap of 3 Agent Types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endParaRPr lang="en-US" sz="28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altLang="zh-CN" sz="2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</a:t>
            </a:r>
            <a:r>
              <a:rPr lang="zh-CN" altLang="en-US" sz="2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2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Workflow Agent Demo and Practice</a:t>
            </a:r>
          </a:p>
          <a:p>
            <a:pPr marL="800100" lvl="1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altLang="zh-CN" sz="2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English Version</a:t>
            </a:r>
            <a:r>
              <a:rPr lang="zh-CN" altLang="en-US" sz="2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2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Instruction (</a:t>
            </a:r>
            <a:r>
              <a:rPr lang="en-US" altLang="zh-CN" sz="280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coze.com</a:t>
            </a:r>
            <a:r>
              <a:rPr lang="en-US" altLang="zh-CN" sz="2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)</a:t>
            </a:r>
          </a:p>
          <a:p>
            <a:pPr marL="800100" lvl="1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altLang="zh-CN" sz="2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Chinese Version</a:t>
            </a:r>
            <a:r>
              <a:rPr lang="zh-CN" altLang="en-US" sz="2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2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Instruction (</a:t>
            </a:r>
            <a:r>
              <a:rPr lang="en-US" altLang="zh-CN" sz="280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coze.cn</a:t>
            </a:r>
            <a:r>
              <a:rPr lang="en-US" altLang="zh-CN" sz="2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)</a:t>
            </a:r>
          </a:p>
          <a:p>
            <a:pPr marL="800100" lvl="1" indent="-342900">
              <a:lnSpc>
                <a:spcPct val="150000"/>
              </a:lnSpc>
              <a:buSzPct val="100000"/>
              <a:buFontTx/>
              <a:buChar char="•"/>
            </a:pPr>
            <a:endParaRPr lang="en-US" altLang="zh-CN" sz="28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800100" lvl="1" indent="-342900">
              <a:lnSpc>
                <a:spcPct val="150000"/>
              </a:lnSpc>
              <a:buSzPct val="100000"/>
              <a:buFontTx/>
              <a:buChar char="•"/>
            </a:pPr>
            <a:endParaRPr lang="en-US" sz="2800" dirty="0"/>
          </a:p>
          <a:p>
            <a:pPr algn="l">
              <a:lnSpc>
                <a:spcPct val="150000"/>
              </a:lnSpc>
              <a:buSzPct val="100000"/>
            </a:pPr>
            <a:endParaRPr lang="en-US" sz="28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955" y="321236"/>
            <a:ext cx="694646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Three Categories of AI Agents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777960"/>
            <a:ext cx="4215289" cy="5690592"/>
          </a:xfrm>
          <a:prstGeom prst="roundRect">
            <a:avLst>
              <a:gd name="adj" fmla="val 70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92148" y="197631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Role-Based Agents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2148" y="2904054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they work: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have </a:t>
            </a:r>
            <a:r>
              <a:rPr lang="en-US" dirty="0">
                <a:solidFill>
                  <a:srgbClr val="C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specific job or role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following set rules.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92148" y="4052759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they're good at: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reliable, just like you'd expect someone in their role to be.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28692" y="5388911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you see them: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virtual interviewers, customer service, and educational tutors.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E34043E-E574-4CAC-B82B-D745EDF7D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418" y="1346460"/>
            <a:ext cx="3233642" cy="65883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D8286A-D3A5-43E3-87AF-FFE17EAE3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1399" y="1346460"/>
            <a:ext cx="3247586" cy="65883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93790" y="1777960"/>
            <a:ext cx="4215289" cy="5690592"/>
          </a:xfrm>
          <a:prstGeom prst="roundRect">
            <a:avLst>
              <a:gd name="adj" fmla="val 70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92148" y="197631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Role-Based Agents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2148" y="2904054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they work: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have </a:t>
            </a:r>
            <a:r>
              <a:rPr lang="en-US" dirty="0">
                <a:solidFill>
                  <a:srgbClr val="C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specific job or role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following set rules.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92148" y="4094799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they're good at: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reliable, just like you'd expect someone in their role to be.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28692" y="5388911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you see them: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virtual interviewers, customer service, and educational tutors.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93790" y="1777960"/>
            <a:ext cx="4215408" cy="5690592"/>
          </a:xfrm>
          <a:prstGeom prst="roundRect">
            <a:avLst>
              <a:gd name="adj" fmla="val 70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92148" y="197631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RAG Agents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92148" y="2904055"/>
            <a:ext cx="3818692" cy="108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they work: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add information from </a:t>
            </a:r>
            <a:r>
              <a:rPr lang="en-US" dirty="0">
                <a:solidFill>
                  <a:srgbClr val="C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specific sources 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(like a company).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92148" y="4052759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they're good at: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giving accurate answers, especially on specific topics.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92148" y="5388911"/>
            <a:ext cx="38186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you see them: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medical chatbots, legal helpers, tech support systems, or tools for academic research.</a:t>
            </a:r>
            <a:endParaRPr lang="en-US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DCCB8097-E573-4D0D-9009-0CF8CE933C4E}"/>
              </a:ext>
            </a:extLst>
          </p:cNvPr>
          <p:cNvSpPr/>
          <p:nvPr/>
        </p:nvSpPr>
        <p:spPr>
          <a:xfrm>
            <a:off x="495955" y="321236"/>
            <a:ext cx="694646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Three Categories of AI Agents</a:t>
            </a:r>
            <a:endParaRPr lang="en-US" sz="3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4BA8416-427A-4366-AF77-4D831BAC7A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7" t="10934" r="51947" b="40625"/>
          <a:stretch/>
        </p:blipFill>
        <p:spPr>
          <a:xfrm>
            <a:off x="7442418" y="5330766"/>
            <a:ext cx="5974836" cy="288102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EDBFBF1-5B4A-4821-96D8-DD219DFD1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489" y="1260904"/>
            <a:ext cx="7011121" cy="392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220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93790" y="1777960"/>
            <a:ext cx="4215289" cy="5690592"/>
          </a:xfrm>
          <a:prstGeom prst="roundRect">
            <a:avLst>
              <a:gd name="adj" fmla="val 70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92148" y="197631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Role-Based Agents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2148" y="2904054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they work: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have </a:t>
            </a:r>
            <a:r>
              <a:rPr lang="en-US" dirty="0">
                <a:solidFill>
                  <a:srgbClr val="C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specific job or role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following set rules.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92148" y="4094799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they're good at: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reliable, just like you'd expect someone in their role to be.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28692" y="5388911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you see them: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virtual interviewers, customer service, and educational tutors.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93790" y="1777960"/>
            <a:ext cx="4215289" cy="5690592"/>
          </a:xfrm>
          <a:prstGeom prst="roundRect">
            <a:avLst>
              <a:gd name="adj" fmla="val 70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92148" y="197631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Workflow Agents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92148" y="2904054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they work: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handle big tasks by </a:t>
            </a:r>
            <a:r>
              <a:rPr lang="en-US" dirty="0">
                <a:solidFill>
                  <a:srgbClr val="C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different tools 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 programs.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92145" y="4030148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they're good at: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managing many steps, making sure everything works together smoothly.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92146" y="5395336"/>
            <a:ext cx="38185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you see them: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booking trips, analyzing data, making reports automatically, or controlling a smart home.</a:t>
            </a:r>
            <a:endParaRPr lang="en-US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924A3015-F560-4486-8F4D-C898A51C30DF}"/>
              </a:ext>
            </a:extLst>
          </p:cNvPr>
          <p:cNvSpPr/>
          <p:nvPr/>
        </p:nvSpPr>
        <p:spPr>
          <a:xfrm>
            <a:off x="495955" y="321236"/>
            <a:ext cx="694646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Three Categories of AI Agents</a:t>
            </a:r>
            <a:endParaRPr lang="en-US" sz="3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2A2DC08-6987-439F-ADA6-8ED5E3EF59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75"/>
          <a:stretch/>
        </p:blipFill>
        <p:spPr>
          <a:xfrm>
            <a:off x="5184857" y="2348388"/>
            <a:ext cx="9422787" cy="380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43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073" y="1029414"/>
            <a:ext cx="4057769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altLang="zh-CN" sz="3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Workflow</a:t>
            </a:r>
            <a:r>
              <a:rPr lang="zh-CN" altLang="en-US" sz="3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3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Agent</a:t>
            </a:r>
            <a:r>
              <a:rPr lang="zh-CN" altLang="en-US" sz="3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3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Benefits</a:t>
            </a:r>
            <a:r>
              <a:rPr lang="zh-CN" altLang="en-US" sz="3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966073" y="2019657"/>
            <a:ext cx="543401" cy="543401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085612" y="2101155"/>
            <a:ext cx="304324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1750933" y="2049780"/>
            <a:ext cx="5413296" cy="483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Automation of Repetitive Tasks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1750933" y="2677716"/>
            <a:ext cx="5216795" cy="144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800"/>
              </a:lnSpc>
              <a:buNone/>
            </a:pPr>
            <a:r>
              <a:rPr 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can continuously execute routine</a:t>
            </a:r>
            <a:r>
              <a:rPr lang="en-US" altLang="zh-CN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s,</a:t>
            </a:r>
            <a:r>
              <a:rPr 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such as data collection, filtering</a:t>
            </a:r>
            <a:r>
              <a:rPr lang="en-US" sz="2350" dirty="0">
                <a:latin typeface="Roboto" pitchFamily="34" charset="0"/>
                <a:ea typeface="Roboto" pitchFamily="34" charset="-122"/>
                <a:cs typeface="Roboto" pitchFamily="34" charset="-120"/>
              </a:rPr>
              <a:t>, and summarization</a:t>
            </a:r>
            <a:r>
              <a:rPr 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2350" dirty="0"/>
          </a:p>
        </p:txBody>
      </p:sp>
      <p:sp>
        <p:nvSpPr>
          <p:cNvPr id="7" name="Shape 5"/>
          <p:cNvSpPr/>
          <p:nvPr/>
        </p:nvSpPr>
        <p:spPr>
          <a:xfrm>
            <a:off x="7662674" y="2019657"/>
            <a:ext cx="543401" cy="543401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782213" y="2101155"/>
            <a:ext cx="304324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8447534" y="2049780"/>
            <a:ext cx="5413415" cy="483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Scalability Across Sources and Tasks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8447534" y="2677716"/>
            <a:ext cx="5086279" cy="144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800"/>
              </a:lnSpc>
              <a:buNone/>
            </a:pPr>
            <a:r>
              <a:rPr lang="en-US" altLang="zh-CN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</a:t>
            </a:r>
            <a:r>
              <a:rPr lang="zh-CN" alt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can handle large volumes of data from multiple channels</a:t>
            </a:r>
            <a:r>
              <a:rPr lang="en-US" altLang="zh-CN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  <a:r>
              <a:rPr lang="zh-CN" alt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such</a:t>
            </a:r>
            <a:r>
              <a:rPr lang="zh-CN" alt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</a:t>
            </a:r>
            <a:r>
              <a:rPr 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various</a:t>
            </a:r>
            <a:r>
              <a:rPr lang="zh-CN" alt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websites</a:t>
            </a:r>
            <a:r>
              <a:rPr lang="zh-CN" alt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</a:t>
            </a:r>
            <a:r>
              <a:rPr lang="zh-CN" alt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media.</a:t>
            </a:r>
            <a:endParaRPr lang="en-US" sz="2350" dirty="0"/>
          </a:p>
        </p:txBody>
      </p:sp>
      <p:sp>
        <p:nvSpPr>
          <p:cNvPr id="11" name="Shape 9"/>
          <p:cNvSpPr/>
          <p:nvPr/>
        </p:nvSpPr>
        <p:spPr>
          <a:xfrm>
            <a:off x="966073" y="4609862"/>
            <a:ext cx="543401" cy="543401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85612" y="4691360"/>
            <a:ext cx="304324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350" dirty="0"/>
          </a:p>
        </p:txBody>
      </p:sp>
      <p:sp>
        <p:nvSpPr>
          <p:cNvPr id="13" name="Text 11"/>
          <p:cNvSpPr/>
          <p:nvPr/>
        </p:nvSpPr>
        <p:spPr>
          <a:xfrm>
            <a:off x="1750933" y="4639985"/>
            <a:ext cx="5413296" cy="483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Seamless Integration with Other Tools</a:t>
            </a:r>
            <a:endParaRPr lang="en-US" sz="2350" dirty="0"/>
          </a:p>
        </p:txBody>
      </p:sp>
      <p:sp>
        <p:nvSpPr>
          <p:cNvPr id="14" name="Text 12"/>
          <p:cNvSpPr/>
          <p:nvPr/>
        </p:nvSpPr>
        <p:spPr>
          <a:xfrm>
            <a:off x="1750933" y="5267920"/>
            <a:ext cx="5216795" cy="1932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800"/>
              </a:lnSpc>
              <a:buNone/>
            </a:pPr>
            <a:r>
              <a:rPr 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can coordinate different tools (</a:t>
            </a:r>
            <a:r>
              <a:rPr lang="en-US" altLang="zh-CN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e.g.,</a:t>
            </a:r>
            <a:r>
              <a:rPr lang="zh-CN" alt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browsers, spreadsheets, APIs, databases) to finish the whole task, without manual intervention.</a:t>
            </a:r>
            <a:endParaRPr lang="en-US" sz="2350" dirty="0"/>
          </a:p>
        </p:txBody>
      </p:sp>
      <p:sp>
        <p:nvSpPr>
          <p:cNvPr id="15" name="Shape 13"/>
          <p:cNvSpPr/>
          <p:nvPr/>
        </p:nvSpPr>
        <p:spPr>
          <a:xfrm>
            <a:off x="7662674" y="4609862"/>
            <a:ext cx="543401" cy="543401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782213" y="4691360"/>
            <a:ext cx="304324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350" dirty="0"/>
          </a:p>
        </p:txBody>
      </p:sp>
      <p:sp>
        <p:nvSpPr>
          <p:cNvPr id="17" name="Text 15"/>
          <p:cNvSpPr/>
          <p:nvPr/>
        </p:nvSpPr>
        <p:spPr>
          <a:xfrm>
            <a:off x="8447534" y="4639985"/>
            <a:ext cx="5413415" cy="483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Personalization and Flexibility</a:t>
            </a:r>
            <a:endParaRPr lang="en-US" sz="2350" dirty="0"/>
          </a:p>
        </p:txBody>
      </p:sp>
      <p:sp>
        <p:nvSpPr>
          <p:cNvPr id="18" name="Text 16"/>
          <p:cNvSpPr/>
          <p:nvPr/>
        </p:nvSpPr>
        <p:spPr>
          <a:xfrm>
            <a:off x="8447534" y="5267920"/>
            <a:ext cx="5086279" cy="1932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800"/>
              </a:lnSpc>
              <a:buNone/>
            </a:pPr>
            <a:r>
              <a:rPr 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can design their own workflows</a:t>
            </a:r>
            <a:r>
              <a:rPr lang="en-US" altLang="zh-CN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  <a:r>
              <a:rPr lang="zh-CN" alt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allowing the AI agent to adapt to individual goals, interests, or organizational needs.</a:t>
            </a:r>
            <a:endParaRPr lang="en-US" sz="2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767577-D39D-4660-A3AE-4A9252F43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039" y="0"/>
            <a:ext cx="9776321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75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2A34DB-9DA9-4E58-B9CB-13B389730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882" y="0"/>
            <a:ext cx="10926635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627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7DE8E-BB57-2138-710A-7849BE6F8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2D1C78-3B5C-2ACC-F08D-7B0973F3EFE3}"/>
              </a:ext>
            </a:extLst>
          </p:cNvPr>
          <p:cNvSpPr/>
          <p:nvPr/>
        </p:nvSpPr>
        <p:spPr>
          <a:xfrm>
            <a:off x="793790" y="1642927"/>
            <a:ext cx="7088267" cy="885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950"/>
              </a:lnSpc>
              <a:buNone/>
            </a:pPr>
            <a:r>
              <a:rPr lang="en-US" sz="5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Class Objectives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BAF924-44D4-CDEC-50CB-27F8B803EA31}"/>
              </a:ext>
            </a:extLst>
          </p:cNvPr>
          <p:cNvSpPr/>
          <p:nvPr/>
        </p:nvSpPr>
        <p:spPr>
          <a:xfrm>
            <a:off x="793790" y="3095847"/>
            <a:ext cx="13042821" cy="56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50000"/>
              </a:lnSpc>
              <a:buSzPct val="100000"/>
            </a:pPr>
            <a:r>
              <a:rPr lang="en-US" altLang="zh-CN" sz="2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</a:t>
            </a:r>
            <a:r>
              <a:rPr lang="zh-CN" altLang="en-US" sz="2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Recap of 3 Agent Types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endParaRPr lang="en-US" sz="28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altLang="zh-CN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</a:t>
            </a:r>
            <a:r>
              <a:rPr lang="zh-CN" altLang="en-US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Workflow Agent Demo and Practice</a:t>
            </a:r>
          </a:p>
          <a:p>
            <a:pPr marL="800100" lvl="1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altLang="zh-CN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English</a:t>
            </a:r>
            <a:r>
              <a:rPr lang="zh-CN" altLang="en-US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Version</a:t>
            </a:r>
            <a:r>
              <a:rPr lang="zh-CN" altLang="en-US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Instruction (</a:t>
            </a:r>
            <a:r>
              <a:rPr lang="en-US" altLang="zh-CN" sz="2800" b="1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coze.com</a:t>
            </a:r>
            <a:r>
              <a:rPr lang="en-US" altLang="zh-CN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)</a:t>
            </a:r>
          </a:p>
          <a:p>
            <a:pPr marL="800100" lvl="1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altLang="zh-CN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Chinese</a:t>
            </a:r>
            <a:r>
              <a:rPr lang="zh-CN" altLang="en-US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Version</a:t>
            </a:r>
            <a:r>
              <a:rPr lang="zh-CN" altLang="en-US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Instruction</a:t>
            </a:r>
            <a:r>
              <a:rPr lang="zh-CN" altLang="en-US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(</a:t>
            </a:r>
            <a:r>
              <a:rPr lang="en-US" altLang="zh-CN" sz="2800" b="1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coze.cn</a:t>
            </a:r>
            <a:r>
              <a:rPr lang="en-US" altLang="zh-CN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)</a:t>
            </a:r>
          </a:p>
          <a:p>
            <a:pPr algn="l">
              <a:lnSpc>
                <a:spcPct val="150000"/>
              </a:lnSpc>
              <a:buSzPct val="100000"/>
            </a:pPr>
            <a:endParaRPr lang="en-US" sz="28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3695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ECF9CB-6BBF-1DC2-D37E-E2672966E659}"/>
              </a:ext>
            </a:extLst>
          </p:cNvPr>
          <p:cNvSpPr/>
          <p:nvPr/>
        </p:nvSpPr>
        <p:spPr>
          <a:xfrm>
            <a:off x="879143" y="2145030"/>
            <a:ext cx="12872114" cy="19697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altLang="zh-CN" sz="4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Workflow Agent Demo</a:t>
            </a:r>
          </a:p>
          <a:p>
            <a:pPr marL="0" indent="0" algn="l">
              <a:buNone/>
            </a:pPr>
            <a:endParaRPr lang="en-US" altLang="zh-CN" sz="4000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0" indent="0" algn="l">
              <a:buNone/>
            </a:pPr>
            <a:r>
              <a:rPr lang="en-US" altLang="zh-CN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Building</a:t>
            </a:r>
            <a:r>
              <a:rPr lang="zh-CN" alt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Agent</a:t>
            </a:r>
            <a:r>
              <a:rPr lang="zh-CN" alt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</a:t>
            </a:r>
            <a:r>
              <a:rPr lang="zh-CN" alt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Collect</a:t>
            </a:r>
            <a:r>
              <a:rPr lang="zh-CN" alt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News</a:t>
            </a:r>
            <a:r>
              <a:rPr lang="zh-CN" alt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from</a:t>
            </a:r>
            <a:r>
              <a:rPr lang="zh-CN" alt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Various</a:t>
            </a:r>
            <a:r>
              <a:rPr lang="zh-CN" alt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Sources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6B0C055-E880-CC77-0FFB-8EBEC803B090}"/>
              </a:ext>
            </a:extLst>
          </p:cNvPr>
          <p:cNvSpPr/>
          <p:nvPr/>
        </p:nvSpPr>
        <p:spPr>
          <a:xfrm>
            <a:off x="879143" y="4420599"/>
            <a:ext cx="10755809" cy="1830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sz="3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First, I’ll demonstrate how to build an AI agent</a:t>
            </a:r>
          </a:p>
          <a:p>
            <a:pPr algn="just">
              <a:lnSpc>
                <a:spcPct val="200000"/>
              </a:lnSpc>
            </a:pPr>
            <a:r>
              <a:rPr lang="en-US" altLang="zh-CN" sz="3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 that, you’ll build one</a:t>
            </a:r>
            <a:r>
              <a:rPr lang="zh-CN" altLang="en-US" sz="3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yourself</a:t>
            </a:r>
            <a:endParaRPr lang="en-US" sz="32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CE60A3-861D-4B4A-8B46-77712D0F0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88" y="1986417"/>
            <a:ext cx="9761104" cy="29626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D10D79-EF16-4407-8F45-4A01C338ED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6069"/>
          <a:stretch>
            <a:fillRect/>
          </a:stretch>
        </p:blipFill>
        <p:spPr>
          <a:xfrm>
            <a:off x="4457788" y="5413595"/>
            <a:ext cx="9832536" cy="259528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CF9A8D9-97A0-FD37-93C1-BDC162B503C0}"/>
              </a:ext>
            </a:extLst>
          </p:cNvPr>
          <p:cNvSpPr txBox="1"/>
          <p:nvPr/>
        </p:nvSpPr>
        <p:spPr>
          <a:xfrm>
            <a:off x="800188" y="5208502"/>
            <a:ext cx="7315200" cy="1230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hlinkClick r:id="rId5"/>
              </a:rPr>
              <a:t>https://coze.cn/</a:t>
            </a:r>
            <a:r>
              <a:rPr lang="zh-CN" altLang="en-US" sz="2600" dirty="0"/>
              <a:t> </a:t>
            </a:r>
            <a:endParaRPr lang="en-US" altLang="zh-CN" sz="2600" dirty="0"/>
          </a:p>
          <a:p>
            <a:pPr>
              <a:lnSpc>
                <a:spcPct val="150000"/>
              </a:lnSpc>
            </a:pPr>
            <a:r>
              <a:rPr lang="en-US" altLang="zh-CN" sz="2600" dirty="0"/>
              <a:t>Chinese</a:t>
            </a:r>
            <a:r>
              <a:rPr lang="zh-CN" altLang="en-US" sz="2600" dirty="0"/>
              <a:t> </a:t>
            </a:r>
            <a:r>
              <a:rPr lang="en-US" altLang="zh-CN" sz="2600" dirty="0"/>
              <a:t>Version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918A6D4-15D4-E24B-E629-3A44ECCF3BFF}"/>
              </a:ext>
            </a:extLst>
          </p:cNvPr>
          <p:cNvSpPr txBox="1"/>
          <p:nvPr/>
        </p:nvSpPr>
        <p:spPr>
          <a:xfrm>
            <a:off x="800188" y="1790125"/>
            <a:ext cx="7315200" cy="1830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hlinkClick r:id="rId6"/>
              </a:rPr>
              <a:t>https://www.coze.com/</a:t>
            </a:r>
            <a:r>
              <a:rPr lang="zh-CN" altLang="en-US" sz="2600" dirty="0"/>
              <a:t> </a:t>
            </a:r>
            <a:endParaRPr lang="en-US" altLang="zh-CN" sz="2600" dirty="0"/>
          </a:p>
          <a:p>
            <a:pPr>
              <a:lnSpc>
                <a:spcPct val="150000"/>
              </a:lnSpc>
            </a:pPr>
            <a:r>
              <a:rPr lang="en-US" altLang="zh-CN" sz="2600" dirty="0"/>
              <a:t>English</a:t>
            </a:r>
            <a:r>
              <a:rPr lang="zh-CN" altLang="en-US" sz="2600" dirty="0"/>
              <a:t> </a:t>
            </a:r>
            <a:r>
              <a:rPr lang="en-US" altLang="zh-CN" sz="2600" dirty="0"/>
              <a:t>Version</a:t>
            </a:r>
          </a:p>
          <a:p>
            <a:pPr>
              <a:lnSpc>
                <a:spcPct val="150000"/>
              </a:lnSpc>
            </a:pPr>
            <a:r>
              <a:rPr lang="en-US" altLang="zh-CN" sz="2600" dirty="0"/>
              <a:t>VPN</a:t>
            </a:r>
            <a:r>
              <a:rPr lang="zh-CN" altLang="en-US" sz="2600" dirty="0"/>
              <a:t> </a:t>
            </a:r>
            <a:r>
              <a:rPr lang="en-US" altLang="zh-CN" sz="2600" dirty="0"/>
              <a:t>Needed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DD1EA687-84C4-682C-2275-3DE36FB04D97}"/>
              </a:ext>
            </a:extLst>
          </p:cNvPr>
          <p:cNvSpPr/>
          <p:nvPr/>
        </p:nvSpPr>
        <p:spPr>
          <a:xfrm>
            <a:off x="502472" y="640004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altLang="zh-CN" sz="3600" b="1" dirty="0"/>
              <a:t>Sign up for a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COZE account</a:t>
            </a:r>
            <a:endParaRPr lang="en-US" altLang="zh-CN" sz="3600" dirty="0"/>
          </a:p>
        </p:txBody>
      </p:sp>
    </p:spTree>
    <p:extLst>
      <p:ext uri="{BB962C8B-B14F-4D97-AF65-F5344CB8AC3E}">
        <p14:creationId xmlns:p14="http://schemas.microsoft.com/office/powerpoint/2010/main" val="489054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6D04F-DCC4-4076-0EE5-032E7F480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4A0FC01-10E5-E0AF-4F2D-C831C0A19109}"/>
              </a:ext>
            </a:extLst>
          </p:cNvPr>
          <p:cNvSpPr/>
          <p:nvPr/>
        </p:nvSpPr>
        <p:spPr>
          <a:xfrm>
            <a:off x="960870" y="3479720"/>
            <a:ext cx="1270866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50"/>
              </a:lnSpc>
              <a:buNone/>
            </a:pPr>
            <a:r>
              <a:rPr lang="en-US" altLang="zh-CN" sz="7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English</a:t>
            </a:r>
            <a:r>
              <a:rPr lang="zh-CN" altLang="en-US" sz="7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7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Version</a:t>
            </a:r>
            <a:r>
              <a:rPr lang="zh-CN" altLang="en-US" sz="7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7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Instructions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509966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739E6C-37CE-4D2A-B4CF-BB22F33D4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21" y="1424324"/>
            <a:ext cx="5695238" cy="5380952"/>
          </a:xfrm>
          <a:prstGeom prst="rect">
            <a:avLst/>
          </a:prstGeom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DA010B1A-8A50-618F-0575-AD3A79A25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7066" y="1532336"/>
            <a:ext cx="5363578" cy="5164927"/>
          </a:xfrm>
          <a:prstGeom prst="rect">
            <a:avLst/>
          </a:prstGeom>
        </p:spPr>
      </p:pic>
      <p:cxnSp>
        <p:nvCxnSpPr>
          <p:cNvPr id="5" name="Straight Arrow Connector 8">
            <a:extLst>
              <a:ext uri="{FF2B5EF4-FFF2-40B4-BE49-F238E27FC236}">
                <a16:creationId xmlns:a16="http://schemas.microsoft.com/office/drawing/2014/main" id="{925B14F2-0CA5-21A1-A6C3-947C204B4211}"/>
              </a:ext>
            </a:extLst>
          </p:cNvPr>
          <p:cNvCxnSpPr>
            <a:cxnSpLocks/>
          </p:cNvCxnSpPr>
          <p:nvPr/>
        </p:nvCxnSpPr>
        <p:spPr>
          <a:xfrm>
            <a:off x="6800193" y="4030280"/>
            <a:ext cx="140838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846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E891C-CEE4-700A-C9E3-B94EF681F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445F47-2FDC-4207-9C2C-74F29C7B9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261" y="1290990"/>
            <a:ext cx="5742857" cy="5647619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BE352C4-94FC-CB15-9CBD-BB155FC50C48}"/>
              </a:ext>
            </a:extLst>
          </p:cNvPr>
          <p:cNvSpPr/>
          <p:nvPr/>
        </p:nvSpPr>
        <p:spPr>
          <a:xfrm>
            <a:off x="7771966" y="4388070"/>
            <a:ext cx="6259344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CN" sz="2400" dirty="0"/>
              <a:t>To summarize news from different sources</a:t>
            </a:r>
          </a:p>
        </p:txBody>
      </p:sp>
    </p:spTree>
    <p:extLst>
      <p:ext uri="{BB962C8B-B14F-4D97-AF65-F5344CB8AC3E}">
        <p14:creationId xmlns:p14="http://schemas.microsoft.com/office/powerpoint/2010/main" val="3370588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1A34A42-085B-487F-E7D1-A9E5E83C9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62" y="2235177"/>
            <a:ext cx="13987888" cy="434429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EFCC35F-90AD-D760-EC46-23E123C41372}"/>
              </a:ext>
            </a:extLst>
          </p:cNvPr>
          <p:cNvSpPr/>
          <p:nvPr/>
        </p:nvSpPr>
        <p:spPr>
          <a:xfrm>
            <a:off x="517634" y="567381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916259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A674E-E6DD-EDE6-D7C4-0C32F7DC6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759B34A3-9633-F54B-F872-31634B4C7C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611"/>
          <a:stretch>
            <a:fillRect/>
          </a:stretch>
        </p:blipFill>
        <p:spPr>
          <a:xfrm>
            <a:off x="517634" y="1596356"/>
            <a:ext cx="7557790" cy="370085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C9454F-37F3-34A4-FD38-401A130D1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5417987"/>
            <a:ext cx="7772400" cy="259871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AAFF7DC-62D7-1660-8FBA-D8A5041148A4}"/>
              </a:ext>
            </a:extLst>
          </p:cNvPr>
          <p:cNvSpPr/>
          <p:nvPr/>
        </p:nvSpPr>
        <p:spPr>
          <a:xfrm>
            <a:off x="6789182" y="7057026"/>
            <a:ext cx="2951718" cy="95967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2B4201-1E69-4C1F-8CF1-AAFCA0906532}"/>
              </a:ext>
            </a:extLst>
          </p:cNvPr>
          <p:cNvSpPr/>
          <p:nvPr/>
        </p:nvSpPr>
        <p:spPr>
          <a:xfrm>
            <a:off x="12674600" y="5867400"/>
            <a:ext cx="1772920" cy="5737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70EBD0-93FE-FA37-F03B-0157064E253B}"/>
              </a:ext>
            </a:extLst>
          </p:cNvPr>
          <p:cNvCxnSpPr/>
          <p:nvPr/>
        </p:nvCxnSpPr>
        <p:spPr>
          <a:xfrm flipV="1">
            <a:off x="10134600" y="6184900"/>
            <a:ext cx="2400300" cy="1371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CA16E5FA-88ED-FC33-64EE-A6CB39F74E46}"/>
              </a:ext>
            </a:extLst>
          </p:cNvPr>
          <p:cNvSpPr/>
          <p:nvPr/>
        </p:nvSpPr>
        <p:spPr>
          <a:xfrm>
            <a:off x="517633" y="567381"/>
            <a:ext cx="11148849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Step-by-step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Instructions: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“Start”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47892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14DA6-ED08-2062-272C-E92C025A6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71D737-3C80-1E66-8E5E-7953FAB29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02" y="1029406"/>
            <a:ext cx="5034795" cy="500086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04BCD4-5A4E-9F68-6A87-AE94CEEDE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574" y="1766185"/>
            <a:ext cx="6952593" cy="39797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BC8D705-9E62-2ED8-47F2-F56577FA1159}"/>
              </a:ext>
            </a:extLst>
          </p:cNvPr>
          <p:cNvSpPr/>
          <p:nvPr/>
        </p:nvSpPr>
        <p:spPr>
          <a:xfrm>
            <a:off x="2001282" y="5513782"/>
            <a:ext cx="983218" cy="3909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C0E89E-CEEB-EEDB-1EFD-66B7E9241F90}"/>
              </a:ext>
            </a:extLst>
          </p:cNvPr>
          <p:cNvSpPr/>
          <p:nvPr/>
        </p:nvSpPr>
        <p:spPr>
          <a:xfrm>
            <a:off x="2001282" y="1933939"/>
            <a:ext cx="983218" cy="3909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60F12A-D272-AE0B-F52D-0FB010FA1A68}"/>
              </a:ext>
            </a:extLst>
          </p:cNvPr>
          <p:cNvSpPr/>
          <p:nvPr/>
        </p:nvSpPr>
        <p:spPr>
          <a:xfrm>
            <a:off x="6960156" y="2129409"/>
            <a:ext cx="1113076" cy="2524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FDB85D-C5D7-41C0-150D-C28D183AF5A3}"/>
              </a:ext>
            </a:extLst>
          </p:cNvPr>
          <p:cNvSpPr/>
          <p:nvPr/>
        </p:nvSpPr>
        <p:spPr>
          <a:xfrm>
            <a:off x="8457143" y="2474273"/>
            <a:ext cx="5225558" cy="8545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E4C301-7A85-A28F-9E69-EF46758397BF}"/>
              </a:ext>
            </a:extLst>
          </p:cNvPr>
          <p:cNvCxnSpPr/>
          <p:nvPr/>
        </p:nvCxnSpPr>
        <p:spPr>
          <a:xfrm flipV="1">
            <a:off x="2001282" y="2543542"/>
            <a:ext cx="0" cy="2933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4F92E1-4BBE-DB5B-A38C-28F8CFC7965A}"/>
              </a:ext>
            </a:extLst>
          </p:cNvPr>
          <p:cNvCxnSpPr>
            <a:cxnSpLocks/>
          </p:cNvCxnSpPr>
          <p:nvPr/>
        </p:nvCxnSpPr>
        <p:spPr>
          <a:xfrm>
            <a:off x="5569901" y="3962361"/>
            <a:ext cx="102970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C2F32E2D-CEC9-0473-9B1A-D32F96A5616B}"/>
              </a:ext>
            </a:extLst>
          </p:cNvPr>
          <p:cNvSpPr/>
          <p:nvPr/>
        </p:nvSpPr>
        <p:spPr>
          <a:xfrm>
            <a:off x="383201" y="343844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Plugins</a:t>
            </a:r>
            <a:endParaRPr lang="en-US" sz="3600" b="1" dirty="0"/>
          </a:p>
        </p:txBody>
      </p:sp>
      <p:pic>
        <p:nvPicPr>
          <p:cNvPr id="10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0B0314D-7172-7684-4E35-1A99C1D1E8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4245" r="29468" b="26250"/>
          <a:stretch>
            <a:fillRect/>
          </a:stretch>
        </p:blipFill>
        <p:spPr>
          <a:xfrm>
            <a:off x="7192662" y="6684579"/>
            <a:ext cx="6490039" cy="1352341"/>
          </a:xfrm>
          <a:prstGeom prst="rect">
            <a:avLst/>
          </a:prstGeom>
        </p:spPr>
      </p:pic>
      <p:cxnSp>
        <p:nvCxnSpPr>
          <p:cNvPr id="12" name="Straight Arrow Connector 14">
            <a:extLst>
              <a:ext uri="{FF2B5EF4-FFF2-40B4-BE49-F238E27FC236}">
                <a16:creationId xmlns:a16="http://schemas.microsoft.com/office/drawing/2014/main" id="{535FA6A8-B19C-698F-8327-ADE1882F6CA4}"/>
              </a:ext>
            </a:extLst>
          </p:cNvPr>
          <p:cNvCxnSpPr>
            <a:cxnSpLocks/>
          </p:cNvCxnSpPr>
          <p:nvPr/>
        </p:nvCxnSpPr>
        <p:spPr>
          <a:xfrm>
            <a:off x="7607437" y="5745904"/>
            <a:ext cx="0" cy="7915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0">
            <a:extLst>
              <a:ext uri="{FF2B5EF4-FFF2-40B4-BE49-F238E27FC236}">
                <a16:creationId xmlns:a16="http://schemas.microsoft.com/office/drawing/2014/main" id="{C4E43E5B-4FE0-E7A3-4CE2-F366A37EC5BC}"/>
              </a:ext>
            </a:extLst>
          </p:cNvPr>
          <p:cNvSpPr/>
          <p:nvPr/>
        </p:nvSpPr>
        <p:spPr>
          <a:xfrm>
            <a:off x="7940250" y="6030273"/>
            <a:ext cx="6259344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CN" sz="2400" dirty="0"/>
              <a:t>Connect</a:t>
            </a:r>
            <a:r>
              <a:rPr lang="zh-CN" altLang="en-US" sz="2400" dirty="0"/>
              <a:t> </a:t>
            </a:r>
            <a:r>
              <a:rPr lang="en-US" altLang="zh-CN" sz="2400" dirty="0"/>
              <a:t>Plugins</a:t>
            </a:r>
            <a:r>
              <a:rPr lang="zh-CN" altLang="en-US" sz="2400" dirty="0"/>
              <a:t> </a:t>
            </a:r>
            <a:r>
              <a:rPr lang="en-US" altLang="zh-CN" sz="2400" dirty="0"/>
              <a:t>with</a:t>
            </a:r>
            <a:r>
              <a:rPr lang="zh-CN" altLang="en-US" sz="2400" dirty="0"/>
              <a:t> </a:t>
            </a:r>
            <a:r>
              <a:rPr lang="en-US" altLang="zh-CN" sz="2400" dirty="0"/>
              <a:t>“Start”</a:t>
            </a:r>
          </a:p>
        </p:txBody>
      </p:sp>
    </p:spTree>
    <p:extLst>
      <p:ext uri="{BB962C8B-B14F-4D97-AF65-F5344CB8AC3E}">
        <p14:creationId xmlns:p14="http://schemas.microsoft.com/office/powerpoint/2010/main" val="941256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5C7D529-38E3-64C0-3AD5-28B5B01B8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34" y="5402642"/>
            <a:ext cx="6324600" cy="190594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74DAFD6-6FD4-89C9-FCB5-CB830E606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34" y="2090530"/>
            <a:ext cx="6324600" cy="197287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B6F97B4-8D9B-EEE1-8B02-D5F3F23F9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800" y="2090530"/>
            <a:ext cx="6170142" cy="25128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398688C-141B-D63E-F878-51969B5621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8145" y="5160065"/>
            <a:ext cx="6189262" cy="2512872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8A05875B-4F01-00D1-65DC-471A14417B5D}"/>
              </a:ext>
            </a:extLst>
          </p:cNvPr>
          <p:cNvSpPr/>
          <p:nvPr/>
        </p:nvSpPr>
        <p:spPr>
          <a:xfrm>
            <a:off x="11522679" y="7672937"/>
            <a:ext cx="3506591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en-US" altLang="zh-CN" sz="2400" dirty="0"/>
              <a:t>https://</a:t>
            </a:r>
            <a:r>
              <a:rPr kumimoji="1" lang="en-US" altLang="zh-CN" sz="2400" dirty="0" err="1"/>
              <a:t>www.cgtn.com</a:t>
            </a:r>
            <a:r>
              <a:rPr kumimoji="1" lang="en-US" altLang="zh-CN" sz="2400" dirty="0"/>
              <a:t>/</a:t>
            </a:r>
            <a:endParaRPr kumimoji="1" lang="zh-CN" altLang="en-US" sz="24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DB69AE6F-1683-04F3-65F1-3486ED107874}"/>
              </a:ext>
            </a:extLst>
          </p:cNvPr>
          <p:cNvSpPr/>
          <p:nvPr/>
        </p:nvSpPr>
        <p:spPr>
          <a:xfrm>
            <a:off x="517634" y="567381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Plugins,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them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“Start”,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</a:t>
            </a:r>
            <a:endParaRPr lang="en-US" sz="3600" b="1" dirty="0"/>
          </a:p>
        </p:txBody>
      </p:sp>
      <p:cxnSp>
        <p:nvCxnSpPr>
          <p:cNvPr id="10" name="Straight Arrow Connector 14">
            <a:extLst>
              <a:ext uri="{FF2B5EF4-FFF2-40B4-BE49-F238E27FC236}">
                <a16:creationId xmlns:a16="http://schemas.microsoft.com/office/drawing/2014/main" id="{55F55487-C16E-2B09-DE21-E42242978118}"/>
              </a:ext>
            </a:extLst>
          </p:cNvPr>
          <p:cNvCxnSpPr>
            <a:cxnSpLocks/>
          </p:cNvCxnSpPr>
          <p:nvPr/>
        </p:nvCxnSpPr>
        <p:spPr>
          <a:xfrm>
            <a:off x="6966607" y="3187165"/>
            <a:ext cx="11815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4">
            <a:extLst>
              <a:ext uri="{FF2B5EF4-FFF2-40B4-BE49-F238E27FC236}">
                <a16:creationId xmlns:a16="http://schemas.microsoft.com/office/drawing/2014/main" id="{9518CD69-588E-133C-1B10-5377DBD143E3}"/>
              </a:ext>
            </a:extLst>
          </p:cNvPr>
          <p:cNvCxnSpPr>
            <a:cxnSpLocks/>
          </p:cNvCxnSpPr>
          <p:nvPr/>
        </p:nvCxnSpPr>
        <p:spPr>
          <a:xfrm>
            <a:off x="6842234" y="6387565"/>
            <a:ext cx="11815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3">
            <a:extLst>
              <a:ext uri="{FF2B5EF4-FFF2-40B4-BE49-F238E27FC236}">
                <a16:creationId xmlns:a16="http://schemas.microsoft.com/office/drawing/2014/main" id="{BD58E793-CF5B-5A3D-5403-7A2AAFCF14E2}"/>
              </a:ext>
            </a:extLst>
          </p:cNvPr>
          <p:cNvSpPr/>
          <p:nvPr/>
        </p:nvSpPr>
        <p:spPr>
          <a:xfrm>
            <a:off x="11573560" y="3364379"/>
            <a:ext cx="2902381" cy="12390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6EAE0CB-9D0B-3044-5EA3-76F56AD9549E}"/>
              </a:ext>
            </a:extLst>
          </p:cNvPr>
          <p:cNvSpPr/>
          <p:nvPr/>
        </p:nvSpPr>
        <p:spPr>
          <a:xfrm>
            <a:off x="11390871" y="6492667"/>
            <a:ext cx="2902381" cy="8085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EB294FE-21A0-2A59-1083-DC6383DA7C9C}"/>
              </a:ext>
            </a:extLst>
          </p:cNvPr>
          <p:cNvSpPr/>
          <p:nvPr/>
        </p:nvSpPr>
        <p:spPr>
          <a:xfrm>
            <a:off x="14125903" y="4193628"/>
            <a:ext cx="211504" cy="2740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95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F5559-752F-0F7D-4DCA-FFAD6C9A6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6E8C93-4461-7602-144A-D1C3DCB5D746}"/>
              </a:ext>
            </a:extLst>
          </p:cNvPr>
          <p:cNvSpPr/>
          <p:nvPr/>
        </p:nvSpPr>
        <p:spPr>
          <a:xfrm>
            <a:off x="517634" y="567381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</a:t>
            </a:r>
            <a:endParaRPr lang="en-US" sz="3600" b="1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3100E84-8AA2-1AF3-BA0C-59526373913B}"/>
              </a:ext>
            </a:extLst>
          </p:cNvPr>
          <p:cNvGrpSpPr/>
          <p:nvPr/>
        </p:nvGrpSpPr>
        <p:grpSpPr>
          <a:xfrm>
            <a:off x="1954925" y="1722381"/>
            <a:ext cx="8618482" cy="5739963"/>
            <a:chOff x="1954925" y="1722382"/>
            <a:chExt cx="6387064" cy="4343400"/>
          </a:xfrm>
        </p:grpSpPr>
        <p:pic>
          <p:nvPicPr>
            <p:cNvPr id="3" name="Picture 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E617411-715D-D53E-ABD6-AAABEEFD7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4925" y="1722382"/>
              <a:ext cx="6387064" cy="43434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415548-CB93-7A8B-0C63-7FDED88D17F7}"/>
                </a:ext>
              </a:extLst>
            </p:cNvPr>
            <p:cNvSpPr/>
            <p:nvPr/>
          </p:nvSpPr>
          <p:spPr>
            <a:xfrm>
              <a:off x="3144544" y="5765840"/>
              <a:ext cx="774424" cy="28216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543FA83-207D-D8D6-FFA9-80B9A91C6D70}"/>
                </a:ext>
              </a:extLst>
            </p:cNvPr>
            <p:cNvSpPr/>
            <p:nvPr/>
          </p:nvSpPr>
          <p:spPr>
            <a:xfrm>
              <a:off x="2179344" y="3086140"/>
              <a:ext cx="774424" cy="28216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72321D5-3BD4-4388-DAA3-E1BC36972FFD}"/>
                </a:ext>
              </a:extLst>
            </p:cNvPr>
            <p:cNvSpPr/>
            <p:nvPr/>
          </p:nvSpPr>
          <p:spPr>
            <a:xfrm>
              <a:off x="4361333" y="1722382"/>
              <a:ext cx="2034133" cy="100837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14">
              <a:extLst>
                <a:ext uri="{FF2B5EF4-FFF2-40B4-BE49-F238E27FC236}">
                  <a16:creationId xmlns:a16="http://schemas.microsoft.com/office/drawing/2014/main" id="{D63DF0BD-95A4-C399-E0DB-72DA15CE0C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97426" y="3478923"/>
              <a:ext cx="347118" cy="21336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5839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0203EE1-B822-9794-DB3A-B3E22B566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873" y="3202584"/>
            <a:ext cx="3300905" cy="91221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6BB882E-6534-4F59-999B-E72DD0708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19" y="1385224"/>
            <a:ext cx="9811379" cy="5866913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CA01EE2-EEB3-4E61-3BA0-8650C60BFD69}"/>
              </a:ext>
            </a:extLst>
          </p:cNvPr>
          <p:cNvSpPr/>
          <p:nvPr/>
        </p:nvSpPr>
        <p:spPr>
          <a:xfrm>
            <a:off x="10472468" y="6469118"/>
            <a:ext cx="4157932" cy="1107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CN" sz="2400" dirty="0"/>
              <a:t>Read {{inpu1}} to find 2 news related to {{topic}} and list their title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FB80574-4C5A-D11B-EA54-9B2D66134DDF}"/>
              </a:ext>
            </a:extLst>
          </p:cNvPr>
          <p:cNvSpPr/>
          <p:nvPr/>
        </p:nvSpPr>
        <p:spPr>
          <a:xfrm>
            <a:off x="7268335" y="4466897"/>
            <a:ext cx="2721064" cy="26906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14">
            <a:extLst>
              <a:ext uri="{FF2B5EF4-FFF2-40B4-BE49-F238E27FC236}">
                <a16:creationId xmlns:a16="http://schemas.microsoft.com/office/drawing/2014/main" id="{45B9FDF5-4B17-C4C4-294F-C15FB25C850A}"/>
              </a:ext>
            </a:extLst>
          </p:cNvPr>
          <p:cNvCxnSpPr>
            <a:cxnSpLocks/>
          </p:cNvCxnSpPr>
          <p:nvPr/>
        </p:nvCxnSpPr>
        <p:spPr>
          <a:xfrm flipV="1">
            <a:off x="9577337" y="3867807"/>
            <a:ext cx="1164235" cy="11508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0">
            <a:extLst>
              <a:ext uri="{FF2B5EF4-FFF2-40B4-BE49-F238E27FC236}">
                <a16:creationId xmlns:a16="http://schemas.microsoft.com/office/drawing/2014/main" id="{379C0A42-79C1-1802-629E-A8A2B931B5ED}"/>
              </a:ext>
            </a:extLst>
          </p:cNvPr>
          <p:cNvSpPr/>
          <p:nvPr/>
        </p:nvSpPr>
        <p:spPr>
          <a:xfrm>
            <a:off x="265386" y="386493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“LLM_1”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“browse”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511818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CA558-F0D1-6984-BB02-16C31547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99DEDA3F-1A09-5EB1-622E-D0FBD1B5DACD}"/>
              </a:ext>
            </a:extLst>
          </p:cNvPr>
          <p:cNvSpPr/>
          <p:nvPr/>
        </p:nvSpPr>
        <p:spPr>
          <a:xfrm>
            <a:off x="717331" y="743844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“LLM”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r>
              <a:rPr lang="en-US" altLang="zh-CN" sz="335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searchNews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”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“LLM_1”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36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1542950-2C51-A5FD-A918-32977BCA3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31" y="1976697"/>
            <a:ext cx="11203871" cy="501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804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E8D3EB6-7632-E23D-F5DE-CE584C67F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55" y="914400"/>
            <a:ext cx="6124478" cy="697887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2519C02-21CD-CB94-4C4F-A6FE39B17E77}"/>
              </a:ext>
            </a:extLst>
          </p:cNvPr>
          <p:cNvSpPr/>
          <p:nvPr/>
        </p:nvSpPr>
        <p:spPr>
          <a:xfrm>
            <a:off x="7941304" y="3669534"/>
            <a:ext cx="5833241" cy="3693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CN" sz="2400" dirty="0"/>
              <a:t>List the news </a:t>
            </a:r>
            <a:r>
              <a:rPr lang="en-US" altLang="zh-CN" sz="2400" dirty="0" err="1"/>
              <a:t>accroding</a:t>
            </a:r>
            <a:r>
              <a:rPr lang="en-US" altLang="zh-CN" sz="2400" dirty="0"/>
              <a:t> to the following format and requirement</a:t>
            </a:r>
          </a:p>
          <a:p>
            <a:endParaRPr lang="en-US" altLang="zh-CN" sz="2400" dirty="0"/>
          </a:p>
          <a:p>
            <a:r>
              <a:rPr lang="en-US" altLang="zh-CN" sz="2400" dirty="0"/>
              <a:t>News Source 1:</a:t>
            </a:r>
          </a:p>
          <a:p>
            <a:r>
              <a:rPr lang="en-US" altLang="zh-CN" sz="2400" dirty="0"/>
              <a:t>Based on {{input}}, list 5 news, including title{{</a:t>
            </a:r>
            <a:r>
              <a:rPr lang="en-US" altLang="zh-CN" sz="2400" dirty="0" err="1"/>
              <a:t>input.news_results</a:t>
            </a:r>
            <a:r>
              <a:rPr lang="en-US" altLang="zh-CN" sz="2400" dirty="0"/>
              <a:t>[0].title}}, and link {{</a:t>
            </a:r>
            <a:r>
              <a:rPr lang="en-US" altLang="zh-CN" sz="2400" dirty="0" err="1"/>
              <a:t>input.news_results</a:t>
            </a:r>
            <a:r>
              <a:rPr lang="en-US" altLang="zh-CN" sz="2400" dirty="0"/>
              <a:t>[0].link}}.</a:t>
            </a:r>
          </a:p>
          <a:p>
            <a:endParaRPr lang="en-US" altLang="zh-CN" sz="2400" dirty="0"/>
          </a:p>
          <a:p>
            <a:r>
              <a:rPr lang="en-US" altLang="zh-CN" sz="2400" dirty="0"/>
              <a:t>News Source 2:</a:t>
            </a:r>
          </a:p>
          <a:p>
            <a:r>
              <a:rPr lang="en-US" altLang="zh-CN" sz="2400" dirty="0"/>
              <a:t>Based on {{input2}} list 2 news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777637-5C71-A6BD-EA81-424AB858E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145" y="1801320"/>
            <a:ext cx="4422059" cy="1279416"/>
          </a:xfrm>
          <a:prstGeom prst="rect">
            <a:avLst/>
          </a:prstGeom>
        </p:spPr>
      </p:pic>
      <p:cxnSp>
        <p:nvCxnSpPr>
          <p:cNvPr id="6" name="Straight Arrow Connector 14">
            <a:extLst>
              <a:ext uri="{FF2B5EF4-FFF2-40B4-BE49-F238E27FC236}">
                <a16:creationId xmlns:a16="http://schemas.microsoft.com/office/drawing/2014/main" id="{0DFFE4E8-3015-3C0C-B7D1-B2797FDE7377}"/>
              </a:ext>
            </a:extLst>
          </p:cNvPr>
          <p:cNvCxnSpPr>
            <a:cxnSpLocks/>
          </p:cNvCxnSpPr>
          <p:nvPr/>
        </p:nvCxnSpPr>
        <p:spPr>
          <a:xfrm flipV="1">
            <a:off x="6558455" y="2704006"/>
            <a:ext cx="1208690" cy="1931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4C60C957-C8BF-BDE1-389B-89C994455182}"/>
              </a:ext>
            </a:extLst>
          </p:cNvPr>
          <p:cNvSpPr/>
          <p:nvPr/>
        </p:nvSpPr>
        <p:spPr>
          <a:xfrm>
            <a:off x="4136253" y="4075387"/>
            <a:ext cx="2721064" cy="37443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DDF382B-16A5-908B-096C-4506660D68E2}"/>
              </a:ext>
            </a:extLst>
          </p:cNvPr>
          <p:cNvSpPr/>
          <p:nvPr/>
        </p:nvSpPr>
        <p:spPr>
          <a:xfrm>
            <a:off x="717068" y="155265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“LLM”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Setup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914130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479D32E-9C20-CBAE-ED19-B5B5E1C8C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916" y="2520709"/>
            <a:ext cx="10301498" cy="3417635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6058FC68-67A8-988E-F1A9-E4061FF5A0DE}"/>
              </a:ext>
            </a:extLst>
          </p:cNvPr>
          <p:cNvSpPr/>
          <p:nvPr/>
        </p:nvSpPr>
        <p:spPr>
          <a:xfrm>
            <a:off x="9212748" y="3930869"/>
            <a:ext cx="2909666" cy="9354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79FFC36A-AA13-C509-9BA8-0922DAFD590E}"/>
              </a:ext>
            </a:extLst>
          </p:cNvPr>
          <p:cNvSpPr/>
          <p:nvPr/>
        </p:nvSpPr>
        <p:spPr>
          <a:xfrm>
            <a:off x="769882" y="1006604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“LLM”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“End”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“End”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668449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1298F-F21D-1904-6749-DE10BE346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C0DAAC-03B3-3FC4-29BC-C495A00BA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280" y="1754162"/>
            <a:ext cx="8532750" cy="47212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C65E58-0359-55D2-A4DA-6D85E9A49601}"/>
              </a:ext>
            </a:extLst>
          </p:cNvPr>
          <p:cNvSpPr/>
          <p:nvPr/>
        </p:nvSpPr>
        <p:spPr>
          <a:xfrm>
            <a:off x="6113230" y="6184900"/>
            <a:ext cx="1036869" cy="2905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D68187-C697-A02B-DD7B-B8A83B142741}"/>
              </a:ext>
            </a:extLst>
          </p:cNvPr>
          <p:cNvSpPr/>
          <p:nvPr/>
        </p:nvSpPr>
        <p:spPr>
          <a:xfrm>
            <a:off x="9220476" y="2577879"/>
            <a:ext cx="1933553" cy="3685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378126-A3B5-6D8A-52C6-D640F709047F}"/>
              </a:ext>
            </a:extLst>
          </p:cNvPr>
          <p:cNvSpPr/>
          <p:nvPr/>
        </p:nvSpPr>
        <p:spPr>
          <a:xfrm>
            <a:off x="9220475" y="6043818"/>
            <a:ext cx="1933553" cy="4316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B1CC58-A229-9CB3-AC40-5230541C52F1}"/>
              </a:ext>
            </a:extLst>
          </p:cNvPr>
          <p:cNvCxnSpPr/>
          <p:nvPr/>
        </p:nvCxnSpPr>
        <p:spPr>
          <a:xfrm flipV="1">
            <a:off x="7366000" y="3098800"/>
            <a:ext cx="1765300" cy="32131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015D06-BB6B-30E2-6C81-9612236DA2FA}"/>
              </a:ext>
            </a:extLst>
          </p:cNvPr>
          <p:cNvCxnSpPr/>
          <p:nvPr/>
        </p:nvCxnSpPr>
        <p:spPr>
          <a:xfrm>
            <a:off x="10058400" y="3200400"/>
            <a:ext cx="0" cy="26543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5DCBC79E-121F-E7C3-12A0-1EC985EAE607}"/>
              </a:ext>
            </a:extLst>
          </p:cNvPr>
          <p:cNvSpPr/>
          <p:nvPr/>
        </p:nvSpPr>
        <p:spPr>
          <a:xfrm>
            <a:off x="853964" y="550095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08639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25FEF-2839-25DD-C85E-B6C719D91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DD84780-3BFF-52E9-6C28-DF84E2196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202" y="420413"/>
            <a:ext cx="3897620" cy="758846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DB87A0D-BC52-A944-194D-FB7353F4B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7159" y="1842173"/>
            <a:ext cx="5431221" cy="5439628"/>
          </a:xfrm>
          <a:prstGeom prst="rect">
            <a:avLst/>
          </a:prstGeom>
        </p:spPr>
      </p:pic>
      <p:cxnSp>
        <p:nvCxnSpPr>
          <p:cNvPr id="5" name="Straight Arrow Connector 9">
            <a:extLst>
              <a:ext uri="{FF2B5EF4-FFF2-40B4-BE49-F238E27FC236}">
                <a16:creationId xmlns:a16="http://schemas.microsoft.com/office/drawing/2014/main" id="{C26A99AC-6E28-6477-27D2-65C6C19757CB}"/>
              </a:ext>
            </a:extLst>
          </p:cNvPr>
          <p:cNvCxnSpPr>
            <a:cxnSpLocks/>
          </p:cNvCxnSpPr>
          <p:nvPr/>
        </p:nvCxnSpPr>
        <p:spPr>
          <a:xfrm>
            <a:off x="6011917" y="4314934"/>
            <a:ext cx="256452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5">
            <a:extLst>
              <a:ext uri="{FF2B5EF4-FFF2-40B4-BE49-F238E27FC236}">
                <a16:creationId xmlns:a16="http://schemas.microsoft.com/office/drawing/2014/main" id="{B728EDD5-6A4E-5401-6C47-30791B4203AF}"/>
              </a:ext>
            </a:extLst>
          </p:cNvPr>
          <p:cNvSpPr/>
          <p:nvPr/>
        </p:nvSpPr>
        <p:spPr>
          <a:xfrm>
            <a:off x="3433091" y="6636845"/>
            <a:ext cx="876150" cy="3210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753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55B88-4EB5-B6CB-FCFC-BCF825998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416B5A9-7A39-FCD7-064B-5446686D8646}"/>
              </a:ext>
            </a:extLst>
          </p:cNvPr>
          <p:cNvSpPr/>
          <p:nvPr/>
        </p:nvSpPr>
        <p:spPr>
          <a:xfrm>
            <a:off x="960870" y="3479720"/>
            <a:ext cx="1270866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0"/>
              </a:lnSpc>
              <a:buNone/>
            </a:pPr>
            <a:r>
              <a:rPr lang="en-US" altLang="zh-CN" sz="7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Chinese</a:t>
            </a:r>
            <a:r>
              <a:rPr lang="zh-CN" altLang="en-US" sz="7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7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Version</a:t>
            </a:r>
            <a:r>
              <a:rPr lang="zh-CN" altLang="en-US" sz="7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7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Instructions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42792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76052E-A366-4890-BED9-CA75A4235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52" y="2892241"/>
            <a:ext cx="12838095" cy="442857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A442C55-BE1C-65C5-F48B-48E9522E2EB2}"/>
              </a:ext>
            </a:extLst>
          </p:cNvPr>
          <p:cNvSpPr txBox="1"/>
          <p:nvPr/>
        </p:nvSpPr>
        <p:spPr>
          <a:xfrm>
            <a:off x="896152" y="908788"/>
            <a:ext cx="7315200" cy="1493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hlinkClick r:id="rId4"/>
              </a:rPr>
              <a:t>https://coze.cn/</a:t>
            </a:r>
            <a:r>
              <a:rPr lang="zh-CN" altLang="en-US" sz="3200" dirty="0"/>
              <a:t> 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en-US" altLang="zh-CN" sz="3200" dirty="0"/>
              <a:t>Chinese</a:t>
            </a:r>
            <a:r>
              <a:rPr lang="zh-CN" altLang="en-US" sz="3200" dirty="0"/>
              <a:t> </a:t>
            </a:r>
            <a:r>
              <a:rPr lang="en-US" altLang="zh-CN" sz="3200" dirty="0"/>
              <a:t>Version</a:t>
            </a:r>
          </a:p>
        </p:txBody>
      </p:sp>
    </p:spTree>
    <p:extLst>
      <p:ext uri="{BB962C8B-B14F-4D97-AF65-F5344CB8AC3E}">
        <p14:creationId xmlns:p14="http://schemas.microsoft.com/office/powerpoint/2010/main" val="3875028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745CDB-8D32-5212-8FDE-1E0F69886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05" y="1443371"/>
            <a:ext cx="4638095" cy="5342857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9F32408-022A-F56B-88A4-58E9F1690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7945" y="1443371"/>
            <a:ext cx="5133550" cy="5342857"/>
          </a:xfrm>
          <a:prstGeom prst="rect">
            <a:avLst/>
          </a:prstGeom>
        </p:spPr>
      </p:pic>
      <p:cxnSp>
        <p:nvCxnSpPr>
          <p:cNvPr id="4" name="Straight Arrow Connector 9">
            <a:extLst>
              <a:ext uri="{FF2B5EF4-FFF2-40B4-BE49-F238E27FC236}">
                <a16:creationId xmlns:a16="http://schemas.microsoft.com/office/drawing/2014/main" id="{FFFC1C76-6345-F223-7C2A-DD5942144711}"/>
              </a:ext>
            </a:extLst>
          </p:cNvPr>
          <p:cNvCxnSpPr>
            <a:cxnSpLocks/>
          </p:cNvCxnSpPr>
          <p:nvPr/>
        </p:nvCxnSpPr>
        <p:spPr>
          <a:xfrm>
            <a:off x="6011917" y="4314934"/>
            <a:ext cx="18603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774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B5D7D17-A67A-35E6-0915-81E8BB5F0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654050"/>
            <a:ext cx="7010400" cy="692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169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6AEAE-C691-F7BF-A425-1CB876037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E51772F-CB87-85EE-4603-9A8EF9CF6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08" y="1800501"/>
            <a:ext cx="13076523" cy="558182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627FFB15-3C49-A803-CAF1-6CAA061CFD2B}"/>
              </a:ext>
            </a:extLst>
          </p:cNvPr>
          <p:cNvSpPr/>
          <p:nvPr/>
        </p:nvSpPr>
        <p:spPr>
          <a:xfrm>
            <a:off x="671008" y="725036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62123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EF895F4-226E-A468-92EF-13652F2A3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44" y="1865904"/>
            <a:ext cx="12149379" cy="4829186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736B65D6-A902-AF2C-A9B6-F7AAFC9A7E3B}"/>
              </a:ext>
            </a:extLst>
          </p:cNvPr>
          <p:cNvSpPr/>
          <p:nvPr/>
        </p:nvSpPr>
        <p:spPr>
          <a:xfrm>
            <a:off x="7564935" y="3779097"/>
            <a:ext cx="5152581" cy="11817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83255B44-9EB8-3858-9CFF-2F676F073B69}"/>
              </a:ext>
            </a:extLst>
          </p:cNvPr>
          <p:cNvSpPr/>
          <p:nvPr/>
        </p:nvSpPr>
        <p:spPr>
          <a:xfrm>
            <a:off x="906516" y="600270"/>
            <a:ext cx="11148849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Step-by-step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Instructions: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开始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”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6135923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5BC60-4EF4-758E-5929-DDC2C5898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C1C25B0F-A360-07A2-D857-F1D9B32E7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724" y="1439814"/>
            <a:ext cx="6578901" cy="412300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188888E-41E5-5074-04E9-C662A14A4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99" y="1379598"/>
            <a:ext cx="4674838" cy="53323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8640D0-6B89-258D-0D43-90FE99B91C1D}"/>
              </a:ext>
            </a:extLst>
          </p:cNvPr>
          <p:cNvSpPr/>
          <p:nvPr/>
        </p:nvSpPr>
        <p:spPr>
          <a:xfrm>
            <a:off x="2558330" y="6244378"/>
            <a:ext cx="983218" cy="3909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189C89-5801-B0AD-64A3-9F9A9FF8FCCB}"/>
              </a:ext>
            </a:extLst>
          </p:cNvPr>
          <p:cNvSpPr/>
          <p:nvPr/>
        </p:nvSpPr>
        <p:spPr>
          <a:xfrm>
            <a:off x="2558330" y="1877238"/>
            <a:ext cx="983218" cy="3909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B9FF12-5400-326B-C023-C50BA117D409}"/>
              </a:ext>
            </a:extLst>
          </p:cNvPr>
          <p:cNvSpPr/>
          <p:nvPr/>
        </p:nvSpPr>
        <p:spPr>
          <a:xfrm>
            <a:off x="6917723" y="1751037"/>
            <a:ext cx="1343407" cy="25240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E77F9E-4761-BB5D-89D1-2E5E0414FA2E}"/>
              </a:ext>
            </a:extLst>
          </p:cNvPr>
          <p:cNvSpPr/>
          <p:nvPr/>
        </p:nvSpPr>
        <p:spPr>
          <a:xfrm>
            <a:off x="8457143" y="1877237"/>
            <a:ext cx="5225558" cy="8545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7B0FFF2-2AA8-1AFA-4E86-49C902EA4AAB}"/>
              </a:ext>
            </a:extLst>
          </p:cNvPr>
          <p:cNvCxnSpPr>
            <a:cxnSpLocks/>
          </p:cNvCxnSpPr>
          <p:nvPr/>
        </p:nvCxnSpPr>
        <p:spPr>
          <a:xfrm flipV="1">
            <a:off x="2558330" y="2486841"/>
            <a:ext cx="0" cy="35434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E9AD61-3EA3-063D-8745-C0E0B3C4962A}"/>
              </a:ext>
            </a:extLst>
          </p:cNvPr>
          <p:cNvCxnSpPr>
            <a:cxnSpLocks/>
          </p:cNvCxnSpPr>
          <p:nvPr/>
        </p:nvCxnSpPr>
        <p:spPr>
          <a:xfrm>
            <a:off x="5569901" y="3962361"/>
            <a:ext cx="102970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0">
            <a:extLst>
              <a:ext uri="{FF2B5EF4-FFF2-40B4-BE49-F238E27FC236}">
                <a16:creationId xmlns:a16="http://schemas.microsoft.com/office/drawing/2014/main" id="{377D8DAF-E790-294C-9DB2-2002688C765F}"/>
              </a:ext>
            </a:extLst>
          </p:cNvPr>
          <p:cNvSpPr/>
          <p:nvPr/>
        </p:nvSpPr>
        <p:spPr>
          <a:xfrm>
            <a:off x="383201" y="343844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Plugins</a:t>
            </a:r>
            <a:endParaRPr lang="en-US" sz="3600" b="1" dirty="0"/>
          </a:p>
        </p:txBody>
      </p:sp>
      <p:cxnSp>
        <p:nvCxnSpPr>
          <p:cNvPr id="12" name="Straight Arrow Connector 14">
            <a:extLst>
              <a:ext uri="{FF2B5EF4-FFF2-40B4-BE49-F238E27FC236}">
                <a16:creationId xmlns:a16="http://schemas.microsoft.com/office/drawing/2014/main" id="{E2FD86E9-6722-1B27-C645-8BA5CBC17528}"/>
              </a:ext>
            </a:extLst>
          </p:cNvPr>
          <p:cNvCxnSpPr>
            <a:cxnSpLocks/>
          </p:cNvCxnSpPr>
          <p:nvPr/>
        </p:nvCxnSpPr>
        <p:spPr>
          <a:xfrm>
            <a:off x="7607437" y="5745904"/>
            <a:ext cx="0" cy="7915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0">
            <a:extLst>
              <a:ext uri="{FF2B5EF4-FFF2-40B4-BE49-F238E27FC236}">
                <a16:creationId xmlns:a16="http://schemas.microsoft.com/office/drawing/2014/main" id="{EA265DDC-7288-47F9-F5CA-D51842943A9A}"/>
              </a:ext>
            </a:extLst>
          </p:cNvPr>
          <p:cNvSpPr/>
          <p:nvPr/>
        </p:nvSpPr>
        <p:spPr>
          <a:xfrm>
            <a:off x="7940250" y="6030273"/>
            <a:ext cx="6259344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zh-CN" sz="2400" dirty="0"/>
              <a:t>Connect</a:t>
            </a:r>
            <a:r>
              <a:rPr lang="zh-CN" altLang="en-US" sz="2400" dirty="0"/>
              <a:t> </a:t>
            </a:r>
            <a:r>
              <a:rPr lang="en-US" altLang="zh-CN" sz="2400" dirty="0"/>
              <a:t>Plugins</a:t>
            </a:r>
            <a:r>
              <a:rPr lang="zh-CN" altLang="en-US" sz="2400" dirty="0"/>
              <a:t> </a:t>
            </a:r>
            <a:r>
              <a:rPr lang="en-US" altLang="zh-CN" sz="2400" dirty="0"/>
              <a:t>with</a:t>
            </a:r>
            <a:r>
              <a:rPr lang="zh-CN" altLang="en-US" sz="2400" dirty="0"/>
              <a:t> </a:t>
            </a:r>
            <a:r>
              <a:rPr lang="en-US" altLang="zh-CN" sz="2400" dirty="0"/>
              <a:t>“</a:t>
            </a:r>
            <a:r>
              <a:rPr lang="zh-CN" altLang="en-US" sz="2400" dirty="0"/>
              <a:t>开始</a:t>
            </a:r>
            <a:r>
              <a:rPr lang="en-US" altLang="zh-CN" sz="2400" dirty="0"/>
              <a:t>”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614B629-096F-9F7B-BF5E-F0B5358B6C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723" y="6635318"/>
            <a:ext cx="5687070" cy="140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188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52DF8-EB25-1962-46C9-F8A0FD60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E45BEF8-61CF-B2F0-9318-DB229F389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43" y="1144404"/>
            <a:ext cx="5218607" cy="23363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31E71F2-9557-1B4B-52BC-C7665C73F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41" y="3826492"/>
            <a:ext cx="5174215" cy="158621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231BDD7-0FB7-447F-AD70-29121C3776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641" y="5644337"/>
            <a:ext cx="5130499" cy="158621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DAA344E-1C9D-CF62-A33B-5FA95A3117F7}"/>
              </a:ext>
            </a:extLst>
          </p:cNvPr>
          <p:cNvSpPr txBox="1"/>
          <p:nvPr/>
        </p:nvSpPr>
        <p:spPr>
          <a:xfrm>
            <a:off x="7693574" y="7544531"/>
            <a:ext cx="7315200" cy="672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350"/>
              </a:lnSpc>
            </a:pPr>
            <a:r>
              <a:rPr lang="en-US" altLang="zh-CN" sz="1800" dirty="0"/>
              <a:t>Input</a:t>
            </a:r>
            <a:r>
              <a:rPr lang="zh-CN" altLang="en-US" sz="1800" dirty="0"/>
              <a:t> </a:t>
            </a:r>
            <a:r>
              <a:rPr lang="en-US" altLang="zh-CN" sz="1800" dirty="0" err="1"/>
              <a:t>ur</a:t>
            </a:r>
            <a:r>
              <a:rPr lang="en-US" altLang="zh-CN" dirty="0" err="1"/>
              <a:t>l</a:t>
            </a:r>
            <a:r>
              <a:rPr lang="en-US" altLang="zh-CN" sz="1800" dirty="0"/>
              <a:t>:</a:t>
            </a:r>
            <a:r>
              <a:rPr lang="zh-CN" altLang="en-US" sz="1800" dirty="0"/>
              <a:t> </a:t>
            </a:r>
            <a:r>
              <a:rPr lang="en-US" altLang="zh-CN" sz="1800" dirty="0"/>
              <a:t>https://</a:t>
            </a:r>
            <a:r>
              <a:rPr lang="en-US" altLang="zh-CN" sz="1800" dirty="0" err="1"/>
              <a:t>www.cgtn.com</a:t>
            </a:r>
            <a:r>
              <a:rPr lang="en-US" altLang="zh-CN" sz="1800" dirty="0"/>
              <a:t>/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9CD3638-BE49-BE96-5539-D5D799FE8E3F}"/>
              </a:ext>
            </a:extLst>
          </p:cNvPr>
          <p:cNvSpPr/>
          <p:nvPr/>
        </p:nvSpPr>
        <p:spPr>
          <a:xfrm>
            <a:off x="5357764" y="2921928"/>
            <a:ext cx="624092" cy="3619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9">
            <a:extLst>
              <a:ext uri="{FF2B5EF4-FFF2-40B4-BE49-F238E27FC236}">
                <a16:creationId xmlns:a16="http://schemas.microsoft.com/office/drawing/2014/main" id="{4B77C7EB-F54E-6DFB-9E77-C9E5C9E7313A}"/>
              </a:ext>
            </a:extLst>
          </p:cNvPr>
          <p:cNvCxnSpPr>
            <a:cxnSpLocks/>
          </p:cNvCxnSpPr>
          <p:nvPr/>
        </p:nvCxnSpPr>
        <p:spPr>
          <a:xfrm>
            <a:off x="6373092" y="2424079"/>
            <a:ext cx="106823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CE346BB3-941A-2A82-FCE2-3CA7553A53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8167" y="3741128"/>
            <a:ext cx="5102990" cy="1858535"/>
          </a:xfrm>
          <a:prstGeom prst="rect">
            <a:avLst/>
          </a:prstGeom>
        </p:spPr>
      </p:pic>
      <p:cxnSp>
        <p:nvCxnSpPr>
          <p:cNvPr id="17" name="Straight Arrow Connector 9">
            <a:extLst>
              <a:ext uri="{FF2B5EF4-FFF2-40B4-BE49-F238E27FC236}">
                <a16:creationId xmlns:a16="http://schemas.microsoft.com/office/drawing/2014/main" id="{FF734822-E592-17F5-6C09-8E7FA90F7249}"/>
              </a:ext>
            </a:extLst>
          </p:cNvPr>
          <p:cNvCxnSpPr>
            <a:cxnSpLocks/>
          </p:cNvCxnSpPr>
          <p:nvPr/>
        </p:nvCxnSpPr>
        <p:spPr>
          <a:xfrm>
            <a:off x="6246967" y="4657488"/>
            <a:ext cx="106823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6">
            <a:extLst>
              <a:ext uri="{FF2B5EF4-FFF2-40B4-BE49-F238E27FC236}">
                <a16:creationId xmlns:a16="http://schemas.microsoft.com/office/drawing/2014/main" id="{EF57E7E7-5B71-0C05-6970-620DF788758C}"/>
              </a:ext>
            </a:extLst>
          </p:cNvPr>
          <p:cNvSpPr/>
          <p:nvPr/>
        </p:nvSpPr>
        <p:spPr>
          <a:xfrm>
            <a:off x="5314048" y="4880441"/>
            <a:ext cx="624092" cy="3619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31805556-C1E4-EBF3-31F1-1EFFE9EFD943}"/>
              </a:ext>
            </a:extLst>
          </p:cNvPr>
          <p:cNvSpPr/>
          <p:nvPr/>
        </p:nvSpPr>
        <p:spPr>
          <a:xfrm>
            <a:off x="5253941" y="6657046"/>
            <a:ext cx="624092" cy="36197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62FB3BEC-5384-0BA5-5BFC-B5DFCD708B8B}"/>
              </a:ext>
            </a:extLst>
          </p:cNvPr>
          <p:cNvSpPr/>
          <p:nvPr/>
        </p:nvSpPr>
        <p:spPr>
          <a:xfrm>
            <a:off x="10618191" y="5061429"/>
            <a:ext cx="2272966" cy="5382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78440CA-AE6E-407A-C5EC-12522E3506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8167" y="5767514"/>
            <a:ext cx="5102990" cy="1945476"/>
          </a:xfrm>
          <a:prstGeom prst="rect">
            <a:avLst/>
          </a:prstGeom>
        </p:spPr>
      </p:pic>
      <p:cxnSp>
        <p:nvCxnSpPr>
          <p:cNvPr id="23" name="Straight Arrow Connector 9">
            <a:extLst>
              <a:ext uri="{FF2B5EF4-FFF2-40B4-BE49-F238E27FC236}">
                <a16:creationId xmlns:a16="http://schemas.microsoft.com/office/drawing/2014/main" id="{375D9571-5118-3005-682B-D45B7BEE706A}"/>
              </a:ext>
            </a:extLst>
          </p:cNvPr>
          <p:cNvCxnSpPr>
            <a:cxnSpLocks/>
          </p:cNvCxnSpPr>
          <p:nvPr/>
        </p:nvCxnSpPr>
        <p:spPr>
          <a:xfrm>
            <a:off x="6212091" y="6437443"/>
            <a:ext cx="106823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6">
            <a:extLst>
              <a:ext uri="{FF2B5EF4-FFF2-40B4-BE49-F238E27FC236}">
                <a16:creationId xmlns:a16="http://schemas.microsoft.com/office/drawing/2014/main" id="{D5DA555B-3ED4-6748-06D9-B5353E02FD39}"/>
              </a:ext>
            </a:extLst>
          </p:cNvPr>
          <p:cNvSpPr/>
          <p:nvPr/>
        </p:nvSpPr>
        <p:spPr>
          <a:xfrm>
            <a:off x="10677882" y="7227885"/>
            <a:ext cx="2102697" cy="1702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06AE0BBD-1979-C488-B2BF-91FF43B98B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8166" y="1156777"/>
            <a:ext cx="5391801" cy="2359321"/>
          </a:xfrm>
          <a:prstGeom prst="rect">
            <a:avLst/>
          </a:prstGeom>
        </p:spPr>
      </p:pic>
      <p:sp>
        <p:nvSpPr>
          <p:cNvPr id="20" name="Rectangle 6">
            <a:extLst>
              <a:ext uri="{FF2B5EF4-FFF2-40B4-BE49-F238E27FC236}">
                <a16:creationId xmlns:a16="http://schemas.microsoft.com/office/drawing/2014/main" id="{AF6AFAA6-C516-785F-F6DC-8BA2E8CB0ED7}"/>
              </a:ext>
            </a:extLst>
          </p:cNvPr>
          <p:cNvSpPr/>
          <p:nvPr/>
        </p:nvSpPr>
        <p:spPr>
          <a:xfrm>
            <a:off x="10827147" y="2110195"/>
            <a:ext cx="2352820" cy="112677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C961024-9C8E-BAA4-CAC9-B375EFA44F17}"/>
              </a:ext>
            </a:extLst>
          </p:cNvPr>
          <p:cNvSpPr/>
          <p:nvPr/>
        </p:nvSpPr>
        <p:spPr>
          <a:xfrm>
            <a:off x="815639" y="259689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Plugins,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them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开始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”,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9173796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3CA68-16F7-9AC7-C21C-D15C40B42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0CA445-7598-E0B8-F803-FE2FDE119055}"/>
              </a:ext>
            </a:extLst>
          </p:cNvPr>
          <p:cNvSpPr/>
          <p:nvPr/>
        </p:nvSpPr>
        <p:spPr>
          <a:xfrm>
            <a:off x="1074682" y="609422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</a:t>
            </a:r>
            <a:endParaRPr lang="en-US" sz="36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5AC746-8B83-D8CC-90E8-ADB0AEE44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362" y="1852564"/>
            <a:ext cx="4674838" cy="5332363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5304E682-9B81-636C-35B0-9083974B069B}"/>
              </a:ext>
            </a:extLst>
          </p:cNvPr>
          <p:cNvSpPr/>
          <p:nvPr/>
        </p:nvSpPr>
        <p:spPr>
          <a:xfrm>
            <a:off x="4968493" y="6717344"/>
            <a:ext cx="983218" cy="3909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87B5AA22-CD20-4F9E-E4D1-4C2E1275B23C}"/>
              </a:ext>
            </a:extLst>
          </p:cNvPr>
          <p:cNvSpPr/>
          <p:nvPr/>
        </p:nvSpPr>
        <p:spPr>
          <a:xfrm>
            <a:off x="3349900" y="2339693"/>
            <a:ext cx="983218" cy="39094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C4DA89-4077-552F-E921-AE643BB29015}"/>
              </a:ext>
            </a:extLst>
          </p:cNvPr>
          <p:cNvCxnSpPr>
            <a:cxnSpLocks/>
          </p:cNvCxnSpPr>
          <p:nvPr/>
        </p:nvCxnSpPr>
        <p:spPr>
          <a:xfrm flipH="1" flipV="1">
            <a:off x="4256690" y="2827283"/>
            <a:ext cx="711803" cy="36759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1098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65917567-6328-EC7F-E851-B91A8E31BA61}"/>
              </a:ext>
            </a:extLst>
          </p:cNvPr>
          <p:cNvSpPr/>
          <p:nvPr/>
        </p:nvSpPr>
        <p:spPr>
          <a:xfrm>
            <a:off x="917027" y="930299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大模型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_1”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r>
              <a:rPr lang="en-US" altLang="zh-CN" sz="335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LinkReader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”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</a:t>
            </a:r>
            <a:endParaRPr lang="en-US" sz="36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5711C3E-F638-BD12-6554-691D779F3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27" y="2991247"/>
            <a:ext cx="9820712" cy="260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59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CDF83-7338-FF54-86FC-971267760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031FD42-1E7E-9A5B-BD52-E32D8BB205FB}"/>
              </a:ext>
            </a:extLst>
          </p:cNvPr>
          <p:cNvSpPr/>
          <p:nvPr/>
        </p:nvSpPr>
        <p:spPr>
          <a:xfrm>
            <a:off x="8549732" y="6228708"/>
            <a:ext cx="5187290" cy="147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zh-CN" altLang="en-US" sz="2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阅读</a:t>
            </a:r>
            <a:r>
              <a:rPr lang="en-US" altLang="zh-CN" sz="2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{{input}}</a:t>
            </a:r>
            <a:r>
              <a:rPr lang="zh-CN" altLang="en-US" sz="2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找到的内容，找出和</a:t>
            </a:r>
            <a:r>
              <a:rPr lang="en-US" altLang="zh-CN" sz="2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{{topic}}</a:t>
            </a:r>
            <a:r>
              <a:rPr lang="zh-CN" altLang="en-US" sz="2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有关的</a:t>
            </a:r>
            <a:r>
              <a:rPr lang="en-US" altLang="zh-CN" sz="2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r>
              <a:rPr lang="zh-CN" altLang="en-US" sz="2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个新闻，分别列出该新闻的标新</a:t>
            </a:r>
            <a:r>
              <a:rPr lang="en-US" altLang="zh-CN" sz="2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</a:t>
            </a:r>
            <a:r>
              <a:rPr lang="en-US" altLang="zh-CN" sz="2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input.title</a:t>
            </a:r>
            <a:r>
              <a:rPr lang="en-US" altLang="zh-CN" sz="2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}}</a:t>
            </a:r>
            <a:r>
              <a:rPr lang="zh-CN" altLang="en-US" sz="2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和总结</a:t>
            </a:r>
            <a:r>
              <a:rPr lang="en-US" altLang="zh-CN" sz="2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</a:t>
            </a:r>
            <a:r>
              <a:rPr lang="en-US" altLang="zh-CN" sz="2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input.content</a:t>
            </a:r>
            <a:r>
              <a:rPr lang="en-US" altLang="zh-CN" sz="2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}}</a:t>
            </a:r>
            <a:endParaRPr lang="en-US" sz="24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1EAACE3-5E65-0E4D-04F8-5C1345A29C0A}"/>
              </a:ext>
            </a:extLst>
          </p:cNvPr>
          <p:cNvGrpSpPr/>
          <p:nvPr/>
        </p:nvGrpSpPr>
        <p:grpSpPr>
          <a:xfrm>
            <a:off x="2228193" y="1630362"/>
            <a:ext cx="6018776" cy="6199845"/>
            <a:chOff x="664779" y="1011650"/>
            <a:chExt cx="7007146" cy="7217950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105BC8D5-C466-631A-D437-AECD4DB06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4779" y="1011650"/>
              <a:ext cx="7007146" cy="7217950"/>
            </a:xfrm>
            <a:prstGeom prst="rect">
              <a:avLst/>
            </a:prstGeom>
          </p:spPr>
        </p:pic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A77CF452-4927-CCB3-4AB8-2043BEACCC91}"/>
                </a:ext>
              </a:extLst>
            </p:cNvPr>
            <p:cNvSpPr/>
            <p:nvPr/>
          </p:nvSpPr>
          <p:spPr>
            <a:xfrm>
              <a:off x="4716633" y="4710015"/>
              <a:ext cx="2955292" cy="60954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85B95DA1-9B7F-0289-8778-28EFEC379AFD}"/>
                </a:ext>
              </a:extLst>
            </p:cNvPr>
            <p:cNvSpPr/>
            <p:nvPr/>
          </p:nvSpPr>
          <p:spPr>
            <a:xfrm>
              <a:off x="4716633" y="6449418"/>
              <a:ext cx="2955292" cy="103590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 0">
            <a:extLst>
              <a:ext uri="{FF2B5EF4-FFF2-40B4-BE49-F238E27FC236}">
                <a16:creationId xmlns:a16="http://schemas.microsoft.com/office/drawing/2014/main" id="{59BD62AA-0B61-3973-5280-8ECD1A43EFAF}"/>
              </a:ext>
            </a:extLst>
          </p:cNvPr>
          <p:cNvSpPr/>
          <p:nvPr/>
        </p:nvSpPr>
        <p:spPr>
          <a:xfrm>
            <a:off x="475593" y="391995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大模型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_1”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r>
              <a:rPr lang="en-US" altLang="zh-CN" sz="335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LinkReader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”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altLang="zh-CN" sz="3350" b="1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0471469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D24D3A-D7E7-C343-520D-CFCC7114905E}"/>
              </a:ext>
            </a:extLst>
          </p:cNvPr>
          <p:cNvSpPr/>
          <p:nvPr/>
        </p:nvSpPr>
        <p:spPr>
          <a:xfrm>
            <a:off x="717331" y="743844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大模型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”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“search”,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r>
              <a:rPr lang="en-US" altLang="zh-CN" sz="335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topnews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”,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大模型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_1”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36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01032D-3003-7D36-77FA-8460CE5AB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766" y="1756640"/>
            <a:ext cx="7772400" cy="543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6136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4C31C-EE3F-CCCD-B6DC-F2B2B256D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213DC0F-21B0-7F7D-C52B-3F46A37E7B5A}"/>
              </a:ext>
            </a:extLst>
          </p:cNvPr>
          <p:cNvSpPr/>
          <p:nvPr/>
        </p:nvSpPr>
        <p:spPr>
          <a:xfrm>
            <a:off x="8160849" y="2499373"/>
            <a:ext cx="5187290" cy="553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按照以下格式帮我列出新闻：</a:t>
            </a:r>
          </a:p>
          <a:p>
            <a:pPr algn="just"/>
            <a:endParaRPr lang="zh-CN" altLang="en-US" sz="20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just"/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新闻来源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：</a:t>
            </a:r>
          </a:p>
          <a:p>
            <a:pPr algn="just"/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根据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{{input1}}</a:t>
            </a:r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总结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条新闻，分段总结出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条新闻的标题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{{input1.doc_results[0].title}}</a:t>
            </a:r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、总结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{{input1.doc_results[0].summary}}</a:t>
            </a:r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、网址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{{input1.doc_results[0].</a:t>
            </a:r>
            <a:r>
              <a:rPr lang="en-US" altLang="zh-CN" sz="20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url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}}</a:t>
            </a:r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。</a:t>
            </a:r>
          </a:p>
          <a:p>
            <a:pPr algn="just"/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如果没有结果、没有相关新闻，就显示无。</a:t>
            </a:r>
          </a:p>
          <a:p>
            <a:pPr algn="just"/>
            <a:endParaRPr lang="zh-CN" altLang="en-US" sz="20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just"/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新闻来源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：</a:t>
            </a:r>
          </a:p>
          <a:p>
            <a:pPr algn="just"/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根据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{{input2}}</a:t>
            </a:r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总结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条新闻，分段总结出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条新闻的标题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{{input2.coze_ark_001.list[0].title}}</a:t>
            </a:r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、总结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{{input2.coze_ark_001.list[0].brief}}</a:t>
            </a:r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、网址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{{input2.coze_ark_001.list[0].</a:t>
            </a:r>
            <a:r>
              <a:rPr lang="en-US" altLang="zh-CN" sz="20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url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}}</a:t>
            </a:r>
          </a:p>
          <a:p>
            <a:pPr algn="just"/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如果没有结果、没有相关新闻，就显示无。</a:t>
            </a:r>
          </a:p>
          <a:p>
            <a:pPr algn="just"/>
            <a:endParaRPr lang="zh-CN" altLang="en-US" sz="20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just"/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新闻来源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：</a:t>
            </a:r>
          </a:p>
          <a:p>
            <a:pPr algn="just"/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根据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{{input3}}</a:t>
            </a:r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分段总结</a:t>
            </a:r>
            <a:r>
              <a:rPr lang="en-US" altLang="zh-CN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r>
              <a:rPr lang="zh-CN" alt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条新闻</a:t>
            </a:r>
            <a:endParaRPr lang="en-US" sz="20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62BBE4B-88DC-A2A3-7225-BD82C662366D}"/>
              </a:ext>
            </a:extLst>
          </p:cNvPr>
          <p:cNvGrpSpPr/>
          <p:nvPr/>
        </p:nvGrpSpPr>
        <p:grpSpPr>
          <a:xfrm>
            <a:off x="1891862" y="1071815"/>
            <a:ext cx="5509054" cy="6967536"/>
            <a:chOff x="1434147" y="492923"/>
            <a:chExt cx="5966769" cy="754642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82A75C3-47FC-EFC5-5158-DB5D095CC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4147" y="492923"/>
              <a:ext cx="5966769" cy="754642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9F8D729-4C5E-8B55-37A8-62346C205941}"/>
                </a:ext>
              </a:extLst>
            </p:cNvPr>
            <p:cNvSpPr/>
            <p:nvPr/>
          </p:nvSpPr>
          <p:spPr>
            <a:xfrm>
              <a:off x="4695612" y="3347538"/>
              <a:ext cx="2619588" cy="117191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E0A7E463-7C60-3DB0-F231-CAF3E703FD45}"/>
                </a:ext>
              </a:extLst>
            </p:cNvPr>
            <p:cNvSpPr/>
            <p:nvPr/>
          </p:nvSpPr>
          <p:spPr>
            <a:xfrm>
              <a:off x="4800716" y="5460116"/>
              <a:ext cx="2514484" cy="247519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 0">
            <a:extLst>
              <a:ext uri="{FF2B5EF4-FFF2-40B4-BE49-F238E27FC236}">
                <a16:creationId xmlns:a16="http://schemas.microsoft.com/office/drawing/2014/main" id="{FF151B0B-33EB-3E54-31A1-7D6F5AF0CCDD}"/>
              </a:ext>
            </a:extLst>
          </p:cNvPr>
          <p:cNvSpPr/>
          <p:nvPr/>
        </p:nvSpPr>
        <p:spPr>
          <a:xfrm>
            <a:off x="782619" y="286310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Setup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大模型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”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8675625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FC1B5E1-7DDD-F011-9F55-4EC6ACB64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22" y="2360144"/>
            <a:ext cx="12998671" cy="3509312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654B4864-C14C-FA79-5C3A-0D3DC9317A48}"/>
              </a:ext>
            </a:extLst>
          </p:cNvPr>
          <p:cNvSpPr/>
          <p:nvPr/>
        </p:nvSpPr>
        <p:spPr>
          <a:xfrm>
            <a:off x="9561901" y="4114799"/>
            <a:ext cx="4059505" cy="14556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BF936688-2CA8-8B1D-CA9B-B285586D6505}"/>
              </a:ext>
            </a:extLst>
          </p:cNvPr>
          <p:cNvSpPr/>
          <p:nvPr/>
        </p:nvSpPr>
        <p:spPr>
          <a:xfrm>
            <a:off x="748862" y="712315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大模型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”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结束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”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altLang="zh-CN" sz="3350" b="1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</a:t>
            </a:r>
            <a:r>
              <a:rPr lang="zh-CN" altLang="en-US" sz="3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结束</a:t>
            </a:r>
            <a:r>
              <a:rPr lang="en-US" altLang="zh-CN" sz="3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”</a:t>
            </a:r>
            <a:r>
              <a:rPr lang="zh-CN" altLang="en-US" sz="36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4583810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590F6D6-5043-31FF-CBA9-7F3D9BAA4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709" y="1235214"/>
            <a:ext cx="12036981" cy="6106708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96E3BCA7-00CE-CB9A-1E46-CC94DDB58185}"/>
              </a:ext>
            </a:extLst>
          </p:cNvPr>
          <p:cNvSpPr/>
          <p:nvPr/>
        </p:nvSpPr>
        <p:spPr>
          <a:xfrm>
            <a:off x="6943547" y="7051385"/>
            <a:ext cx="1036869" cy="2905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36EF7FD-920F-1ECF-32C8-E1C2D2D216EC}"/>
              </a:ext>
            </a:extLst>
          </p:cNvPr>
          <p:cNvSpPr/>
          <p:nvPr/>
        </p:nvSpPr>
        <p:spPr>
          <a:xfrm>
            <a:off x="11616835" y="1993937"/>
            <a:ext cx="1933553" cy="3685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BEA5D37-2FE9-14CB-E054-55CB4CD3B2A3}"/>
              </a:ext>
            </a:extLst>
          </p:cNvPr>
          <p:cNvSpPr/>
          <p:nvPr/>
        </p:nvSpPr>
        <p:spPr>
          <a:xfrm>
            <a:off x="11508087" y="6962575"/>
            <a:ext cx="1933553" cy="4316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9">
            <a:extLst>
              <a:ext uri="{FF2B5EF4-FFF2-40B4-BE49-F238E27FC236}">
                <a16:creationId xmlns:a16="http://schemas.microsoft.com/office/drawing/2014/main" id="{EE650264-02E5-121A-D088-95581624AA67}"/>
              </a:ext>
            </a:extLst>
          </p:cNvPr>
          <p:cNvCxnSpPr>
            <a:cxnSpLocks/>
          </p:cNvCxnSpPr>
          <p:nvPr/>
        </p:nvCxnSpPr>
        <p:spPr>
          <a:xfrm flipV="1">
            <a:off x="8196317" y="2362458"/>
            <a:ext cx="3311770" cy="48159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11">
            <a:extLst>
              <a:ext uri="{FF2B5EF4-FFF2-40B4-BE49-F238E27FC236}">
                <a16:creationId xmlns:a16="http://schemas.microsoft.com/office/drawing/2014/main" id="{E8A11910-8AA6-82B1-6DF1-42BBDC3EE91A}"/>
              </a:ext>
            </a:extLst>
          </p:cNvPr>
          <p:cNvCxnSpPr/>
          <p:nvPr/>
        </p:nvCxnSpPr>
        <p:spPr>
          <a:xfrm>
            <a:off x="12573100" y="3036871"/>
            <a:ext cx="0" cy="26543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0">
            <a:extLst>
              <a:ext uri="{FF2B5EF4-FFF2-40B4-BE49-F238E27FC236}">
                <a16:creationId xmlns:a16="http://schemas.microsoft.com/office/drawing/2014/main" id="{1179A49E-7DFC-0FC8-C4AE-95154AF0E887}"/>
              </a:ext>
            </a:extLst>
          </p:cNvPr>
          <p:cNvSpPr/>
          <p:nvPr/>
        </p:nvSpPr>
        <p:spPr>
          <a:xfrm>
            <a:off x="853964" y="550095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350"/>
              </a:lnSpc>
            </a:pP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</a:t>
            </a:r>
            <a:r>
              <a:rPr lang="zh-CN" altLang="en-US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6888417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4E61B56-3FFC-B1B2-5D3D-CFD3B8570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774" y="1061545"/>
            <a:ext cx="3081937" cy="594885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461BFD6-4F5D-97C3-72F6-A69D35223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896" y="1098331"/>
            <a:ext cx="4144677" cy="6161710"/>
          </a:xfrm>
          <a:prstGeom prst="rect">
            <a:avLst/>
          </a:prstGeom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42554742-1F2E-723F-FE75-5905BBF173E1}"/>
              </a:ext>
            </a:extLst>
          </p:cNvPr>
          <p:cNvSpPr/>
          <p:nvPr/>
        </p:nvSpPr>
        <p:spPr>
          <a:xfrm>
            <a:off x="2255933" y="5727082"/>
            <a:ext cx="1036869" cy="2905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9">
            <a:extLst>
              <a:ext uri="{FF2B5EF4-FFF2-40B4-BE49-F238E27FC236}">
                <a16:creationId xmlns:a16="http://schemas.microsoft.com/office/drawing/2014/main" id="{1BC82D23-3A4A-323F-F1B7-2EFA4EAAF0ED}"/>
              </a:ext>
            </a:extLst>
          </p:cNvPr>
          <p:cNvCxnSpPr>
            <a:cxnSpLocks/>
          </p:cNvCxnSpPr>
          <p:nvPr/>
        </p:nvCxnSpPr>
        <p:spPr>
          <a:xfrm>
            <a:off x="4992414" y="3962219"/>
            <a:ext cx="273269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7324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F6262-5D79-1E2B-C9C6-9F45154DE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0DC471-7882-8FB3-60FD-6BDEE2C68EB0}"/>
              </a:ext>
            </a:extLst>
          </p:cNvPr>
          <p:cNvSpPr/>
          <p:nvPr/>
        </p:nvSpPr>
        <p:spPr>
          <a:xfrm>
            <a:off x="858304" y="1806614"/>
            <a:ext cx="12913792" cy="5693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altLang="zh-CN" sz="8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Time</a:t>
            </a:r>
            <a:r>
              <a:rPr lang="zh-CN" altLang="en-US" sz="8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8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</a:t>
            </a:r>
            <a:r>
              <a:rPr lang="zh-CN" altLang="en-US" sz="8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8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Your</a:t>
            </a:r>
            <a:r>
              <a:rPr lang="zh-CN" altLang="en-US" sz="8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8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Practice</a:t>
            </a:r>
          </a:p>
          <a:p>
            <a:pPr marL="0" indent="0" algn="ctr">
              <a:buNone/>
            </a:pPr>
            <a:endParaRPr lang="en-US" altLang="zh-CN" sz="4800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0" indent="0" algn="ctr">
              <a:buNone/>
            </a:pPr>
            <a:r>
              <a:rPr lang="en-US" altLang="zh-CN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Building</a:t>
            </a:r>
            <a:r>
              <a:rPr lang="zh-CN" alt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Workflow</a:t>
            </a:r>
            <a:r>
              <a:rPr lang="zh-CN" alt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</a:t>
            </a:r>
            <a:r>
              <a:rPr lang="zh-CN" alt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Agent</a:t>
            </a:r>
            <a:r>
              <a:rPr lang="zh-CN" alt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</a:t>
            </a:r>
            <a:r>
              <a:rPr lang="zh-CN" alt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Collect</a:t>
            </a:r>
            <a:r>
              <a:rPr lang="zh-CN" alt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altLang="zh-CN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News</a:t>
            </a:r>
          </a:p>
          <a:p>
            <a:pPr marL="0" indent="0" algn="l">
              <a:buNone/>
            </a:pPr>
            <a:endParaRPr lang="en-US" sz="3600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3600" dirty="0">
                <a:hlinkClick r:id="rId3"/>
              </a:rPr>
              <a:t>https://coze.cn/</a:t>
            </a:r>
            <a:r>
              <a:rPr lang="zh-CN" altLang="en-US" sz="4000" dirty="0"/>
              <a:t> </a:t>
            </a:r>
            <a:r>
              <a:rPr lang="en-US" altLang="zh-CN" sz="3000" dirty="0"/>
              <a:t>(Chinese</a:t>
            </a:r>
            <a:r>
              <a:rPr lang="zh-CN" altLang="en-US" sz="3000" dirty="0"/>
              <a:t> </a:t>
            </a:r>
            <a:r>
              <a:rPr lang="en-US" altLang="zh-CN" sz="3000" dirty="0"/>
              <a:t>Version)</a:t>
            </a:r>
            <a:endParaRPr lang="en-US" sz="3000" dirty="0"/>
          </a:p>
          <a:p>
            <a:pPr>
              <a:lnSpc>
                <a:spcPct val="150000"/>
              </a:lnSpc>
            </a:pPr>
            <a:r>
              <a:rPr lang="en-US" sz="3600" dirty="0">
                <a:hlinkClick r:id="rId4"/>
              </a:rPr>
              <a:t>https://www.coze.com/</a:t>
            </a:r>
            <a:r>
              <a:rPr lang="zh-CN" altLang="en-US" sz="3600" dirty="0"/>
              <a:t> </a:t>
            </a:r>
            <a:r>
              <a:rPr lang="en-US" altLang="zh-CN" sz="3000" dirty="0"/>
              <a:t>(English</a:t>
            </a:r>
            <a:r>
              <a:rPr lang="zh-CN" altLang="en-US" sz="3000" dirty="0"/>
              <a:t> </a:t>
            </a:r>
            <a:r>
              <a:rPr lang="en-US" altLang="zh-CN" sz="3000" dirty="0"/>
              <a:t>Version)</a:t>
            </a:r>
            <a:endParaRPr lang="en-US" sz="3000" dirty="0"/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7626850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1FFE2-949B-B3F4-8F4A-E110565CC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89E8354-2EC3-68B9-0C82-D0D940D917F9}"/>
              </a:ext>
            </a:extLst>
          </p:cNvPr>
          <p:cNvSpPr/>
          <p:nvPr/>
        </p:nvSpPr>
        <p:spPr>
          <a:xfrm>
            <a:off x="3624061" y="2696660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350"/>
              </a:lnSpc>
            </a:pPr>
            <a:r>
              <a:rPr lang="en-US" altLang="zh-CN" sz="3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Other</a:t>
            </a:r>
            <a:r>
              <a:rPr lang="zh-CN" altLang="en-US" sz="3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</a:t>
            </a:r>
            <a:r>
              <a:rPr lang="zh-CN" altLang="en-US" sz="3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3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Agents</a:t>
            </a:r>
            <a:r>
              <a:rPr lang="zh-CN" altLang="en-US" sz="3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altLang="zh-CN" sz="3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Platforms:</a:t>
            </a:r>
            <a:endParaRPr lang="en-US" sz="3600" b="1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5CC8BABB-B821-DFD8-EEE2-52A99ED67BDB}"/>
              </a:ext>
            </a:extLst>
          </p:cNvPr>
          <p:cNvSpPr/>
          <p:nvPr/>
        </p:nvSpPr>
        <p:spPr>
          <a:xfrm>
            <a:off x="4346549" y="3885851"/>
            <a:ext cx="7224236" cy="685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350"/>
              </a:lnSpc>
            </a:pPr>
            <a:r>
              <a:rPr lang="en-US" sz="3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/>
              </a:rPr>
              <a:t>https://www.youtube.com/watch?v=GchXMRwuWxE</a:t>
            </a:r>
            <a:endParaRPr lang="en-US" sz="335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ctr">
              <a:lnSpc>
                <a:spcPts val="5350"/>
              </a:lnSpc>
            </a:pPr>
            <a:endParaRPr lang="en-US" sz="3600" b="1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900123A0-143E-EE64-ACB2-0B58058ABE60}"/>
              </a:ext>
            </a:extLst>
          </p:cNvPr>
          <p:cNvSpPr/>
          <p:nvPr/>
        </p:nvSpPr>
        <p:spPr>
          <a:xfrm>
            <a:off x="4346549" y="5190159"/>
            <a:ext cx="72242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350"/>
              </a:lnSpc>
            </a:pPr>
            <a:r>
              <a:rPr lang="en-US" sz="3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/>
              </a:rPr>
              <a:t>https://www.youtube.com/watch?v=44eFf-tRiSg</a:t>
            </a:r>
            <a:endParaRPr lang="en-US" sz="335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ctr">
              <a:lnSpc>
                <a:spcPts val="5350"/>
              </a:lnSpc>
            </a:pPr>
            <a:endParaRPr lang="en-US" sz="335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ctr">
              <a:lnSpc>
                <a:spcPts val="5350"/>
              </a:lnSpc>
            </a:pPr>
            <a:endParaRPr lang="en-US" sz="3600" b="1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57DAEDAB-1B4A-5102-F177-01E7C7052BD0}"/>
              </a:ext>
            </a:extLst>
          </p:cNvPr>
          <p:cNvSpPr/>
          <p:nvPr/>
        </p:nvSpPr>
        <p:spPr>
          <a:xfrm>
            <a:off x="1565744" y="3889811"/>
            <a:ext cx="13815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350"/>
              </a:lnSpc>
            </a:pPr>
            <a:r>
              <a:rPr lang="en-US" altLang="zh-CN" sz="3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N8N:</a:t>
            </a:r>
            <a:endParaRPr lang="en-US" sz="3600" b="1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47F905E5-637D-D979-72FC-7E9694E0CE90}"/>
              </a:ext>
            </a:extLst>
          </p:cNvPr>
          <p:cNvSpPr/>
          <p:nvPr/>
        </p:nvSpPr>
        <p:spPr>
          <a:xfrm>
            <a:off x="1791375" y="5190159"/>
            <a:ext cx="1381536" cy="685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350"/>
              </a:lnSpc>
            </a:pPr>
            <a:r>
              <a:rPr lang="en-US" altLang="zh-CN" sz="3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OpenAI: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556826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15289" y="3489841"/>
            <a:ext cx="9999702" cy="1249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800"/>
              </a:lnSpc>
              <a:buNone/>
            </a:pPr>
            <a:r>
              <a:rPr lang="en-US" sz="7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Questions?</a:t>
            </a:r>
            <a:endParaRPr lang="en-US" sz="7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5270" y="951309"/>
            <a:ext cx="6499741" cy="812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350"/>
              </a:lnSpc>
              <a:buNone/>
            </a:pPr>
            <a:r>
              <a:rPr lang="en-US" sz="5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Course Feedback</a:t>
            </a:r>
            <a:endParaRPr lang="en-US" sz="5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852" y="2212181"/>
            <a:ext cx="6332577" cy="50659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1266</Words>
  <Application>Microsoft Macintosh PowerPoint</Application>
  <PresentationFormat>自定义</PresentationFormat>
  <Paragraphs>172</Paragraphs>
  <Slides>45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49" baseType="lpstr">
      <vt:lpstr>Roboto Slab</vt:lpstr>
      <vt:lpstr>Roboto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2025-11-09T15:22:56Z</dcterms:created>
  <dcterms:modified xsi:type="dcterms:W3CDTF">2025-11-18T08:56:08Z</dcterms:modified>
</cp:coreProperties>
</file>