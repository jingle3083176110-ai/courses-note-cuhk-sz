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29"/>
  </p:notesMasterIdLst>
  <p:sldIdLst>
    <p:sldId id="256" r:id="rId2"/>
    <p:sldId id="257" r:id="rId3"/>
    <p:sldId id="478" r:id="rId4"/>
    <p:sldId id="406" r:id="rId5"/>
    <p:sldId id="411" r:id="rId6"/>
    <p:sldId id="368" r:id="rId7"/>
    <p:sldId id="496" r:id="rId8"/>
    <p:sldId id="409" r:id="rId9"/>
    <p:sldId id="480" r:id="rId10"/>
    <p:sldId id="491" r:id="rId11"/>
    <p:sldId id="499" r:id="rId12"/>
    <p:sldId id="494" r:id="rId13"/>
    <p:sldId id="492" r:id="rId14"/>
    <p:sldId id="495" r:id="rId15"/>
    <p:sldId id="432" r:id="rId16"/>
    <p:sldId id="484" r:id="rId17"/>
    <p:sldId id="485" r:id="rId18"/>
    <p:sldId id="433" r:id="rId19"/>
    <p:sldId id="398" r:id="rId20"/>
    <p:sldId id="479" r:id="rId21"/>
    <p:sldId id="416" r:id="rId22"/>
    <p:sldId id="413" r:id="rId23"/>
    <p:sldId id="414" r:id="rId24"/>
    <p:sldId id="418" r:id="rId25"/>
    <p:sldId id="415" r:id="rId26"/>
    <p:sldId id="486" r:id="rId27"/>
    <p:sldId id="49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28" autoAdjust="0"/>
    <p:restoredTop sz="88630" autoAdjust="0"/>
  </p:normalViewPr>
  <p:slideViewPr>
    <p:cSldViewPr snapToGrid="0">
      <p:cViewPr>
        <p:scale>
          <a:sx n="87" d="100"/>
          <a:sy n="87" d="100"/>
        </p:scale>
        <p:origin x="1504" y="7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424F09-3227-471D-84B7-29623C4D4071}" type="datetimeFigureOut">
              <a:rPr lang="en-US" smtClean="0"/>
              <a:t>6/24/26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7C266B-F689-49FC-AC7B-9CA5A7007299}" type="slidenum">
              <a:rPr lang="en-US" smtClean="0"/>
              <a:t>‹#›</a:t>
            </a:fld>
            <a:endParaRPr lang="en-US"/>
          </a:p>
        </p:txBody>
      </p:sp>
    </p:spTree>
    <p:extLst>
      <p:ext uri="{BB962C8B-B14F-4D97-AF65-F5344CB8AC3E}">
        <p14:creationId xmlns:p14="http://schemas.microsoft.com/office/powerpoint/2010/main" val="715358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4</a:t>
            </a:fld>
            <a:endParaRPr lang="en-US"/>
          </a:p>
        </p:txBody>
      </p:sp>
    </p:spTree>
    <p:extLst>
      <p:ext uri="{BB962C8B-B14F-4D97-AF65-F5344CB8AC3E}">
        <p14:creationId xmlns:p14="http://schemas.microsoft.com/office/powerpoint/2010/main" val="427559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the book: https://direct.mit.edu/books/book/5048/The-Politics-of-Dating-AppsGender-Sexuality-and</a:t>
            </a:r>
          </a:p>
          <a:p>
            <a:endParaRPr lang="en-US" dirty="0"/>
          </a:p>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6</a:t>
            </a:fld>
            <a:endParaRPr lang="en-US"/>
          </a:p>
        </p:txBody>
      </p:sp>
    </p:spTree>
    <p:extLst>
      <p:ext uri="{BB962C8B-B14F-4D97-AF65-F5344CB8AC3E}">
        <p14:creationId xmlns:p14="http://schemas.microsoft.com/office/powerpoint/2010/main" val="1936889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8</a:t>
            </a:fld>
            <a:endParaRPr lang="en-US"/>
          </a:p>
        </p:txBody>
      </p:sp>
    </p:spTree>
    <p:extLst>
      <p:ext uri="{BB962C8B-B14F-4D97-AF65-F5344CB8AC3E}">
        <p14:creationId xmlns:p14="http://schemas.microsoft.com/office/powerpoint/2010/main" val="36231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9</a:t>
            </a:fld>
            <a:endParaRPr lang="en-US"/>
          </a:p>
        </p:txBody>
      </p:sp>
    </p:spTree>
    <p:extLst>
      <p:ext uri="{BB962C8B-B14F-4D97-AF65-F5344CB8AC3E}">
        <p14:creationId xmlns:p14="http://schemas.microsoft.com/office/powerpoint/2010/main" val="2365435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15</a:t>
            </a:fld>
            <a:endParaRPr lang="en-US"/>
          </a:p>
        </p:txBody>
      </p:sp>
    </p:spTree>
    <p:extLst>
      <p:ext uri="{BB962C8B-B14F-4D97-AF65-F5344CB8AC3E}">
        <p14:creationId xmlns:p14="http://schemas.microsoft.com/office/powerpoint/2010/main" val="1096878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16</a:t>
            </a:fld>
            <a:endParaRPr lang="en-US"/>
          </a:p>
        </p:txBody>
      </p:sp>
    </p:spTree>
    <p:extLst>
      <p:ext uri="{BB962C8B-B14F-4D97-AF65-F5344CB8AC3E}">
        <p14:creationId xmlns:p14="http://schemas.microsoft.com/office/powerpoint/2010/main" val="33693348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18</a:t>
            </a:fld>
            <a:endParaRPr lang="en-US"/>
          </a:p>
        </p:txBody>
      </p:sp>
    </p:spTree>
    <p:extLst>
      <p:ext uri="{BB962C8B-B14F-4D97-AF65-F5344CB8AC3E}">
        <p14:creationId xmlns:p14="http://schemas.microsoft.com/office/powerpoint/2010/main" val="3376763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19</a:t>
            </a:fld>
            <a:endParaRPr lang="en-US"/>
          </a:p>
        </p:txBody>
      </p:sp>
    </p:spTree>
    <p:extLst>
      <p:ext uri="{BB962C8B-B14F-4D97-AF65-F5344CB8AC3E}">
        <p14:creationId xmlns:p14="http://schemas.microsoft.com/office/powerpoint/2010/main" val="2535939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C266B-F689-49FC-AC7B-9CA5A7007299}" type="slidenum">
              <a:rPr lang="en-US" smtClean="0"/>
              <a:t>20</a:t>
            </a:fld>
            <a:endParaRPr lang="en-US"/>
          </a:p>
        </p:txBody>
      </p:sp>
    </p:spTree>
    <p:extLst>
      <p:ext uri="{BB962C8B-B14F-4D97-AF65-F5344CB8AC3E}">
        <p14:creationId xmlns:p14="http://schemas.microsoft.com/office/powerpoint/2010/main" val="50210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21</a:t>
            </a:fld>
            <a:endParaRPr lang="en-US"/>
          </a:p>
        </p:txBody>
      </p:sp>
    </p:spTree>
    <p:extLst>
      <p:ext uri="{BB962C8B-B14F-4D97-AF65-F5344CB8AC3E}">
        <p14:creationId xmlns:p14="http://schemas.microsoft.com/office/powerpoint/2010/main" val="2932700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22</a:t>
            </a:fld>
            <a:endParaRPr lang="en-US"/>
          </a:p>
        </p:txBody>
      </p:sp>
    </p:spTree>
    <p:extLst>
      <p:ext uri="{BB962C8B-B14F-4D97-AF65-F5344CB8AC3E}">
        <p14:creationId xmlns:p14="http://schemas.microsoft.com/office/powerpoint/2010/main" val="47813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ffectLst/>
                <a:latin typeface="Segoe UI Historic" panose="020B0502040204020203" pitchFamily="34" charset="0"/>
                <a:ea typeface="PMingLiU" panose="02020500000000000000" pitchFamily="18" charset="-120"/>
                <a:cs typeface="Times New Roman" panose="02020603050405020304" pitchFamily="18" charset="0"/>
              </a:rPr>
              <a:t>Chan, L. S. (2021). </a:t>
            </a:r>
            <a:r>
              <a:rPr lang="en-US" sz="1200" i="1" dirty="0">
                <a:solidFill>
                  <a:srgbClr val="000000"/>
                </a:solidFill>
                <a:effectLst/>
                <a:latin typeface="Segoe UI Historic" panose="020B0502040204020203" pitchFamily="34" charset="0"/>
                <a:ea typeface="PMingLiU" panose="02020500000000000000" pitchFamily="18" charset="-120"/>
                <a:cs typeface="Times New Roman" panose="02020603050405020304" pitchFamily="18" charset="0"/>
              </a:rPr>
              <a:t>Politics of dating apps: Gender, sexuality, and emergent publics in urban China</a:t>
            </a:r>
            <a:r>
              <a:rPr lang="en-US" sz="1200" dirty="0">
                <a:solidFill>
                  <a:srgbClr val="000000"/>
                </a:solidFill>
                <a:effectLst/>
                <a:latin typeface="Segoe UI Historic" panose="020B0502040204020203" pitchFamily="34" charset="0"/>
                <a:ea typeface="PMingLiU" panose="02020500000000000000" pitchFamily="18" charset="-120"/>
                <a:cs typeface="Times New Roman" panose="02020603050405020304" pitchFamily="18" charset="0"/>
              </a:rPr>
              <a:t>. MIT Press. pp. 1–10 of “Introduction”</a:t>
            </a:r>
            <a:endParaRPr lang="en-US" sz="12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23</a:t>
            </a:fld>
            <a:endParaRPr lang="en-US"/>
          </a:p>
        </p:txBody>
      </p:sp>
    </p:spTree>
    <p:extLst>
      <p:ext uri="{BB962C8B-B14F-4D97-AF65-F5344CB8AC3E}">
        <p14:creationId xmlns:p14="http://schemas.microsoft.com/office/powerpoint/2010/main" val="24836615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ffectLst/>
                <a:latin typeface="Segoe UI Historic" panose="020B0502040204020203" pitchFamily="34" charset="0"/>
                <a:ea typeface="PMingLiU" panose="02020500000000000000" pitchFamily="18" charset="-120"/>
                <a:cs typeface="Times New Roman" panose="02020603050405020304" pitchFamily="18" charset="0"/>
              </a:rPr>
              <a:t>Chan, L. S. (2021). </a:t>
            </a:r>
            <a:r>
              <a:rPr lang="en-US" sz="1200" i="1" dirty="0">
                <a:solidFill>
                  <a:srgbClr val="000000"/>
                </a:solidFill>
                <a:effectLst/>
                <a:latin typeface="Segoe UI Historic" panose="020B0502040204020203" pitchFamily="34" charset="0"/>
                <a:ea typeface="PMingLiU" panose="02020500000000000000" pitchFamily="18" charset="-120"/>
                <a:cs typeface="Times New Roman" panose="02020603050405020304" pitchFamily="18" charset="0"/>
              </a:rPr>
              <a:t>Politics of dating apps: Gender, sexuality, and emergent publics in urban China</a:t>
            </a:r>
            <a:r>
              <a:rPr lang="en-US" sz="1200" dirty="0">
                <a:solidFill>
                  <a:srgbClr val="000000"/>
                </a:solidFill>
                <a:effectLst/>
                <a:latin typeface="Segoe UI Historic" panose="020B0502040204020203" pitchFamily="34" charset="0"/>
                <a:ea typeface="PMingLiU" panose="02020500000000000000" pitchFamily="18" charset="-120"/>
                <a:cs typeface="Times New Roman" panose="02020603050405020304" pitchFamily="18" charset="0"/>
              </a:rPr>
              <a:t>. MIT Press. pp. 1–10 of “Introduction”</a:t>
            </a:r>
            <a:endParaRPr lang="en-US" sz="12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24</a:t>
            </a:fld>
            <a:endParaRPr lang="en-US"/>
          </a:p>
        </p:txBody>
      </p:sp>
    </p:spTree>
    <p:extLst>
      <p:ext uri="{BB962C8B-B14F-4D97-AF65-F5344CB8AC3E}">
        <p14:creationId xmlns:p14="http://schemas.microsoft.com/office/powerpoint/2010/main" val="2323334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ffectLst/>
                <a:latin typeface="Segoe UI Historic" panose="020B0502040204020203" pitchFamily="34" charset="0"/>
                <a:ea typeface="PMingLiU" panose="02020500000000000000" pitchFamily="18" charset="-120"/>
                <a:cs typeface="Times New Roman" panose="02020603050405020304" pitchFamily="18" charset="0"/>
              </a:rPr>
              <a:t>Chan, L. S. (2021). </a:t>
            </a:r>
            <a:r>
              <a:rPr lang="en-US" sz="1200" i="1" dirty="0">
                <a:solidFill>
                  <a:srgbClr val="000000"/>
                </a:solidFill>
                <a:effectLst/>
                <a:latin typeface="Segoe UI Historic" panose="020B0502040204020203" pitchFamily="34" charset="0"/>
                <a:ea typeface="PMingLiU" panose="02020500000000000000" pitchFamily="18" charset="-120"/>
                <a:cs typeface="Times New Roman" panose="02020603050405020304" pitchFamily="18" charset="0"/>
              </a:rPr>
              <a:t>Politics of dating apps: Gender, sexuality, and emergent publics in urban China</a:t>
            </a:r>
            <a:r>
              <a:rPr lang="en-US" sz="1200" dirty="0">
                <a:solidFill>
                  <a:srgbClr val="000000"/>
                </a:solidFill>
                <a:effectLst/>
                <a:latin typeface="Segoe UI Historic" panose="020B0502040204020203" pitchFamily="34" charset="0"/>
                <a:ea typeface="PMingLiU" panose="02020500000000000000" pitchFamily="18" charset="-120"/>
                <a:cs typeface="Times New Roman" panose="02020603050405020304" pitchFamily="18" charset="0"/>
              </a:rPr>
              <a:t>. MIT Press. pp. 1–10 of “Introduction”</a:t>
            </a:r>
            <a:endParaRPr lang="en-US" sz="12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25</a:t>
            </a:fld>
            <a:endParaRPr lang="en-US"/>
          </a:p>
        </p:txBody>
      </p:sp>
    </p:spTree>
    <p:extLst>
      <p:ext uri="{BB962C8B-B14F-4D97-AF65-F5344CB8AC3E}">
        <p14:creationId xmlns:p14="http://schemas.microsoft.com/office/powerpoint/2010/main" val="1715284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847D-1CF6-46BA-B46B-48BED0604A28}"/>
              </a:ext>
            </a:extLst>
          </p:cNvPr>
          <p:cNvSpPr>
            <a:spLocks noGrp="1"/>
          </p:cNvSpPr>
          <p:nvPr>
            <p:ph type="ctrTitle"/>
          </p:nvPr>
        </p:nvSpPr>
        <p:spPr>
          <a:xfrm>
            <a:off x="1524000" y="1122363"/>
            <a:ext cx="9144000" cy="2387600"/>
          </a:xfrm>
        </p:spPr>
        <p:txBody>
          <a:bodyPr anchor="b"/>
          <a:lstStyle>
            <a:lvl1pPr algn="ctr">
              <a:defRPr sz="6000" b="1" cap="all" spc="1500" baseline="0">
                <a:latin typeface="+mj-lt"/>
                <a:ea typeface="Source Sans Pro SemiBold" panose="020B0603030403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7FB4F5A5-C931-4A4C-B6B1-EF4C95965BFF}"/>
              </a:ext>
            </a:extLst>
          </p:cNvPr>
          <p:cNvSpPr>
            <a:spLocks noGrp="1"/>
          </p:cNvSpPr>
          <p:nvPr>
            <p:ph type="subTitle" idx="1"/>
          </p:nvPr>
        </p:nvSpPr>
        <p:spPr>
          <a:xfrm>
            <a:off x="1524000" y="3602038"/>
            <a:ext cx="9144000" cy="1655762"/>
          </a:xfrm>
        </p:spPr>
        <p:txBody>
          <a:bodyPr/>
          <a:lstStyle>
            <a:lvl1pPr marL="0" indent="0" algn="ctr">
              <a:buNone/>
              <a:defRPr sz="2400" cap="all" spc="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pSp>
        <p:nvGrpSpPr>
          <p:cNvPr id="7" name="Graphic 185">
            <a:extLst>
              <a:ext uri="{FF2B5EF4-FFF2-40B4-BE49-F238E27FC236}">
                <a16:creationId xmlns:a16="http://schemas.microsoft.com/office/drawing/2014/main" id="{8A351602-3772-4279-B0D3-A523F6F6EAB3}"/>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A5AAAA75-5FFB-4C07-AD4A-3146773E6CD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1479895E-3847-44BB-8404-28F14219FB7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0E02F68-8149-4236-8D9F-6B550F78B93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56FCAAB-F073-4561-A484-42C7DD10DC26}"/>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CF8DB94-87A3-43E9-9BBB-301CFF0FB05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35DE4AEC-B6E4-439C-B716-EBE3D4D1DC76}"/>
              </a:ext>
            </a:extLst>
          </p:cNvPr>
          <p:cNvSpPr>
            <a:spLocks noGrp="1"/>
          </p:cNvSpPr>
          <p:nvPr>
            <p:ph type="dt" sz="half" idx="10"/>
          </p:nvPr>
        </p:nvSpPr>
        <p:spPr/>
        <p:txBody>
          <a:bodyPr/>
          <a:lstStyle/>
          <a:p>
            <a:fld id="{D6D0F569-AC90-44EB-9EF4-4E5C2F5D823C}" type="datetime1">
              <a:rPr lang="en-US" smtClean="0"/>
              <a:t>6/24/26</a:t>
            </a:fld>
            <a:endParaRPr lang="en-US" dirty="0"/>
          </a:p>
        </p:txBody>
      </p:sp>
      <p:sp>
        <p:nvSpPr>
          <p:cNvPr id="5" name="Footer Placeholder 4">
            <a:extLst>
              <a:ext uri="{FF2B5EF4-FFF2-40B4-BE49-F238E27FC236}">
                <a16:creationId xmlns:a16="http://schemas.microsoft.com/office/drawing/2014/main" id="{F478BC18-102E-45BF-8FEA-801E9C59D143}"/>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FAA8BF5F-B1F8-461F-9B3D-7D50D02423E7}"/>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7D6BF779-0B8C-4CC2-9268-9506AD0C5331}"/>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141350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8500-1605-41EA-A15F-9B79DF7E405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C9B14AC8-25A5-4D7F-BF23-CB20AA2ECF50}"/>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5E13483-2FB6-4753-8402-06FDC3498E0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8F0DF22-F640-4002-B783-DF1C6A9473F6}"/>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C2787B8-7984-4332-B611-D3D3DE898FE0}"/>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AF3646C-B3D7-4F57-8FD2-CD93CEB39214}"/>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65FA7DA-93A0-43A4-834C-0F1BB9806A8C}"/>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21995D22-0146-4DE2-9E78-4C00333D499A}"/>
              </a:ext>
            </a:extLst>
          </p:cNvPr>
          <p:cNvSpPr>
            <a:spLocks noGrp="1"/>
          </p:cNvSpPr>
          <p:nvPr>
            <p:ph type="dt" sz="half" idx="10"/>
          </p:nvPr>
        </p:nvSpPr>
        <p:spPr/>
        <p:txBody>
          <a:bodyPr/>
          <a:lstStyle/>
          <a:p>
            <a:fld id="{8C2D79EF-17C8-45D8-9866-DAF5723FC604}" type="datetime1">
              <a:rPr lang="en-US" smtClean="0"/>
              <a:t>6/24/26</a:t>
            </a:fld>
            <a:endParaRPr lang="en-US" dirty="0"/>
          </a:p>
        </p:txBody>
      </p:sp>
      <p:sp>
        <p:nvSpPr>
          <p:cNvPr id="5" name="Footer Placeholder 4">
            <a:extLst>
              <a:ext uri="{FF2B5EF4-FFF2-40B4-BE49-F238E27FC236}">
                <a16:creationId xmlns:a16="http://schemas.microsoft.com/office/drawing/2014/main" id="{6459717A-A1FE-485D-AFFF-2C7026C710A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76DB88B-64CF-4100-8F07-D191DD7939F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04332FF-8349-42A5-B5C8-5EE3825CE25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935609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FE6C-EBF1-47DE-8468-E7125172B735}"/>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24104992-D139-48DC-BCCE-D71EA23CA2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grpSp>
        <p:nvGrpSpPr>
          <p:cNvPr id="7" name="Graphic 185">
            <a:extLst>
              <a:ext uri="{FF2B5EF4-FFF2-40B4-BE49-F238E27FC236}">
                <a16:creationId xmlns:a16="http://schemas.microsoft.com/office/drawing/2014/main" id="{A8C5E768-0E62-4DE7-A0AF-93121DA843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6402845F-9E8A-41E1-B051-1AAA46C997A2}"/>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A45C410-5FD0-4339-A3BC-A865DE4190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7B0B703-8BA8-483C-A433-C44C809687DE}"/>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CCFA03D-B879-419B-88B9-F4F3645C8AF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6B0260A-6B2D-4F54-8614-60BC3103E166}"/>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751AB8F6-0796-47E9-B1D4-760B7CCFC75D}"/>
              </a:ext>
            </a:extLst>
          </p:cNvPr>
          <p:cNvSpPr>
            <a:spLocks noGrp="1"/>
          </p:cNvSpPr>
          <p:nvPr>
            <p:ph type="dt" sz="half" idx="10"/>
          </p:nvPr>
        </p:nvSpPr>
        <p:spPr/>
        <p:txBody>
          <a:bodyPr/>
          <a:lstStyle/>
          <a:p>
            <a:fld id="{DFFC2ADC-3680-4013-A757-E4663495DB98}" type="datetime1">
              <a:rPr lang="en-US" smtClean="0"/>
              <a:t>6/24/26</a:t>
            </a:fld>
            <a:endParaRPr lang="en-US" dirty="0"/>
          </a:p>
        </p:txBody>
      </p:sp>
      <p:sp>
        <p:nvSpPr>
          <p:cNvPr id="5" name="Footer Placeholder 4">
            <a:extLst>
              <a:ext uri="{FF2B5EF4-FFF2-40B4-BE49-F238E27FC236}">
                <a16:creationId xmlns:a16="http://schemas.microsoft.com/office/drawing/2014/main" id="{37886FC0-7327-44D9-B689-0AE73FD2559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1219D265-BFBA-4C93-9B1A-B9483AE6BF3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464F5FEB-DE92-47DA-8C46-DC088E8960A4}"/>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002573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37BE-B22F-40EE-94F0-04549BC56238}"/>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AA71582-4BAF-4211-AD4A-476ED6EB115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99DCF6B-C800-4345-BAE9-EE9FA65903F2}"/>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 name="Graphic 185">
            <a:extLst>
              <a:ext uri="{FF2B5EF4-FFF2-40B4-BE49-F238E27FC236}">
                <a16:creationId xmlns:a16="http://schemas.microsoft.com/office/drawing/2014/main" id="{E6190A1E-5381-43C4-B058-7758339984D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F7E35469-0BEA-4E5E-955F-1AA300A62DE5}"/>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8F650BE-565E-4A52-8143-7A87700FC5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6A3F89-AA2A-44E5-915E-C47A069EB68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C57F514-AB27-4489-8D3C-01DD1025DDAD}"/>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141169F-1C39-4D04-AF32-D0D14D004B05}"/>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93087465-759F-4895-8FC6-DD464FB918CA}"/>
              </a:ext>
            </a:extLst>
          </p:cNvPr>
          <p:cNvSpPr>
            <a:spLocks noGrp="1"/>
          </p:cNvSpPr>
          <p:nvPr>
            <p:ph type="dt" sz="half" idx="10"/>
          </p:nvPr>
        </p:nvSpPr>
        <p:spPr/>
        <p:txBody>
          <a:bodyPr/>
          <a:lstStyle/>
          <a:p>
            <a:fld id="{4751BA94-5DCA-4F19-960F-0FB2BD5EE85A}" type="datetime1">
              <a:rPr lang="en-US" smtClean="0"/>
              <a:t>6/24/26</a:t>
            </a:fld>
            <a:endParaRPr lang="en-US" dirty="0"/>
          </a:p>
        </p:txBody>
      </p:sp>
      <p:sp>
        <p:nvSpPr>
          <p:cNvPr id="6" name="Footer Placeholder 5">
            <a:extLst>
              <a:ext uri="{FF2B5EF4-FFF2-40B4-BE49-F238E27FC236}">
                <a16:creationId xmlns:a16="http://schemas.microsoft.com/office/drawing/2014/main" id="{92F1AA18-D8A5-44D9-881C-522258ED54D7}"/>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1C1BA574-A76A-4F4C-8CBD-768278B66E7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2793E083-ADC4-4391-83DD-781529A6611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750987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1B666-D6BE-4FA8-9CF1-F15FD58B0CBF}"/>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3BCE4B4A-DE64-4563-83CD-C40B1D681D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1DA0314-0202-4E6D-8352-C28376A9C086}"/>
              </a:ext>
            </a:extLst>
          </p:cNvPr>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B56083-87B4-4603-B6FF-A9EB68E3E6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133708CF-F028-4917-A9CB-59BF5248A20D}"/>
              </a:ext>
            </a:extLst>
          </p:cNvPr>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0" name="Graphic 185">
            <a:extLst>
              <a:ext uri="{FF2B5EF4-FFF2-40B4-BE49-F238E27FC236}">
                <a16:creationId xmlns:a16="http://schemas.microsoft.com/office/drawing/2014/main" id="{81B934BF-E239-47E1-93E9-EA3182162D21}"/>
              </a:ext>
            </a:extLst>
          </p:cNvPr>
          <p:cNvGrpSpPr/>
          <p:nvPr/>
        </p:nvGrpSpPr>
        <p:grpSpPr>
          <a:xfrm>
            <a:off x="10999563" y="5987064"/>
            <a:ext cx="1054467" cy="469689"/>
            <a:chOff x="9841624" y="4115729"/>
            <a:chExt cx="602170" cy="268223"/>
          </a:xfrm>
          <a:solidFill>
            <a:schemeClr val="tx1"/>
          </a:solidFill>
        </p:grpSpPr>
        <p:sp>
          <p:nvSpPr>
            <p:cNvPr id="11" name="Freeform: Shape 10">
              <a:extLst>
                <a:ext uri="{FF2B5EF4-FFF2-40B4-BE49-F238E27FC236}">
                  <a16:creationId xmlns:a16="http://schemas.microsoft.com/office/drawing/2014/main" id="{C3BBF177-5044-426A-93ED-64BDC84BF18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4270648-77F5-4D28-B691-DA57AA28FD73}"/>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086B770-2F70-4B7B-9525-286BBD63AD7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7DDC14D-7AE3-41CD-ADFC-A3601D4F9DF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2181834-8401-4B66-85EE-1CBF57807DA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7" name="Date Placeholder 6">
            <a:extLst>
              <a:ext uri="{FF2B5EF4-FFF2-40B4-BE49-F238E27FC236}">
                <a16:creationId xmlns:a16="http://schemas.microsoft.com/office/drawing/2014/main" id="{A433C091-3B62-4087-9A97-63BBE28CFF17}"/>
              </a:ext>
            </a:extLst>
          </p:cNvPr>
          <p:cNvSpPr>
            <a:spLocks noGrp="1"/>
          </p:cNvSpPr>
          <p:nvPr>
            <p:ph type="dt" sz="half" idx="10"/>
          </p:nvPr>
        </p:nvSpPr>
        <p:spPr/>
        <p:txBody>
          <a:bodyPr/>
          <a:lstStyle/>
          <a:p>
            <a:fld id="{01BED947-38D9-44AC-8B89-E79758333B77}" type="datetime1">
              <a:rPr lang="en-US" smtClean="0"/>
              <a:t>6/24/26</a:t>
            </a:fld>
            <a:endParaRPr lang="en-US" dirty="0"/>
          </a:p>
        </p:txBody>
      </p:sp>
      <p:sp>
        <p:nvSpPr>
          <p:cNvPr id="8" name="Footer Placeholder 7">
            <a:extLst>
              <a:ext uri="{FF2B5EF4-FFF2-40B4-BE49-F238E27FC236}">
                <a16:creationId xmlns:a16="http://schemas.microsoft.com/office/drawing/2014/main" id="{870710C3-2723-4847-BCAF-96D9FAE50555}"/>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96618B2C-95AC-4438-97FD-07ACF297B8FE}"/>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7" name="Oval 16">
            <a:extLst>
              <a:ext uri="{FF2B5EF4-FFF2-40B4-BE49-F238E27FC236}">
                <a16:creationId xmlns:a16="http://schemas.microsoft.com/office/drawing/2014/main" id="{D6B0F5A7-6E8A-4BCD-8F1F-233ECD21B26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530544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9CF7F-748D-4598-983E-96A2BE26930A}"/>
              </a:ext>
            </a:extLst>
          </p:cNvPr>
          <p:cNvSpPr>
            <a:spLocks noGrp="1"/>
          </p:cNvSpPr>
          <p:nvPr>
            <p:ph type="title"/>
          </p:nvPr>
        </p:nvSpPr>
        <p:spPr/>
        <p:txBody>
          <a:bodyPr/>
          <a:lstStyle/>
          <a:p>
            <a:r>
              <a:rPr lang="en-US" dirty="0"/>
              <a:t>Click to edit Master title style</a:t>
            </a:r>
          </a:p>
        </p:txBody>
      </p:sp>
      <p:grpSp>
        <p:nvGrpSpPr>
          <p:cNvPr id="6" name="Graphic 185">
            <a:extLst>
              <a:ext uri="{FF2B5EF4-FFF2-40B4-BE49-F238E27FC236}">
                <a16:creationId xmlns:a16="http://schemas.microsoft.com/office/drawing/2014/main" id="{DFD4D3BE-80D4-4E69-9C76-F0D8517DF690}"/>
              </a:ext>
            </a:extLst>
          </p:cNvPr>
          <p:cNvGrpSpPr/>
          <p:nvPr/>
        </p:nvGrpSpPr>
        <p:grpSpPr>
          <a:xfrm>
            <a:off x="10999563" y="5987064"/>
            <a:ext cx="1054467" cy="469689"/>
            <a:chOff x="9841624" y="4115729"/>
            <a:chExt cx="602170" cy="268223"/>
          </a:xfrm>
          <a:solidFill>
            <a:schemeClr val="tx1"/>
          </a:solidFill>
        </p:grpSpPr>
        <p:sp>
          <p:nvSpPr>
            <p:cNvPr id="7" name="Freeform: Shape 6">
              <a:extLst>
                <a:ext uri="{FF2B5EF4-FFF2-40B4-BE49-F238E27FC236}">
                  <a16:creationId xmlns:a16="http://schemas.microsoft.com/office/drawing/2014/main" id="{A0B6E97F-00E1-4372-8978-8BCBDC9026E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C7651B7-7A30-4AFA-A4D7-0B0C5D2DDA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FD2FC5CA-556B-4409-B084-34753A1F04E6}"/>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E63FB41-EE1F-4889-9096-3A38936330D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DD19F3B-7B3E-4861-8FDA-D0116C96C16E}"/>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 name="Date Placeholder 2">
            <a:extLst>
              <a:ext uri="{FF2B5EF4-FFF2-40B4-BE49-F238E27FC236}">
                <a16:creationId xmlns:a16="http://schemas.microsoft.com/office/drawing/2014/main" id="{410A2C46-C908-4010-AAE2-9FA41B145C4D}"/>
              </a:ext>
            </a:extLst>
          </p:cNvPr>
          <p:cNvSpPr>
            <a:spLocks noGrp="1"/>
          </p:cNvSpPr>
          <p:nvPr>
            <p:ph type="dt" sz="half" idx="10"/>
          </p:nvPr>
        </p:nvSpPr>
        <p:spPr/>
        <p:txBody>
          <a:bodyPr/>
          <a:lstStyle/>
          <a:p>
            <a:fld id="{3781E23F-BD3C-4F23-B116-2B758120C8AC}" type="datetime1">
              <a:rPr lang="en-US" smtClean="0"/>
              <a:t>6/24/26</a:t>
            </a:fld>
            <a:endParaRPr lang="en-US" dirty="0"/>
          </a:p>
        </p:txBody>
      </p:sp>
      <p:sp>
        <p:nvSpPr>
          <p:cNvPr id="4" name="Footer Placeholder 3">
            <a:extLst>
              <a:ext uri="{FF2B5EF4-FFF2-40B4-BE49-F238E27FC236}">
                <a16:creationId xmlns:a16="http://schemas.microsoft.com/office/drawing/2014/main" id="{C7CF5279-7D37-4D98-9A70-987C84F62C2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896FAD0-59EF-49AA-BBC6-A0EC184DD2C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3" name="Oval 12">
            <a:extLst>
              <a:ext uri="{FF2B5EF4-FFF2-40B4-BE49-F238E27FC236}">
                <a16:creationId xmlns:a16="http://schemas.microsoft.com/office/drawing/2014/main" id="{876EB399-18D2-46D5-8757-35FCFF8EA80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596558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aphic 185">
            <a:extLst>
              <a:ext uri="{FF2B5EF4-FFF2-40B4-BE49-F238E27FC236}">
                <a16:creationId xmlns:a16="http://schemas.microsoft.com/office/drawing/2014/main" id="{773CCE17-EE0F-40E0-B7AE-CF7677B64709}"/>
              </a:ext>
            </a:extLst>
          </p:cNvPr>
          <p:cNvGrpSpPr/>
          <p:nvPr/>
        </p:nvGrpSpPr>
        <p:grpSpPr>
          <a:xfrm>
            <a:off x="10999563" y="5987064"/>
            <a:ext cx="1054467" cy="469689"/>
            <a:chOff x="9841624" y="4115729"/>
            <a:chExt cx="602170" cy="268223"/>
          </a:xfrm>
          <a:solidFill>
            <a:schemeClr val="tx1"/>
          </a:solidFill>
        </p:grpSpPr>
        <p:sp>
          <p:nvSpPr>
            <p:cNvPr id="6" name="Freeform: Shape 5">
              <a:extLst>
                <a:ext uri="{FF2B5EF4-FFF2-40B4-BE49-F238E27FC236}">
                  <a16:creationId xmlns:a16="http://schemas.microsoft.com/office/drawing/2014/main" id="{B0AC6C4E-6EA5-454A-AB84-8B94D8B585EC}"/>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B4329338-925B-4677-BA6E-4357D37DB54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334C0A08-043F-4818-BA1D-BCC9F811A87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CB185DD-ED0D-4633-8098-95C4A6F177C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AD50526-B611-40B6-BB45-AE82F0EF5992}"/>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 name="Date Placeholder 1">
            <a:extLst>
              <a:ext uri="{FF2B5EF4-FFF2-40B4-BE49-F238E27FC236}">
                <a16:creationId xmlns:a16="http://schemas.microsoft.com/office/drawing/2014/main" id="{0708C302-4224-4668-8CAC-3267172A0C93}"/>
              </a:ext>
            </a:extLst>
          </p:cNvPr>
          <p:cNvSpPr>
            <a:spLocks noGrp="1"/>
          </p:cNvSpPr>
          <p:nvPr>
            <p:ph type="dt" sz="half" idx="10"/>
          </p:nvPr>
        </p:nvSpPr>
        <p:spPr/>
        <p:txBody>
          <a:bodyPr/>
          <a:lstStyle/>
          <a:p>
            <a:fld id="{473CFAA9-6D59-4D98-869E-ACBDB83B2CA4}" type="datetime1">
              <a:rPr lang="en-US" smtClean="0"/>
              <a:t>6/24/26</a:t>
            </a:fld>
            <a:endParaRPr lang="en-US"/>
          </a:p>
        </p:txBody>
      </p:sp>
      <p:sp>
        <p:nvSpPr>
          <p:cNvPr id="3" name="Footer Placeholder 2">
            <a:extLst>
              <a:ext uri="{FF2B5EF4-FFF2-40B4-BE49-F238E27FC236}">
                <a16:creationId xmlns:a16="http://schemas.microsoft.com/office/drawing/2014/main" id="{F0C8FC22-AEB6-4BAF-BF93-41A2C757CCC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252CA88A-5462-4F17-AFA0-52721ADDBB8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2" name="Oval 11">
            <a:extLst>
              <a:ext uri="{FF2B5EF4-FFF2-40B4-BE49-F238E27FC236}">
                <a16:creationId xmlns:a16="http://schemas.microsoft.com/office/drawing/2014/main" id="{70CCC791-94D7-4BB8-9EDF-423CEA1F6215}"/>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911714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AC37-C5B5-462A-BE4A-E55CEBF2A341}"/>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6A4B007F-32A8-4688-BBEF-4FCB99DF5E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1DF2E2EB-BF8A-44A4-8AE0-BD6C31B1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grpSp>
        <p:nvGrpSpPr>
          <p:cNvPr id="8" name="Graphic 185">
            <a:extLst>
              <a:ext uri="{FF2B5EF4-FFF2-40B4-BE49-F238E27FC236}">
                <a16:creationId xmlns:a16="http://schemas.microsoft.com/office/drawing/2014/main" id="{FC9E188F-54C8-4547-9F8C-525712AD7DB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99C4538-3939-47A9-A590-09FF2196065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541CA75-5D05-4996-A26D-CE0C909CD5F7}"/>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86305856-26BC-4BCC-BEF3-5E9CED94177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69651C-AC37-4CD2-8367-19297D7E2389}"/>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3E9031B-BA8D-4D9D-9BB3-A16F7A80F85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269840A2-CF60-4C47-B955-E65BC451FE73}"/>
              </a:ext>
            </a:extLst>
          </p:cNvPr>
          <p:cNvSpPr>
            <a:spLocks noGrp="1"/>
          </p:cNvSpPr>
          <p:nvPr>
            <p:ph type="dt" sz="half" idx="10"/>
          </p:nvPr>
        </p:nvSpPr>
        <p:spPr/>
        <p:txBody>
          <a:bodyPr/>
          <a:lstStyle/>
          <a:p>
            <a:fld id="{DC410804-27E3-430A-BB42-B831260DE39A}" type="datetime1">
              <a:rPr lang="en-US" smtClean="0"/>
              <a:t>6/24/26</a:t>
            </a:fld>
            <a:endParaRPr lang="en-US" dirty="0"/>
          </a:p>
        </p:txBody>
      </p:sp>
      <p:sp>
        <p:nvSpPr>
          <p:cNvPr id="6" name="Footer Placeholder 5">
            <a:extLst>
              <a:ext uri="{FF2B5EF4-FFF2-40B4-BE49-F238E27FC236}">
                <a16:creationId xmlns:a16="http://schemas.microsoft.com/office/drawing/2014/main" id="{3179DC6E-CC55-47AB-A405-5FB7EE2D191D}"/>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6D5D5E7D-EBA7-4DB0-8C78-7EB8A85FA4F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C5B051DE-636E-4B3C-9886-2055CE23E49A}"/>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960997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D355-3146-41D1-B7DC-20B8ACE390AC}"/>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FAD4AAFB-E8F8-4FD1-8C6A-ED2C3FAD50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E051AF1-B16F-43B9-95CC-C17B570DEC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grpSp>
        <p:nvGrpSpPr>
          <p:cNvPr id="8" name="Graphic 185">
            <a:extLst>
              <a:ext uri="{FF2B5EF4-FFF2-40B4-BE49-F238E27FC236}">
                <a16:creationId xmlns:a16="http://schemas.microsoft.com/office/drawing/2014/main" id="{C8B77273-9FF7-4B93-8385-AD09A5F86AE5}"/>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3117A673-3729-4EAD-9E8C-52BEBF74B857}"/>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E8DB752-94CD-4A94-BDE3-DD285EB89F3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F8DDFC-E5CA-4F36-B2BE-BCE49D4F6C9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BB589AE-2F9C-4C83-8DC7-1205CB03752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AC9A2DE-3C9E-4CD0-8C7A-CC5F9F9942E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D68C8714-2467-4715-934E-6787C84F7929}"/>
              </a:ext>
            </a:extLst>
          </p:cNvPr>
          <p:cNvSpPr>
            <a:spLocks noGrp="1"/>
          </p:cNvSpPr>
          <p:nvPr>
            <p:ph type="dt" sz="half" idx="10"/>
          </p:nvPr>
        </p:nvSpPr>
        <p:spPr/>
        <p:txBody>
          <a:bodyPr/>
          <a:lstStyle/>
          <a:p>
            <a:fld id="{60E22DE3-3D1A-4D53-B9A6-6C7463B8C992}" type="datetime1">
              <a:rPr lang="en-US" smtClean="0"/>
              <a:t>6/24/26</a:t>
            </a:fld>
            <a:endParaRPr lang="en-US" dirty="0"/>
          </a:p>
        </p:txBody>
      </p:sp>
      <p:sp>
        <p:nvSpPr>
          <p:cNvPr id="6" name="Footer Placeholder 5">
            <a:extLst>
              <a:ext uri="{FF2B5EF4-FFF2-40B4-BE49-F238E27FC236}">
                <a16:creationId xmlns:a16="http://schemas.microsoft.com/office/drawing/2014/main" id="{A46F13D6-03EC-4D31-8BB1-9FFDE3633C2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7C65D4DD-A2A4-4DF6-9527-E5F12FEB936C}"/>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FD202F3A-9FDE-4E11-B865-FBAEC415F88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987603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A871-D377-4EC0-9ACF-86842F01E1D0}"/>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F3D53202-92A9-45A3-B812-777DB9578B44}"/>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aphic 185">
            <a:extLst>
              <a:ext uri="{FF2B5EF4-FFF2-40B4-BE49-F238E27FC236}">
                <a16:creationId xmlns:a16="http://schemas.microsoft.com/office/drawing/2014/main" id="{7196FB0C-3A9D-4892-90C9-21F3459AAD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16938C96-CF0F-4B69-A695-913F11BFC6F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3CA7E6BB-6B60-4BF5-9D3E-A3FE782EF5B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F693EDA-57B3-4AEB-863B-B198C2A5A8E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3A04A96-045F-4B6E-AEEE-11A2FA01B4F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FB357DC-5AD3-44F4-879B-5AD6B18AC36F}"/>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A2CA47F-83AD-4BE3-AC2F-6C17883F78C7}"/>
              </a:ext>
            </a:extLst>
          </p:cNvPr>
          <p:cNvSpPr>
            <a:spLocks noGrp="1"/>
          </p:cNvSpPr>
          <p:nvPr>
            <p:ph type="dt" sz="half" idx="10"/>
          </p:nvPr>
        </p:nvSpPr>
        <p:spPr/>
        <p:txBody>
          <a:bodyPr/>
          <a:lstStyle/>
          <a:p>
            <a:fld id="{46BA7D41-E8B7-4A0B-B861-3EC4AE88917D}" type="datetime1">
              <a:rPr lang="en-US" smtClean="0"/>
              <a:t>6/24/26</a:t>
            </a:fld>
            <a:endParaRPr lang="en-US" dirty="0"/>
          </a:p>
        </p:txBody>
      </p:sp>
      <p:sp>
        <p:nvSpPr>
          <p:cNvPr id="5" name="Footer Placeholder 4">
            <a:extLst>
              <a:ext uri="{FF2B5EF4-FFF2-40B4-BE49-F238E27FC236}">
                <a16:creationId xmlns:a16="http://schemas.microsoft.com/office/drawing/2014/main" id="{21118A72-3200-4597-A9C5-0D9ECFF3E8CD}"/>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D70055A-71D4-49B4-8A8F-19AFDB84E958}"/>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0B0E5D27-C447-432F-982D-B60FDD6F34A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77060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C59DBB-9256-464D-8A6A-8BDA71541D6A}"/>
              </a:ext>
            </a:extLst>
          </p:cNvPr>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6A25E310-E6CB-4838-8E9B-B288DA552776}"/>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aphic 185">
            <a:extLst>
              <a:ext uri="{FF2B5EF4-FFF2-40B4-BE49-F238E27FC236}">
                <a16:creationId xmlns:a16="http://schemas.microsoft.com/office/drawing/2014/main" id="{BCF412A8-E798-47AD-ABD9-98D76A55D30B}"/>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E70160C5-475D-401A-AEE2-2C04E99A1518}"/>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07CC7CE9-9C7F-49C2-8609-47BF523390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26FD5F1-978C-45AF-9086-D5DBE1F01681}"/>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873AB1C-723A-4FB4-9B23-65BAF507483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DE5510-5094-4FA4-96E5-AD4841D1C38A}"/>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7CE2202-679F-48B0-B2DD-F6F54711224B}"/>
              </a:ext>
            </a:extLst>
          </p:cNvPr>
          <p:cNvSpPr>
            <a:spLocks noGrp="1"/>
          </p:cNvSpPr>
          <p:nvPr>
            <p:ph type="dt" sz="half" idx="10"/>
          </p:nvPr>
        </p:nvSpPr>
        <p:spPr/>
        <p:txBody>
          <a:bodyPr/>
          <a:lstStyle/>
          <a:p>
            <a:fld id="{A7C34823-0B19-4B4E-A643-7A3B0A3D24D6}" type="datetime1">
              <a:rPr lang="en-US" smtClean="0"/>
              <a:t>6/24/26</a:t>
            </a:fld>
            <a:endParaRPr lang="en-US" dirty="0"/>
          </a:p>
        </p:txBody>
      </p:sp>
      <p:sp>
        <p:nvSpPr>
          <p:cNvPr id="5" name="Footer Placeholder 4">
            <a:extLst>
              <a:ext uri="{FF2B5EF4-FFF2-40B4-BE49-F238E27FC236}">
                <a16:creationId xmlns:a16="http://schemas.microsoft.com/office/drawing/2014/main" id="{D07BC83D-E4C0-49E1-ADA1-1AF403984BD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31BF211E-B2EA-4CDC-9E84-B6898394921B}"/>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FE2F5FD-5D31-4C1D-82F8-93624C7B0A3C}"/>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4294439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fld id="{5ECD8B30-1B71-45A1-8314-D59C86F581E1}" type="datetime1">
              <a:rPr lang="en-US" smtClean="0"/>
              <a:pPr/>
              <a:t>6/24/26</a:t>
            </a:fld>
            <a:endParaRPr lang="en-US" b="1" dirty="0"/>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r>
              <a:rPr lang="en-US" dirty="0"/>
              <a:t>Sample Footer Text</a:t>
            </a:r>
            <a:endParaRPr lang="en-US" b="1" dirty="0"/>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F3450C42-9A0B-4425-92C2-70FCF7C45734}" type="slidenum">
              <a:rPr lang="en-US" smtClean="0"/>
              <a:pPr/>
              <a:t>‹#›</a:t>
            </a:fld>
            <a:endParaRPr lang="en-US" b="1" dirty="0"/>
          </a:p>
        </p:txBody>
      </p:sp>
    </p:spTree>
    <p:extLst>
      <p:ext uri="{BB962C8B-B14F-4D97-AF65-F5344CB8AC3E}">
        <p14:creationId xmlns:p14="http://schemas.microsoft.com/office/powerpoint/2010/main" val="1680440384"/>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commons.wikimedia.org/wiki/File:UCT_Leslie_Social_Science_lecture_theatre_class.JP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commons.wikimedia.org/wiki/File:UCT_Leslie_Social_Science_lecture_theatre_class.JP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pixabay.com/en/classroom-school-desks-screen-1910014/" TargetMode="External"/><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www.pexels.com/photo/pile-of-books-2765617/"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es.futuroprossimo.it/2021/03/se-lai-si-mette-a-prescrivere-farmaci-il-futuro-medico-di-gpt-3/"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technofaq.org/posts/2020/06/5-email-writing-tips-to-boost-conversions/"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www.flickr.com/photos/transcendent/2229289553/"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hyperlink" Target="https://www.enago.com/academy/tips-for-a-great-letter-of-recommendation/"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4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4" name="Title 3">
            <a:extLst>
              <a:ext uri="{FF2B5EF4-FFF2-40B4-BE49-F238E27FC236}">
                <a16:creationId xmlns:a16="http://schemas.microsoft.com/office/drawing/2014/main" id="{4DB5E5F6-AA38-8D9B-5A89-CDD1DC967F0F}"/>
              </a:ext>
            </a:extLst>
          </p:cNvPr>
          <p:cNvSpPr>
            <a:spLocks noGrp="1"/>
          </p:cNvSpPr>
          <p:nvPr>
            <p:ph type="ctrTitle"/>
          </p:nvPr>
        </p:nvSpPr>
        <p:spPr>
          <a:xfrm>
            <a:off x="722790" y="4037473"/>
            <a:ext cx="4499178" cy="740888"/>
          </a:xfrm>
        </p:spPr>
        <p:txBody>
          <a:bodyPr anchor="t">
            <a:normAutofit/>
          </a:bodyPr>
          <a:lstStyle/>
          <a:p>
            <a:pPr algn="l"/>
            <a:r>
              <a:rPr lang="en-US" sz="1800" dirty="0"/>
              <a:t>Prof </a:t>
            </a:r>
            <a:r>
              <a:rPr lang="en-US" sz="1600" dirty="0"/>
              <a:t>Sam Chan</a:t>
            </a:r>
            <a:endParaRPr lang="en-US" sz="2000" dirty="0"/>
          </a:p>
        </p:txBody>
      </p:sp>
      <p:sp>
        <p:nvSpPr>
          <p:cNvPr id="5" name="Subtitle 4">
            <a:extLst>
              <a:ext uri="{FF2B5EF4-FFF2-40B4-BE49-F238E27FC236}">
                <a16:creationId xmlns:a16="http://schemas.microsoft.com/office/drawing/2014/main" id="{0590A9D2-09F2-0EC8-69DB-B21693B3B6DE}"/>
              </a:ext>
            </a:extLst>
          </p:cNvPr>
          <p:cNvSpPr>
            <a:spLocks noGrp="1"/>
          </p:cNvSpPr>
          <p:nvPr>
            <p:ph type="subTitle" idx="1"/>
          </p:nvPr>
        </p:nvSpPr>
        <p:spPr>
          <a:xfrm>
            <a:off x="722790" y="4445204"/>
            <a:ext cx="3522504" cy="1781123"/>
          </a:xfrm>
        </p:spPr>
        <p:txBody>
          <a:bodyPr>
            <a:normAutofit/>
          </a:bodyPr>
          <a:lstStyle/>
          <a:p>
            <a:pPr algn="l"/>
            <a:r>
              <a:rPr lang="en-US" dirty="0"/>
              <a:t>Meeting 1: Introduction</a:t>
            </a:r>
            <a:endParaRPr lang="en-US"/>
          </a:p>
        </p:txBody>
      </p:sp>
      <p:pic>
        <p:nvPicPr>
          <p:cNvPr id="1026" name="Picture 2">
            <a:extLst>
              <a:ext uri="{FF2B5EF4-FFF2-40B4-BE49-F238E27FC236}">
                <a16:creationId xmlns:a16="http://schemas.microsoft.com/office/drawing/2014/main" id="{596E17FC-B8D7-CC52-A18F-55EE2B1590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479" r="12771" b="-1"/>
          <a:stretch/>
        </p:blipFill>
        <p:spPr bwMode="auto">
          <a:xfrm>
            <a:off x="5467894" y="590861"/>
            <a:ext cx="5290998" cy="5290998"/>
          </a:xfrm>
          <a:custGeom>
            <a:avLst/>
            <a:gdLst/>
            <a:ahLst/>
            <a:cxnLst/>
            <a:rect l="l" t="t" r="r" b="b"/>
            <a:pathLst>
              <a:path w="5290998" h="5290998">
                <a:moveTo>
                  <a:pt x="2645499" y="0"/>
                </a:moveTo>
                <a:cubicBezTo>
                  <a:pt x="4106568" y="0"/>
                  <a:pt x="5290998" y="1184430"/>
                  <a:pt x="5290998" y="2645499"/>
                </a:cubicBezTo>
                <a:cubicBezTo>
                  <a:pt x="5290998" y="4106568"/>
                  <a:pt x="4106568" y="5290998"/>
                  <a:pt x="2645499" y="5290998"/>
                </a:cubicBezTo>
                <a:cubicBezTo>
                  <a:pt x="1184430" y="5290998"/>
                  <a:pt x="0" y="4106568"/>
                  <a:pt x="0" y="2645499"/>
                </a:cubicBezTo>
                <a:cubicBezTo>
                  <a:pt x="0" y="1184430"/>
                  <a:pt x="1184430" y="0"/>
                  <a:pt x="2645499" y="0"/>
                </a:cubicBezTo>
                <a:close/>
              </a:path>
            </a:pathLst>
          </a:custGeom>
          <a:noFill/>
          <a:ln w="25400">
            <a:noFill/>
          </a:ln>
          <a:extLst>
            <a:ext uri="{909E8E84-426E-40DD-AFC4-6F175D3DCCD1}">
              <a14:hiddenFill xmlns:a14="http://schemas.microsoft.com/office/drawing/2010/main">
                <a:solidFill>
                  <a:srgbClr val="FFFFFF"/>
                </a:solidFill>
              </a14:hiddenFill>
            </a:ext>
          </a:extLst>
        </p:spPr>
      </p:pic>
      <p:sp>
        <p:nvSpPr>
          <p:cNvPr id="1033"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58925" y="823301"/>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035" name="Graphic 212">
            <a:extLst>
              <a:ext uri="{FF2B5EF4-FFF2-40B4-BE49-F238E27FC236}">
                <a16:creationId xmlns:a16="http://schemas.microsoft.com/office/drawing/2014/main" id="{A499C65A-9B02-4D7F-BD68-CD38D88055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58925" y="823301"/>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1037"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70622" y="1755501"/>
            <a:ext cx="1598829" cy="531293"/>
            <a:chOff x="2504802" y="1755501"/>
            <a:chExt cx="1598829" cy="531293"/>
          </a:xfrm>
          <a:solidFill>
            <a:schemeClr val="tx1"/>
          </a:solidFill>
        </p:grpSpPr>
        <p:sp>
          <p:nvSpPr>
            <p:cNvPr id="1038" name="Freeform: Shape 1037">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039" name="Freeform: Shape 1038">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grpSp>
        <p:nvGrpSpPr>
          <p:cNvPr id="1041" name="Graphic 4">
            <a:extLst>
              <a:ext uri="{FF2B5EF4-FFF2-40B4-BE49-F238E27FC236}">
                <a16:creationId xmlns:a16="http://schemas.microsoft.com/office/drawing/2014/main" id="{1F4896D7-5AD0-4505-BCCD-82262CFEE2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035286" y="3429061"/>
            <a:ext cx="1861484" cy="1861513"/>
            <a:chOff x="5734037" y="3067039"/>
            <a:chExt cx="724483" cy="724489"/>
          </a:xfrm>
          <a:solidFill>
            <a:schemeClr val="tx1"/>
          </a:solidFill>
        </p:grpSpPr>
        <p:sp>
          <p:nvSpPr>
            <p:cNvPr id="1042" name="Freeform: Shape 1041">
              <a:extLst>
                <a:ext uri="{FF2B5EF4-FFF2-40B4-BE49-F238E27FC236}">
                  <a16:creationId xmlns:a16="http://schemas.microsoft.com/office/drawing/2014/main" id="{83C04C31-4BBB-4AC5-A222-4E79BDDF6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43" name="Freeform: Shape 1042">
              <a:extLst>
                <a:ext uri="{FF2B5EF4-FFF2-40B4-BE49-F238E27FC236}">
                  <a16:creationId xmlns:a16="http://schemas.microsoft.com/office/drawing/2014/main" id="{090890F0-A440-4A5F-89E2-860A604251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4" name="Freeform: Shape 1043">
              <a:extLst>
                <a:ext uri="{FF2B5EF4-FFF2-40B4-BE49-F238E27FC236}">
                  <a16:creationId xmlns:a16="http://schemas.microsoft.com/office/drawing/2014/main" id="{F9BA7632-2294-4740-BB61-DFA5017B7B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45" name="Freeform: Shape 1044">
              <a:extLst>
                <a:ext uri="{FF2B5EF4-FFF2-40B4-BE49-F238E27FC236}">
                  <a16:creationId xmlns:a16="http://schemas.microsoft.com/office/drawing/2014/main" id="{D025C556-497E-4B62-9131-98448B5A7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46" name="Freeform: Shape 1045">
              <a:extLst>
                <a:ext uri="{FF2B5EF4-FFF2-40B4-BE49-F238E27FC236}">
                  <a16:creationId xmlns:a16="http://schemas.microsoft.com/office/drawing/2014/main" id="{C467884A-CD29-4BCE-A1A4-1E629953FC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47" name="Freeform: Shape 1046">
              <a:extLst>
                <a:ext uri="{FF2B5EF4-FFF2-40B4-BE49-F238E27FC236}">
                  <a16:creationId xmlns:a16="http://schemas.microsoft.com/office/drawing/2014/main" id="{73A1BC11-A782-4A26-87D0-76C92BAB7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8" name="Freeform: Shape 1047">
              <a:extLst>
                <a:ext uri="{FF2B5EF4-FFF2-40B4-BE49-F238E27FC236}">
                  <a16:creationId xmlns:a16="http://schemas.microsoft.com/office/drawing/2014/main" id="{8787142E-1022-4109-9141-85FF9C22E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49" name="Freeform: Shape 1048">
              <a:extLst>
                <a:ext uri="{FF2B5EF4-FFF2-40B4-BE49-F238E27FC236}">
                  <a16:creationId xmlns:a16="http://schemas.microsoft.com/office/drawing/2014/main" id="{763BCB7E-36CC-4105-9CDA-BFB80F3FF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50" name="Freeform: Shape 1049">
              <a:extLst>
                <a:ext uri="{FF2B5EF4-FFF2-40B4-BE49-F238E27FC236}">
                  <a16:creationId xmlns:a16="http://schemas.microsoft.com/office/drawing/2014/main" id="{A6EF2588-350F-4CCE-9BF8-799EC7196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51" name="Freeform: Shape 1050">
              <a:extLst>
                <a:ext uri="{FF2B5EF4-FFF2-40B4-BE49-F238E27FC236}">
                  <a16:creationId xmlns:a16="http://schemas.microsoft.com/office/drawing/2014/main" id="{0A696712-7E60-48CD-A6F8-91754B090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52" name="Freeform: Shape 1051">
              <a:extLst>
                <a:ext uri="{FF2B5EF4-FFF2-40B4-BE49-F238E27FC236}">
                  <a16:creationId xmlns:a16="http://schemas.microsoft.com/office/drawing/2014/main" id="{0244E95B-2BBF-4335-BEFC-BA135EF949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53" name="Freeform: Shape 1052">
              <a:extLst>
                <a:ext uri="{FF2B5EF4-FFF2-40B4-BE49-F238E27FC236}">
                  <a16:creationId xmlns:a16="http://schemas.microsoft.com/office/drawing/2014/main" id="{0D692242-534C-4A58-90D7-43A781D23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54" name="Freeform: Shape 1053">
              <a:extLst>
                <a:ext uri="{FF2B5EF4-FFF2-40B4-BE49-F238E27FC236}">
                  <a16:creationId xmlns:a16="http://schemas.microsoft.com/office/drawing/2014/main" id="{BC72B2EF-E5D1-46BF-B7FE-A9D174508B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5" name="Freeform: Shape 1054">
              <a:extLst>
                <a:ext uri="{FF2B5EF4-FFF2-40B4-BE49-F238E27FC236}">
                  <a16:creationId xmlns:a16="http://schemas.microsoft.com/office/drawing/2014/main" id="{48805B31-6BA4-45FA-8180-436B2EC419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56" name="Freeform: Shape 1055">
              <a:extLst>
                <a:ext uri="{FF2B5EF4-FFF2-40B4-BE49-F238E27FC236}">
                  <a16:creationId xmlns:a16="http://schemas.microsoft.com/office/drawing/2014/main" id="{51B376A0-4543-4AE3-8071-5C746BADE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057" name="Freeform: Shape 1056">
              <a:extLst>
                <a:ext uri="{FF2B5EF4-FFF2-40B4-BE49-F238E27FC236}">
                  <a16:creationId xmlns:a16="http://schemas.microsoft.com/office/drawing/2014/main" id="{0824AEB4-F797-4131-AD1A-BCB807B08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58" name="Freeform: Shape 1057">
              <a:extLst>
                <a:ext uri="{FF2B5EF4-FFF2-40B4-BE49-F238E27FC236}">
                  <a16:creationId xmlns:a16="http://schemas.microsoft.com/office/drawing/2014/main" id="{7399A867-568D-43D3-8F17-6644C8D09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59" name="Freeform: Shape 1058">
              <a:extLst>
                <a:ext uri="{FF2B5EF4-FFF2-40B4-BE49-F238E27FC236}">
                  <a16:creationId xmlns:a16="http://schemas.microsoft.com/office/drawing/2014/main" id="{9953DBA6-7A8F-4369-8F18-DC19A21B43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0" name="Freeform: Shape 1059">
              <a:extLst>
                <a:ext uri="{FF2B5EF4-FFF2-40B4-BE49-F238E27FC236}">
                  <a16:creationId xmlns:a16="http://schemas.microsoft.com/office/drawing/2014/main" id="{D9167760-8210-45B7-96C9-462EB82D8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1" name="Freeform: Shape 1060">
              <a:extLst>
                <a:ext uri="{FF2B5EF4-FFF2-40B4-BE49-F238E27FC236}">
                  <a16:creationId xmlns:a16="http://schemas.microsoft.com/office/drawing/2014/main" id="{3B578C99-7B91-480A-B8CA-B9FB3AF17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62" name="Freeform: Shape 1061">
              <a:extLst>
                <a:ext uri="{FF2B5EF4-FFF2-40B4-BE49-F238E27FC236}">
                  <a16:creationId xmlns:a16="http://schemas.microsoft.com/office/drawing/2014/main" id="{CDF91670-E084-4B4B-9F86-75DD43CBE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3" name="Freeform: Shape 1062">
              <a:extLst>
                <a:ext uri="{FF2B5EF4-FFF2-40B4-BE49-F238E27FC236}">
                  <a16:creationId xmlns:a16="http://schemas.microsoft.com/office/drawing/2014/main" id="{8FC99F2F-C73F-444D-B4BB-C02E463AB2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064" name="Freeform: Shape 1063">
              <a:extLst>
                <a:ext uri="{FF2B5EF4-FFF2-40B4-BE49-F238E27FC236}">
                  <a16:creationId xmlns:a16="http://schemas.microsoft.com/office/drawing/2014/main" id="{7F3FF604-A6A9-4EDC-868C-696B92122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65" name="Freeform: Shape 1064">
              <a:extLst>
                <a:ext uri="{FF2B5EF4-FFF2-40B4-BE49-F238E27FC236}">
                  <a16:creationId xmlns:a16="http://schemas.microsoft.com/office/drawing/2014/main" id="{38D6C5BB-BF17-4FE8-B611-578E8EBE9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66" name="Freeform: Shape 1065">
              <a:extLst>
                <a:ext uri="{FF2B5EF4-FFF2-40B4-BE49-F238E27FC236}">
                  <a16:creationId xmlns:a16="http://schemas.microsoft.com/office/drawing/2014/main" id="{A80A8D66-3FA7-4C04-AEDC-D8F94AA43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67" name="Freeform: Shape 1066">
              <a:extLst>
                <a:ext uri="{FF2B5EF4-FFF2-40B4-BE49-F238E27FC236}">
                  <a16:creationId xmlns:a16="http://schemas.microsoft.com/office/drawing/2014/main" id="{3DE9B826-6E87-4EF5-AA9D-F55BB3A21D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68" name="Freeform: Shape 1067">
              <a:extLst>
                <a:ext uri="{FF2B5EF4-FFF2-40B4-BE49-F238E27FC236}">
                  <a16:creationId xmlns:a16="http://schemas.microsoft.com/office/drawing/2014/main" id="{BBAEEC53-BED0-4ACB-94B4-818158D7EF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9" name="Freeform: Shape 1068">
              <a:extLst>
                <a:ext uri="{FF2B5EF4-FFF2-40B4-BE49-F238E27FC236}">
                  <a16:creationId xmlns:a16="http://schemas.microsoft.com/office/drawing/2014/main" id="{30709FE3-3633-4C01-AAD6-75ADD93953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70" name="Freeform: Shape 1069">
              <a:extLst>
                <a:ext uri="{FF2B5EF4-FFF2-40B4-BE49-F238E27FC236}">
                  <a16:creationId xmlns:a16="http://schemas.microsoft.com/office/drawing/2014/main" id="{C0D68B00-260E-4EFC-A1FE-8B04EB5A7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071" name="Freeform: Shape 1070">
              <a:extLst>
                <a:ext uri="{FF2B5EF4-FFF2-40B4-BE49-F238E27FC236}">
                  <a16:creationId xmlns:a16="http://schemas.microsoft.com/office/drawing/2014/main" id="{360AF8DD-D1D2-43F3-83E5-ECF20A091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2" name="Freeform: Shape 1071">
              <a:extLst>
                <a:ext uri="{FF2B5EF4-FFF2-40B4-BE49-F238E27FC236}">
                  <a16:creationId xmlns:a16="http://schemas.microsoft.com/office/drawing/2014/main" id="{87B3F103-7F53-4D5E-B9A2-DE4F0B78D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3" name="Freeform: Shape 1072">
              <a:extLst>
                <a:ext uri="{FF2B5EF4-FFF2-40B4-BE49-F238E27FC236}">
                  <a16:creationId xmlns:a16="http://schemas.microsoft.com/office/drawing/2014/main" id="{2BBECD20-3735-4F14-8816-26D648091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4" name="Freeform: Shape 1073">
              <a:extLst>
                <a:ext uri="{FF2B5EF4-FFF2-40B4-BE49-F238E27FC236}">
                  <a16:creationId xmlns:a16="http://schemas.microsoft.com/office/drawing/2014/main" id="{500687DC-38D4-44B7-BA7D-D8A0BA155F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5" name="Freeform: Shape 1074">
              <a:extLst>
                <a:ext uri="{FF2B5EF4-FFF2-40B4-BE49-F238E27FC236}">
                  <a16:creationId xmlns:a16="http://schemas.microsoft.com/office/drawing/2014/main" id="{23AFC6B0-2B60-47B1-B854-A02279C706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6" name="Freeform: Shape 1075">
              <a:extLst>
                <a:ext uri="{FF2B5EF4-FFF2-40B4-BE49-F238E27FC236}">
                  <a16:creationId xmlns:a16="http://schemas.microsoft.com/office/drawing/2014/main" id="{39963332-7F58-48B9-9BAB-87C986F39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7" name="Freeform: Shape 1076">
              <a:extLst>
                <a:ext uri="{FF2B5EF4-FFF2-40B4-BE49-F238E27FC236}">
                  <a16:creationId xmlns:a16="http://schemas.microsoft.com/office/drawing/2014/main" id="{342BD313-0F6E-4DC3-B8A8-861289801F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078" name="Freeform: Shape 1077">
              <a:extLst>
                <a:ext uri="{FF2B5EF4-FFF2-40B4-BE49-F238E27FC236}">
                  <a16:creationId xmlns:a16="http://schemas.microsoft.com/office/drawing/2014/main" id="{2253CE00-9D58-4821-B362-2552C433B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79" name="Freeform: Shape 1078">
              <a:extLst>
                <a:ext uri="{FF2B5EF4-FFF2-40B4-BE49-F238E27FC236}">
                  <a16:creationId xmlns:a16="http://schemas.microsoft.com/office/drawing/2014/main" id="{7E89086E-98CE-4697-8CE7-B2E7DB2E8C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80" name="Freeform: Shape 1079">
              <a:extLst>
                <a:ext uri="{FF2B5EF4-FFF2-40B4-BE49-F238E27FC236}">
                  <a16:creationId xmlns:a16="http://schemas.microsoft.com/office/drawing/2014/main" id="{2CE9357F-710D-4D3B-90C1-CF19E73F2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81" name="Freeform: Shape 1080">
              <a:extLst>
                <a:ext uri="{FF2B5EF4-FFF2-40B4-BE49-F238E27FC236}">
                  <a16:creationId xmlns:a16="http://schemas.microsoft.com/office/drawing/2014/main" id="{170ED7F2-AD38-47BC-B6A1-FF7E20AFD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82" name="Freeform: Shape 1081">
              <a:extLst>
                <a:ext uri="{FF2B5EF4-FFF2-40B4-BE49-F238E27FC236}">
                  <a16:creationId xmlns:a16="http://schemas.microsoft.com/office/drawing/2014/main" id="{02600E9C-0B0F-45ED-A2CF-DE0240B2B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3" name="Freeform: Shape 1082">
              <a:extLst>
                <a:ext uri="{FF2B5EF4-FFF2-40B4-BE49-F238E27FC236}">
                  <a16:creationId xmlns:a16="http://schemas.microsoft.com/office/drawing/2014/main" id="{B07D2066-6599-4BD0-9CD5-7289EB1B81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84" name="Freeform: Shape 1083">
              <a:extLst>
                <a:ext uri="{FF2B5EF4-FFF2-40B4-BE49-F238E27FC236}">
                  <a16:creationId xmlns:a16="http://schemas.microsoft.com/office/drawing/2014/main" id="{7BF96C0D-1DEE-47F2-A950-16BC0896F5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085" name="Freeform: Shape 1084">
              <a:extLst>
                <a:ext uri="{FF2B5EF4-FFF2-40B4-BE49-F238E27FC236}">
                  <a16:creationId xmlns:a16="http://schemas.microsoft.com/office/drawing/2014/main" id="{FD254ABE-505D-4C6A-9267-BFB78FBB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6" name="Freeform: Shape 1085">
              <a:extLst>
                <a:ext uri="{FF2B5EF4-FFF2-40B4-BE49-F238E27FC236}">
                  <a16:creationId xmlns:a16="http://schemas.microsoft.com/office/drawing/2014/main" id="{822BBE38-BC6F-4DDE-BD6D-2B496CE42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7" name="Freeform: Shape 1086">
              <a:extLst>
                <a:ext uri="{FF2B5EF4-FFF2-40B4-BE49-F238E27FC236}">
                  <a16:creationId xmlns:a16="http://schemas.microsoft.com/office/drawing/2014/main" id="{1046D1FA-C431-4F16-8BDD-71C614D798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8" name="Freeform: Shape 1087">
              <a:extLst>
                <a:ext uri="{FF2B5EF4-FFF2-40B4-BE49-F238E27FC236}">
                  <a16:creationId xmlns:a16="http://schemas.microsoft.com/office/drawing/2014/main" id="{CF387987-DEF1-447C-BC86-281AC0B3D6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9" name="Freeform: Shape 1088">
              <a:extLst>
                <a:ext uri="{FF2B5EF4-FFF2-40B4-BE49-F238E27FC236}">
                  <a16:creationId xmlns:a16="http://schemas.microsoft.com/office/drawing/2014/main" id="{9808DF01-2715-4215-81F1-B8C178304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90" name="Freeform: Shape 1089">
              <a:extLst>
                <a:ext uri="{FF2B5EF4-FFF2-40B4-BE49-F238E27FC236}">
                  <a16:creationId xmlns:a16="http://schemas.microsoft.com/office/drawing/2014/main" id="{AED7F897-8A4F-4F3D-BFB1-738BCDCA9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91" name="Freeform: Shape 1090">
              <a:extLst>
                <a:ext uri="{FF2B5EF4-FFF2-40B4-BE49-F238E27FC236}">
                  <a16:creationId xmlns:a16="http://schemas.microsoft.com/office/drawing/2014/main" id="{9B51B8B7-D508-44C3-AFC5-820557A94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2" name="Freeform: Shape 1091">
              <a:extLst>
                <a:ext uri="{FF2B5EF4-FFF2-40B4-BE49-F238E27FC236}">
                  <a16:creationId xmlns:a16="http://schemas.microsoft.com/office/drawing/2014/main" id="{7FBC6B94-2A13-4303-AE51-334E386DA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3" name="Freeform: Shape 1092">
              <a:extLst>
                <a:ext uri="{FF2B5EF4-FFF2-40B4-BE49-F238E27FC236}">
                  <a16:creationId xmlns:a16="http://schemas.microsoft.com/office/drawing/2014/main" id="{27897959-2F8E-4A05-9EA8-5B0329B574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094" name="Freeform: Shape 1093">
              <a:extLst>
                <a:ext uri="{FF2B5EF4-FFF2-40B4-BE49-F238E27FC236}">
                  <a16:creationId xmlns:a16="http://schemas.microsoft.com/office/drawing/2014/main" id="{0522AB50-D351-40F4-8A88-E856C1F27F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5" name="Freeform: Shape 1094">
              <a:extLst>
                <a:ext uri="{FF2B5EF4-FFF2-40B4-BE49-F238E27FC236}">
                  <a16:creationId xmlns:a16="http://schemas.microsoft.com/office/drawing/2014/main" id="{221AFD52-C13F-4A20-B1DB-13C1A9A3D8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096" name="Freeform: Shape 1095">
              <a:extLst>
                <a:ext uri="{FF2B5EF4-FFF2-40B4-BE49-F238E27FC236}">
                  <a16:creationId xmlns:a16="http://schemas.microsoft.com/office/drawing/2014/main" id="{8E789B3B-F514-4E02-8C1A-2F85817AA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97" name="Freeform: Shape 1096">
              <a:extLst>
                <a:ext uri="{FF2B5EF4-FFF2-40B4-BE49-F238E27FC236}">
                  <a16:creationId xmlns:a16="http://schemas.microsoft.com/office/drawing/2014/main" id="{9E473BAC-3DA1-4D63-9D6C-2B993665F6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98" name="Freeform: Shape 1097">
              <a:extLst>
                <a:ext uri="{FF2B5EF4-FFF2-40B4-BE49-F238E27FC236}">
                  <a16:creationId xmlns:a16="http://schemas.microsoft.com/office/drawing/2014/main" id="{F385DCF4-8F59-4838-B86C-2B3EF0BCE7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99" name="Freeform: Shape 1098">
              <a:extLst>
                <a:ext uri="{FF2B5EF4-FFF2-40B4-BE49-F238E27FC236}">
                  <a16:creationId xmlns:a16="http://schemas.microsoft.com/office/drawing/2014/main" id="{3EC5A02E-609A-4C39-A35D-E8D038F7C9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00" name="Freeform: Shape 1099">
              <a:extLst>
                <a:ext uri="{FF2B5EF4-FFF2-40B4-BE49-F238E27FC236}">
                  <a16:creationId xmlns:a16="http://schemas.microsoft.com/office/drawing/2014/main" id="{7AB67B18-1821-4367-A7B6-CC2FFF66D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01" name="Freeform: Shape 1100">
              <a:extLst>
                <a:ext uri="{FF2B5EF4-FFF2-40B4-BE49-F238E27FC236}">
                  <a16:creationId xmlns:a16="http://schemas.microsoft.com/office/drawing/2014/main" id="{DFCAC56E-4767-4984-9FE7-2C3CA57D01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02" name="Freeform: Shape 1101">
              <a:extLst>
                <a:ext uri="{FF2B5EF4-FFF2-40B4-BE49-F238E27FC236}">
                  <a16:creationId xmlns:a16="http://schemas.microsoft.com/office/drawing/2014/main" id="{0A1929ED-CEB2-4C49-B2ED-A206D37935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3" name="Freeform: Shape 1102">
              <a:extLst>
                <a:ext uri="{FF2B5EF4-FFF2-40B4-BE49-F238E27FC236}">
                  <a16:creationId xmlns:a16="http://schemas.microsoft.com/office/drawing/2014/main" id="{01D632F9-2F59-4C8D-B1BC-1CB0D15C3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4" name="Freeform: Shape 1103">
              <a:extLst>
                <a:ext uri="{FF2B5EF4-FFF2-40B4-BE49-F238E27FC236}">
                  <a16:creationId xmlns:a16="http://schemas.microsoft.com/office/drawing/2014/main" id="{03B9F80B-CAEF-442C-A218-E2B069545B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5" name="Freeform: Shape 1104">
              <a:extLst>
                <a:ext uri="{FF2B5EF4-FFF2-40B4-BE49-F238E27FC236}">
                  <a16:creationId xmlns:a16="http://schemas.microsoft.com/office/drawing/2014/main" id="{526A626E-CC14-4106-8AD4-DB3D81CD6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06" name="Freeform: Shape 1105">
              <a:extLst>
                <a:ext uri="{FF2B5EF4-FFF2-40B4-BE49-F238E27FC236}">
                  <a16:creationId xmlns:a16="http://schemas.microsoft.com/office/drawing/2014/main" id="{7CD710B8-B5DF-495F-ACEA-CFB9308CB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7" name="Freeform: Shape 1106">
              <a:extLst>
                <a:ext uri="{FF2B5EF4-FFF2-40B4-BE49-F238E27FC236}">
                  <a16:creationId xmlns:a16="http://schemas.microsoft.com/office/drawing/2014/main" id="{E550C81D-B0B8-4DB8-A12C-B62944D07F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08" name="Freeform: Shape 1107">
              <a:extLst>
                <a:ext uri="{FF2B5EF4-FFF2-40B4-BE49-F238E27FC236}">
                  <a16:creationId xmlns:a16="http://schemas.microsoft.com/office/drawing/2014/main" id="{4EB82E53-B337-43EB-BFF8-1466F10E8B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09" name="Freeform: Shape 1108">
              <a:extLst>
                <a:ext uri="{FF2B5EF4-FFF2-40B4-BE49-F238E27FC236}">
                  <a16:creationId xmlns:a16="http://schemas.microsoft.com/office/drawing/2014/main" id="{D1DCEF3A-2B54-4AA2-9BFD-57EA4A246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10" name="Freeform: Shape 1109">
              <a:extLst>
                <a:ext uri="{FF2B5EF4-FFF2-40B4-BE49-F238E27FC236}">
                  <a16:creationId xmlns:a16="http://schemas.microsoft.com/office/drawing/2014/main" id="{9F122967-34EF-4575-8E59-75D77FCD0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11" name="Freeform: Shape 1110">
              <a:extLst>
                <a:ext uri="{FF2B5EF4-FFF2-40B4-BE49-F238E27FC236}">
                  <a16:creationId xmlns:a16="http://schemas.microsoft.com/office/drawing/2014/main" id="{D87EBF9D-3949-4CCE-BB87-9784668346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12" name="Freeform: Shape 1111">
              <a:extLst>
                <a:ext uri="{FF2B5EF4-FFF2-40B4-BE49-F238E27FC236}">
                  <a16:creationId xmlns:a16="http://schemas.microsoft.com/office/drawing/2014/main" id="{58A1183F-B28F-4BAD-A14B-3940A6E92F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13" name="Freeform: Shape 1112">
              <a:extLst>
                <a:ext uri="{FF2B5EF4-FFF2-40B4-BE49-F238E27FC236}">
                  <a16:creationId xmlns:a16="http://schemas.microsoft.com/office/drawing/2014/main" id="{A81851B7-6D8F-454C-BBAA-498426069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14" name="Freeform: Shape 1113">
              <a:extLst>
                <a:ext uri="{FF2B5EF4-FFF2-40B4-BE49-F238E27FC236}">
                  <a16:creationId xmlns:a16="http://schemas.microsoft.com/office/drawing/2014/main" id="{99759A7A-483F-4DB0-8677-C6AB61E197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15" name="Freeform: Shape 1114">
              <a:extLst>
                <a:ext uri="{FF2B5EF4-FFF2-40B4-BE49-F238E27FC236}">
                  <a16:creationId xmlns:a16="http://schemas.microsoft.com/office/drawing/2014/main" id="{BDD1E55B-DE82-4811-BB33-1468396D2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16" name="Freeform: Shape 1115">
              <a:extLst>
                <a:ext uri="{FF2B5EF4-FFF2-40B4-BE49-F238E27FC236}">
                  <a16:creationId xmlns:a16="http://schemas.microsoft.com/office/drawing/2014/main" id="{F4B0251C-DACC-4A24-83BA-3D95F8D19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17" name="Freeform: Shape 1116">
              <a:extLst>
                <a:ext uri="{FF2B5EF4-FFF2-40B4-BE49-F238E27FC236}">
                  <a16:creationId xmlns:a16="http://schemas.microsoft.com/office/drawing/2014/main" id="{3647EF9B-D99D-48C1-B61E-19B85F4714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18" name="Freeform: Shape 1117">
              <a:extLst>
                <a:ext uri="{FF2B5EF4-FFF2-40B4-BE49-F238E27FC236}">
                  <a16:creationId xmlns:a16="http://schemas.microsoft.com/office/drawing/2014/main" id="{EB55DF3C-DDF0-4B01-849E-46A6634655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19" name="Freeform: Shape 1118">
              <a:extLst>
                <a:ext uri="{FF2B5EF4-FFF2-40B4-BE49-F238E27FC236}">
                  <a16:creationId xmlns:a16="http://schemas.microsoft.com/office/drawing/2014/main" id="{09149238-5A44-4264-84E6-DD25E7C01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20" name="Freeform: Shape 1119">
              <a:extLst>
                <a:ext uri="{FF2B5EF4-FFF2-40B4-BE49-F238E27FC236}">
                  <a16:creationId xmlns:a16="http://schemas.microsoft.com/office/drawing/2014/main" id="{4E6925C1-B440-4C1C-8829-2E6D9EE142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1" name="Freeform: Shape 1120">
              <a:extLst>
                <a:ext uri="{FF2B5EF4-FFF2-40B4-BE49-F238E27FC236}">
                  <a16:creationId xmlns:a16="http://schemas.microsoft.com/office/drawing/2014/main" id="{937B5BDB-32A7-4C47-A984-AF2316600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2" name="Freeform: Shape 1121">
              <a:extLst>
                <a:ext uri="{FF2B5EF4-FFF2-40B4-BE49-F238E27FC236}">
                  <a16:creationId xmlns:a16="http://schemas.microsoft.com/office/drawing/2014/main" id="{9B5A7D9C-91C9-49A3-8AD5-DB49632FD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3" name="Freeform: Shape 1122">
              <a:extLst>
                <a:ext uri="{FF2B5EF4-FFF2-40B4-BE49-F238E27FC236}">
                  <a16:creationId xmlns:a16="http://schemas.microsoft.com/office/drawing/2014/main" id="{C64B015D-AFCF-4AB2-AE58-A069B06DB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24" name="Freeform: Shape 1123">
              <a:extLst>
                <a:ext uri="{FF2B5EF4-FFF2-40B4-BE49-F238E27FC236}">
                  <a16:creationId xmlns:a16="http://schemas.microsoft.com/office/drawing/2014/main" id="{A4407931-9375-400F-88AC-C63D4E9E9C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5" name="Freeform: Shape 1124">
              <a:extLst>
                <a:ext uri="{FF2B5EF4-FFF2-40B4-BE49-F238E27FC236}">
                  <a16:creationId xmlns:a16="http://schemas.microsoft.com/office/drawing/2014/main" id="{554278B7-45C8-46E4-885A-69208D598B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26" name="Freeform: Shape 1125">
              <a:extLst>
                <a:ext uri="{FF2B5EF4-FFF2-40B4-BE49-F238E27FC236}">
                  <a16:creationId xmlns:a16="http://schemas.microsoft.com/office/drawing/2014/main" id="{3A806AB0-FBD6-41CD-997C-A76266D37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7" name="Freeform: Shape 1126">
              <a:extLst>
                <a:ext uri="{FF2B5EF4-FFF2-40B4-BE49-F238E27FC236}">
                  <a16:creationId xmlns:a16="http://schemas.microsoft.com/office/drawing/2014/main" id="{719E2D6D-6D96-4348-954B-3657A0B06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8" name="Freeform: Shape 1127">
              <a:extLst>
                <a:ext uri="{FF2B5EF4-FFF2-40B4-BE49-F238E27FC236}">
                  <a16:creationId xmlns:a16="http://schemas.microsoft.com/office/drawing/2014/main" id="{9794AABE-9C3E-4A8C-820F-0FDF65213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9" name="Freeform: Shape 1128">
              <a:extLst>
                <a:ext uri="{FF2B5EF4-FFF2-40B4-BE49-F238E27FC236}">
                  <a16:creationId xmlns:a16="http://schemas.microsoft.com/office/drawing/2014/main" id="{1DBEC39D-5464-46CA-B62B-24826F1F4D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30" name="Freeform: Shape 1129">
              <a:extLst>
                <a:ext uri="{FF2B5EF4-FFF2-40B4-BE49-F238E27FC236}">
                  <a16:creationId xmlns:a16="http://schemas.microsoft.com/office/drawing/2014/main" id="{41807973-667B-4780-B3AA-4ADC32DB3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31" name="Freeform: Shape 1130">
              <a:extLst>
                <a:ext uri="{FF2B5EF4-FFF2-40B4-BE49-F238E27FC236}">
                  <a16:creationId xmlns:a16="http://schemas.microsoft.com/office/drawing/2014/main" id="{970D793C-C9EE-467B-8385-42B6905A00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32" name="Freeform: Shape 1131">
              <a:extLst>
                <a:ext uri="{FF2B5EF4-FFF2-40B4-BE49-F238E27FC236}">
                  <a16:creationId xmlns:a16="http://schemas.microsoft.com/office/drawing/2014/main" id="{94695A53-78EB-4811-8BBC-4707F30169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33" name="Freeform: Shape 1132">
              <a:extLst>
                <a:ext uri="{FF2B5EF4-FFF2-40B4-BE49-F238E27FC236}">
                  <a16:creationId xmlns:a16="http://schemas.microsoft.com/office/drawing/2014/main" id="{0576416F-0C2E-4D01-9357-5C73ADF85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4" name="Freeform: Shape 1133">
              <a:extLst>
                <a:ext uri="{FF2B5EF4-FFF2-40B4-BE49-F238E27FC236}">
                  <a16:creationId xmlns:a16="http://schemas.microsoft.com/office/drawing/2014/main" id="{A091FE22-8667-4F89-A333-BA9A0917E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35" name="Freeform: Shape 1134">
              <a:extLst>
                <a:ext uri="{FF2B5EF4-FFF2-40B4-BE49-F238E27FC236}">
                  <a16:creationId xmlns:a16="http://schemas.microsoft.com/office/drawing/2014/main" id="{CB779008-969D-4FA8-BB6C-3BBBCF919E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6" name="Freeform: Shape 1135">
              <a:extLst>
                <a:ext uri="{FF2B5EF4-FFF2-40B4-BE49-F238E27FC236}">
                  <a16:creationId xmlns:a16="http://schemas.microsoft.com/office/drawing/2014/main" id="{CDAF3B96-0DFB-44BA-959D-BF9643FFE2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7" name="Freeform: Shape 1136">
              <a:extLst>
                <a:ext uri="{FF2B5EF4-FFF2-40B4-BE49-F238E27FC236}">
                  <a16:creationId xmlns:a16="http://schemas.microsoft.com/office/drawing/2014/main" id="{5F66F5FF-98B2-4453-8175-EB602A6A03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8" name="Freeform: Shape 1137">
              <a:extLst>
                <a:ext uri="{FF2B5EF4-FFF2-40B4-BE49-F238E27FC236}">
                  <a16:creationId xmlns:a16="http://schemas.microsoft.com/office/drawing/2014/main" id="{751D9683-9D41-4058-B90B-99146FC2F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39" name="Freeform: Shape 1138">
              <a:extLst>
                <a:ext uri="{FF2B5EF4-FFF2-40B4-BE49-F238E27FC236}">
                  <a16:creationId xmlns:a16="http://schemas.microsoft.com/office/drawing/2014/main" id="{0907098D-1005-4522-BA21-F1534CBACF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40" name="Freeform: Shape 1139">
              <a:extLst>
                <a:ext uri="{FF2B5EF4-FFF2-40B4-BE49-F238E27FC236}">
                  <a16:creationId xmlns:a16="http://schemas.microsoft.com/office/drawing/2014/main" id="{5BFEF082-7E02-4ED8-B9D1-F0FC47FEC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41" name="Freeform: Shape 1140">
              <a:extLst>
                <a:ext uri="{FF2B5EF4-FFF2-40B4-BE49-F238E27FC236}">
                  <a16:creationId xmlns:a16="http://schemas.microsoft.com/office/drawing/2014/main" id="{4429C269-222E-4EFB-97B9-08FA243CE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42" name="Freeform: Shape 1141">
              <a:extLst>
                <a:ext uri="{FF2B5EF4-FFF2-40B4-BE49-F238E27FC236}">
                  <a16:creationId xmlns:a16="http://schemas.microsoft.com/office/drawing/2014/main" id="{FC460F7F-5702-4281-850B-59E4182A71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3" name="Freeform: Shape 1142">
              <a:extLst>
                <a:ext uri="{FF2B5EF4-FFF2-40B4-BE49-F238E27FC236}">
                  <a16:creationId xmlns:a16="http://schemas.microsoft.com/office/drawing/2014/main" id="{A329057C-293F-4933-9DEA-2463E66D4B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4" name="Freeform: Shape 1143">
              <a:extLst>
                <a:ext uri="{FF2B5EF4-FFF2-40B4-BE49-F238E27FC236}">
                  <a16:creationId xmlns:a16="http://schemas.microsoft.com/office/drawing/2014/main" id="{7274CBA8-6253-4229-AC37-1D7126639E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5" name="Freeform: Shape 1144">
              <a:extLst>
                <a:ext uri="{FF2B5EF4-FFF2-40B4-BE49-F238E27FC236}">
                  <a16:creationId xmlns:a16="http://schemas.microsoft.com/office/drawing/2014/main" id="{B7ABAAD2-23FD-4AF4-8506-3CDDC5607B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46" name="Freeform: Shape 1145">
              <a:extLst>
                <a:ext uri="{FF2B5EF4-FFF2-40B4-BE49-F238E27FC236}">
                  <a16:creationId xmlns:a16="http://schemas.microsoft.com/office/drawing/2014/main" id="{27A85620-3B33-477A-949C-3F221DCC2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7" name="Freeform: Shape 1146">
              <a:extLst>
                <a:ext uri="{FF2B5EF4-FFF2-40B4-BE49-F238E27FC236}">
                  <a16:creationId xmlns:a16="http://schemas.microsoft.com/office/drawing/2014/main" id="{6247316E-E815-4CE3-9EC0-8DC8391EB4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48" name="Freeform: Shape 1147">
              <a:extLst>
                <a:ext uri="{FF2B5EF4-FFF2-40B4-BE49-F238E27FC236}">
                  <a16:creationId xmlns:a16="http://schemas.microsoft.com/office/drawing/2014/main" id="{3D047E26-5A98-4B49-A453-C71D894500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9" name="Freeform: Shape 1148">
              <a:extLst>
                <a:ext uri="{FF2B5EF4-FFF2-40B4-BE49-F238E27FC236}">
                  <a16:creationId xmlns:a16="http://schemas.microsoft.com/office/drawing/2014/main" id="{940C95BF-A85B-4251-A817-35A7B4F71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0" name="Freeform: Shape 1149">
              <a:extLst>
                <a:ext uri="{FF2B5EF4-FFF2-40B4-BE49-F238E27FC236}">
                  <a16:creationId xmlns:a16="http://schemas.microsoft.com/office/drawing/2014/main" id="{EA4FDA2F-E340-40E6-8678-8F4F9EB3D4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1" name="Freeform: Shape 1150">
              <a:extLst>
                <a:ext uri="{FF2B5EF4-FFF2-40B4-BE49-F238E27FC236}">
                  <a16:creationId xmlns:a16="http://schemas.microsoft.com/office/drawing/2014/main" id="{D94A3796-87FD-436D-8309-857F9B4898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2" name="Freeform: Shape 1151">
              <a:extLst>
                <a:ext uri="{FF2B5EF4-FFF2-40B4-BE49-F238E27FC236}">
                  <a16:creationId xmlns:a16="http://schemas.microsoft.com/office/drawing/2014/main" id="{2B20BE68-41F5-4E59-87CD-A8654B123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3" name="Freeform: Shape 1152">
              <a:extLst>
                <a:ext uri="{FF2B5EF4-FFF2-40B4-BE49-F238E27FC236}">
                  <a16:creationId xmlns:a16="http://schemas.microsoft.com/office/drawing/2014/main" id="{7FD87938-B42E-45E5-ABB8-936E00A244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4" name="Freeform: Shape 1153">
              <a:extLst>
                <a:ext uri="{FF2B5EF4-FFF2-40B4-BE49-F238E27FC236}">
                  <a16:creationId xmlns:a16="http://schemas.microsoft.com/office/drawing/2014/main" id="{EA46A837-6AA3-4099-8055-251ED6D7D4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55" name="Freeform: Shape 1154">
              <a:extLst>
                <a:ext uri="{FF2B5EF4-FFF2-40B4-BE49-F238E27FC236}">
                  <a16:creationId xmlns:a16="http://schemas.microsoft.com/office/drawing/2014/main" id="{B9D871B1-B4D0-4667-B5FA-21AE12E501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6" name="Freeform: Shape 1155">
              <a:extLst>
                <a:ext uri="{FF2B5EF4-FFF2-40B4-BE49-F238E27FC236}">
                  <a16:creationId xmlns:a16="http://schemas.microsoft.com/office/drawing/2014/main" id="{477E102A-1E9D-44C8-9DA0-1B4B61444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7" name="Freeform: Shape 1156">
              <a:extLst>
                <a:ext uri="{FF2B5EF4-FFF2-40B4-BE49-F238E27FC236}">
                  <a16:creationId xmlns:a16="http://schemas.microsoft.com/office/drawing/2014/main" id="{42DB4921-ECFC-42CD-B91B-56AB1FE263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8" name="Freeform: Shape 1157">
              <a:extLst>
                <a:ext uri="{FF2B5EF4-FFF2-40B4-BE49-F238E27FC236}">
                  <a16:creationId xmlns:a16="http://schemas.microsoft.com/office/drawing/2014/main" id="{3156177C-2880-4AAF-BFC7-C3EA4AD09A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9" name="Freeform: Shape 1158">
              <a:extLst>
                <a:ext uri="{FF2B5EF4-FFF2-40B4-BE49-F238E27FC236}">
                  <a16:creationId xmlns:a16="http://schemas.microsoft.com/office/drawing/2014/main" id="{B7C807E0-34AB-4AC3-A674-D7E438C603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0" name="Freeform: Shape 1159">
              <a:extLst>
                <a:ext uri="{FF2B5EF4-FFF2-40B4-BE49-F238E27FC236}">
                  <a16:creationId xmlns:a16="http://schemas.microsoft.com/office/drawing/2014/main" id="{93AD80AB-575A-4D50-A561-CE310E06BF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1" name="Freeform: Shape 1160">
              <a:extLst>
                <a:ext uri="{FF2B5EF4-FFF2-40B4-BE49-F238E27FC236}">
                  <a16:creationId xmlns:a16="http://schemas.microsoft.com/office/drawing/2014/main" id="{E4C11A99-7E93-4B54-B1CE-D90D45325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2" name="Freeform: Shape 1161">
              <a:extLst>
                <a:ext uri="{FF2B5EF4-FFF2-40B4-BE49-F238E27FC236}">
                  <a16:creationId xmlns:a16="http://schemas.microsoft.com/office/drawing/2014/main" id="{25A3E814-2D04-4881-B9E9-81ADDC0C97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3" name="Freeform: Shape 1162">
              <a:extLst>
                <a:ext uri="{FF2B5EF4-FFF2-40B4-BE49-F238E27FC236}">
                  <a16:creationId xmlns:a16="http://schemas.microsoft.com/office/drawing/2014/main" id="{073D9FB4-F4AF-4974-A734-C9300D2107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4" name="Freeform: Shape 1163">
              <a:extLst>
                <a:ext uri="{FF2B5EF4-FFF2-40B4-BE49-F238E27FC236}">
                  <a16:creationId xmlns:a16="http://schemas.microsoft.com/office/drawing/2014/main" id="{081A1414-A8F5-43F1-BA51-B058EF2C05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5" name="Freeform: Shape 1164">
              <a:extLst>
                <a:ext uri="{FF2B5EF4-FFF2-40B4-BE49-F238E27FC236}">
                  <a16:creationId xmlns:a16="http://schemas.microsoft.com/office/drawing/2014/main" id="{E41588DC-3C7F-4695-A42A-B5ABEA8B51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6" name="Freeform: Shape 1165">
              <a:extLst>
                <a:ext uri="{FF2B5EF4-FFF2-40B4-BE49-F238E27FC236}">
                  <a16:creationId xmlns:a16="http://schemas.microsoft.com/office/drawing/2014/main" id="{3884DF6D-4C87-4B4A-A918-B3F3C8BE35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7" name="Freeform: Shape 1166">
              <a:extLst>
                <a:ext uri="{FF2B5EF4-FFF2-40B4-BE49-F238E27FC236}">
                  <a16:creationId xmlns:a16="http://schemas.microsoft.com/office/drawing/2014/main" id="{CF26F2A0-B8D0-48D4-A9A9-BEB75CFF1F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8" name="Freeform: Shape 1167">
              <a:extLst>
                <a:ext uri="{FF2B5EF4-FFF2-40B4-BE49-F238E27FC236}">
                  <a16:creationId xmlns:a16="http://schemas.microsoft.com/office/drawing/2014/main" id="{7A9177E1-A6DC-4200-9D85-31A348E027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9" name="Freeform: Shape 1168">
              <a:extLst>
                <a:ext uri="{FF2B5EF4-FFF2-40B4-BE49-F238E27FC236}">
                  <a16:creationId xmlns:a16="http://schemas.microsoft.com/office/drawing/2014/main" id="{7DA218E3-83A8-45E8-B2E3-4B693606C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0" name="Freeform: Shape 1169">
              <a:extLst>
                <a:ext uri="{FF2B5EF4-FFF2-40B4-BE49-F238E27FC236}">
                  <a16:creationId xmlns:a16="http://schemas.microsoft.com/office/drawing/2014/main" id="{31E51433-E260-493C-8A94-FCE7FD9BA2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71" name="Freeform: Shape 1170">
              <a:extLst>
                <a:ext uri="{FF2B5EF4-FFF2-40B4-BE49-F238E27FC236}">
                  <a16:creationId xmlns:a16="http://schemas.microsoft.com/office/drawing/2014/main" id="{3A74FFD3-BE5F-435D-AC22-825B6E049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72" name="Freeform: Shape 1171">
              <a:extLst>
                <a:ext uri="{FF2B5EF4-FFF2-40B4-BE49-F238E27FC236}">
                  <a16:creationId xmlns:a16="http://schemas.microsoft.com/office/drawing/2014/main" id="{B3420F88-93EB-4790-A2BD-EFF61E77B0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73" name="Freeform: Shape 1172">
              <a:extLst>
                <a:ext uri="{FF2B5EF4-FFF2-40B4-BE49-F238E27FC236}">
                  <a16:creationId xmlns:a16="http://schemas.microsoft.com/office/drawing/2014/main" id="{3875302B-159F-4E81-AD49-154BAA8F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4" name="Freeform: Shape 1173">
              <a:extLst>
                <a:ext uri="{FF2B5EF4-FFF2-40B4-BE49-F238E27FC236}">
                  <a16:creationId xmlns:a16="http://schemas.microsoft.com/office/drawing/2014/main" id="{BE9966CE-BC06-4CEB-877D-34D9D1C2E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75" name="Freeform: Shape 1174">
              <a:extLst>
                <a:ext uri="{FF2B5EF4-FFF2-40B4-BE49-F238E27FC236}">
                  <a16:creationId xmlns:a16="http://schemas.microsoft.com/office/drawing/2014/main" id="{889924EA-8A9B-4ED5-8CF2-E184EE89D2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6" name="Freeform: Shape 1175">
              <a:extLst>
                <a:ext uri="{FF2B5EF4-FFF2-40B4-BE49-F238E27FC236}">
                  <a16:creationId xmlns:a16="http://schemas.microsoft.com/office/drawing/2014/main" id="{300C1FB1-E227-40EE-A773-071D080B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7" name="Freeform: Shape 1176">
              <a:extLst>
                <a:ext uri="{FF2B5EF4-FFF2-40B4-BE49-F238E27FC236}">
                  <a16:creationId xmlns:a16="http://schemas.microsoft.com/office/drawing/2014/main" id="{14F26B5D-6E35-40E8-90DF-FD65CB33F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78" name="Freeform: Shape 1177">
              <a:extLst>
                <a:ext uri="{FF2B5EF4-FFF2-40B4-BE49-F238E27FC236}">
                  <a16:creationId xmlns:a16="http://schemas.microsoft.com/office/drawing/2014/main" id="{059D8F05-F701-45A6-9377-454642C212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9" name="Freeform: Shape 1178">
              <a:extLst>
                <a:ext uri="{FF2B5EF4-FFF2-40B4-BE49-F238E27FC236}">
                  <a16:creationId xmlns:a16="http://schemas.microsoft.com/office/drawing/2014/main" id="{5F57ACF8-D510-4715-B964-20D980558C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80" name="Freeform: Shape 1179">
              <a:extLst>
                <a:ext uri="{FF2B5EF4-FFF2-40B4-BE49-F238E27FC236}">
                  <a16:creationId xmlns:a16="http://schemas.microsoft.com/office/drawing/2014/main" id="{51053CDD-687F-481B-86FB-56DA74C55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1" name="Freeform: Shape 1180">
              <a:extLst>
                <a:ext uri="{FF2B5EF4-FFF2-40B4-BE49-F238E27FC236}">
                  <a16:creationId xmlns:a16="http://schemas.microsoft.com/office/drawing/2014/main" id="{76B24CA5-1578-43AE-8ED8-CB9F7EA62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2" name="Freeform: Shape 1181">
              <a:extLst>
                <a:ext uri="{FF2B5EF4-FFF2-40B4-BE49-F238E27FC236}">
                  <a16:creationId xmlns:a16="http://schemas.microsoft.com/office/drawing/2014/main" id="{A3208550-AB5B-4E2B-914A-270D30163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3" name="Freeform: Shape 1182">
              <a:extLst>
                <a:ext uri="{FF2B5EF4-FFF2-40B4-BE49-F238E27FC236}">
                  <a16:creationId xmlns:a16="http://schemas.microsoft.com/office/drawing/2014/main" id="{D4120D7E-20EE-4413-A541-781EA43508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84" name="Freeform: Shape 1183">
              <a:extLst>
                <a:ext uri="{FF2B5EF4-FFF2-40B4-BE49-F238E27FC236}">
                  <a16:creationId xmlns:a16="http://schemas.microsoft.com/office/drawing/2014/main" id="{9C0CC66E-BFF1-47FD-8C37-092016FBE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5" name="Freeform: Shape 1184">
              <a:extLst>
                <a:ext uri="{FF2B5EF4-FFF2-40B4-BE49-F238E27FC236}">
                  <a16:creationId xmlns:a16="http://schemas.microsoft.com/office/drawing/2014/main" id="{09D9AD44-3983-44A2-9DBA-6C5FF3C47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86" name="Freeform: Shape 1185">
              <a:extLst>
                <a:ext uri="{FF2B5EF4-FFF2-40B4-BE49-F238E27FC236}">
                  <a16:creationId xmlns:a16="http://schemas.microsoft.com/office/drawing/2014/main" id="{71915592-B946-43D1-AE24-B72B17FC58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87" name="Freeform: Shape 1186">
              <a:extLst>
                <a:ext uri="{FF2B5EF4-FFF2-40B4-BE49-F238E27FC236}">
                  <a16:creationId xmlns:a16="http://schemas.microsoft.com/office/drawing/2014/main" id="{3AC48622-C7DC-416F-B14F-AB0C6A3EF5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8" name="Freeform: Shape 1187">
              <a:extLst>
                <a:ext uri="{FF2B5EF4-FFF2-40B4-BE49-F238E27FC236}">
                  <a16:creationId xmlns:a16="http://schemas.microsoft.com/office/drawing/2014/main" id="{C122E9A7-0590-453C-AC3A-88265131C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9" name="Freeform: Shape 1188">
              <a:extLst>
                <a:ext uri="{FF2B5EF4-FFF2-40B4-BE49-F238E27FC236}">
                  <a16:creationId xmlns:a16="http://schemas.microsoft.com/office/drawing/2014/main" id="{78246847-0B72-46B3-9243-7A7B92E212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90" name="Freeform: Shape 1189">
              <a:extLst>
                <a:ext uri="{FF2B5EF4-FFF2-40B4-BE49-F238E27FC236}">
                  <a16:creationId xmlns:a16="http://schemas.microsoft.com/office/drawing/2014/main" id="{207FF669-6E9C-47DF-A1A0-6676692794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1" name="Freeform: Shape 1190">
              <a:extLst>
                <a:ext uri="{FF2B5EF4-FFF2-40B4-BE49-F238E27FC236}">
                  <a16:creationId xmlns:a16="http://schemas.microsoft.com/office/drawing/2014/main" id="{06905CAD-DCDC-4965-969E-3BA793FCA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92" name="Freeform: Shape 1191">
              <a:extLst>
                <a:ext uri="{FF2B5EF4-FFF2-40B4-BE49-F238E27FC236}">
                  <a16:creationId xmlns:a16="http://schemas.microsoft.com/office/drawing/2014/main" id="{7E82B7F4-81C1-4A48-A3C9-B9DE741C9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3" name="Freeform: Shape 1192">
              <a:extLst>
                <a:ext uri="{FF2B5EF4-FFF2-40B4-BE49-F238E27FC236}">
                  <a16:creationId xmlns:a16="http://schemas.microsoft.com/office/drawing/2014/main" id="{53D306B7-0050-4206-8020-D3F81BC46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4" name="Freeform: Shape 1193">
              <a:extLst>
                <a:ext uri="{FF2B5EF4-FFF2-40B4-BE49-F238E27FC236}">
                  <a16:creationId xmlns:a16="http://schemas.microsoft.com/office/drawing/2014/main" id="{BE50823B-85BA-4734-A0E5-99F2D027CC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5" name="Freeform: Shape 1194">
              <a:extLst>
                <a:ext uri="{FF2B5EF4-FFF2-40B4-BE49-F238E27FC236}">
                  <a16:creationId xmlns:a16="http://schemas.microsoft.com/office/drawing/2014/main" id="{1F26CEA8-889B-4F33-AE59-91F66E1602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96" name="Freeform: Shape 1195">
              <a:extLst>
                <a:ext uri="{FF2B5EF4-FFF2-40B4-BE49-F238E27FC236}">
                  <a16:creationId xmlns:a16="http://schemas.microsoft.com/office/drawing/2014/main" id="{E64E5726-D6A2-4541-9EB4-0D455BFB19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7" name="Freeform: Shape 1196">
              <a:extLst>
                <a:ext uri="{FF2B5EF4-FFF2-40B4-BE49-F238E27FC236}">
                  <a16:creationId xmlns:a16="http://schemas.microsoft.com/office/drawing/2014/main" id="{B5A9478C-31E8-4C23-856A-5B4D6936B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98" name="Freeform: Shape 1197">
              <a:extLst>
                <a:ext uri="{FF2B5EF4-FFF2-40B4-BE49-F238E27FC236}">
                  <a16:creationId xmlns:a16="http://schemas.microsoft.com/office/drawing/2014/main" id="{D4D55AFD-7163-47DF-8918-6BCF397B55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9" name="Freeform: Shape 1198">
              <a:extLst>
                <a:ext uri="{FF2B5EF4-FFF2-40B4-BE49-F238E27FC236}">
                  <a16:creationId xmlns:a16="http://schemas.microsoft.com/office/drawing/2014/main" id="{20C5BF88-D776-4C9B-89BD-85EE0DCE81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0" name="Freeform: Shape 1199">
              <a:extLst>
                <a:ext uri="{FF2B5EF4-FFF2-40B4-BE49-F238E27FC236}">
                  <a16:creationId xmlns:a16="http://schemas.microsoft.com/office/drawing/2014/main" id="{0A0347C6-25EE-4289-B805-750B30ABB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1" name="Freeform: Shape 1200">
              <a:extLst>
                <a:ext uri="{FF2B5EF4-FFF2-40B4-BE49-F238E27FC236}">
                  <a16:creationId xmlns:a16="http://schemas.microsoft.com/office/drawing/2014/main" id="{4C83C9E0-7820-4EA4-B9AA-AD6E0719F3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02" name="Freeform: Shape 1201">
              <a:extLst>
                <a:ext uri="{FF2B5EF4-FFF2-40B4-BE49-F238E27FC236}">
                  <a16:creationId xmlns:a16="http://schemas.microsoft.com/office/drawing/2014/main" id="{7E1B6DEA-553D-4733-9A45-3A28D118B6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3" name="Freeform: Shape 1202">
              <a:extLst>
                <a:ext uri="{FF2B5EF4-FFF2-40B4-BE49-F238E27FC236}">
                  <a16:creationId xmlns:a16="http://schemas.microsoft.com/office/drawing/2014/main" id="{BE647149-B885-4A7D-B57E-A9762FF951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04" name="Freeform: Shape 1203">
              <a:extLst>
                <a:ext uri="{FF2B5EF4-FFF2-40B4-BE49-F238E27FC236}">
                  <a16:creationId xmlns:a16="http://schemas.microsoft.com/office/drawing/2014/main" id="{3FFCDDD6-EA47-4BA4-914F-B4AD52A7DA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5" name="Freeform: Shape 1204">
              <a:extLst>
                <a:ext uri="{FF2B5EF4-FFF2-40B4-BE49-F238E27FC236}">
                  <a16:creationId xmlns:a16="http://schemas.microsoft.com/office/drawing/2014/main" id="{18C5FC42-4A56-48D7-9C6F-EE6973256C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206" name="Freeform: Shape 1205">
              <a:extLst>
                <a:ext uri="{FF2B5EF4-FFF2-40B4-BE49-F238E27FC236}">
                  <a16:creationId xmlns:a16="http://schemas.microsoft.com/office/drawing/2014/main" id="{E58746BA-672F-48B8-BA1D-E317498C1F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207" name="Freeform: Shape 1206">
              <a:extLst>
                <a:ext uri="{FF2B5EF4-FFF2-40B4-BE49-F238E27FC236}">
                  <a16:creationId xmlns:a16="http://schemas.microsoft.com/office/drawing/2014/main" id="{75C60814-753C-4243-BD88-443E240D6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208" name="Freeform: Shape 1207">
              <a:extLst>
                <a:ext uri="{FF2B5EF4-FFF2-40B4-BE49-F238E27FC236}">
                  <a16:creationId xmlns:a16="http://schemas.microsoft.com/office/drawing/2014/main" id="{174EB8C9-709B-42D9-9948-434CAA5E0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209" name="Freeform: Shape 1208">
              <a:extLst>
                <a:ext uri="{FF2B5EF4-FFF2-40B4-BE49-F238E27FC236}">
                  <a16:creationId xmlns:a16="http://schemas.microsoft.com/office/drawing/2014/main" id="{786AB5B1-D0D7-4FE2-9A7D-BF9C01F7D7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210" name="Freeform: Shape 1209">
              <a:extLst>
                <a:ext uri="{FF2B5EF4-FFF2-40B4-BE49-F238E27FC236}">
                  <a16:creationId xmlns:a16="http://schemas.microsoft.com/office/drawing/2014/main" id="{718E7606-3FC9-4354-BCF8-A980AE6DFA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6" name="Title 3">
            <a:extLst>
              <a:ext uri="{FF2B5EF4-FFF2-40B4-BE49-F238E27FC236}">
                <a16:creationId xmlns:a16="http://schemas.microsoft.com/office/drawing/2014/main" id="{DA3AC36A-2FA1-A2B7-E3A2-F70E968D7983}"/>
              </a:ext>
            </a:extLst>
          </p:cNvPr>
          <p:cNvSpPr txBox="1">
            <a:spLocks/>
          </p:cNvSpPr>
          <p:nvPr/>
        </p:nvSpPr>
        <p:spPr>
          <a:xfrm>
            <a:off x="722790" y="489850"/>
            <a:ext cx="3589917" cy="354762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b="1" kern="1200" cap="all" spc="1500" baseline="0">
                <a:solidFill>
                  <a:schemeClr val="tx1"/>
                </a:solidFill>
                <a:latin typeface="+mj-lt"/>
                <a:ea typeface="Source Sans Pro SemiBold" panose="020B0603030403020204" pitchFamily="34" charset="0"/>
                <a:cs typeface="+mj-cs"/>
              </a:defRPr>
            </a:lvl1pPr>
          </a:lstStyle>
          <a:p>
            <a:pPr algn="l"/>
            <a:r>
              <a:rPr lang="en-US" sz="2400" dirty="0"/>
              <a:t>COMM3131 Online Dating and Hookup Culture</a:t>
            </a:r>
            <a:br>
              <a:rPr lang="en-US" sz="1600" dirty="0"/>
            </a:br>
            <a:br>
              <a:rPr lang="en-US" sz="2000" dirty="0"/>
            </a:br>
            <a:endParaRPr lang="en-US" sz="2000" dirty="0"/>
          </a:p>
        </p:txBody>
      </p:sp>
    </p:spTree>
    <p:extLst>
      <p:ext uri="{BB962C8B-B14F-4D97-AF65-F5344CB8AC3E}">
        <p14:creationId xmlns:p14="http://schemas.microsoft.com/office/powerpoint/2010/main" val="39479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5B17-9E38-836A-94B9-88C98B54EEB1}"/>
              </a:ext>
            </a:extLst>
          </p:cNvPr>
          <p:cNvSpPr>
            <a:spLocks noGrp="1"/>
          </p:cNvSpPr>
          <p:nvPr>
            <p:ph type="title"/>
          </p:nvPr>
        </p:nvSpPr>
        <p:spPr/>
        <p:txBody>
          <a:bodyPr/>
          <a:lstStyle/>
          <a:p>
            <a:r>
              <a:rPr lang="en-US" dirty="0"/>
              <a:t>Today</a:t>
            </a:r>
          </a:p>
        </p:txBody>
      </p:sp>
      <p:sp>
        <p:nvSpPr>
          <p:cNvPr id="3" name="Content Placeholder 2">
            <a:extLst>
              <a:ext uri="{FF2B5EF4-FFF2-40B4-BE49-F238E27FC236}">
                <a16:creationId xmlns:a16="http://schemas.microsoft.com/office/drawing/2014/main" id="{4348C2DB-8580-C3E3-BCC7-F68D704A360D}"/>
              </a:ext>
            </a:extLst>
          </p:cNvPr>
          <p:cNvSpPr>
            <a:spLocks noGrp="1"/>
          </p:cNvSpPr>
          <p:nvPr>
            <p:ph idx="1"/>
          </p:nvPr>
        </p:nvSpPr>
        <p:spPr>
          <a:xfrm>
            <a:off x="838200" y="1825625"/>
            <a:ext cx="6506183" cy="4667250"/>
          </a:xfrm>
        </p:spPr>
        <p:txBody>
          <a:bodyPr/>
          <a:lstStyle/>
          <a:p>
            <a:r>
              <a:rPr lang="en-US" dirty="0"/>
              <a:t>Course content</a:t>
            </a:r>
          </a:p>
          <a:p>
            <a:r>
              <a:rPr lang="en-US" dirty="0"/>
              <a:t>Course policies</a:t>
            </a:r>
          </a:p>
          <a:p>
            <a:r>
              <a:rPr lang="en-US" dirty="0"/>
              <a:t>Two traditions of dating app studies</a:t>
            </a:r>
          </a:p>
          <a:p>
            <a:r>
              <a:rPr lang="en-US" i="1" dirty="0"/>
              <a:t>Swiped: Hooking Up in the Digital Age </a:t>
            </a:r>
            <a:r>
              <a:rPr lang="en-US" dirty="0"/>
              <a:t>(HBO, 1 </a:t>
            </a:r>
            <a:r>
              <a:rPr lang="en-US" dirty="0" err="1"/>
              <a:t>hr</a:t>
            </a:r>
            <a:r>
              <a:rPr lang="en-US" dirty="0"/>
              <a:t> 28 mins)</a:t>
            </a:r>
            <a:endParaRPr lang="en-US" i="1" dirty="0"/>
          </a:p>
        </p:txBody>
      </p:sp>
      <p:grpSp>
        <p:nvGrpSpPr>
          <p:cNvPr id="7" name="Group 6">
            <a:extLst>
              <a:ext uri="{FF2B5EF4-FFF2-40B4-BE49-F238E27FC236}">
                <a16:creationId xmlns:a16="http://schemas.microsoft.com/office/drawing/2014/main" id="{AC6B7565-6EB9-2924-7C0E-64FD8B675473}"/>
              </a:ext>
            </a:extLst>
          </p:cNvPr>
          <p:cNvGrpSpPr/>
          <p:nvPr/>
        </p:nvGrpSpPr>
        <p:grpSpPr>
          <a:xfrm>
            <a:off x="9437190" y="2576016"/>
            <a:ext cx="2458134" cy="2923016"/>
            <a:chOff x="9437190" y="2576016"/>
            <a:chExt cx="2458134" cy="2923016"/>
          </a:xfrm>
        </p:grpSpPr>
        <p:sp>
          <p:nvSpPr>
            <p:cNvPr id="6" name="TextBox 5">
              <a:extLst>
                <a:ext uri="{FF2B5EF4-FFF2-40B4-BE49-F238E27FC236}">
                  <a16:creationId xmlns:a16="http://schemas.microsoft.com/office/drawing/2014/main" id="{B60A4BD3-1BB8-A2D6-275B-76B8812FC68B}"/>
                </a:ext>
              </a:extLst>
            </p:cNvPr>
            <p:cNvSpPr txBox="1"/>
            <p:nvPr/>
          </p:nvSpPr>
          <p:spPr>
            <a:xfrm>
              <a:off x="9437190" y="2576016"/>
              <a:ext cx="2458134" cy="424732"/>
            </a:xfrm>
            <a:prstGeom prst="rect">
              <a:avLst/>
            </a:prstGeom>
            <a:solidFill>
              <a:srgbClr val="FFA000"/>
            </a:solidFill>
            <a:ln>
              <a:solidFill>
                <a:srgbClr val="D48700"/>
              </a:solidFill>
            </a:ln>
          </p:spPr>
          <p:txBody>
            <a:bodyPr wrap="square" rtlCol="0">
              <a:spAutoFit/>
            </a:bodyPr>
            <a:lstStyle/>
            <a:p>
              <a:pPr algn="ctr">
                <a:lnSpc>
                  <a:spcPct val="90000"/>
                </a:lnSpc>
                <a:spcBef>
                  <a:spcPts val="1000"/>
                </a:spcBef>
              </a:pPr>
              <a:r>
                <a:rPr lang="en-US" sz="2400" dirty="0"/>
                <a:t>Course Outline</a:t>
              </a:r>
            </a:p>
          </p:txBody>
        </p:sp>
        <p:pic>
          <p:nvPicPr>
            <p:cNvPr id="5" name="Picture 4">
              <a:extLst>
                <a:ext uri="{FF2B5EF4-FFF2-40B4-BE49-F238E27FC236}">
                  <a16:creationId xmlns:a16="http://schemas.microsoft.com/office/drawing/2014/main" id="{A2E69327-1C7A-7223-C055-77A359D44314}"/>
                </a:ext>
              </a:extLst>
            </p:cNvPr>
            <p:cNvPicPr>
              <a:picLocks noChangeAspect="1"/>
            </p:cNvPicPr>
            <p:nvPr/>
          </p:nvPicPr>
          <p:blipFill>
            <a:blip r:embed="rId2"/>
            <a:stretch>
              <a:fillRect/>
            </a:stretch>
          </p:blipFill>
          <p:spPr>
            <a:xfrm>
              <a:off x="9437190" y="3035324"/>
              <a:ext cx="2458134" cy="2463708"/>
            </a:xfrm>
            <a:prstGeom prst="rect">
              <a:avLst/>
            </a:prstGeom>
          </p:spPr>
        </p:pic>
      </p:grpSp>
    </p:spTree>
    <p:extLst>
      <p:ext uri="{BB962C8B-B14F-4D97-AF65-F5344CB8AC3E}">
        <p14:creationId xmlns:p14="http://schemas.microsoft.com/office/powerpoint/2010/main" val="3583965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71AFD25-AA7A-452D-F9CD-0D3F48BEE480}"/>
              </a:ext>
            </a:extLst>
          </p:cNvPr>
          <p:cNvPicPr>
            <a:picLocks noChangeAspect="1"/>
          </p:cNvPicPr>
          <p:nvPr/>
        </p:nvPicPr>
        <p:blipFill>
          <a:blip r:embed="rId2"/>
          <a:stretch>
            <a:fillRect/>
          </a:stretch>
        </p:blipFill>
        <p:spPr>
          <a:xfrm>
            <a:off x="599308" y="928338"/>
            <a:ext cx="10668095" cy="4853337"/>
          </a:xfrm>
          <a:prstGeom prst="rect">
            <a:avLst/>
          </a:prstGeom>
        </p:spPr>
      </p:pic>
    </p:spTree>
    <p:extLst>
      <p:ext uri="{BB962C8B-B14F-4D97-AF65-F5344CB8AC3E}">
        <p14:creationId xmlns:p14="http://schemas.microsoft.com/office/powerpoint/2010/main" val="2059670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843AF-95FF-4F7E-AB88-B9DFEFF6D8FF}"/>
              </a:ext>
            </a:extLst>
          </p:cNvPr>
          <p:cNvSpPr>
            <a:spLocks noGrp="1"/>
          </p:cNvSpPr>
          <p:nvPr>
            <p:ph type="title"/>
          </p:nvPr>
        </p:nvSpPr>
        <p:spPr>
          <a:xfrm>
            <a:off x="413495" y="2389093"/>
            <a:ext cx="3136528" cy="2079811"/>
          </a:xfrm>
        </p:spPr>
        <p:txBody>
          <a:bodyPr>
            <a:normAutofit/>
          </a:bodyPr>
          <a:lstStyle/>
          <a:p>
            <a:r>
              <a:rPr lang="en-US" sz="4000" dirty="0"/>
              <a:t>Themes covered</a:t>
            </a:r>
          </a:p>
        </p:txBody>
      </p:sp>
      <p:sp>
        <p:nvSpPr>
          <p:cNvPr id="3" name="Content Placeholder 2">
            <a:extLst>
              <a:ext uri="{FF2B5EF4-FFF2-40B4-BE49-F238E27FC236}">
                <a16:creationId xmlns:a16="http://schemas.microsoft.com/office/drawing/2014/main" id="{6EB6D625-17F7-4DEA-90AD-8C47C4E4D3E4}"/>
              </a:ext>
            </a:extLst>
          </p:cNvPr>
          <p:cNvSpPr>
            <a:spLocks noGrp="1"/>
          </p:cNvSpPr>
          <p:nvPr>
            <p:ph idx="1"/>
          </p:nvPr>
        </p:nvSpPr>
        <p:spPr>
          <a:xfrm>
            <a:off x="2674311" y="493873"/>
            <a:ext cx="6586067" cy="6364127"/>
          </a:xfrm>
        </p:spPr>
        <p:txBody>
          <a:bodyPr>
            <a:normAutofit/>
          </a:bodyPr>
          <a:lstStyle/>
          <a:p>
            <a:pPr marL="0" indent="0">
              <a:buNone/>
            </a:pPr>
            <a:r>
              <a:rPr lang="en-HK" sz="1800" b="1" dirty="0">
                <a:solidFill>
                  <a:schemeClr val="accent4"/>
                </a:solidFill>
              </a:rPr>
              <a:t>Online</a:t>
            </a:r>
            <a:r>
              <a:rPr lang="en-US" sz="1800" b="1" dirty="0">
                <a:solidFill>
                  <a:schemeClr val="accent4"/>
                </a:solidFill>
              </a:rPr>
              <a:t> Fundamental</a:t>
            </a:r>
          </a:p>
          <a:p>
            <a:pPr marL="0" indent="0">
              <a:buNone/>
            </a:pPr>
            <a:r>
              <a:rPr lang="en-HK" sz="1800" dirty="0"/>
              <a:t>Meeting 2 | Getting it on line: How special is computer-mediated communication?</a:t>
            </a:r>
          </a:p>
          <a:p>
            <a:pPr marL="0" indent="0">
              <a:buNone/>
            </a:pPr>
            <a:r>
              <a:rPr lang="en-HK" sz="1800" b="1" dirty="0">
                <a:solidFill>
                  <a:schemeClr val="accent4"/>
                </a:solidFill>
              </a:rPr>
              <a:t>Interpersonal communication processes</a:t>
            </a:r>
          </a:p>
          <a:p>
            <a:pPr marL="0" indent="0">
              <a:buNone/>
            </a:pPr>
            <a:r>
              <a:rPr lang="en-HK" sz="1800" dirty="0"/>
              <a:t>Meeting 3 | “Still up?” Communicating about yourself and your desire</a:t>
            </a:r>
          </a:p>
          <a:p>
            <a:pPr marL="0" indent="0">
              <a:buNone/>
            </a:pPr>
            <a:r>
              <a:rPr lang="en-HK" sz="1800" dirty="0"/>
              <a:t>Meeting 4 | “What are you looking for, really?” Managing uncertainty online</a:t>
            </a:r>
          </a:p>
          <a:p>
            <a:pPr marL="0" indent="0">
              <a:buNone/>
            </a:pPr>
            <a:r>
              <a:rPr lang="en-HK" sz="1800" b="1" dirty="0">
                <a:solidFill>
                  <a:schemeClr val="accent4"/>
                </a:solidFill>
              </a:rPr>
              <a:t>Psychology of app design</a:t>
            </a:r>
          </a:p>
          <a:p>
            <a:pPr marL="0" indent="0">
              <a:buNone/>
            </a:pPr>
            <a:r>
              <a:rPr lang="en-HK" sz="1800" dirty="0"/>
              <a:t>Meeting 6 | Swiping versus screening: Design of dating apps</a:t>
            </a:r>
          </a:p>
          <a:p>
            <a:pPr marL="0" indent="0">
              <a:buFont typeface="Arial" panose="020B0604020202020204" pitchFamily="34" charset="0"/>
              <a:buNone/>
            </a:pPr>
            <a:r>
              <a:rPr lang="en-HK" sz="1800" b="1" dirty="0">
                <a:solidFill>
                  <a:schemeClr val="accent4"/>
                </a:solidFill>
              </a:rPr>
              <a:t>Cultural politics of dating apps</a:t>
            </a:r>
          </a:p>
          <a:p>
            <a:pPr marL="0" indent="0">
              <a:buFont typeface="Arial" panose="020B0604020202020204" pitchFamily="34" charset="0"/>
              <a:buNone/>
            </a:pPr>
            <a:r>
              <a:rPr lang="en-HK" sz="1800" dirty="0"/>
              <a:t>Meeting 7 | Can dating apps be a feminist tool?</a:t>
            </a:r>
          </a:p>
          <a:p>
            <a:pPr marL="0" indent="0">
              <a:buFont typeface="Arial" panose="020B0604020202020204" pitchFamily="34" charset="0"/>
              <a:buNone/>
            </a:pPr>
            <a:r>
              <a:rPr lang="en-HK" sz="1800" dirty="0"/>
              <a:t>Meeting 9 | No Asians, no femmes: Discrimination in online dating</a:t>
            </a:r>
          </a:p>
          <a:p>
            <a:pPr marL="0" indent="0">
              <a:buFont typeface="Arial" panose="020B0604020202020204" pitchFamily="34" charset="0"/>
              <a:buNone/>
            </a:pPr>
            <a:r>
              <a:rPr lang="en-HK" sz="1800" dirty="0"/>
              <a:t>Meeting 10 | Do we still need apps? On queer world-building</a:t>
            </a:r>
          </a:p>
          <a:p>
            <a:pPr marL="0" indent="0">
              <a:buNone/>
            </a:pPr>
            <a:r>
              <a:rPr lang="en-HK" sz="1800" b="1" dirty="0">
                <a:solidFill>
                  <a:schemeClr val="accent4"/>
                </a:solidFill>
              </a:rPr>
              <a:t>Integration</a:t>
            </a:r>
          </a:p>
          <a:p>
            <a:pPr marL="0" indent="0">
              <a:buNone/>
            </a:pPr>
            <a:r>
              <a:rPr lang="en-HK" sz="1800" dirty="0"/>
              <a:t>Meeting 12 | There’s always a darker side</a:t>
            </a:r>
          </a:p>
          <a:p>
            <a:pPr marL="0" indent="0">
              <a:buNone/>
            </a:pPr>
            <a:r>
              <a:rPr lang="en-HK" sz="1800" dirty="0"/>
              <a:t>Meeting 13 | Toward a new intimacy?</a:t>
            </a:r>
          </a:p>
          <a:p>
            <a:pPr marL="0" indent="0">
              <a:buFont typeface="Arial" panose="020B0604020202020204" pitchFamily="34" charset="0"/>
              <a:buNone/>
            </a:pPr>
            <a:endParaRPr lang="en-HK" sz="1800" dirty="0"/>
          </a:p>
          <a:p>
            <a:endParaRPr lang="en-US" sz="1800" dirty="0"/>
          </a:p>
        </p:txBody>
      </p:sp>
      <p:grpSp>
        <p:nvGrpSpPr>
          <p:cNvPr id="5" name="Group 4">
            <a:extLst>
              <a:ext uri="{FF2B5EF4-FFF2-40B4-BE49-F238E27FC236}">
                <a16:creationId xmlns:a16="http://schemas.microsoft.com/office/drawing/2014/main" id="{B3994225-42E9-0D48-2E15-B88B1DCCAFBD}"/>
              </a:ext>
            </a:extLst>
          </p:cNvPr>
          <p:cNvGrpSpPr/>
          <p:nvPr/>
        </p:nvGrpSpPr>
        <p:grpSpPr>
          <a:xfrm>
            <a:off x="9437190" y="2576016"/>
            <a:ext cx="2458134" cy="2923016"/>
            <a:chOff x="9437190" y="2576016"/>
            <a:chExt cx="2458134" cy="2923016"/>
          </a:xfrm>
        </p:grpSpPr>
        <p:sp>
          <p:nvSpPr>
            <p:cNvPr id="6" name="TextBox 5">
              <a:extLst>
                <a:ext uri="{FF2B5EF4-FFF2-40B4-BE49-F238E27FC236}">
                  <a16:creationId xmlns:a16="http://schemas.microsoft.com/office/drawing/2014/main" id="{60F3E772-5BEC-E42E-D4D8-6AF1E3F5B22A}"/>
                </a:ext>
              </a:extLst>
            </p:cNvPr>
            <p:cNvSpPr txBox="1"/>
            <p:nvPr/>
          </p:nvSpPr>
          <p:spPr>
            <a:xfrm>
              <a:off x="9437190" y="2576016"/>
              <a:ext cx="2458134" cy="424732"/>
            </a:xfrm>
            <a:prstGeom prst="rect">
              <a:avLst/>
            </a:prstGeom>
            <a:solidFill>
              <a:srgbClr val="FFA000"/>
            </a:solidFill>
            <a:ln>
              <a:solidFill>
                <a:srgbClr val="D48700"/>
              </a:solidFill>
            </a:ln>
          </p:spPr>
          <p:txBody>
            <a:bodyPr wrap="square" rtlCol="0">
              <a:spAutoFit/>
            </a:bodyPr>
            <a:lstStyle/>
            <a:p>
              <a:pPr algn="ctr">
                <a:lnSpc>
                  <a:spcPct val="90000"/>
                </a:lnSpc>
                <a:spcBef>
                  <a:spcPts val="1000"/>
                </a:spcBef>
              </a:pPr>
              <a:r>
                <a:rPr lang="en-US" sz="2400" dirty="0"/>
                <a:t>Course Outline</a:t>
              </a:r>
            </a:p>
          </p:txBody>
        </p:sp>
        <p:pic>
          <p:nvPicPr>
            <p:cNvPr id="7" name="Picture 6">
              <a:extLst>
                <a:ext uri="{FF2B5EF4-FFF2-40B4-BE49-F238E27FC236}">
                  <a16:creationId xmlns:a16="http://schemas.microsoft.com/office/drawing/2014/main" id="{C82E8319-7262-BC22-4A4F-959BC2D5092B}"/>
                </a:ext>
              </a:extLst>
            </p:cNvPr>
            <p:cNvPicPr>
              <a:picLocks noChangeAspect="1"/>
            </p:cNvPicPr>
            <p:nvPr/>
          </p:nvPicPr>
          <p:blipFill>
            <a:blip r:embed="rId3"/>
            <a:stretch>
              <a:fillRect/>
            </a:stretch>
          </p:blipFill>
          <p:spPr>
            <a:xfrm>
              <a:off x="9437190" y="3035324"/>
              <a:ext cx="2458134" cy="2463708"/>
            </a:xfrm>
            <a:prstGeom prst="rect">
              <a:avLst/>
            </a:prstGeom>
          </p:spPr>
        </p:pic>
      </p:grpSp>
    </p:spTree>
    <p:extLst>
      <p:ext uri="{BB962C8B-B14F-4D97-AF65-F5344CB8AC3E}">
        <p14:creationId xmlns:p14="http://schemas.microsoft.com/office/powerpoint/2010/main" val="2364716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570F4-9BEB-400A-8DFB-877D88376FCE}"/>
              </a:ext>
            </a:extLst>
          </p:cNvPr>
          <p:cNvSpPr>
            <a:spLocks noGrp="1"/>
          </p:cNvSpPr>
          <p:nvPr>
            <p:ph type="title"/>
          </p:nvPr>
        </p:nvSpPr>
        <p:spPr/>
        <p:txBody>
          <a:bodyPr/>
          <a:lstStyle/>
          <a:p>
            <a:r>
              <a:rPr lang="en-US" dirty="0"/>
              <a:t>Learning outcomes</a:t>
            </a:r>
          </a:p>
        </p:txBody>
      </p:sp>
      <p:sp>
        <p:nvSpPr>
          <p:cNvPr id="3" name="Content Placeholder 2">
            <a:extLst>
              <a:ext uri="{FF2B5EF4-FFF2-40B4-BE49-F238E27FC236}">
                <a16:creationId xmlns:a16="http://schemas.microsoft.com/office/drawing/2014/main" id="{D86E91B5-03C3-4F8E-8083-605D0390A241}"/>
              </a:ext>
            </a:extLst>
          </p:cNvPr>
          <p:cNvSpPr>
            <a:spLocks noGrp="1"/>
          </p:cNvSpPr>
          <p:nvPr>
            <p:ph idx="1"/>
          </p:nvPr>
        </p:nvSpPr>
        <p:spPr>
          <a:xfrm>
            <a:off x="838200" y="1825625"/>
            <a:ext cx="7556770" cy="4351338"/>
          </a:xfrm>
        </p:spPr>
        <p:txBody>
          <a:bodyPr>
            <a:normAutofit/>
          </a:bodyPr>
          <a:lstStyle/>
          <a:p>
            <a:pPr marL="0" indent="0">
              <a:buNone/>
            </a:pPr>
            <a:r>
              <a:rPr lang="en-US" sz="2400" dirty="0"/>
              <a:t>1. Understand the essential elements of relationship development in a digital context;</a:t>
            </a:r>
          </a:p>
          <a:p>
            <a:pPr marL="0" indent="0">
              <a:buNone/>
            </a:pPr>
            <a:r>
              <a:rPr lang="en-US" sz="2400" dirty="0"/>
              <a:t>2. Articulate and explain various theories and concepts related to dating app designs;</a:t>
            </a:r>
          </a:p>
          <a:p>
            <a:pPr marL="0" indent="0">
              <a:buNone/>
            </a:pPr>
            <a:r>
              <a:rPr lang="en-US" sz="2400" dirty="0"/>
              <a:t>3. Identify the opportunities and challenges that dating and hookup apps present to different groups of users; and</a:t>
            </a:r>
          </a:p>
          <a:p>
            <a:pPr marL="0" indent="0">
              <a:buNone/>
            </a:pPr>
            <a:r>
              <a:rPr lang="en-US" sz="2400" dirty="0"/>
              <a:t>4. Take up a responsible mindset when using online dating platforms.</a:t>
            </a:r>
            <a:endParaRPr lang="en-US" sz="2000" dirty="0"/>
          </a:p>
        </p:txBody>
      </p:sp>
      <p:grpSp>
        <p:nvGrpSpPr>
          <p:cNvPr id="4" name="Group 3">
            <a:extLst>
              <a:ext uri="{FF2B5EF4-FFF2-40B4-BE49-F238E27FC236}">
                <a16:creationId xmlns:a16="http://schemas.microsoft.com/office/drawing/2014/main" id="{9F441F56-055D-5FDE-FD81-52E8571604B9}"/>
              </a:ext>
            </a:extLst>
          </p:cNvPr>
          <p:cNvGrpSpPr/>
          <p:nvPr/>
        </p:nvGrpSpPr>
        <p:grpSpPr>
          <a:xfrm>
            <a:off x="9437190" y="2576016"/>
            <a:ext cx="2458134" cy="2923016"/>
            <a:chOff x="9437190" y="2576016"/>
            <a:chExt cx="2458134" cy="2923016"/>
          </a:xfrm>
        </p:grpSpPr>
        <p:sp>
          <p:nvSpPr>
            <p:cNvPr id="5" name="TextBox 4">
              <a:extLst>
                <a:ext uri="{FF2B5EF4-FFF2-40B4-BE49-F238E27FC236}">
                  <a16:creationId xmlns:a16="http://schemas.microsoft.com/office/drawing/2014/main" id="{DFDDEFF5-50F1-5EB8-BB5E-210C8DFCA6C0}"/>
                </a:ext>
              </a:extLst>
            </p:cNvPr>
            <p:cNvSpPr txBox="1"/>
            <p:nvPr/>
          </p:nvSpPr>
          <p:spPr>
            <a:xfrm>
              <a:off x="9437190" y="2576016"/>
              <a:ext cx="2458134" cy="424732"/>
            </a:xfrm>
            <a:prstGeom prst="rect">
              <a:avLst/>
            </a:prstGeom>
            <a:solidFill>
              <a:srgbClr val="FFA000"/>
            </a:solidFill>
            <a:ln>
              <a:solidFill>
                <a:srgbClr val="D48700"/>
              </a:solidFill>
            </a:ln>
          </p:spPr>
          <p:txBody>
            <a:bodyPr wrap="square" rtlCol="0">
              <a:spAutoFit/>
            </a:bodyPr>
            <a:lstStyle/>
            <a:p>
              <a:pPr algn="ctr">
                <a:lnSpc>
                  <a:spcPct val="90000"/>
                </a:lnSpc>
                <a:spcBef>
                  <a:spcPts val="1000"/>
                </a:spcBef>
              </a:pPr>
              <a:r>
                <a:rPr lang="en-US" sz="2400" dirty="0"/>
                <a:t>Course Outline</a:t>
              </a:r>
            </a:p>
          </p:txBody>
        </p:sp>
        <p:pic>
          <p:nvPicPr>
            <p:cNvPr id="6" name="Picture 5">
              <a:extLst>
                <a:ext uri="{FF2B5EF4-FFF2-40B4-BE49-F238E27FC236}">
                  <a16:creationId xmlns:a16="http://schemas.microsoft.com/office/drawing/2014/main" id="{C9DF68EE-23B7-846A-D27E-F0F3EAD20D16}"/>
                </a:ext>
              </a:extLst>
            </p:cNvPr>
            <p:cNvPicPr>
              <a:picLocks noChangeAspect="1"/>
            </p:cNvPicPr>
            <p:nvPr/>
          </p:nvPicPr>
          <p:blipFill>
            <a:blip r:embed="rId2"/>
            <a:stretch>
              <a:fillRect/>
            </a:stretch>
          </p:blipFill>
          <p:spPr>
            <a:xfrm>
              <a:off x="9437190" y="3035324"/>
              <a:ext cx="2458134" cy="2463708"/>
            </a:xfrm>
            <a:prstGeom prst="rect">
              <a:avLst/>
            </a:prstGeom>
          </p:spPr>
        </p:pic>
      </p:grpSp>
    </p:spTree>
    <p:extLst>
      <p:ext uri="{BB962C8B-B14F-4D97-AF65-F5344CB8AC3E}">
        <p14:creationId xmlns:p14="http://schemas.microsoft.com/office/powerpoint/2010/main" val="3849719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7C854-E8A4-4B35-A2EE-E6FCB1B82671}"/>
              </a:ext>
            </a:extLst>
          </p:cNvPr>
          <p:cNvSpPr>
            <a:spLocks noGrp="1"/>
          </p:cNvSpPr>
          <p:nvPr>
            <p:ph type="title"/>
          </p:nvPr>
        </p:nvSpPr>
        <p:spPr/>
        <p:txBody>
          <a:bodyPr>
            <a:normAutofit/>
          </a:bodyPr>
          <a:lstStyle/>
          <a:p>
            <a:r>
              <a:rPr lang="en-US" sz="4000" dirty="0"/>
              <a:t>About me – Prof Sam Chan</a:t>
            </a:r>
          </a:p>
        </p:txBody>
      </p:sp>
      <p:sp>
        <p:nvSpPr>
          <p:cNvPr id="7" name="Content Placeholder 6">
            <a:extLst>
              <a:ext uri="{FF2B5EF4-FFF2-40B4-BE49-F238E27FC236}">
                <a16:creationId xmlns:a16="http://schemas.microsoft.com/office/drawing/2014/main" id="{876038C4-460F-4B90-A73C-8D78B2C227D4}"/>
              </a:ext>
            </a:extLst>
          </p:cNvPr>
          <p:cNvSpPr>
            <a:spLocks noGrp="1"/>
          </p:cNvSpPr>
          <p:nvPr>
            <p:ph idx="1"/>
          </p:nvPr>
        </p:nvSpPr>
        <p:spPr>
          <a:xfrm>
            <a:off x="838201" y="1690688"/>
            <a:ext cx="5745480" cy="4351338"/>
          </a:xfrm>
        </p:spPr>
        <p:txBody>
          <a:bodyPr>
            <a:normAutofit lnSpcReduction="10000"/>
          </a:bodyPr>
          <a:lstStyle/>
          <a:p>
            <a:r>
              <a:rPr lang="en-US" sz="2400" dirty="0"/>
              <a:t>Adjunct Associate Professor, School of Journalism and Communication, The Chinese University of Hong Kong</a:t>
            </a:r>
          </a:p>
          <a:p>
            <a:r>
              <a:rPr lang="en-US" sz="2400" dirty="0"/>
              <a:t>Lecturer in Digital Cultures, Discipline of Media and Communications, University of Sydney</a:t>
            </a:r>
          </a:p>
          <a:p>
            <a:r>
              <a:rPr lang="en-US" sz="2400" dirty="0"/>
              <a:t>PhD in Communication + Graduate Certificate in Gender Studies, University of Southern California</a:t>
            </a:r>
          </a:p>
          <a:p>
            <a:r>
              <a:rPr lang="en-US" sz="2400" dirty="0"/>
              <a:t>20 peer review articles in dating app cultures and 1 book (another book under contract)</a:t>
            </a:r>
          </a:p>
          <a:p>
            <a:endParaRPr lang="en-US" sz="2400" dirty="0"/>
          </a:p>
        </p:txBody>
      </p:sp>
      <p:pic>
        <p:nvPicPr>
          <p:cNvPr id="1026" name="Picture 2" descr="The Politics of Dating Apps by Lik Sam Chan - Penguin Books New Zealand">
            <a:extLst>
              <a:ext uri="{FF2B5EF4-FFF2-40B4-BE49-F238E27FC236}">
                <a16:creationId xmlns:a16="http://schemas.microsoft.com/office/drawing/2014/main" id="{8D20D1BA-8B65-B03B-6800-8B411C180F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9066" y="678501"/>
            <a:ext cx="3503717" cy="5255574"/>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120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82735-3252-EA7E-93CB-6A4AD64C0D0C}"/>
              </a:ext>
            </a:extLst>
          </p:cNvPr>
          <p:cNvSpPr>
            <a:spLocks noGrp="1"/>
          </p:cNvSpPr>
          <p:nvPr>
            <p:ph type="title"/>
          </p:nvPr>
        </p:nvSpPr>
        <p:spPr/>
        <p:txBody>
          <a:bodyPr/>
          <a:lstStyle/>
          <a:p>
            <a:r>
              <a:rPr lang="en-AU" dirty="0"/>
              <a:t>Teaching Assistant</a:t>
            </a:r>
          </a:p>
        </p:txBody>
      </p:sp>
      <p:sp>
        <p:nvSpPr>
          <p:cNvPr id="3" name="Content Placeholder 2">
            <a:extLst>
              <a:ext uri="{FF2B5EF4-FFF2-40B4-BE49-F238E27FC236}">
                <a16:creationId xmlns:a16="http://schemas.microsoft.com/office/drawing/2014/main" id="{A3E80748-C327-2F79-D307-F3E148632C7A}"/>
              </a:ext>
            </a:extLst>
          </p:cNvPr>
          <p:cNvSpPr>
            <a:spLocks noGrp="1"/>
          </p:cNvSpPr>
          <p:nvPr>
            <p:ph idx="1"/>
          </p:nvPr>
        </p:nvSpPr>
        <p:spPr/>
        <p:txBody>
          <a:bodyPr/>
          <a:lstStyle/>
          <a:p>
            <a:r>
              <a:rPr lang="en-AU" dirty="0"/>
              <a:t>Tomi Ng</a:t>
            </a:r>
          </a:p>
          <a:p>
            <a:r>
              <a:rPr lang="en-AU" dirty="0"/>
              <a:t>toming@cuhk.edu.hk</a:t>
            </a:r>
          </a:p>
        </p:txBody>
      </p:sp>
    </p:spTree>
    <p:extLst>
      <p:ext uri="{BB962C8B-B14F-4D97-AF65-F5344CB8AC3E}">
        <p14:creationId xmlns:p14="http://schemas.microsoft.com/office/powerpoint/2010/main" val="4256131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6" name="Rectangle 365">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FF45347-2EF5-4A93-9E2D-344E7C34D4FD}"/>
              </a:ext>
            </a:extLst>
          </p:cNvPr>
          <p:cNvSpPr>
            <a:spLocks noGrp="1"/>
          </p:cNvSpPr>
          <p:nvPr>
            <p:ph type="title"/>
          </p:nvPr>
        </p:nvSpPr>
        <p:spPr>
          <a:xfrm>
            <a:off x="6234865" y="568517"/>
            <a:ext cx="5248221" cy="886379"/>
          </a:xfrm>
        </p:spPr>
        <p:txBody>
          <a:bodyPr>
            <a:normAutofit/>
          </a:bodyPr>
          <a:lstStyle/>
          <a:p>
            <a:r>
              <a:rPr lang="en-US"/>
              <a:t>Style of meetings</a:t>
            </a:r>
          </a:p>
        </p:txBody>
      </p:sp>
      <p:pic>
        <p:nvPicPr>
          <p:cNvPr id="5" name="Picture 4" descr="A room full of people sitting at desks with laptops&#10;&#10;Description automatically generated with low confidence">
            <a:extLst>
              <a:ext uri="{FF2B5EF4-FFF2-40B4-BE49-F238E27FC236}">
                <a16:creationId xmlns:a16="http://schemas.microsoft.com/office/drawing/2014/main" id="{47387004-4AA2-4456-9894-E5E9A49C4062}"/>
              </a:ext>
            </a:extLst>
          </p:cNvPr>
          <p:cNvPicPr>
            <a:picLocks noChangeAspect="1"/>
          </p:cNvPicPr>
          <p:nvPr/>
        </p:nvPicPr>
        <p:blipFill rotWithShape="1">
          <a:blip r:embed="rId3" cstate="email">
            <a:extLst>
              <a:ext uri="{28A0092B-C50C-407E-A947-70E740481C1C}">
                <a14:useLocalDpi xmlns:a14="http://schemas.microsoft.com/office/drawing/2010/main"/>
              </a:ext>
              <a:ext uri="{837473B0-CC2E-450A-ABE3-18F120FF3D39}">
                <a1611:picAttrSrcUrl xmlns:a1611="http://schemas.microsoft.com/office/drawing/2016/11/main" r:id="rId4"/>
              </a:ext>
            </a:extLst>
          </a:blip>
          <a:srcRect l="14424" r="29326"/>
          <a:stretch/>
        </p:blipFill>
        <p:spPr>
          <a:xfrm>
            <a:off x="739959" y="1095407"/>
            <a:ext cx="4754947" cy="4754947"/>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ln w="28575">
            <a:noFill/>
          </a:ln>
        </p:spPr>
      </p:pic>
      <p:grpSp>
        <p:nvGrpSpPr>
          <p:cNvPr id="367" name="Group 366">
            <a:extLst>
              <a:ext uri="{FF2B5EF4-FFF2-40B4-BE49-F238E27FC236}">
                <a16:creationId xmlns:a16="http://schemas.microsoft.com/office/drawing/2014/main" id="{B894EFA8-F425-4D19-A94B-445388B31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solidFill>
        </p:grpSpPr>
        <p:sp>
          <p:nvSpPr>
            <p:cNvPr id="368" name="Freeform: Shape 367">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369" name="Freeform: Shape 368">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370" name="Group 369">
            <a:extLst>
              <a:ext uri="{FF2B5EF4-FFF2-40B4-BE49-F238E27FC236}">
                <a16:creationId xmlns:a16="http://schemas.microsoft.com/office/drawing/2014/main" id="{C28CAB86-AA69-4EF8-A4E2-4E020497D0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alpha val="20000"/>
            </a:schemeClr>
          </a:solidFill>
        </p:grpSpPr>
        <p:sp>
          <p:nvSpPr>
            <p:cNvPr id="17" name="Freeform: Shape 16">
              <a:extLst>
                <a:ext uri="{FF2B5EF4-FFF2-40B4-BE49-F238E27FC236}">
                  <a16:creationId xmlns:a16="http://schemas.microsoft.com/office/drawing/2014/main" id="{29A36BEE-5544-45FB-88F3-9E156F32E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5B49ECF4-1585-4D6B-AB63-D49C92945E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3" name="Content Placeholder 2">
            <a:extLst>
              <a:ext uri="{FF2B5EF4-FFF2-40B4-BE49-F238E27FC236}">
                <a16:creationId xmlns:a16="http://schemas.microsoft.com/office/drawing/2014/main" id="{6AB74A0B-E08F-4058-A7AB-31ED1E8F527B}"/>
              </a:ext>
            </a:extLst>
          </p:cNvPr>
          <p:cNvSpPr>
            <a:spLocks noGrp="1"/>
          </p:cNvSpPr>
          <p:nvPr>
            <p:ph idx="1"/>
          </p:nvPr>
        </p:nvSpPr>
        <p:spPr>
          <a:xfrm>
            <a:off x="6234868" y="1820369"/>
            <a:ext cx="5217173" cy="4351338"/>
          </a:xfrm>
        </p:spPr>
        <p:txBody>
          <a:bodyPr>
            <a:normAutofit/>
          </a:bodyPr>
          <a:lstStyle/>
          <a:p>
            <a:r>
              <a:rPr lang="en-US" sz="2200" dirty="0"/>
              <a:t>2 hours 45 minutes per meeting (with breaks)</a:t>
            </a:r>
          </a:p>
          <a:p>
            <a:r>
              <a:rPr lang="en-US" sz="2200" dirty="0"/>
              <a:t>A mix of lectures, in-class discussions, and workshops (3!)</a:t>
            </a:r>
          </a:p>
          <a:p>
            <a:r>
              <a:rPr lang="en-US" sz="2200" dirty="0">
                <a:sym typeface="Wingdings" panose="05000000000000000000" pitchFamily="2" charset="2"/>
              </a:rPr>
              <a:t>During lectures, feel free to interrupt if you have any doubts or disagreements</a:t>
            </a:r>
            <a:endParaRPr lang="en-US" sz="2200" dirty="0"/>
          </a:p>
          <a:p>
            <a:r>
              <a:rPr lang="en-US" sz="2200" dirty="0"/>
              <a:t>In-class discussions are both planned and ad hoc, </a:t>
            </a:r>
            <a:r>
              <a:rPr lang="en-US" sz="2200" dirty="0">
                <a:sym typeface="Wingdings" panose="05000000000000000000" pitchFamily="2" charset="2"/>
              </a:rPr>
              <a:t>contributing to your participation points</a:t>
            </a:r>
          </a:p>
          <a:p>
            <a:r>
              <a:rPr lang="en-US" sz="2200" dirty="0">
                <a:sym typeface="Wingdings" panose="05000000000000000000" pitchFamily="2" charset="2"/>
              </a:rPr>
              <a:t>Workshops (Meetings 5, 8, 11) are pre-designed activities for engagement and application</a:t>
            </a:r>
          </a:p>
        </p:txBody>
      </p:sp>
      <p:grpSp>
        <p:nvGrpSpPr>
          <p:cNvPr id="371"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372" name="Freeform: Shape 371">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73" name="Freeform: Shape 372">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74" name="Freeform: Shape 373">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grpSp>
        <p:nvGrpSpPr>
          <p:cNvPr id="375" name="Graphic 185">
            <a:extLst>
              <a:ext uri="{FF2B5EF4-FFF2-40B4-BE49-F238E27FC236}">
                <a16:creationId xmlns:a16="http://schemas.microsoft.com/office/drawing/2014/main" id="{617CAA5F-37E3-4DF6-9DD0-68A40D2161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alpha val="20000"/>
            </a:schemeClr>
          </a:solidFill>
        </p:grpSpPr>
        <p:sp>
          <p:nvSpPr>
            <p:cNvPr id="376" name="Freeform: Shape 375">
              <a:extLst>
                <a:ext uri="{FF2B5EF4-FFF2-40B4-BE49-F238E27FC236}">
                  <a16:creationId xmlns:a16="http://schemas.microsoft.com/office/drawing/2014/main" id="{2FCF03A3-80B7-45BC-AA40-A335CC8168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77" name="Freeform: Shape 376">
              <a:extLst>
                <a:ext uri="{FF2B5EF4-FFF2-40B4-BE49-F238E27FC236}">
                  <a16:creationId xmlns:a16="http://schemas.microsoft.com/office/drawing/2014/main" id="{E9D3C77A-275B-4C9E-A407-B09450E564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DC6C5B5B-80BB-41D8-A377-C653EF1B01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DCA5D93A-E913-46A0-9684-20B6B4B8CA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FE6EFE8A-51D2-4AF6-A18C-29A9E5EF5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574467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FF45347-2EF5-4A93-9E2D-344E7C34D4FD}"/>
              </a:ext>
            </a:extLst>
          </p:cNvPr>
          <p:cNvSpPr>
            <a:spLocks noGrp="1"/>
          </p:cNvSpPr>
          <p:nvPr>
            <p:ph type="title"/>
          </p:nvPr>
        </p:nvSpPr>
        <p:spPr>
          <a:xfrm>
            <a:off x="6234865" y="568517"/>
            <a:ext cx="5248221" cy="886379"/>
          </a:xfrm>
        </p:spPr>
        <p:txBody>
          <a:bodyPr>
            <a:normAutofit/>
          </a:bodyPr>
          <a:lstStyle/>
          <a:p>
            <a:r>
              <a:rPr lang="en-US" dirty="0"/>
              <a:t>Safe space </a:t>
            </a:r>
            <a:r>
              <a:rPr lang="en-US" dirty="0">
                <a:sym typeface="Wingdings" panose="05000000000000000000" pitchFamily="2" charset="2"/>
              </a:rPr>
              <a:t> </a:t>
            </a:r>
            <a:endParaRPr lang="en-US" dirty="0"/>
          </a:p>
        </p:txBody>
      </p:sp>
      <p:pic>
        <p:nvPicPr>
          <p:cNvPr id="5" name="Picture 4" descr="A room full of people sitting at desks with laptops&#10;&#10;Description automatically generated with low confidence">
            <a:extLst>
              <a:ext uri="{FF2B5EF4-FFF2-40B4-BE49-F238E27FC236}">
                <a16:creationId xmlns:a16="http://schemas.microsoft.com/office/drawing/2014/main" id="{47387004-4AA2-4456-9894-E5E9A49C4062}"/>
              </a:ext>
            </a:extLst>
          </p:cNvPr>
          <p:cNvPicPr>
            <a:picLocks noChangeAspect="1"/>
          </p:cNvPicPr>
          <p:nvPr/>
        </p:nvPicPr>
        <p:blipFill rotWithShape="1">
          <a:blip r:embed="rId3" cstate="email">
            <a:extLst>
              <a:ext uri="{28A0092B-C50C-407E-A947-70E740481C1C}">
                <a14:useLocalDpi xmlns:a14="http://schemas.microsoft.com/office/drawing/2010/main"/>
              </a:ext>
              <a:ext uri="{837473B0-CC2E-450A-ABE3-18F120FF3D39}">
                <a1611:picAttrSrcUrl xmlns:a1611="http://schemas.microsoft.com/office/drawing/2016/11/main" r:id="rId4"/>
              </a:ext>
            </a:extLst>
          </a:blip>
          <a:srcRect l="14424" r="29326"/>
          <a:stretch/>
        </p:blipFill>
        <p:spPr>
          <a:xfrm>
            <a:off x="739959" y="1095407"/>
            <a:ext cx="4754947" cy="4754947"/>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ln w="28575">
            <a:noFill/>
          </a:ln>
        </p:spPr>
      </p:pic>
      <p:grpSp>
        <p:nvGrpSpPr>
          <p:cNvPr id="12" name="Group 11">
            <a:extLst>
              <a:ext uri="{FF2B5EF4-FFF2-40B4-BE49-F238E27FC236}">
                <a16:creationId xmlns:a16="http://schemas.microsoft.com/office/drawing/2014/main" id="{B894EFA8-F425-4D19-A94B-445388B31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solidFill>
        </p:grpSpPr>
        <p:sp>
          <p:nvSpPr>
            <p:cNvPr id="13" name="Freeform: Shape 12">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4" name="Freeform: Shape 13">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16" name="Group 15">
            <a:extLst>
              <a:ext uri="{FF2B5EF4-FFF2-40B4-BE49-F238E27FC236}">
                <a16:creationId xmlns:a16="http://schemas.microsoft.com/office/drawing/2014/main" id="{C28CAB86-AA69-4EF8-A4E2-4E020497D0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alpha val="20000"/>
            </a:schemeClr>
          </a:solidFill>
        </p:grpSpPr>
        <p:sp>
          <p:nvSpPr>
            <p:cNvPr id="17" name="Freeform: Shape 16">
              <a:extLst>
                <a:ext uri="{FF2B5EF4-FFF2-40B4-BE49-F238E27FC236}">
                  <a16:creationId xmlns:a16="http://schemas.microsoft.com/office/drawing/2014/main" id="{29A36BEE-5544-45FB-88F3-9E156F32E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5B49ECF4-1585-4D6B-AB63-D49C92945E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3" name="Content Placeholder 2">
            <a:extLst>
              <a:ext uri="{FF2B5EF4-FFF2-40B4-BE49-F238E27FC236}">
                <a16:creationId xmlns:a16="http://schemas.microsoft.com/office/drawing/2014/main" id="{6AB74A0B-E08F-4058-A7AB-31ED1E8F527B}"/>
              </a:ext>
            </a:extLst>
          </p:cNvPr>
          <p:cNvSpPr>
            <a:spLocks noGrp="1"/>
          </p:cNvSpPr>
          <p:nvPr>
            <p:ph idx="1"/>
          </p:nvPr>
        </p:nvSpPr>
        <p:spPr>
          <a:xfrm>
            <a:off x="6234868" y="1820369"/>
            <a:ext cx="5217173" cy="4351338"/>
          </a:xfrm>
        </p:spPr>
        <p:txBody>
          <a:bodyPr>
            <a:normAutofit/>
          </a:bodyPr>
          <a:lstStyle/>
          <a:p>
            <a:r>
              <a:rPr lang="en-US">
                <a:sym typeface="Wingdings" panose="05000000000000000000" pitchFamily="2" charset="2"/>
              </a:rPr>
              <a:t>I welcome critical and provocative thoughts with respectful tone</a:t>
            </a:r>
          </a:p>
        </p:txBody>
      </p:sp>
      <p:grpSp>
        <p:nvGrpSpPr>
          <p:cNvPr id="20"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21" name="Freeform: Shape 20">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grpSp>
        <p:nvGrpSpPr>
          <p:cNvPr id="27" name="Graphic 185">
            <a:extLst>
              <a:ext uri="{FF2B5EF4-FFF2-40B4-BE49-F238E27FC236}">
                <a16:creationId xmlns:a16="http://schemas.microsoft.com/office/drawing/2014/main" id="{617CAA5F-37E3-4DF6-9DD0-68A40D2161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alpha val="20000"/>
            </a:schemeClr>
          </a:solidFill>
        </p:grpSpPr>
        <p:sp>
          <p:nvSpPr>
            <p:cNvPr id="28" name="Freeform: Shape 27">
              <a:extLst>
                <a:ext uri="{FF2B5EF4-FFF2-40B4-BE49-F238E27FC236}">
                  <a16:creationId xmlns:a16="http://schemas.microsoft.com/office/drawing/2014/main" id="{2FCF03A3-80B7-45BC-AA40-A335CC8168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E9D3C77A-275B-4C9E-A407-B09450E564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DC6C5B5B-80BB-41D8-A377-C653EF1B01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DCA5D93A-E913-46A0-9684-20B6B4B8CA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FE6EFE8A-51D2-4AF6-A18C-29A9E5EF5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357744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C146-8BBA-D556-608B-4C4837DF693A}"/>
              </a:ext>
            </a:extLst>
          </p:cNvPr>
          <p:cNvSpPr>
            <a:spLocks noGrp="1"/>
          </p:cNvSpPr>
          <p:nvPr>
            <p:ph type="title"/>
          </p:nvPr>
        </p:nvSpPr>
        <p:spPr/>
        <p:txBody>
          <a:bodyPr/>
          <a:lstStyle/>
          <a:p>
            <a:r>
              <a:rPr lang="en-US" dirty="0"/>
              <a:t>Assessments</a:t>
            </a:r>
          </a:p>
        </p:txBody>
      </p:sp>
      <p:sp>
        <p:nvSpPr>
          <p:cNvPr id="3" name="Content Placeholder 2">
            <a:extLst>
              <a:ext uri="{FF2B5EF4-FFF2-40B4-BE49-F238E27FC236}">
                <a16:creationId xmlns:a16="http://schemas.microsoft.com/office/drawing/2014/main" id="{FA88A48E-E849-2771-AF83-894BA0A807B9}"/>
              </a:ext>
            </a:extLst>
          </p:cNvPr>
          <p:cNvSpPr>
            <a:spLocks noGrp="1"/>
          </p:cNvSpPr>
          <p:nvPr>
            <p:ph idx="1"/>
          </p:nvPr>
        </p:nvSpPr>
        <p:spPr/>
        <p:txBody>
          <a:bodyPr/>
          <a:lstStyle/>
          <a:p>
            <a:pPr>
              <a:tabLst>
                <a:tab pos="8001000" algn="l"/>
              </a:tabLst>
            </a:pPr>
            <a:r>
              <a:rPr lang="en-US" dirty="0"/>
              <a:t>Pre-class questions (individual)	15 points</a:t>
            </a:r>
          </a:p>
          <a:p>
            <a:pPr>
              <a:tabLst>
                <a:tab pos="8001000" algn="l"/>
              </a:tabLst>
            </a:pPr>
            <a:r>
              <a:rPr lang="en-US" dirty="0"/>
              <a:t>Workshops (group + individual)	60 points</a:t>
            </a:r>
          </a:p>
          <a:p>
            <a:pPr>
              <a:tabLst>
                <a:tab pos="8001000" algn="l"/>
              </a:tabLst>
            </a:pPr>
            <a:r>
              <a:rPr lang="en-US" dirty="0"/>
              <a:t>App pitch (individual)	25 points</a:t>
            </a:r>
          </a:p>
        </p:txBody>
      </p:sp>
    </p:spTree>
    <p:extLst>
      <p:ext uri="{BB962C8B-B14F-4D97-AF65-F5344CB8AC3E}">
        <p14:creationId xmlns:p14="http://schemas.microsoft.com/office/powerpoint/2010/main" val="281583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1E703-B89B-CE09-3E5C-55655B5D3982}"/>
              </a:ext>
            </a:extLst>
          </p:cNvPr>
          <p:cNvSpPr>
            <a:spLocks noGrp="1"/>
          </p:cNvSpPr>
          <p:nvPr>
            <p:ph type="title"/>
          </p:nvPr>
        </p:nvSpPr>
        <p:spPr/>
        <p:txBody>
          <a:bodyPr/>
          <a:lstStyle/>
          <a:p>
            <a:r>
              <a:rPr lang="en-AU" dirty="0"/>
              <a:t>Pre-class questions (3 points </a:t>
            </a:r>
            <a:r>
              <a:rPr lang="en-US" dirty="0">
                <a:solidFill>
                  <a:srgbClr val="FFFFFF"/>
                </a:solidFill>
              </a:rPr>
              <a:t>×</a:t>
            </a:r>
            <a:r>
              <a:rPr lang="en-AU" dirty="0"/>
              <a:t> 5) </a:t>
            </a:r>
          </a:p>
        </p:txBody>
      </p:sp>
      <p:sp>
        <p:nvSpPr>
          <p:cNvPr id="3" name="Content Placeholder 2">
            <a:extLst>
              <a:ext uri="{FF2B5EF4-FFF2-40B4-BE49-F238E27FC236}">
                <a16:creationId xmlns:a16="http://schemas.microsoft.com/office/drawing/2014/main" id="{00CA6062-F68C-DE04-DA84-B5F2AE36C9AE}"/>
              </a:ext>
            </a:extLst>
          </p:cNvPr>
          <p:cNvSpPr>
            <a:spLocks noGrp="1"/>
          </p:cNvSpPr>
          <p:nvPr>
            <p:ph idx="1"/>
          </p:nvPr>
        </p:nvSpPr>
        <p:spPr>
          <a:xfrm>
            <a:off x="838200" y="1825624"/>
            <a:ext cx="6487274" cy="4806303"/>
          </a:xfrm>
        </p:spPr>
        <p:txBody>
          <a:bodyPr>
            <a:normAutofit lnSpcReduction="10000"/>
          </a:bodyPr>
          <a:lstStyle/>
          <a:p>
            <a:r>
              <a:rPr lang="en-US" dirty="0"/>
              <a:t>Pick any five classes, post a question regarding the required reading (marked with *) 9 pm the day before our class. </a:t>
            </a:r>
          </a:p>
          <a:p>
            <a:r>
              <a:rPr lang="en-US" dirty="0"/>
              <a:t>How to get full points? Your questions aim at generating in-class discussion. A great question is one that relates the readings to your observation, everyday life, or experiences (or your friend’s experiences). Definitional questions are seldom inspiring. </a:t>
            </a:r>
          </a:p>
          <a:p>
            <a:r>
              <a:rPr lang="en-US" dirty="0"/>
              <a:t>I do not accept late submission. Submit via Blackboard’s Discussions.</a:t>
            </a:r>
            <a:endParaRPr lang="en-AU" dirty="0"/>
          </a:p>
        </p:txBody>
      </p:sp>
      <p:pic>
        <p:nvPicPr>
          <p:cNvPr id="5" name="Picture 4">
            <a:extLst>
              <a:ext uri="{FF2B5EF4-FFF2-40B4-BE49-F238E27FC236}">
                <a16:creationId xmlns:a16="http://schemas.microsoft.com/office/drawing/2014/main" id="{0C1CFB4F-8851-59ED-BD5F-F173AC195D03}"/>
              </a:ext>
            </a:extLst>
          </p:cNvPr>
          <p:cNvPicPr>
            <a:picLocks noChangeAspect="1"/>
          </p:cNvPicPr>
          <p:nvPr/>
        </p:nvPicPr>
        <p:blipFill>
          <a:blip r:embed="rId2"/>
          <a:stretch>
            <a:fillRect/>
          </a:stretch>
        </p:blipFill>
        <p:spPr>
          <a:xfrm>
            <a:off x="7452610" y="2619909"/>
            <a:ext cx="4597965" cy="2542814"/>
          </a:xfrm>
          <a:prstGeom prst="rect">
            <a:avLst/>
          </a:prstGeom>
        </p:spPr>
      </p:pic>
      <p:sp>
        <p:nvSpPr>
          <p:cNvPr id="6" name="Oval 5">
            <a:extLst>
              <a:ext uri="{FF2B5EF4-FFF2-40B4-BE49-F238E27FC236}">
                <a16:creationId xmlns:a16="http://schemas.microsoft.com/office/drawing/2014/main" id="{716FCE88-33F7-5EE2-C3B8-F8CF6FB8BE1A}"/>
              </a:ext>
            </a:extLst>
          </p:cNvPr>
          <p:cNvSpPr/>
          <p:nvPr/>
        </p:nvSpPr>
        <p:spPr>
          <a:xfrm>
            <a:off x="9061807" y="2815119"/>
            <a:ext cx="698642" cy="400692"/>
          </a:xfrm>
          <a:prstGeom prst="ellipse">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660383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00E5C-9F2B-0EB6-0E1B-59FD34838DB9}"/>
              </a:ext>
            </a:extLst>
          </p:cNvPr>
          <p:cNvSpPr>
            <a:spLocks noGrp="1"/>
          </p:cNvSpPr>
          <p:nvPr>
            <p:ph type="title"/>
          </p:nvPr>
        </p:nvSpPr>
        <p:spPr/>
        <p:txBody>
          <a:bodyPr/>
          <a:lstStyle/>
          <a:p>
            <a:r>
              <a:rPr lang="en-AU" dirty="0"/>
              <a:t>Workshops (20 points </a:t>
            </a:r>
            <a:r>
              <a:rPr lang="en-US" dirty="0">
                <a:solidFill>
                  <a:srgbClr val="FFFFFF"/>
                </a:solidFill>
              </a:rPr>
              <a:t>× 3)</a:t>
            </a:r>
            <a:endParaRPr lang="en-AU" dirty="0"/>
          </a:p>
        </p:txBody>
      </p:sp>
      <p:sp>
        <p:nvSpPr>
          <p:cNvPr id="3" name="Content Placeholder 2">
            <a:extLst>
              <a:ext uri="{FF2B5EF4-FFF2-40B4-BE49-F238E27FC236}">
                <a16:creationId xmlns:a16="http://schemas.microsoft.com/office/drawing/2014/main" id="{A1342F19-E26B-21DE-0982-BD4BCA929266}"/>
              </a:ext>
            </a:extLst>
          </p:cNvPr>
          <p:cNvSpPr>
            <a:spLocks noGrp="1"/>
          </p:cNvSpPr>
          <p:nvPr>
            <p:ph idx="1"/>
          </p:nvPr>
        </p:nvSpPr>
        <p:spPr>
          <a:xfrm>
            <a:off x="838200" y="1825624"/>
            <a:ext cx="10515600" cy="4575175"/>
          </a:xfrm>
        </p:spPr>
        <p:txBody>
          <a:bodyPr>
            <a:noAutofit/>
          </a:bodyPr>
          <a:lstStyle/>
          <a:p>
            <a:pPr>
              <a:tabLst>
                <a:tab pos="8001000" algn="l"/>
              </a:tabLst>
            </a:pPr>
            <a:r>
              <a:rPr lang="en-US" sz="2400" dirty="0"/>
              <a:t>Three workshops are as follows:</a:t>
            </a:r>
          </a:p>
          <a:p>
            <a:pPr lvl="1">
              <a:tabLst>
                <a:tab pos="8001000" algn="l"/>
              </a:tabLst>
            </a:pPr>
            <a:r>
              <a:rPr lang="en-US" dirty="0"/>
              <a:t>Week 5 | Workshop I: “Hi, I am your relationship therapist.”</a:t>
            </a:r>
          </a:p>
          <a:p>
            <a:pPr lvl="1">
              <a:tabLst>
                <a:tab pos="8001000" algn="l"/>
              </a:tabLst>
            </a:pPr>
            <a:r>
              <a:rPr lang="en-US" dirty="0"/>
              <a:t>Week 8 | Workshop II: Best app of the world	</a:t>
            </a:r>
          </a:p>
          <a:p>
            <a:pPr lvl="1">
              <a:tabLst>
                <a:tab pos="8001000" algn="l"/>
              </a:tabLst>
            </a:pPr>
            <a:r>
              <a:rPr lang="en-US" dirty="0"/>
              <a:t>Week 11 | Workshop III: Debate on a surprise topic</a:t>
            </a:r>
          </a:p>
          <a:p>
            <a:pPr marL="228600" lvl="1">
              <a:spcBef>
                <a:spcPts val="1000"/>
              </a:spcBef>
              <a:tabLst>
                <a:tab pos="8001000" algn="l"/>
              </a:tabLst>
            </a:pPr>
            <a:r>
              <a:rPr lang="en-US" dirty="0"/>
              <a:t>Your grade comes from workshop output (15 points) and your participation in discussion regarding other groups’ outputs (5 points) </a:t>
            </a:r>
          </a:p>
          <a:p>
            <a:pPr marL="228600" lvl="1">
              <a:spcBef>
                <a:spcPts val="1000"/>
              </a:spcBef>
              <a:tabLst>
                <a:tab pos="8001000" algn="l"/>
              </a:tabLst>
            </a:pPr>
            <a:r>
              <a:rPr lang="en-US" dirty="0"/>
              <a:t>How to get full points? Show exceptional understanding and application of concepts and demonstrate originality in your output their work. When it comes to participation, demonstrate exceptional engagement by contributing thoughtfully.</a:t>
            </a:r>
          </a:p>
          <a:p>
            <a:pPr marL="228600" lvl="1">
              <a:spcBef>
                <a:spcPts val="1000"/>
              </a:spcBef>
              <a:tabLst>
                <a:tab pos="8001000" algn="l"/>
              </a:tabLst>
            </a:pPr>
            <a:r>
              <a:rPr lang="en-US" dirty="0"/>
              <a:t>No advanced preparation is expected apart from keeping up with daily reading.</a:t>
            </a:r>
          </a:p>
          <a:p>
            <a:pPr marL="228600" lvl="1">
              <a:spcBef>
                <a:spcPts val="1000"/>
              </a:spcBef>
              <a:tabLst>
                <a:tab pos="8001000" algn="l"/>
              </a:tabLst>
            </a:pPr>
            <a:r>
              <a:rPr lang="en-US" dirty="0"/>
              <a:t>Unless for urgent or medical reasons, I do not provide make-up opportunities.</a:t>
            </a:r>
            <a:endParaRPr lang="en-AU" dirty="0"/>
          </a:p>
        </p:txBody>
      </p:sp>
    </p:spTree>
    <p:extLst>
      <p:ext uri="{BB962C8B-B14F-4D97-AF65-F5344CB8AC3E}">
        <p14:creationId xmlns:p14="http://schemas.microsoft.com/office/powerpoint/2010/main" val="3060693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073D7-34C4-2D7A-B127-5A537AD7EA07}"/>
              </a:ext>
            </a:extLst>
          </p:cNvPr>
          <p:cNvSpPr>
            <a:spLocks noGrp="1"/>
          </p:cNvSpPr>
          <p:nvPr>
            <p:ph type="title"/>
          </p:nvPr>
        </p:nvSpPr>
        <p:spPr/>
        <p:txBody>
          <a:bodyPr/>
          <a:lstStyle/>
          <a:p>
            <a:r>
              <a:rPr lang="en-US" dirty="0"/>
              <a:t>App pitch (25 points)</a:t>
            </a:r>
          </a:p>
        </p:txBody>
      </p:sp>
      <p:sp>
        <p:nvSpPr>
          <p:cNvPr id="3" name="Content Placeholder 2">
            <a:extLst>
              <a:ext uri="{FF2B5EF4-FFF2-40B4-BE49-F238E27FC236}">
                <a16:creationId xmlns:a16="http://schemas.microsoft.com/office/drawing/2014/main" id="{9004B63A-678C-86F8-E6CF-CD2E8B8479B9}"/>
              </a:ext>
            </a:extLst>
          </p:cNvPr>
          <p:cNvSpPr>
            <a:spLocks noGrp="1"/>
          </p:cNvSpPr>
          <p:nvPr>
            <p:ph idx="1"/>
          </p:nvPr>
        </p:nvSpPr>
        <p:spPr>
          <a:xfrm>
            <a:off x="838200" y="1825625"/>
            <a:ext cx="10515600" cy="4782004"/>
          </a:xfrm>
        </p:spPr>
        <p:txBody>
          <a:bodyPr>
            <a:normAutofit fontScale="85000" lnSpcReduction="10000"/>
          </a:bodyPr>
          <a:lstStyle/>
          <a:p>
            <a:r>
              <a:rPr lang="en-US" sz="2600" dirty="0"/>
              <a:t>Design a new app for dating/hookups for one of the following groups:</a:t>
            </a:r>
          </a:p>
          <a:p>
            <a:pPr marL="971550" lvl="1" indent="-514350">
              <a:buFont typeface="+mj-lt"/>
              <a:buAutoNum type="arabicPeriod"/>
            </a:pPr>
            <a:r>
              <a:rPr lang="en-US" sz="2600" dirty="0"/>
              <a:t>Women above 40 years old</a:t>
            </a:r>
          </a:p>
          <a:p>
            <a:pPr marL="971550" lvl="1" indent="-514350">
              <a:buFont typeface="+mj-lt"/>
              <a:buAutoNum type="arabicPeriod"/>
            </a:pPr>
            <a:r>
              <a:rPr lang="en-US" sz="2600" dirty="0"/>
              <a:t>Transgender/gender-non-binary individuals</a:t>
            </a:r>
          </a:p>
          <a:p>
            <a:pPr marL="971550" lvl="1" indent="-514350">
              <a:buFont typeface="+mj-lt"/>
              <a:buAutoNum type="arabicPeriod"/>
            </a:pPr>
            <a:r>
              <a:rPr lang="en-US" sz="2600" dirty="0"/>
              <a:t>Ethnic minorities (any one group) living in Hong Kong/your home country</a:t>
            </a:r>
          </a:p>
          <a:p>
            <a:r>
              <a:rPr lang="en-US" sz="2600" dirty="0"/>
              <a:t>Your task:</a:t>
            </a:r>
          </a:p>
          <a:p>
            <a:pPr lvl="1"/>
            <a:r>
              <a:rPr lang="en-US" sz="2600" dirty="0"/>
              <a:t>Studying the experiences and challenges of a pre-identified group of dating app users through secondary or primary research.</a:t>
            </a:r>
          </a:p>
          <a:p>
            <a:pPr lvl="1"/>
            <a:r>
              <a:rPr lang="en-US" sz="2600" dirty="0"/>
              <a:t>Evaluating existing apps that serve the same group of users.</a:t>
            </a:r>
          </a:p>
          <a:p>
            <a:pPr lvl="1"/>
            <a:r>
              <a:rPr lang="en-US" sz="2600" dirty="0"/>
              <a:t>Suggesting a theoretically driven design of the app (only very basic drawings are expected).</a:t>
            </a:r>
          </a:p>
          <a:p>
            <a:pPr marL="228600" lvl="1">
              <a:lnSpc>
                <a:spcPct val="100000"/>
              </a:lnSpc>
              <a:spcBef>
                <a:spcPts val="1000"/>
              </a:spcBef>
            </a:pPr>
            <a:r>
              <a:rPr lang="en-US" sz="2600" dirty="0"/>
              <a:t>Word count of the proposal should be within 1,100 words (excluding references)</a:t>
            </a:r>
          </a:p>
          <a:p>
            <a:pPr marL="228600" lvl="1">
              <a:lnSpc>
                <a:spcPct val="100000"/>
              </a:lnSpc>
              <a:spcBef>
                <a:spcPts val="1000"/>
              </a:spcBef>
            </a:pPr>
            <a:r>
              <a:rPr lang="en-US" sz="2600" dirty="0"/>
              <a:t>Due: 11:59 pm on July 27 (Monday) via Blackboard (every day of late submission will result in a deduction of 5 points; anything submitted after 11:59 pm on July 31 will receive 0 points)</a:t>
            </a:r>
          </a:p>
          <a:p>
            <a:pPr marL="228600" lvl="1">
              <a:lnSpc>
                <a:spcPct val="100000"/>
              </a:lnSpc>
              <a:spcBef>
                <a:spcPts val="1000"/>
              </a:spcBef>
            </a:pPr>
            <a:endParaRPr lang="en-US" sz="2800" dirty="0"/>
          </a:p>
        </p:txBody>
      </p:sp>
    </p:spTree>
    <p:extLst>
      <p:ext uri="{BB962C8B-B14F-4D97-AF65-F5344CB8AC3E}">
        <p14:creationId xmlns:p14="http://schemas.microsoft.com/office/powerpoint/2010/main" val="2908159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12" name="Freeform: Shape 11">
              <a:extLst>
                <a:ext uri="{FF2B5EF4-FFF2-40B4-BE49-F238E27FC236}">
                  <a16:creationId xmlns:a16="http://schemas.microsoft.com/office/drawing/2014/main" id="{B5E13483-2FB6-4753-8402-06FDC3498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8F0DF22-F640-4002-B783-DF1C6A9473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9C2787B8-7984-4332-B611-D3D3DE898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AF3646C-B3D7-4F57-8FD2-CD93CEB39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65FA7DA-93A0-43A4-834C-0F1BB9806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18" name="Oval 17">
            <a:extLst>
              <a:ext uri="{FF2B5EF4-FFF2-40B4-BE49-F238E27FC236}">
                <a16:creationId xmlns:a16="http://schemas.microsoft.com/office/drawing/2014/main" id="{104332FF-8349-42A5-B5C8-5EE3825CE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useBgFill="1">
        <p:nvSpPr>
          <p:cNvPr id="20" name="Rectangle 19">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A281520-868C-76D6-6A32-3C188CB6F6F0}"/>
              </a:ext>
            </a:extLst>
          </p:cNvPr>
          <p:cNvSpPr>
            <a:spLocks noGrp="1"/>
          </p:cNvSpPr>
          <p:nvPr>
            <p:ph type="title"/>
          </p:nvPr>
        </p:nvSpPr>
        <p:spPr>
          <a:xfrm>
            <a:off x="6234865" y="972835"/>
            <a:ext cx="5248221" cy="886379"/>
          </a:xfrm>
        </p:spPr>
        <p:txBody>
          <a:bodyPr vert="horz" lIns="91440" tIns="45720" rIns="91440" bIns="45720" rtlCol="0" anchor="ctr">
            <a:noAutofit/>
          </a:bodyPr>
          <a:lstStyle/>
          <a:p>
            <a:r>
              <a:rPr lang="en-US" sz="4400" dirty="0"/>
              <a:t>Attendance (Academic Policies)</a:t>
            </a:r>
          </a:p>
        </p:txBody>
      </p:sp>
      <p:pic>
        <p:nvPicPr>
          <p:cNvPr id="6" name="Picture 5">
            <a:extLst>
              <a:ext uri="{FF2B5EF4-FFF2-40B4-BE49-F238E27FC236}">
                <a16:creationId xmlns:a16="http://schemas.microsoft.com/office/drawing/2014/main" id="{E0B64DD7-CB36-8B56-DDB2-31FF258733F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5459" r="17792" b="1"/>
          <a:stretch>
            <a:fillRect/>
          </a:stretch>
        </p:blipFill>
        <p:spPr>
          <a:xfrm>
            <a:off x="739959" y="1095407"/>
            <a:ext cx="4754947" cy="4754947"/>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ln w="28575">
            <a:noFill/>
          </a:ln>
        </p:spPr>
      </p:pic>
      <p:grpSp>
        <p:nvGrpSpPr>
          <p:cNvPr id="22" name="Group 21">
            <a:extLst>
              <a:ext uri="{FF2B5EF4-FFF2-40B4-BE49-F238E27FC236}">
                <a16:creationId xmlns:a16="http://schemas.microsoft.com/office/drawing/2014/main" id="{B894EFA8-F425-4D19-A94B-445388B31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solidFill>
        </p:grpSpPr>
        <p:sp>
          <p:nvSpPr>
            <p:cNvPr id="23" name="Freeform: Shape 22">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24" name="Freeform: Shape 23">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26" name="Group 25">
            <a:extLst>
              <a:ext uri="{FF2B5EF4-FFF2-40B4-BE49-F238E27FC236}">
                <a16:creationId xmlns:a16="http://schemas.microsoft.com/office/drawing/2014/main" id="{C28CAB86-AA69-4EF8-A4E2-4E020497D0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alpha val="20000"/>
            </a:schemeClr>
          </a:solidFill>
        </p:grpSpPr>
        <p:sp>
          <p:nvSpPr>
            <p:cNvPr id="27" name="Freeform: Shape 26">
              <a:extLst>
                <a:ext uri="{FF2B5EF4-FFF2-40B4-BE49-F238E27FC236}">
                  <a16:creationId xmlns:a16="http://schemas.microsoft.com/office/drawing/2014/main" id="{29A36BEE-5544-45FB-88F3-9E156F32E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28" name="Freeform: Shape 27">
              <a:extLst>
                <a:ext uri="{FF2B5EF4-FFF2-40B4-BE49-F238E27FC236}">
                  <a16:creationId xmlns:a16="http://schemas.microsoft.com/office/drawing/2014/main" id="{5B49ECF4-1585-4D6B-AB63-D49C92945E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3" name="Content Placeholder 2">
            <a:extLst>
              <a:ext uri="{FF2B5EF4-FFF2-40B4-BE49-F238E27FC236}">
                <a16:creationId xmlns:a16="http://schemas.microsoft.com/office/drawing/2014/main" id="{472519B8-5F03-5788-6EA1-152AE289E7D0}"/>
              </a:ext>
            </a:extLst>
          </p:cNvPr>
          <p:cNvSpPr>
            <a:spLocks noGrp="1"/>
          </p:cNvSpPr>
          <p:nvPr>
            <p:ph idx="1"/>
          </p:nvPr>
        </p:nvSpPr>
        <p:spPr>
          <a:xfrm>
            <a:off x="6234868" y="2224687"/>
            <a:ext cx="5217173" cy="4351338"/>
          </a:xfrm>
        </p:spPr>
        <p:txBody>
          <a:bodyPr vert="horz" lIns="91440" tIns="45720" rIns="91440" bIns="45720" rtlCol="0">
            <a:normAutofit/>
          </a:bodyPr>
          <a:lstStyle/>
          <a:p>
            <a:r>
              <a:rPr lang="en-US" sz="2800" dirty="0"/>
              <a:t>You are expected to attend all scheduled classes during the International Summer School (ISS) </a:t>
            </a:r>
            <a:r>
              <a:rPr lang="en-US" sz="2800" dirty="0" err="1"/>
              <a:t>programme</a:t>
            </a:r>
            <a:r>
              <a:rPr lang="en-US" sz="2800" dirty="0"/>
              <a:t>. </a:t>
            </a:r>
          </a:p>
          <a:p>
            <a:r>
              <a:rPr lang="en-US" sz="2800" dirty="0"/>
              <a:t>If you are absent for three consecutive classes or more will be automatically withdrawn from the </a:t>
            </a:r>
            <a:r>
              <a:rPr lang="en-US" sz="2800" dirty="0" err="1"/>
              <a:t>programme</a:t>
            </a:r>
            <a:r>
              <a:rPr lang="en-US" sz="2800" dirty="0"/>
              <a:t> and no refund will be granted.</a:t>
            </a:r>
          </a:p>
        </p:txBody>
      </p:sp>
      <p:grpSp>
        <p:nvGrpSpPr>
          <p:cNvPr id="30"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31" name="Freeform: Shape 30">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grpSp>
        <p:nvGrpSpPr>
          <p:cNvPr id="37" name="Graphic 185">
            <a:extLst>
              <a:ext uri="{FF2B5EF4-FFF2-40B4-BE49-F238E27FC236}">
                <a16:creationId xmlns:a16="http://schemas.microsoft.com/office/drawing/2014/main" id="{617CAA5F-37E3-4DF6-9DD0-68A40D2161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alpha val="20000"/>
            </a:schemeClr>
          </a:solidFill>
        </p:grpSpPr>
        <p:sp>
          <p:nvSpPr>
            <p:cNvPr id="38" name="Freeform: Shape 37">
              <a:extLst>
                <a:ext uri="{FF2B5EF4-FFF2-40B4-BE49-F238E27FC236}">
                  <a16:creationId xmlns:a16="http://schemas.microsoft.com/office/drawing/2014/main" id="{2FCF03A3-80B7-45BC-AA40-A335CC8168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9D3C77A-275B-4C9E-A407-B09450E564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DC6C5B5B-80BB-41D8-A377-C653EF1B01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CA5D93A-E913-46A0-9684-20B6B4B8CA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FE6EFE8A-51D2-4AF6-A18C-29A9E5EF5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146380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 name="Rectangle 81">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Freeform: Shape 83">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4" name="Title 3">
            <a:extLst>
              <a:ext uri="{FF2B5EF4-FFF2-40B4-BE49-F238E27FC236}">
                <a16:creationId xmlns:a16="http://schemas.microsoft.com/office/drawing/2014/main" id="{DA8ABB60-539A-670A-0276-B84D8050BF69}"/>
              </a:ext>
            </a:extLst>
          </p:cNvPr>
          <p:cNvSpPr>
            <a:spLocks noGrp="1"/>
          </p:cNvSpPr>
          <p:nvPr>
            <p:ph type="title"/>
          </p:nvPr>
        </p:nvSpPr>
        <p:spPr>
          <a:xfrm>
            <a:off x="2232252" y="633046"/>
            <a:ext cx="4463623" cy="1314996"/>
          </a:xfrm>
        </p:spPr>
        <p:txBody>
          <a:bodyPr anchor="b">
            <a:normAutofit/>
          </a:bodyPr>
          <a:lstStyle/>
          <a:p>
            <a:r>
              <a:rPr lang="en-US" dirty="0"/>
              <a:t>Academic honesty</a:t>
            </a:r>
          </a:p>
        </p:txBody>
      </p:sp>
      <p:sp>
        <p:nvSpPr>
          <p:cNvPr id="86" name="Freeform: Shape 85">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88" name="Freeform: Shape 87">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5" name="Content Placeholder 4">
            <a:extLst>
              <a:ext uri="{FF2B5EF4-FFF2-40B4-BE49-F238E27FC236}">
                <a16:creationId xmlns:a16="http://schemas.microsoft.com/office/drawing/2014/main" id="{0D764FEA-D930-4425-AB5F-12C43CCE540F}"/>
              </a:ext>
            </a:extLst>
          </p:cNvPr>
          <p:cNvSpPr>
            <a:spLocks noGrp="1"/>
          </p:cNvSpPr>
          <p:nvPr>
            <p:ph idx="1"/>
          </p:nvPr>
        </p:nvSpPr>
        <p:spPr>
          <a:xfrm>
            <a:off x="2232253" y="2125737"/>
            <a:ext cx="4239668" cy="4044463"/>
          </a:xfrm>
        </p:spPr>
        <p:txBody>
          <a:bodyPr>
            <a:normAutofit/>
          </a:bodyPr>
          <a:lstStyle/>
          <a:p>
            <a:r>
              <a:rPr lang="en-HK" dirty="0"/>
              <a:t>Zero tolerance for any academic dishonesty</a:t>
            </a:r>
          </a:p>
          <a:p>
            <a:r>
              <a:rPr lang="en-HK" dirty="0"/>
              <a:t>Details can be found at http://www.cuhk.edu.hk/policy/academichonesty/</a:t>
            </a:r>
            <a:endParaRPr lang="en-US" dirty="0"/>
          </a:p>
        </p:txBody>
      </p:sp>
      <p:sp>
        <p:nvSpPr>
          <p:cNvPr id="90" name="Freeform: Shape 89">
            <a:extLst>
              <a:ext uri="{FF2B5EF4-FFF2-40B4-BE49-F238E27FC236}">
                <a16:creationId xmlns:a16="http://schemas.microsoft.com/office/drawing/2014/main" id="{83C8019B-3985-409B-9B87-494B974EE9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92" name="Freeform: Shape 91">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94" name="Freeform: Shape 93">
            <a:extLst>
              <a:ext uri="{FF2B5EF4-FFF2-40B4-BE49-F238E27FC236}">
                <a16:creationId xmlns:a16="http://schemas.microsoft.com/office/drawing/2014/main" id="{B85A4DB3-61AA-49A1-85A9-B3397CD51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12" name="Picture 11" descr="A stack of books&#10;&#10;Description automatically generated with medium confidence">
            <a:extLst>
              <a:ext uri="{FF2B5EF4-FFF2-40B4-BE49-F238E27FC236}">
                <a16:creationId xmlns:a16="http://schemas.microsoft.com/office/drawing/2014/main" id="{E348EEB5-6A82-4A52-B8A2-9C980EFA80B4}"/>
              </a:ext>
            </a:extLst>
          </p:cNvPr>
          <p:cNvPicPr>
            <a:picLocks noChangeAspect="1"/>
          </p:cNvPicPr>
          <p:nvPr/>
        </p:nvPicPr>
        <p:blipFill rotWithShape="1">
          <a:blip r:embed="rId3" cstate="email">
            <a:extLst>
              <a:ext uri="{28A0092B-C50C-407E-A947-70E740481C1C}">
                <a14:useLocalDpi xmlns:a14="http://schemas.microsoft.com/office/drawing/2010/main"/>
              </a:ext>
              <a:ext uri="{837473B0-CC2E-450A-ABE3-18F120FF3D39}">
                <a1611:picAttrSrcUrl xmlns:a1611="http://schemas.microsoft.com/office/drawing/2016/11/main" r:id="rId4"/>
              </a:ext>
            </a:extLst>
          </a:blip>
          <a:srcRect l="23377" r="20375" b="3"/>
          <a:stretch/>
        </p:blipFill>
        <p:spPr>
          <a:xfrm>
            <a:off x="7020480" y="871280"/>
            <a:ext cx="4415738" cy="4415738"/>
          </a:xfrm>
          <a:custGeom>
            <a:avLst/>
            <a:gdLst/>
            <a:ahLst/>
            <a:cxnLst/>
            <a:rect l="l" t="t" r="r" b="b"/>
            <a:pathLst>
              <a:path w="2452978" h="2452978">
                <a:moveTo>
                  <a:pt x="1226489" y="0"/>
                </a:moveTo>
                <a:cubicBezTo>
                  <a:pt x="1903860" y="0"/>
                  <a:pt x="2452978" y="549118"/>
                  <a:pt x="2452978" y="1226489"/>
                </a:cubicBezTo>
                <a:cubicBezTo>
                  <a:pt x="2452978" y="1903860"/>
                  <a:pt x="1903860" y="2452978"/>
                  <a:pt x="1226489" y="2452978"/>
                </a:cubicBezTo>
                <a:cubicBezTo>
                  <a:pt x="549118" y="2452978"/>
                  <a:pt x="0" y="1903860"/>
                  <a:pt x="0" y="1226489"/>
                </a:cubicBezTo>
                <a:cubicBezTo>
                  <a:pt x="0" y="549118"/>
                  <a:pt x="549118" y="0"/>
                  <a:pt x="1226489" y="0"/>
                </a:cubicBezTo>
                <a:close/>
              </a:path>
            </a:pathLst>
          </a:custGeom>
        </p:spPr>
      </p:pic>
      <p:grpSp>
        <p:nvGrpSpPr>
          <p:cNvPr id="96"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97" name="Freeform: Shape 96">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742789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 name="Title 1">
            <a:extLst>
              <a:ext uri="{FF2B5EF4-FFF2-40B4-BE49-F238E27FC236}">
                <a16:creationId xmlns:a16="http://schemas.microsoft.com/office/drawing/2014/main" id="{DDD64757-2A56-15B3-54A4-CA7A4A32E3C0}"/>
              </a:ext>
            </a:extLst>
          </p:cNvPr>
          <p:cNvSpPr>
            <a:spLocks noGrp="1"/>
          </p:cNvSpPr>
          <p:nvPr>
            <p:ph type="title"/>
          </p:nvPr>
        </p:nvSpPr>
        <p:spPr>
          <a:xfrm>
            <a:off x="2123440" y="633046"/>
            <a:ext cx="5691490" cy="1314996"/>
          </a:xfrm>
        </p:spPr>
        <p:txBody>
          <a:bodyPr vert="horz" lIns="91440" tIns="45720" rIns="91440" bIns="45720" rtlCol="0" anchor="b">
            <a:normAutofit fontScale="90000"/>
          </a:bodyPr>
          <a:lstStyle/>
          <a:p>
            <a:r>
              <a:rPr lang="en-US" sz="3700" dirty="0"/>
              <a:t>Policy on the Use of Artificial Intelligence (AI) Tools</a:t>
            </a:r>
          </a:p>
        </p:txBody>
      </p:sp>
      <p:sp>
        <p:nvSpPr>
          <p:cNvPr id="16" name="Freeform: Shape 15">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7" name="Content Placeholder 5">
            <a:extLst>
              <a:ext uri="{FF2B5EF4-FFF2-40B4-BE49-F238E27FC236}">
                <a16:creationId xmlns:a16="http://schemas.microsoft.com/office/drawing/2014/main" id="{209EE88F-C6FB-3A98-CA48-FF569B6EA507}"/>
              </a:ext>
            </a:extLst>
          </p:cNvPr>
          <p:cNvSpPr txBox="1">
            <a:spLocks/>
          </p:cNvSpPr>
          <p:nvPr/>
        </p:nvSpPr>
        <p:spPr>
          <a:xfrm>
            <a:off x="2123440" y="2125737"/>
            <a:ext cx="4722238" cy="4331016"/>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3600">
                <a:solidFill>
                  <a:schemeClr val="bg1"/>
                </a:solidFill>
                <a:latin typeface="Rockwell" panose="02060603020205020403" pitchFamily="18" charset="0"/>
              </a:defRPr>
            </a:lvl1pPr>
            <a:lvl2pPr marL="685800" indent="-228600">
              <a:lnSpc>
                <a:spcPct val="90000"/>
              </a:lnSpc>
              <a:spcBef>
                <a:spcPts val="500"/>
              </a:spcBef>
              <a:buFont typeface="Arial" panose="020B0604020202020204" pitchFamily="34" charset="0"/>
              <a:buChar char="•"/>
              <a:defRPr sz="2400">
                <a:solidFill>
                  <a:schemeClr val="bg1"/>
                </a:solidFill>
                <a:latin typeface="Rockwell" panose="02060603020205020403" pitchFamily="18" charset="0"/>
              </a:defRPr>
            </a:lvl2pPr>
            <a:lvl3pPr marL="1143000" indent="-228600">
              <a:lnSpc>
                <a:spcPct val="90000"/>
              </a:lnSpc>
              <a:spcBef>
                <a:spcPts val="500"/>
              </a:spcBef>
              <a:buFont typeface="Arial" panose="020B0604020202020204" pitchFamily="34" charset="0"/>
              <a:buChar char="•"/>
              <a:defRPr sz="2000">
                <a:solidFill>
                  <a:schemeClr val="bg1"/>
                </a:solidFill>
                <a:latin typeface="Rockwell" panose="02060603020205020403" pitchFamily="18" charset="0"/>
              </a:defRPr>
            </a:lvl3pPr>
            <a:lvl4pPr marL="1600200" indent="-228600">
              <a:lnSpc>
                <a:spcPct val="90000"/>
              </a:lnSpc>
              <a:spcBef>
                <a:spcPts val="500"/>
              </a:spcBef>
              <a:buFont typeface="Arial" panose="020B0604020202020204" pitchFamily="34" charset="0"/>
              <a:buChar char="•"/>
              <a:defRPr>
                <a:solidFill>
                  <a:schemeClr val="bg1"/>
                </a:solidFill>
                <a:latin typeface="Rockwell" panose="02060603020205020403" pitchFamily="18" charset="0"/>
              </a:defRPr>
            </a:lvl4pPr>
            <a:lvl5pPr marL="2057400" indent="-228600">
              <a:lnSpc>
                <a:spcPct val="90000"/>
              </a:lnSpc>
              <a:spcBef>
                <a:spcPts val="500"/>
              </a:spcBef>
              <a:buFont typeface="Arial" panose="020B0604020202020204" pitchFamily="34" charset="0"/>
              <a:buChar char="•"/>
              <a:defRPr>
                <a:solidFill>
                  <a:schemeClr val="bg1"/>
                </a:solidFill>
                <a:latin typeface="Rockwell" panose="02060603020205020403"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2400" dirty="0">
                <a:solidFill>
                  <a:schemeClr val="tx1"/>
                </a:solidFill>
                <a:latin typeface="+mn-lt"/>
              </a:rPr>
              <a:t>Approach 2: Some AI tool use in some scenarios</a:t>
            </a:r>
          </a:p>
          <a:p>
            <a:r>
              <a:rPr lang="en-US" sz="2400" dirty="0">
                <a:solidFill>
                  <a:schemeClr val="tx1"/>
                </a:solidFill>
                <a:latin typeface="+mn-lt"/>
              </a:rPr>
              <a:t>You can use AI tools for proofreading/language fluency (e.g., Grammarly) for your App Pitch without acknowledgement. I reserve the right to see your unpolished assignments.</a:t>
            </a:r>
          </a:p>
          <a:p>
            <a:r>
              <a:rPr lang="en-US" sz="2400" dirty="0">
                <a:solidFill>
                  <a:schemeClr val="tx1"/>
                </a:solidFill>
                <a:latin typeface="+mn-lt"/>
              </a:rPr>
              <a:t>Any use of generative-AI tools beyond this scope and in other assessments are not permitted.</a:t>
            </a:r>
          </a:p>
        </p:txBody>
      </p:sp>
      <p:sp>
        <p:nvSpPr>
          <p:cNvPr id="20" name="Freeform: Shape 19">
            <a:extLst>
              <a:ext uri="{FF2B5EF4-FFF2-40B4-BE49-F238E27FC236}">
                <a16:creationId xmlns:a16="http://schemas.microsoft.com/office/drawing/2014/main" id="{83C8019B-3985-409B-9B87-494B974EE9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2" name="Freeform: Shape 21">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Freeform: Shape 23">
            <a:extLst>
              <a:ext uri="{FF2B5EF4-FFF2-40B4-BE49-F238E27FC236}">
                <a16:creationId xmlns:a16="http://schemas.microsoft.com/office/drawing/2014/main" id="{B85A4DB3-61AA-49A1-85A9-B3397CD51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5" name="Content Placeholder 4" descr="A computer generated image of a brain&#10;&#10;Description automatically generated">
            <a:extLst>
              <a:ext uri="{FF2B5EF4-FFF2-40B4-BE49-F238E27FC236}">
                <a16:creationId xmlns:a16="http://schemas.microsoft.com/office/drawing/2014/main" id="{1D1E7BB3-004C-2C16-AE14-CD6C5AA0FAEA}"/>
              </a:ext>
            </a:extLst>
          </p:cNvPr>
          <p:cNvPicPr>
            <a:picLocks noGrp="1" noChangeAspect="1"/>
          </p:cNvPicPr>
          <p:nvPr>
            <p:ph idx="1"/>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3262" r="40490" b="3"/>
          <a:stretch/>
        </p:blipFill>
        <p:spPr>
          <a:xfrm>
            <a:off x="7020480" y="871280"/>
            <a:ext cx="4415738" cy="4415738"/>
          </a:xfrm>
          <a:custGeom>
            <a:avLst/>
            <a:gdLst/>
            <a:ahLst/>
            <a:cxnLst/>
            <a:rect l="l" t="t" r="r" b="b"/>
            <a:pathLst>
              <a:path w="2452978" h="2452978">
                <a:moveTo>
                  <a:pt x="1226489" y="0"/>
                </a:moveTo>
                <a:cubicBezTo>
                  <a:pt x="1903860" y="0"/>
                  <a:pt x="2452978" y="549118"/>
                  <a:pt x="2452978" y="1226489"/>
                </a:cubicBezTo>
                <a:cubicBezTo>
                  <a:pt x="2452978" y="1903860"/>
                  <a:pt x="1903860" y="2452978"/>
                  <a:pt x="1226489" y="2452978"/>
                </a:cubicBezTo>
                <a:cubicBezTo>
                  <a:pt x="549118" y="2452978"/>
                  <a:pt x="0" y="1903860"/>
                  <a:pt x="0" y="1226489"/>
                </a:cubicBezTo>
                <a:cubicBezTo>
                  <a:pt x="0" y="549118"/>
                  <a:pt x="549118" y="0"/>
                  <a:pt x="1226489" y="0"/>
                </a:cubicBezTo>
                <a:close/>
              </a:path>
            </a:pathLst>
          </a:custGeom>
        </p:spPr>
      </p:pic>
      <p:grpSp>
        <p:nvGrpSpPr>
          <p:cNvPr id="26"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27" name="Freeform: Shape 26">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574366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394E477-B868-D3E0-B48C-6CE038F1F332}"/>
              </a:ext>
            </a:extLst>
          </p:cNvPr>
          <p:cNvSpPr>
            <a:spLocks noGrp="1"/>
          </p:cNvSpPr>
          <p:nvPr>
            <p:ph type="title"/>
          </p:nvPr>
        </p:nvSpPr>
        <p:spPr>
          <a:xfrm>
            <a:off x="6234865" y="568517"/>
            <a:ext cx="5248221" cy="886379"/>
          </a:xfrm>
        </p:spPr>
        <p:txBody>
          <a:bodyPr vert="horz" lIns="91440" tIns="45720" rIns="91440" bIns="45720" rtlCol="0" anchor="ctr">
            <a:normAutofit/>
          </a:bodyPr>
          <a:lstStyle/>
          <a:p>
            <a:r>
              <a:rPr lang="en-US" dirty="0"/>
              <a:t>Sick leave</a:t>
            </a:r>
          </a:p>
        </p:txBody>
      </p:sp>
      <p:pic>
        <p:nvPicPr>
          <p:cNvPr id="5" name="Content Placeholder 4" descr="Person holding red heat pack">
            <a:extLst>
              <a:ext uri="{FF2B5EF4-FFF2-40B4-BE49-F238E27FC236}">
                <a16:creationId xmlns:a16="http://schemas.microsoft.com/office/drawing/2014/main" id="{9DA3C056-06FC-CA4C-8D43-61808C9051D6}"/>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357" r="11391" b="-2"/>
          <a:stretch/>
        </p:blipFill>
        <p:spPr>
          <a:xfrm>
            <a:off x="739959" y="1095407"/>
            <a:ext cx="4754947" cy="4754947"/>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ln w="28575">
            <a:noFill/>
          </a:ln>
        </p:spPr>
      </p:pic>
      <p:grpSp>
        <p:nvGrpSpPr>
          <p:cNvPr id="13" name="Group 12">
            <a:extLst>
              <a:ext uri="{FF2B5EF4-FFF2-40B4-BE49-F238E27FC236}">
                <a16:creationId xmlns:a16="http://schemas.microsoft.com/office/drawing/2014/main" id="{B894EFA8-F425-4D19-A94B-445388B31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solidFill>
        </p:grpSpPr>
        <p:sp>
          <p:nvSpPr>
            <p:cNvPr id="14" name="Freeform: Shape 13">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17" name="Group 16">
            <a:extLst>
              <a:ext uri="{FF2B5EF4-FFF2-40B4-BE49-F238E27FC236}">
                <a16:creationId xmlns:a16="http://schemas.microsoft.com/office/drawing/2014/main" id="{C28CAB86-AA69-4EF8-A4E2-4E020497D0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alpha val="20000"/>
            </a:schemeClr>
          </a:solidFill>
        </p:grpSpPr>
        <p:sp>
          <p:nvSpPr>
            <p:cNvPr id="18" name="Freeform: Shape 17">
              <a:extLst>
                <a:ext uri="{FF2B5EF4-FFF2-40B4-BE49-F238E27FC236}">
                  <a16:creationId xmlns:a16="http://schemas.microsoft.com/office/drawing/2014/main" id="{29A36BEE-5544-45FB-88F3-9E156F32E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9" name="Freeform: Shape 18">
              <a:extLst>
                <a:ext uri="{FF2B5EF4-FFF2-40B4-BE49-F238E27FC236}">
                  <a16:creationId xmlns:a16="http://schemas.microsoft.com/office/drawing/2014/main" id="{5B49ECF4-1585-4D6B-AB63-D49C92945E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6" name="Content Placeholder 9">
            <a:extLst>
              <a:ext uri="{FF2B5EF4-FFF2-40B4-BE49-F238E27FC236}">
                <a16:creationId xmlns:a16="http://schemas.microsoft.com/office/drawing/2014/main" id="{4BAC4499-1D5D-D7B9-A9C9-2A2F011B12B6}"/>
              </a:ext>
            </a:extLst>
          </p:cNvPr>
          <p:cNvSpPr txBox="1">
            <a:spLocks/>
          </p:cNvSpPr>
          <p:nvPr/>
        </p:nvSpPr>
        <p:spPr>
          <a:xfrm>
            <a:off x="6234868" y="1820369"/>
            <a:ext cx="5217173" cy="435133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ckwell" panose="020606030202050204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ckwell" panose="020606030202050204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ckwell" panose="020606030202050204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ckwell" panose="020606030202050204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ckwell" panose="020606030202050204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latin typeface="+mn-lt"/>
              </a:rPr>
              <a:t>Make-up opportunities for pre-class questions are not available </a:t>
            </a:r>
          </a:p>
          <a:p>
            <a:r>
              <a:rPr lang="en-US" dirty="0">
                <a:solidFill>
                  <a:schemeClr val="tx1"/>
                </a:solidFill>
                <a:latin typeface="+mn-lt"/>
              </a:rPr>
              <a:t>Should you need to miss a workshop due to health concerns, you may request a make-up assignment</a:t>
            </a:r>
          </a:p>
          <a:p>
            <a:r>
              <a:rPr lang="en-US" dirty="0">
                <a:solidFill>
                  <a:schemeClr val="tx1"/>
                </a:solidFill>
                <a:latin typeface="+mn-lt"/>
              </a:rPr>
              <a:t>This request must be accompanied by a valid medical certificate and submitted within three days of the original workshop date</a:t>
            </a:r>
          </a:p>
        </p:txBody>
      </p:sp>
      <p:grpSp>
        <p:nvGrpSpPr>
          <p:cNvPr id="21"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22" name="Freeform: Shape 21">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grpSp>
        <p:nvGrpSpPr>
          <p:cNvPr id="28" name="Graphic 185">
            <a:extLst>
              <a:ext uri="{FF2B5EF4-FFF2-40B4-BE49-F238E27FC236}">
                <a16:creationId xmlns:a16="http://schemas.microsoft.com/office/drawing/2014/main" id="{617CAA5F-37E3-4DF6-9DD0-68A40D2161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alpha val="20000"/>
            </a:schemeClr>
          </a:solidFill>
        </p:grpSpPr>
        <p:sp>
          <p:nvSpPr>
            <p:cNvPr id="29" name="Freeform: Shape 28">
              <a:extLst>
                <a:ext uri="{FF2B5EF4-FFF2-40B4-BE49-F238E27FC236}">
                  <a16:creationId xmlns:a16="http://schemas.microsoft.com/office/drawing/2014/main" id="{2FCF03A3-80B7-45BC-AA40-A335CC8168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9D3C77A-275B-4C9E-A407-B09450E564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C6C5B5B-80BB-41D8-A377-C653EF1B01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DCA5D93A-E913-46A0-9684-20B6B4B8CA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FE6EFE8A-51D2-4AF6-A18C-29A9E5EF5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281205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4" name="Rectangle 93">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F8EB25F-75DC-8087-F99D-5ABEBDDAC2FA}"/>
              </a:ext>
            </a:extLst>
          </p:cNvPr>
          <p:cNvSpPr>
            <a:spLocks noGrp="1"/>
          </p:cNvSpPr>
          <p:nvPr>
            <p:ph type="title"/>
          </p:nvPr>
        </p:nvSpPr>
        <p:spPr>
          <a:xfrm>
            <a:off x="6234865" y="568517"/>
            <a:ext cx="5248221" cy="1611157"/>
          </a:xfrm>
        </p:spPr>
        <p:txBody>
          <a:bodyPr vert="horz" lIns="91440" tIns="45720" rIns="91440" bIns="45720" rtlCol="0" anchor="ctr">
            <a:normAutofit/>
          </a:bodyPr>
          <a:lstStyle/>
          <a:p>
            <a:r>
              <a:rPr lang="en-US" dirty="0"/>
              <a:t>Communication via emails</a:t>
            </a:r>
          </a:p>
        </p:txBody>
      </p:sp>
      <p:pic>
        <p:nvPicPr>
          <p:cNvPr id="5" name="Content Placeholder 4" descr="A person using a computer&#10;&#10;Description automatically generated with low confidence">
            <a:extLst>
              <a:ext uri="{FF2B5EF4-FFF2-40B4-BE49-F238E27FC236}">
                <a16:creationId xmlns:a16="http://schemas.microsoft.com/office/drawing/2014/main" id="{3D989A62-0DD1-4DAD-B82C-C05302032A3F}"/>
              </a:ext>
            </a:extLst>
          </p:cNvPr>
          <p:cNvPicPr>
            <a:picLocks noGrp="1" noChangeAspect="1"/>
          </p:cNvPicPr>
          <p:nvPr>
            <p:ph idx="1"/>
          </p:nvPr>
        </p:nvPicPr>
        <p:blipFill rotWithShape="1">
          <a:blip r:embed="rId3" cstate="email">
            <a:extLst>
              <a:ext uri="{28A0092B-C50C-407E-A947-70E740481C1C}">
                <a14:useLocalDpi xmlns:a14="http://schemas.microsoft.com/office/drawing/2010/main"/>
              </a:ext>
              <a:ext uri="{837473B0-CC2E-450A-ABE3-18F120FF3D39}">
                <a1611:picAttrSrcUrl xmlns:a1611="http://schemas.microsoft.com/office/drawing/2016/11/main" r:id="rId4"/>
              </a:ext>
            </a:extLst>
          </a:blip>
          <a:srcRect l="28464" r="15286"/>
          <a:stretch/>
        </p:blipFill>
        <p:spPr>
          <a:xfrm>
            <a:off x="739959" y="1095407"/>
            <a:ext cx="4754947" cy="4754947"/>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ln w="28575">
            <a:noFill/>
          </a:ln>
        </p:spPr>
      </p:pic>
      <p:grpSp>
        <p:nvGrpSpPr>
          <p:cNvPr id="95" name="Group 94">
            <a:extLst>
              <a:ext uri="{FF2B5EF4-FFF2-40B4-BE49-F238E27FC236}">
                <a16:creationId xmlns:a16="http://schemas.microsoft.com/office/drawing/2014/main" id="{B894EFA8-F425-4D19-A94B-445388B31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solidFill>
        </p:grpSpPr>
        <p:sp>
          <p:nvSpPr>
            <p:cNvPr id="96" name="Freeform: Shape 95">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97" name="Freeform: Shape 96">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98" name="Group 97">
            <a:extLst>
              <a:ext uri="{FF2B5EF4-FFF2-40B4-BE49-F238E27FC236}">
                <a16:creationId xmlns:a16="http://schemas.microsoft.com/office/drawing/2014/main" id="{C28CAB86-AA69-4EF8-A4E2-4E020497D0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alpha val="20000"/>
            </a:schemeClr>
          </a:solidFill>
        </p:grpSpPr>
        <p:sp>
          <p:nvSpPr>
            <p:cNvPr id="68" name="Freeform: Shape 67">
              <a:extLst>
                <a:ext uri="{FF2B5EF4-FFF2-40B4-BE49-F238E27FC236}">
                  <a16:creationId xmlns:a16="http://schemas.microsoft.com/office/drawing/2014/main" id="{29A36BEE-5544-45FB-88F3-9E156F32E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99" name="Freeform: Shape 98">
              <a:extLst>
                <a:ext uri="{FF2B5EF4-FFF2-40B4-BE49-F238E27FC236}">
                  <a16:creationId xmlns:a16="http://schemas.microsoft.com/office/drawing/2014/main" id="{5B49ECF4-1585-4D6B-AB63-D49C92945E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7" name="Content Placeholder 5">
            <a:extLst>
              <a:ext uri="{FF2B5EF4-FFF2-40B4-BE49-F238E27FC236}">
                <a16:creationId xmlns:a16="http://schemas.microsoft.com/office/drawing/2014/main" id="{80CDFD4E-DF87-45D3-A596-D1DE31707EDF}"/>
              </a:ext>
            </a:extLst>
          </p:cNvPr>
          <p:cNvSpPr txBox="1">
            <a:spLocks/>
          </p:cNvSpPr>
          <p:nvPr/>
        </p:nvSpPr>
        <p:spPr>
          <a:xfrm>
            <a:off x="6234868" y="2381693"/>
            <a:ext cx="5217173" cy="37900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ckwell" panose="020606030202050204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ckwell" panose="020606030202050204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ckwell" panose="020606030202050204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ckwell" panose="020606030202050204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ckwell" panose="020606030202050204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latin typeface="+mn-lt"/>
              </a:rPr>
              <a:t>Check your CUHK email once a day</a:t>
            </a:r>
          </a:p>
          <a:p>
            <a:r>
              <a:rPr lang="en-US" dirty="0">
                <a:solidFill>
                  <a:schemeClr val="tx1"/>
                </a:solidFill>
                <a:latin typeface="+mn-lt"/>
              </a:rPr>
              <a:t>When you write to me, please use [COMM3131] as the subject line—I </a:t>
            </a:r>
            <a:r>
              <a:rPr lang="en-US" i="1" dirty="0">
                <a:solidFill>
                  <a:schemeClr val="tx1"/>
                </a:solidFill>
                <a:latin typeface="+mn-lt"/>
              </a:rPr>
              <a:t>will</a:t>
            </a:r>
            <a:r>
              <a:rPr lang="en-US" dirty="0">
                <a:solidFill>
                  <a:schemeClr val="tx1"/>
                </a:solidFill>
                <a:latin typeface="+mn-lt"/>
              </a:rPr>
              <a:t> miss your email if you don’t do so</a:t>
            </a:r>
          </a:p>
        </p:txBody>
      </p:sp>
      <p:grpSp>
        <p:nvGrpSpPr>
          <p:cNvPr id="100"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72" name="Freeform: Shape 71">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grpSp>
        <p:nvGrpSpPr>
          <p:cNvPr id="104" name="Graphic 185">
            <a:extLst>
              <a:ext uri="{FF2B5EF4-FFF2-40B4-BE49-F238E27FC236}">
                <a16:creationId xmlns:a16="http://schemas.microsoft.com/office/drawing/2014/main" id="{617CAA5F-37E3-4DF6-9DD0-68A40D2161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alpha val="20000"/>
            </a:schemeClr>
          </a:solidFill>
        </p:grpSpPr>
        <p:sp>
          <p:nvSpPr>
            <p:cNvPr id="79" name="Freeform: Shape 78">
              <a:extLst>
                <a:ext uri="{FF2B5EF4-FFF2-40B4-BE49-F238E27FC236}">
                  <a16:creationId xmlns:a16="http://schemas.microsoft.com/office/drawing/2014/main" id="{2FCF03A3-80B7-45BC-AA40-A335CC8168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E9D3C77A-275B-4C9E-A407-B09450E564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DC6C5B5B-80BB-41D8-A377-C653EF1B01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CA5D93A-E913-46A0-9684-20B6B4B8CA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FE6EFE8A-51D2-4AF6-A18C-29A9E5EF5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47329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5697DD2-BED4-5081-334F-979370220018}"/>
              </a:ext>
            </a:extLst>
          </p:cNvPr>
          <p:cNvSpPr>
            <a:spLocks noGrp="1"/>
          </p:cNvSpPr>
          <p:nvPr>
            <p:ph type="title"/>
          </p:nvPr>
        </p:nvSpPr>
        <p:spPr>
          <a:xfrm>
            <a:off x="5956784" y="396117"/>
            <a:ext cx="5217172" cy="1507111"/>
          </a:xfrm>
        </p:spPr>
        <p:txBody>
          <a:bodyPr anchor="b">
            <a:normAutofit/>
          </a:bodyPr>
          <a:lstStyle/>
          <a:p>
            <a:r>
              <a:rPr lang="en-US" i="0" u="none" strike="noStrike" baseline="0" dirty="0">
                <a:latin typeface="Calibri" panose="020F0502020204030204" pitchFamily="34" charset="0"/>
              </a:rPr>
              <a:t>Video/audio recording </a:t>
            </a:r>
            <a:endParaRPr lang="en-US" dirty="0"/>
          </a:p>
        </p:txBody>
      </p:sp>
      <p:grpSp>
        <p:nvGrpSpPr>
          <p:cNvPr id="17" name="Graphic 38">
            <a:extLst>
              <a:ext uri="{FF2B5EF4-FFF2-40B4-BE49-F238E27FC236}">
                <a16:creationId xmlns:a16="http://schemas.microsoft.com/office/drawing/2014/main" id="{35C37387-FC74-4DFB-841A-B7688148CD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6583" y="795582"/>
            <a:ext cx="1910252" cy="709660"/>
            <a:chOff x="2267504" y="2540250"/>
            <a:chExt cx="1990951" cy="739640"/>
          </a:xfrm>
          <a:solidFill>
            <a:schemeClr val="tx1"/>
          </a:solidFill>
        </p:grpSpPr>
        <p:sp>
          <p:nvSpPr>
            <p:cNvPr id="18" name="Freeform: Shape 17">
              <a:extLst>
                <a:ext uri="{FF2B5EF4-FFF2-40B4-BE49-F238E27FC236}">
                  <a16:creationId xmlns:a16="http://schemas.microsoft.com/office/drawing/2014/main" id="{42D8A01F-F541-4FE1-9384-7A5B686AE9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7067F35E-69E0-4628-B498-7058AF51F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21" name="Graphic 38">
            <a:extLst>
              <a:ext uri="{FF2B5EF4-FFF2-40B4-BE49-F238E27FC236}">
                <a16:creationId xmlns:a16="http://schemas.microsoft.com/office/drawing/2014/main" id="{CD0F749C-1D4C-430F-B946-6DAF4C3098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6583" y="795582"/>
            <a:ext cx="1910252" cy="709660"/>
            <a:chOff x="2267504" y="2540250"/>
            <a:chExt cx="1990951" cy="739640"/>
          </a:xfrm>
          <a:solidFill>
            <a:schemeClr val="tx1">
              <a:alpha val="60000"/>
            </a:schemeClr>
          </a:solidFill>
        </p:grpSpPr>
        <p:sp>
          <p:nvSpPr>
            <p:cNvPr id="22" name="Freeform: Shape 21">
              <a:extLst>
                <a:ext uri="{FF2B5EF4-FFF2-40B4-BE49-F238E27FC236}">
                  <a16:creationId xmlns:a16="http://schemas.microsoft.com/office/drawing/2014/main" id="{2B331624-2D22-4B4E-A3E6-0D4F79493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1020173F-D274-41F7-8EF8-70D857D30E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25" name="Oval 24">
            <a:extLst>
              <a:ext uri="{FF2B5EF4-FFF2-40B4-BE49-F238E27FC236}">
                <a16:creationId xmlns:a16="http://schemas.microsoft.com/office/drawing/2014/main" id="{D9FE21DE-050D-4E27-A007-AAE4EF842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59" y="3491269"/>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7" name="Oval 26">
            <a:extLst>
              <a:ext uri="{FF2B5EF4-FFF2-40B4-BE49-F238E27FC236}">
                <a16:creationId xmlns:a16="http://schemas.microsoft.com/office/drawing/2014/main" id="{77EF10EC-D135-4F55-A642-AFA283DD96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59" y="3491269"/>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3" name="Picture 2" descr="A person standing in front of a television&#10;&#10;Description automatically generated with low confidence">
            <a:extLst>
              <a:ext uri="{FF2B5EF4-FFF2-40B4-BE49-F238E27FC236}">
                <a16:creationId xmlns:a16="http://schemas.microsoft.com/office/drawing/2014/main" id="{872665BE-BB71-4F05-9A04-D61F28CFDB00}"/>
              </a:ext>
            </a:extLst>
          </p:cNvPr>
          <p:cNvPicPr>
            <a:picLocks noChangeAspect="1"/>
          </p:cNvPicPr>
          <p:nvPr/>
        </p:nvPicPr>
        <p:blipFill rotWithShape="1">
          <a:blip r:embed="rId3" cstate="email">
            <a:extLst>
              <a:ext uri="{28A0092B-C50C-407E-A947-70E740481C1C}">
                <a14:useLocalDpi xmlns:a14="http://schemas.microsoft.com/office/drawing/2010/main"/>
              </a:ext>
              <a:ext uri="{837473B0-CC2E-450A-ABE3-18F120FF3D39}">
                <a1611:picAttrSrcUrl xmlns:a1611="http://schemas.microsoft.com/office/drawing/2016/11/main" r:id="rId4"/>
              </a:ext>
            </a:extLst>
          </a:blip>
          <a:srcRect l="30569" r="7000"/>
          <a:stretch/>
        </p:blipFill>
        <p:spPr>
          <a:xfrm>
            <a:off x="1526293" y="1554974"/>
            <a:ext cx="3555043" cy="3217333"/>
          </a:xfrm>
          <a:prstGeom prst="rect">
            <a:avLst/>
          </a:prstGeom>
        </p:spPr>
      </p:pic>
      <p:grpSp>
        <p:nvGrpSpPr>
          <p:cNvPr id="29" name="Graphic 4">
            <a:extLst>
              <a:ext uri="{FF2B5EF4-FFF2-40B4-BE49-F238E27FC236}">
                <a16:creationId xmlns:a16="http://schemas.microsoft.com/office/drawing/2014/main" id="{89D47E22-F192-4DEC-AE19-484993AE85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4637983"/>
            <a:ext cx="975169" cy="975171"/>
            <a:chOff x="5829300" y="3162300"/>
            <a:chExt cx="532256" cy="532257"/>
          </a:xfrm>
          <a:solidFill>
            <a:schemeClr val="tx1"/>
          </a:solidFill>
        </p:grpSpPr>
        <p:sp>
          <p:nvSpPr>
            <p:cNvPr id="30" name="Freeform: Shape 29">
              <a:extLst>
                <a:ext uri="{FF2B5EF4-FFF2-40B4-BE49-F238E27FC236}">
                  <a16:creationId xmlns:a16="http://schemas.microsoft.com/office/drawing/2014/main" id="{4D5B481D-50AE-46D4-9C2F-ADF882A44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A9696D1-2645-4CDB-999E-2BCB171DD2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EF893A7D-6FAA-4ABA-8FBF-12AE8BB15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5E098AA5-8EA7-4B49-A943-13BDB0687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42B7441F-24D2-47F6-AEF3-0B16E0EBD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F78C9959-A685-4BAF-98D3-38CEE7F61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065439F3-230A-42C1-985A-F3801AFDE8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3CA0CAF8-ABFC-4754-B816-1A982DB04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7197C506-00E2-4325-8F3D-B7A52BFAD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7C8AF387-37B3-40A6-BEB9-5F1D326DFC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861A354-F1B5-4CFC-8B29-36A08A6E9E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C4239475-71DB-497A-B17E-B50BC0F125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D9CF385-DC69-4555-8C67-BFB833B867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pSp>
        <p:nvGrpSpPr>
          <p:cNvPr id="44" name="Graphic 4">
            <a:extLst>
              <a:ext uri="{FF2B5EF4-FFF2-40B4-BE49-F238E27FC236}">
                <a16:creationId xmlns:a16="http://schemas.microsoft.com/office/drawing/2014/main" id="{8546F01E-28C6-4D97-ACC0-50485CD546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4637983"/>
            <a:ext cx="975169" cy="975171"/>
            <a:chOff x="5829300" y="3162300"/>
            <a:chExt cx="532256" cy="532257"/>
          </a:xfrm>
          <a:solidFill>
            <a:schemeClr val="tx1">
              <a:alpha val="60000"/>
            </a:schemeClr>
          </a:solidFill>
        </p:grpSpPr>
        <p:sp>
          <p:nvSpPr>
            <p:cNvPr id="45" name="Freeform: Shape 44">
              <a:extLst>
                <a:ext uri="{FF2B5EF4-FFF2-40B4-BE49-F238E27FC236}">
                  <a16:creationId xmlns:a16="http://schemas.microsoft.com/office/drawing/2014/main" id="{EB0908F7-1F79-4980-843B-7010EE8E8C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3653996-A332-4C70-839A-B246E0543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99F15CE8-59C3-4EB5-9C7C-4BAAC5F7D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F61B38B2-7390-4304-A200-E656AE0896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DA0DCEB4-FD1D-4E15-A000-1A9CB77DA3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DCE85A3-7077-4FEE-B140-C20B1A230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C4748CC5-5652-4C4F-A5CE-41DA8383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47D79CB-5BE7-49A3-8C81-100690235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2F449AC0-C0F3-4D2F-9134-78DDFD1B2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47A8DFB0-41C7-4703-BCC0-9022659112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B1A0CFB7-B9CE-4B04-92B5-FE295DFEB1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E7344B6F-954A-49BE-B5E9-19A09DC6B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F263CDF5-777C-406D-B2B2-0FF351D11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sp>
        <p:nvSpPr>
          <p:cNvPr id="10" name="Content Placeholder 9">
            <a:extLst>
              <a:ext uri="{FF2B5EF4-FFF2-40B4-BE49-F238E27FC236}">
                <a16:creationId xmlns:a16="http://schemas.microsoft.com/office/drawing/2014/main" id="{B4E9A2BC-BCEA-4A41-8377-B3D55AAD1B5C}"/>
              </a:ext>
            </a:extLst>
          </p:cNvPr>
          <p:cNvSpPr>
            <a:spLocks noGrp="1"/>
          </p:cNvSpPr>
          <p:nvPr>
            <p:ph idx="1"/>
          </p:nvPr>
        </p:nvSpPr>
        <p:spPr>
          <a:xfrm>
            <a:off x="5956783" y="2583712"/>
            <a:ext cx="5217173" cy="3515218"/>
          </a:xfrm>
        </p:spPr>
        <p:txBody>
          <a:bodyPr>
            <a:normAutofit/>
          </a:bodyPr>
          <a:lstStyle/>
          <a:p>
            <a:r>
              <a:rPr lang="en-US" dirty="0"/>
              <a:t>No recording unless permission from the entire class. </a:t>
            </a:r>
          </a:p>
        </p:txBody>
      </p:sp>
    </p:spTree>
    <p:extLst>
      <p:ext uri="{BB962C8B-B14F-4D97-AF65-F5344CB8AC3E}">
        <p14:creationId xmlns:p14="http://schemas.microsoft.com/office/powerpoint/2010/main" val="3327674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14" name="Freeform: Shape 13">
              <a:extLst>
                <a:ext uri="{FF2B5EF4-FFF2-40B4-BE49-F238E27FC236}">
                  <a16:creationId xmlns:a16="http://schemas.microsoft.com/office/drawing/2014/main" id="{B5E13483-2FB6-4753-8402-06FDC3498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88F0DF22-F640-4002-B783-DF1C6A9473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C2787B8-7984-4332-B611-D3D3DE898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AF3646C-B3D7-4F57-8FD2-CD93CEB39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65FA7DA-93A0-43A4-834C-0F1BB9806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0" name="Oval 19">
            <a:extLst>
              <a:ext uri="{FF2B5EF4-FFF2-40B4-BE49-F238E27FC236}">
                <a16:creationId xmlns:a16="http://schemas.microsoft.com/office/drawing/2014/main" id="{104332FF-8349-42A5-B5C8-5EE3825CE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useBgFill="1">
        <p:nvSpPr>
          <p:cNvPr id="22" name="Rectangle 21">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6E98F6B3-F776-DDCC-05C1-4F3C77999652}"/>
              </a:ext>
            </a:extLst>
          </p:cNvPr>
          <p:cNvSpPr>
            <a:spLocks noGrp="1"/>
          </p:cNvSpPr>
          <p:nvPr>
            <p:ph type="title"/>
          </p:nvPr>
        </p:nvSpPr>
        <p:spPr>
          <a:xfrm>
            <a:off x="6234865" y="568517"/>
            <a:ext cx="5248221" cy="886379"/>
          </a:xfrm>
        </p:spPr>
        <p:txBody>
          <a:bodyPr vert="horz" lIns="91440" tIns="45720" rIns="91440" bIns="45720" rtlCol="0" anchor="ctr">
            <a:normAutofit/>
          </a:bodyPr>
          <a:lstStyle/>
          <a:p>
            <a:r>
              <a:rPr lang="en-US" dirty="0"/>
              <a:t>Reference letter</a:t>
            </a:r>
          </a:p>
        </p:txBody>
      </p:sp>
      <p:pic>
        <p:nvPicPr>
          <p:cNvPr id="5" name="Content Placeholder 4" descr="A person writing on a paper&#10;&#10;Description automatically generated">
            <a:extLst>
              <a:ext uri="{FF2B5EF4-FFF2-40B4-BE49-F238E27FC236}">
                <a16:creationId xmlns:a16="http://schemas.microsoft.com/office/drawing/2014/main" id="{2A22C6B8-6673-59ED-C9DF-C71EE36BE965}"/>
              </a:ext>
            </a:extLst>
          </p:cNvPr>
          <p:cNvPicPr>
            <a:picLocks noGrp="1" noChangeAspect="1"/>
          </p:cNvPicPr>
          <p:nvPr>
            <p:ph sz="half" idx="1"/>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6089" r="26661"/>
          <a:stretch/>
        </p:blipFill>
        <p:spPr>
          <a:xfrm>
            <a:off x="739959" y="1095407"/>
            <a:ext cx="4754947" cy="4754947"/>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ln w="28575">
            <a:noFill/>
          </a:ln>
        </p:spPr>
      </p:pic>
      <p:grpSp>
        <p:nvGrpSpPr>
          <p:cNvPr id="24" name="Group 23">
            <a:extLst>
              <a:ext uri="{FF2B5EF4-FFF2-40B4-BE49-F238E27FC236}">
                <a16:creationId xmlns:a16="http://schemas.microsoft.com/office/drawing/2014/main" id="{B894EFA8-F425-4D19-A94B-445388B31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solidFill>
        </p:grpSpPr>
        <p:sp>
          <p:nvSpPr>
            <p:cNvPr id="25" name="Freeform: Shape 24">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26" name="Freeform: Shape 25">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28" name="Group 27">
            <a:extLst>
              <a:ext uri="{FF2B5EF4-FFF2-40B4-BE49-F238E27FC236}">
                <a16:creationId xmlns:a16="http://schemas.microsoft.com/office/drawing/2014/main" id="{C28CAB86-AA69-4EF8-A4E2-4E020497D0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tx1">
              <a:alpha val="20000"/>
            </a:schemeClr>
          </a:solidFill>
        </p:grpSpPr>
        <p:sp>
          <p:nvSpPr>
            <p:cNvPr id="29" name="Freeform: Shape 28">
              <a:extLst>
                <a:ext uri="{FF2B5EF4-FFF2-40B4-BE49-F238E27FC236}">
                  <a16:creationId xmlns:a16="http://schemas.microsoft.com/office/drawing/2014/main" id="{29A36BEE-5544-45FB-88F3-9E156F32E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30" name="Freeform: Shape 29">
              <a:extLst>
                <a:ext uri="{FF2B5EF4-FFF2-40B4-BE49-F238E27FC236}">
                  <a16:creationId xmlns:a16="http://schemas.microsoft.com/office/drawing/2014/main" id="{5B49ECF4-1585-4D6B-AB63-D49C92945E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8" name="Content Placeholder 7">
            <a:extLst>
              <a:ext uri="{FF2B5EF4-FFF2-40B4-BE49-F238E27FC236}">
                <a16:creationId xmlns:a16="http://schemas.microsoft.com/office/drawing/2014/main" id="{8D46F9E1-C17A-C042-A1CB-2773C0AE71B6}"/>
              </a:ext>
            </a:extLst>
          </p:cNvPr>
          <p:cNvSpPr>
            <a:spLocks noGrp="1"/>
          </p:cNvSpPr>
          <p:nvPr>
            <p:ph sz="half" idx="2"/>
          </p:nvPr>
        </p:nvSpPr>
        <p:spPr>
          <a:xfrm>
            <a:off x="6234868" y="1820369"/>
            <a:ext cx="5217173" cy="4351338"/>
          </a:xfrm>
        </p:spPr>
        <p:txBody>
          <a:bodyPr vert="horz" lIns="91440" tIns="45720" rIns="91440" bIns="45720" rtlCol="0">
            <a:normAutofit/>
          </a:bodyPr>
          <a:lstStyle/>
          <a:p>
            <a:r>
              <a:rPr lang="en-US" dirty="0"/>
              <a:t>I accept invitations from students who have completed at least one course with me</a:t>
            </a:r>
          </a:p>
          <a:p>
            <a:r>
              <a:rPr lang="en-US" dirty="0"/>
              <a:t>Three weeks in advance</a:t>
            </a:r>
          </a:p>
        </p:txBody>
      </p:sp>
      <p:grpSp>
        <p:nvGrpSpPr>
          <p:cNvPr id="32"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33" name="Freeform: Shape 32">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grpSp>
        <p:nvGrpSpPr>
          <p:cNvPr id="39" name="Graphic 185">
            <a:extLst>
              <a:ext uri="{FF2B5EF4-FFF2-40B4-BE49-F238E27FC236}">
                <a16:creationId xmlns:a16="http://schemas.microsoft.com/office/drawing/2014/main" id="{617CAA5F-37E3-4DF6-9DD0-68A40D2161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alpha val="20000"/>
            </a:schemeClr>
          </a:solidFill>
        </p:grpSpPr>
        <p:sp>
          <p:nvSpPr>
            <p:cNvPr id="40" name="Freeform: Shape 39">
              <a:extLst>
                <a:ext uri="{FF2B5EF4-FFF2-40B4-BE49-F238E27FC236}">
                  <a16:creationId xmlns:a16="http://schemas.microsoft.com/office/drawing/2014/main" id="{2FCF03A3-80B7-45BC-AA40-A335CC8168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E9D3C77A-275B-4C9E-A407-B09450E564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C6C5B5B-80BB-41D8-A377-C653EF1B01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CA5D93A-E913-46A0-9684-20B6B4B8CA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E6EFE8A-51D2-4AF6-A18C-29A9E5EF5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916429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3CAF3-6F9D-4760-AAAA-B49403153E1B}"/>
              </a:ext>
            </a:extLst>
          </p:cNvPr>
          <p:cNvSpPr>
            <a:spLocks noGrp="1"/>
          </p:cNvSpPr>
          <p:nvPr>
            <p:ph type="title"/>
          </p:nvPr>
        </p:nvSpPr>
        <p:spPr>
          <a:xfrm>
            <a:off x="831850" y="1709739"/>
            <a:ext cx="10515600" cy="1993582"/>
          </a:xfrm>
        </p:spPr>
        <p:txBody>
          <a:bodyPr>
            <a:normAutofit/>
          </a:bodyPr>
          <a:lstStyle/>
          <a:p>
            <a:r>
              <a:rPr lang="en-US" sz="4000" dirty="0"/>
              <a:t>Two traditions of dating app research</a:t>
            </a:r>
          </a:p>
        </p:txBody>
      </p:sp>
    </p:spTree>
    <p:extLst>
      <p:ext uri="{BB962C8B-B14F-4D97-AF65-F5344CB8AC3E}">
        <p14:creationId xmlns:p14="http://schemas.microsoft.com/office/powerpoint/2010/main" val="1919616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EF93E3D-97C6-44EF-B11D-EFA13F88CAC5}"/>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47083" y="2441763"/>
            <a:ext cx="6080290" cy="23001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a:extLst>
              <a:ext uri="{FF2B5EF4-FFF2-40B4-BE49-F238E27FC236}">
                <a16:creationId xmlns:a16="http://schemas.microsoft.com/office/drawing/2014/main" id="{D73A141B-6934-4DAC-AAB3-DD41CF8EA92B}"/>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4418240" y="4202878"/>
            <a:ext cx="5128181" cy="23001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50808107-1AE0-4AB5-AE8F-46E497153FA2}"/>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4806428" y="750909"/>
            <a:ext cx="6080290" cy="19042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112102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F0B0F-9B47-4D1D-A8CE-F89E55955BAC}"/>
              </a:ext>
            </a:extLst>
          </p:cNvPr>
          <p:cNvSpPr>
            <a:spLocks noGrp="1"/>
          </p:cNvSpPr>
          <p:nvPr>
            <p:ph type="title"/>
          </p:nvPr>
        </p:nvSpPr>
        <p:spPr/>
        <p:txBody>
          <a:bodyPr/>
          <a:lstStyle/>
          <a:p>
            <a:r>
              <a:rPr lang="en-US" dirty="0"/>
              <a:t>Social scientific tradition</a:t>
            </a:r>
          </a:p>
        </p:txBody>
      </p:sp>
      <p:sp>
        <p:nvSpPr>
          <p:cNvPr id="3" name="Content Placeholder 2">
            <a:extLst>
              <a:ext uri="{FF2B5EF4-FFF2-40B4-BE49-F238E27FC236}">
                <a16:creationId xmlns:a16="http://schemas.microsoft.com/office/drawing/2014/main" id="{23B50F2E-07AC-4F88-8D3E-CAA2174A747F}"/>
              </a:ext>
            </a:extLst>
          </p:cNvPr>
          <p:cNvSpPr>
            <a:spLocks noGrp="1"/>
          </p:cNvSpPr>
          <p:nvPr>
            <p:ph idx="1"/>
          </p:nvPr>
        </p:nvSpPr>
        <p:spPr/>
        <p:txBody>
          <a:bodyPr>
            <a:normAutofit/>
          </a:bodyPr>
          <a:lstStyle/>
          <a:p>
            <a:pPr marL="514350" indent="-514350">
              <a:buFont typeface="+mj-lt"/>
              <a:buAutoNum type="arabicPeriod"/>
            </a:pPr>
            <a:r>
              <a:rPr lang="en-HK" dirty="0"/>
              <a:t>Who are users?  </a:t>
            </a:r>
          </a:p>
          <a:p>
            <a:pPr marL="514350" indent="-514350">
              <a:buFont typeface="+mj-lt"/>
              <a:buAutoNum type="arabicPeriod"/>
            </a:pPr>
            <a:r>
              <a:rPr lang="en-HK" dirty="0"/>
              <a:t>What do individuals use dating apps for? </a:t>
            </a:r>
          </a:p>
          <a:p>
            <a:pPr marL="514350" indent="-514350">
              <a:buFont typeface="+mj-lt"/>
              <a:buAutoNum type="arabicPeriod"/>
            </a:pPr>
            <a:r>
              <a:rPr lang="en-HK" dirty="0"/>
              <a:t>How do individuals represent themselves on dating apps?</a:t>
            </a:r>
          </a:p>
          <a:p>
            <a:pPr marL="514350" indent="-514350">
              <a:buFont typeface="+mj-lt"/>
              <a:buAutoNum type="arabicPeriod"/>
            </a:pPr>
            <a:r>
              <a:rPr lang="en-HK" dirty="0"/>
              <a:t>How do individuals develop relationships on dating apps? </a:t>
            </a:r>
          </a:p>
          <a:p>
            <a:pPr marL="514350" indent="-514350">
              <a:buFont typeface="+mj-lt"/>
              <a:buAutoNum type="arabicPeriod"/>
            </a:pPr>
            <a:r>
              <a:rPr lang="en-HK" dirty="0"/>
              <a:t>What are the risks to individuals with dating app use?</a:t>
            </a:r>
          </a:p>
          <a:p>
            <a:endParaRPr lang="en-US" dirty="0"/>
          </a:p>
        </p:txBody>
      </p:sp>
    </p:spTree>
    <p:extLst>
      <p:ext uri="{BB962C8B-B14F-4D97-AF65-F5344CB8AC3E}">
        <p14:creationId xmlns:p14="http://schemas.microsoft.com/office/powerpoint/2010/main" val="840755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F0B0F-9B47-4D1D-A8CE-F89E55955BAC}"/>
              </a:ext>
            </a:extLst>
          </p:cNvPr>
          <p:cNvSpPr>
            <a:spLocks noGrp="1"/>
          </p:cNvSpPr>
          <p:nvPr>
            <p:ph type="title"/>
          </p:nvPr>
        </p:nvSpPr>
        <p:spPr/>
        <p:txBody>
          <a:bodyPr/>
          <a:lstStyle/>
          <a:p>
            <a:r>
              <a:rPr lang="en-US" dirty="0"/>
              <a:t>Critical tradition</a:t>
            </a:r>
          </a:p>
        </p:txBody>
      </p:sp>
      <p:sp>
        <p:nvSpPr>
          <p:cNvPr id="3" name="Content Placeholder 2">
            <a:extLst>
              <a:ext uri="{FF2B5EF4-FFF2-40B4-BE49-F238E27FC236}">
                <a16:creationId xmlns:a16="http://schemas.microsoft.com/office/drawing/2014/main" id="{23B50F2E-07AC-4F88-8D3E-CAA2174A747F}"/>
              </a:ext>
            </a:extLst>
          </p:cNvPr>
          <p:cNvSpPr>
            <a:spLocks noGrp="1"/>
          </p:cNvSpPr>
          <p:nvPr>
            <p:ph idx="1"/>
          </p:nvPr>
        </p:nvSpPr>
        <p:spPr>
          <a:xfrm>
            <a:off x="838200" y="1825624"/>
            <a:ext cx="10515600" cy="3631279"/>
          </a:xfrm>
        </p:spPr>
        <p:txBody>
          <a:bodyPr>
            <a:normAutofit/>
          </a:bodyPr>
          <a:lstStyle/>
          <a:p>
            <a:r>
              <a:rPr lang="en-HK" dirty="0"/>
              <a:t>Power</a:t>
            </a:r>
          </a:p>
          <a:p>
            <a:r>
              <a:rPr lang="en-HK" dirty="0"/>
              <a:t>Second-wave feminism: “The personal is political”</a:t>
            </a:r>
          </a:p>
          <a:p>
            <a:r>
              <a:rPr lang="en-HK" dirty="0"/>
              <a:t>Society is structured by multiple axes of domination</a:t>
            </a:r>
          </a:p>
          <a:p>
            <a:r>
              <a:rPr lang="en-HK" dirty="0"/>
              <a:t>Michel Foucault: “relations of power are not in a position of exteriority with respect to other types of relationships (economic processes, knowledge relationships, sexual relations), but are immanent in the latter” (Foucault, 1979, </a:t>
            </a:r>
            <a:r>
              <a:rPr lang="en-HK" i="1" dirty="0"/>
              <a:t>The History of</a:t>
            </a:r>
            <a:r>
              <a:rPr lang="en-HK" dirty="0"/>
              <a:t> Sexuality, p. 94)</a:t>
            </a:r>
          </a:p>
          <a:p>
            <a:endParaRPr lang="en-US" dirty="0"/>
          </a:p>
        </p:txBody>
      </p:sp>
    </p:spTree>
    <p:extLst>
      <p:ext uri="{BB962C8B-B14F-4D97-AF65-F5344CB8AC3E}">
        <p14:creationId xmlns:p14="http://schemas.microsoft.com/office/powerpoint/2010/main" val="9566404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3CAF3-6F9D-4760-AAAA-B49403153E1B}"/>
              </a:ext>
            </a:extLst>
          </p:cNvPr>
          <p:cNvSpPr>
            <a:spLocks noGrp="1"/>
          </p:cNvSpPr>
          <p:nvPr>
            <p:ph type="title"/>
          </p:nvPr>
        </p:nvSpPr>
        <p:spPr/>
        <p:txBody>
          <a:bodyPr>
            <a:normAutofit/>
          </a:bodyPr>
          <a:lstStyle/>
          <a:p>
            <a:r>
              <a:rPr lang="en-US" sz="4000" dirty="0"/>
              <a:t>Two traditions of dating app research</a:t>
            </a:r>
          </a:p>
        </p:txBody>
      </p:sp>
      <p:sp>
        <p:nvSpPr>
          <p:cNvPr id="5" name="Text Placeholder 4">
            <a:extLst>
              <a:ext uri="{FF2B5EF4-FFF2-40B4-BE49-F238E27FC236}">
                <a16:creationId xmlns:a16="http://schemas.microsoft.com/office/drawing/2014/main" id="{327A1501-5CCF-4B0E-8B37-826F5E101826}"/>
              </a:ext>
            </a:extLst>
          </p:cNvPr>
          <p:cNvSpPr>
            <a:spLocks noGrp="1"/>
          </p:cNvSpPr>
          <p:nvPr>
            <p:ph type="body" idx="1"/>
          </p:nvPr>
        </p:nvSpPr>
        <p:spPr/>
        <p:txBody>
          <a:bodyPr/>
          <a:lstStyle/>
          <a:p>
            <a:r>
              <a:rPr lang="en-US" dirty="0"/>
              <a:t>Social scientific tradition</a:t>
            </a:r>
          </a:p>
        </p:txBody>
      </p:sp>
      <p:sp>
        <p:nvSpPr>
          <p:cNvPr id="6" name="Content Placeholder 5">
            <a:extLst>
              <a:ext uri="{FF2B5EF4-FFF2-40B4-BE49-F238E27FC236}">
                <a16:creationId xmlns:a16="http://schemas.microsoft.com/office/drawing/2014/main" id="{D24AA190-8B58-4704-92FF-C73F29962A06}"/>
              </a:ext>
            </a:extLst>
          </p:cNvPr>
          <p:cNvSpPr>
            <a:spLocks noGrp="1"/>
          </p:cNvSpPr>
          <p:nvPr>
            <p:ph sz="half" idx="2"/>
          </p:nvPr>
        </p:nvSpPr>
        <p:spPr/>
        <p:txBody>
          <a:bodyPr/>
          <a:lstStyle/>
          <a:p>
            <a:r>
              <a:rPr lang="en-US" dirty="0"/>
              <a:t>Individual</a:t>
            </a:r>
          </a:p>
          <a:p>
            <a:r>
              <a:rPr lang="en-US" dirty="0"/>
              <a:t>Focuses on behaviors</a:t>
            </a:r>
          </a:p>
        </p:txBody>
      </p:sp>
      <p:sp>
        <p:nvSpPr>
          <p:cNvPr id="7" name="Text Placeholder 6">
            <a:extLst>
              <a:ext uri="{FF2B5EF4-FFF2-40B4-BE49-F238E27FC236}">
                <a16:creationId xmlns:a16="http://schemas.microsoft.com/office/drawing/2014/main" id="{C283C225-8BD4-431A-A72F-BA22D2A0CD8F}"/>
              </a:ext>
            </a:extLst>
          </p:cNvPr>
          <p:cNvSpPr>
            <a:spLocks noGrp="1"/>
          </p:cNvSpPr>
          <p:nvPr>
            <p:ph type="body" sz="quarter" idx="3"/>
          </p:nvPr>
        </p:nvSpPr>
        <p:spPr/>
        <p:txBody>
          <a:bodyPr/>
          <a:lstStyle/>
          <a:p>
            <a:r>
              <a:rPr lang="en-US" dirty="0"/>
              <a:t>Critical tradition</a:t>
            </a:r>
          </a:p>
        </p:txBody>
      </p:sp>
      <p:sp>
        <p:nvSpPr>
          <p:cNvPr id="8" name="Content Placeholder 7">
            <a:extLst>
              <a:ext uri="{FF2B5EF4-FFF2-40B4-BE49-F238E27FC236}">
                <a16:creationId xmlns:a16="http://schemas.microsoft.com/office/drawing/2014/main" id="{B50AAEBC-308F-447A-982C-204069A30C18}"/>
              </a:ext>
            </a:extLst>
          </p:cNvPr>
          <p:cNvSpPr>
            <a:spLocks noGrp="1"/>
          </p:cNvSpPr>
          <p:nvPr>
            <p:ph sz="quarter" idx="4"/>
          </p:nvPr>
        </p:nvSpPr>
        <p:spPr/>
        <p:txBody>
          <a:bodyPr/>
          <a:lstStyle/>
          <a:p>
            <a:r>
              <a:rPr lang="en-US" dirty="0"/>
              <a:t>Society</a:t>
            </a:r>
          </a:p>
          <a:p>
            <a:r>
              <a:rPr lang="en-US" dirty="0"/>
              <a:t>Focuses on power relations (of course backed up by behaviors)</a:t>
            </a:r>
          </a:p>
        </p:txBody>
      </p:sp>
    </p:spTree>
    <p:extLst>
      <p:ext uri="{BB962C8B-B14F-4D97-AF65-F5344CB8AC3E}">
        <p14:creationId xmlns:p14="http://schemas.microsoft.com/office/powerpoint/2010/main" val="31906982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5AEB70-9266-DBCC-00D2-85DF43C84862}"/>
              </a:ext>
            </a:extLst>
          </p:cNvPr>
          <p:cNvSpPr>
            <a:spLocks noGrp="1"/>
          </p:cNvSpPr>
          <p:nvPr>
            <p:ph type="title"/>
          </p:nvPr>
        </p:nvSpPr>
        <p:spPr/>
        <p:txBody>
          <a:bodyPr/>
          <a:lstStyle/>
          <a:p>
            <a:r>
              <a:rPr lang="en-US" dirty="0"/>
              <a:t>What issues you want to explore in this course?</a:t>
            </a:r>
          </a:p>
        </p:txBody>
      </p:sp>
    </p:spTree>
    <p:extLst>
      <p:ext uri="{BB962C8B-B14F-4D97-AF65-F5344CB8AC3E}">
        <p14:creationId xmlns:p14="http://schemas.microsoft.com/office/powerpoint/2010/main" val="12863020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0854B0-1F16-2772-9AEB-50A46996EA99}"/>
              </a:ext>
            </a:extLst>
          </p:cNvPr>
          <p:cNvSpPr>
            <a:spLocks noGrp="1"/>
          </p:cNvSpPr>
          <p:nvPr>
            <p:ph type="title"/>
          </p:nvPr>
        </p:nvSpPr>
        <p:spPr/>
        <p:txBody>
          <a:bodyPr/>
          <a:lstStyle/>
          <a:p>
            <a:r>
              <a:rPr lang="en-US"/>
              <a:t>Agenda for Meeting 2</a:t>
            </a:r>
            <a:endParaRPr lang="en-US" dirty="0"/>
          </a:p>
        </p:txBody>
      </p:sp>
      <p:sp>
        <p:nvSpPr>
          <p:cNvPr id="5" name="Content Placeholder 4">
            <a:extLst>
              <a:ext uri="{FF2B5EF4-FFF2-40B4-BE49-F238E27FC236}">
                <a16:creationId xmlns:a16="http://schemas.microsoft.com/office/drawing/2014/main" id="{5BF341BF-87CC-0A46-CA17-873AD1CCB49E}"/>
              </a:ext>
            </a:extLst>
          </p:cNvPr>
          <p:cNvSpPr>
            <a:spLocks noGrp="1"/>
          </p:cNvSpPr>
          <p:nvPr>
            <p:ph idx="1"/>
          </p:nvPr>
        </p:nvSpPr>
        <p:spPr/>
        <p:txBody>
          <a:bodyPr/>
          <a:lstStyle/>
          <a:p>
            <a:r>
              <a:rPr lang="en-US" dirty="0"/>
              <a:t>Get to know you more and sign the acknowledge (last page of the course outline)</a:t>
            </a:r>
          </a:p>
          <a:p>
            <a:r>
              <a:rPr lang="en-US" dirty="0"/>
              <a:t>Lecture: Getting it on online: How special is CMC? </a:t>
            </a:r>
          </a:p>
          <a:p>
            <a:r>
              <a:rPr lang="en-US" dirty="0"/>
              <a:t>Basic statistical understandings (optional)</a:t>
            </a:r>
          </a:p>
        </p:txBody>
      </p:sp>
    </p:spTree>
    <p:extLst>
      <p:ext uri="{BB962C8B-B14F-4D97-AF65-F5344CB8AC3E}">
        <p14:creationId xmlns:p14="http://schemas.microsoft.com/office/powerpoint/2010/main" val="881568338"/>
      </p:ext>
    </p:extLst>
  </p:cSld>
  <p:clrMapOvr>
    <a:masterClrMapping/>
  </p:clrMapOvr>
</p:sld>
</file>

<file path=ppt/theme/theme1.xml><?xml version="1.0" encoding="utf-8"?>
<a:theme xmlns:a="http://schemas.openxmlformats.org/drawingml/2006/main" name="FunkyShapesDarkVTI">
  <a:themeElements>
    <a:clrScheme name="Custom 4">
      <a:dk1>
        <a:srgbClr val="FFFFFF"/>
      </a:dk1>
      <a:lt1>
        <a:srgbClr val="000000"/>
      </a:lt1>
      <a:dk2>
        <a:srgbClr val="F3FFF8"/>
      </a:dk2>
      <a:lt2>
        <a:srgbClr val="2D2D2D"/>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Source Sans Pro">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DarkVTI" id="{84637DF0-7D2D-4F20-816C-4D6C45F3FAF2}" vid="{0EF594EE-C33F-480F-80E7-D4F74C1C30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318</TotalTime>
  <Words>1393</Words>
  <Application>Microsoft Macintosh PowerPoint</Application>
  <PresentationFormat>Widescreen</PresentationFormat>
  <Paragraphs>139</Paragraphs>
  <Slides>27</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Segoe UI Historic</vt:lpstr>
      <vt:lpstr>Source Sans Pro</vt:lpstr>
      <vt:lpstr>Wingdings</vt:lpstr>
      <vt:lpstr>FunkyShapesDarkVTI</vt:lpstr>
      <vt:lpstr>Prof Sam Chan</vt:lpstr>
      <vt:lpstr>Today</vt:lpstr>
      <vt:lpstr>PowerPoint Presentation</vt:lpstr>
      <vt:lpstr>Themes covered</vt:lpstr>
      <vt:lpstr>Learning outcomes</vt:lpstr>
      <vt:lpstr>About me – Prof Sam Chan</vt:lpstr>
      <vt:lpstr>Teaching Assistant</vt:lpstr>
      <vt:lpstr>Style of meetings</vt:lpstr>
      <vt:lpstr>Safe space  </vt:lpstr>
      <vt:lpstr>Assessments</vt:lpstr>
      <vt:lpstr>Pre-class questions (3 points × 5) </vt:lpstr>
      <vt:lpstr>Workshops (20 points × 3)</vt:lpstr>
      <vt:lpstr>App pitch (25 points)</vt:lpstr>
      <vt:lpstr>Attendance (Academic Policies)</vt:lpstr>
      <vt:lpstr>Academic honesty</vt:lpstr>
      <vt:lpstr>Policy on the Use of Artificial Intelligence (AI) Tools</vt:lpstr>
      <vt:lpstr>Sick leave</vt:lpstr>
      <vt:lpstr>Communication via emails</vt:lpstr>
      <vt:lpstr>Video/audio recording </vt:lpstr>
      <vt:lpstr>Reference letter</vt:lpstr>
      <vt:lpstr>Two traditions of dating app research</vt:lpstr>
      <vt:lpstr>PowerPoint Presentation</vt:lpstr>
      <vt:lpstr>Social scientific tradition</vt:lpstr>
      <vt:lpstr>Critical tradition</vt:lpstr>
      <vt:lpstr>Two traditions of dating app research</vt:lpstr>
      <vt:lpstr>What issues you want to explore in this course?</vt:lpstr>
      <vt:lpstr>Agenda for Meeting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 Sam Chan</dc:title>
  <dc:creator>Xam Chan</dc:creator>
  <cp:lastModifiedBy>Francis Lu</cp:lastModifiedBy>
  <cp:revision>20</cp:revision>
  <dcterms:created xsi:type="dcterms:W3CDTF">2024-01-09T15:09:38Z</dcterms:created>
  <dcterms:modified xsi:type="dcterms:W3CDTF">2026-06-24T03:29:41Z</dcterms:modified>
</cp:coreProperties>
</file>