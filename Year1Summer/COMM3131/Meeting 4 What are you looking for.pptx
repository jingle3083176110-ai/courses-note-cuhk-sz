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35"/>
  </p:notesMasterIdLst>
  <p:sldIdLst>
    <p:sldId id="256" r:id="rId2"/>
    <p:sldId id="257" r:id="rId3"/>
    <p:sldId id="495" r:id="rId4"/>
    <p:sldId id="496" r:id="rId5"/>
    <p:sldId id="314" r:id="rId6"/>
    <p:sldId id="498" r:id="rId7"/>
    <p:sldId id="499" r:id="rId8"/>
    <p:sldId id="497" r:id="rId9"/>
    <p:sldId id="319" r:id="rId10"/>
    <p:sldId id="321" r:id="rId11"/>
    <p:sldId id="500" r:id="rId12"/>
    <p:sldId id="501" r:id="rId13"/>
    <p:sldId id="502" r:id="rId14"/>
    <p:sldId id="503" r:id="rId15"/>
    <p:sldId id="507" r:id="rId16"/>
    <p:sldId id="436" r:id="rId17"/>
    <p:sldId id="437" r:id="rId18"/>
    <p:sldId id="444" r:id="rId19"/>
    <p:sldId id="492" r:id="rId20"/>
    <p:sldId id="455" r:id="rId21"/>
    <p:sldId id="451" r:id="rId22"/>
    <p:sldId id="454" r:id="rId23"/>
    <p:sldId id="504" r:id="rId24"/>
    <p:sldId id="482" r:id="rId25"/>
    <p:sldId id="505" r:id="rId26"/>
    <p:sldId id="506" r:id="rId27"/>
    <p:sldId id="459" r:id="rId28"/>
    <p:sldId id="431" r:id="rId29"/>
    <p:sldId id="513" r:id="rId30"/>
    <p:sldId id="508" r:id="rId31"/>
    <p:sldId id="509" r:id="rId32"/>
    <p:sldId id="490" r:id="rId33"/>
    <p:sldId id="510" r:id="rId34"/>
  </p:sldIdLst>
  <p:sldSz cx="12192000" cy="6858000"/>
  <p:notesSz cx="6792913" cy="99250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13" autoAdjust="0"/>
    <p:restoredTop sz="74939" autoAdjust="0"/>
  </p:normalViewPr>
  <p:slideViewPr>
    <p:cSldViewPr snapToGrid="0">
      <p:cViewPr varScale="1">
        <p:scale>
          <a:sx n="79" d="100"/>
          <a:sy n="79" d="100"/>
        </p:scale>
        <p:origin x="1524" y="9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CDACDD-D915-49E4-A6D1-08ABB3D726D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831C78D-22D5-4CD4-8640-3F10185AA5B0}">
      <dgm:prSet/>
      <dgm:spPr/>
      <dgm:t>
        <a:bodyPr/>
        <a:lstStyle/>
        <a:p>
          <a:r>
            <a:rPr lang="en-US"/>
            <a:t>The study of “modality switching”</a:t>
          </a:r>
        </a:p>
      </dgm:t>
    </dgm:pt>
    <dgm:pt modelId="{51BDD4A4-7F03-4B54-8768-14C71AB80FBF}" type="parTrans" cxnId="{27FCF2D9-E2C7-4660-8C8F-F830BF7D9A24}">
      <dgm:prSet/>
      <dgm:spPr/>
      <dgm:t>
        <a:bodyPr/>
        <a:lstStyle/>
        <a:p>
          <a:endParaRPr lang="en-US"/>
        </a:p>
      </dgm:t>
    </dgm:pt>
    <dgm:pt modelId="{4548FE93-9DBE-4B2D-AF38-36E26C937C8D}" type="sibTrans" cxnId="{27FCF2D9-E2C7-4660-8C8F-F830BF7D9A24}">
      <dgm:prSet/>
      <dgm:spPr/>
      <dgm:t>
        <a:bodyPr/>
        <a:lstStyle/>
        <a:p>
          <a:endParaRPr lang="en-US"/>
        </a:p>
      </dgm:t>
    </dgm:pt>
    <dgm:pt modelId="{0320B6D6-79A2-413D-A2BC-059ACEDDA23A}">
      <dgm:prSet/>
      <dgm:spPr/>
      <dgm:t>
        <a:bodyPr/>
        <a:lstStyle/>
        <a:p>
          <a:r>
            <a:rPr lang="en-US"/>
            <a:t>Measuring amount of time spent online (AMT), sense of intimacy, and perception of the future development of the relationship (POV) (Ramirez et al., 2015)</a:t>
          </a:r>
        </a:p>
      </dgm:t>
    </dgm:pt>
    <dgm:pt modelId="{8E542F9D-953B-4535-8361-14B85290546B}" type="parTrans" cxnId="{456F85F6-96B1-4A0B-9D4F-5E43DE2BF9DB}">
      <dgm:prSet/>
      <dgm:spPr/>
      <dgm:t>
        <a:bodyPr/>
        <a:lstStyle/>
        <a:p>
          <a:endParaRPr lang="en-US"/>
        </a:p>
      </dgm:t>
    </dgm:pt>
    <dgm:pt modelId="{025416E5-569C-48B2-BE33-256F8D562FF3}" type="sibTrans" cxnId="{456F85F6-96B1-4A0B-9D4F-5E43DE2BF9DB}">
      <dgm:prSet/>
      <dgm:spPr/>
      <dgm:t>
        <a:bodyPr/>
        <a:lstStyle/>
        <a:p>
          <a:endParaRPr lang="en-US"/>
        </a:p>
      </dgm:t>
    </dgm:pt>
    <dgm:pt modelId="{48B6C4B1-5827-4D79-82B9-FA558FD73FE4}" type="pres">
      <dgm:prSet presAssocID="{3ECDACDD-D915-49E4-A6D1-08ABB3D726DE}" presName="linear" presStyleCnt="0">
        <dgm:presLayoutVars>
          <dgm:animLvl val="lvl"/>
          <dgm:resizeHandles val="exact"/>
        </dgm:presLayoutVars>
      </dgm:prSet>
      <dgm:spPr/>
    </dgm:pt>
    <dgm:pt modelId="{57218FA0-E080-4A8B-AF93-CDEDFDE11103}" type="pres">
      <dgm:prSet presAssocID="{E831C78D-22D5-4CD4-8640-3F10185AA5B0}" presName="parentText" presStyleLbl="node1" presStyleIdx="0" presStyleCnt="2">
        <dgm:presLayoutVars>
          <dgm:chMax val="0"/>
          <dgm:bulletEnabled val="1"/>
        </dgm:presLayoutVars>
      </dgm:prSet>
      <dgm:spPr/>
    </dgm:pt>
    <dgm:pt modelId="{6553FED1-F2C1-4098-9C81-39FDE940A5BB}" type="pres">
      <dgm:prSet presAssocID="{4548FE93-9DBE-4B2D-AF38-36E26C937C8D}" presName="spacer" presStyleCnt="0"/>
      <dgm:spPr/>
    </dgm:pt>
    <dgm:pt modelId="{866FC4F0-14B8-41E3-9B93-99F9B8F37F0A}" type="pres">
      <dgm:prSet presAssocID="{0320B6D6-79A2-413D-A2BC-059ACEDDA23A}" presName="parentText" presStyleLbl="node1" presStyleIdx="1" presStyleCnt="2">
        <dgm:presLayoutVars>
          <dgm:chMax val="0"/>
          <dgm:bulletEnabled val="1"/>
        </dgm:presLayoutVars>
      </dgm:prSet>
      <dgm:spPr/>
    </dgm:pt>
  </dgm:ptLst>
  <dgm:cxnLst>
    <dgm:cxn modelId="{B5201E10-87B8-4DD1-914A-513CEFEA7C08}" type="presOf" srcId="{E831C78D-22D5-4CD4-8640-3F10185AA5B0}" destId="{57218FA0-E080-4A8B-AF93-CDEDFDE11103}" srcOrd="0" destOrd="0" presId="urn:microsoft.com/office/officeart/2005/8/layout/vList2"/>
    <dgm:cxn modelId="{DC52A83A-885F-4970-A804-BE2C4821087A}" type="presOf" srcId="{0320B6D6-79A2-413D-A2BC-059ACEDDA23A}" destId="{866FC4F0-14B8-41E3-9B93-99F9B8F37F0A}" srcOrd="0" destOrd="0" presId="urn:microsoft.com/office/officeart/2005/8/layout/vList2"/>
    <dgm:cxn modelId="{45743765-7BB9-4212-AB54-AAFAC4E40F4A}" type="presOf" srcId="{3ECDACDD-D915-49E4-A6D1-08ABB3D726DE}" destId="{48B6C4B1-5827-4D79-82B9-FA558FD73FE4}" srcOrd="0" destOrd="0" presId="urn:microsoft.com/office/officeart/2005/8/layout/vList2"/>
    <dgm:cxn modelId="{27FCF2D9-E2C7-4660-8C8F-F830BF7D9A24}" srcId="{3ECDACDD-D915-49E4-A6D1-08ABB3D726DE}" destId="{E831C78D-22D5-4CD4-8640-3F10185AA5B0}" srcOrd="0" destOrd="0" parTransId="{51BDD4A4-7F03-4B54-8768-14C71AB80FBF}" sibTransId="{4548FE93-9DBE-4B2D-AF38-36E26C937C8D}"/>
    <dgm:cxn modelId="{456F85F6-96B1-4A0B-9D4F-5E43DE2BF9DB}" srcId="{3ECDACDD-D915-49E4-A6D1-08ABB3D726DE}" destId="{0320B6D6-79A2-413D-A2BC-059ACEDDA23A}" srcOrd="1" destOrd="0" parTransId="{8E542F9D-953B-4535-8361-14B85290546B}" sibTransId="{025416E5-569C-48B2-BE33-256F8D562FF3}"/>
    <dgm:cxn modelId="{D7139166-64BB-4C52-89F6-282101E98B19}" type="presParOf" srcId="{48B6C4B1-5827-4D79-82B9-FA558FD73FE4}" destId="{57218FA0-E080-4A8B-AF93-CDEDFDE11103}" srcOrd="0" destOrd="0" presId="urn:microsoft.com/office/officeart/2005/8/layout/vList2"/>
    <dgm:cxn modelId="{773203D7-4200-4FC0-BE9E-E9EA0401FB25}" type="presParOf" srcId="{48B6C4B1-5827-4D79-82B9-FA558FD73FE4}" destId="{6553FED1-F2C1-4098-9C81-39FDE940A5BB}" srcOrd="1" destOrd="0" presId="urn:microsoft.com/office/officeart/2005/8/layout/vList2"/>
    <dgm:cxn modelId="{80032AAB-6023-40FE-852C-4ACB4150CBAB}" type="presParOf" srcId="{48B6C4B1-5827-4D79-82B9-FA558FD73FE4}" destId="{866FC4F0-14B8-41E3-9B93-99F9B8F37F0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05E816-532D-4B98-9A73-0B5B37AB9D5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7EFCA26-7556-447B-AF64-A672C3A0DC8F}">
      <dgm:prSet custT="1"/>
      <dgm:spPr/>
      <dgm:t>
        <a:bodyPr/>
        <a:lstStyle/>
        <a:p>
          <a:pPr>
            <a:lnSpc>
              <a:spcPct val="100000"/>
            </a:lnSpc>
          </a:pPr>
          <a:r>
            <a:rPr lang="en-HK" sz="2400" dirty="0">
              <a:solidFill>
                <a:schemeClr val="tx1"/>
              </a:solidFill>
              <a:latin typeface="+mn-lt"/>
            </a:rPr>
            <a:t>Presence of uncertainty</a:t>
          </a:r>
          <a:endParaRPr lang="en-US" sz="2400" dirty="0">
            <a:solidFill>
              <a:schemeClr val="tx1"/>
            </a:solidFill>
            <a:latin typeface="+mn-lt"/>
          </a:endParaRPr>
        </a:p>
      </dgm:t>
    </dgm:pt>
    <dgm:pt modelId="{DD12902B-D1DE-48C0-AF4E-4FADA0675B7F}" type="parTrans" cxnId="{A54AEA55-BAB5-43C5-A013-9221CF2339C3}">
      <dgm:prSet/>
      <dgm:spPr/>
      <dgm:t>
        <a:bodyPr/>
        <a:lstStyle/>
        <a:p>
          <a:endParaRPr lang="en-US" sz="2000">
            <a:solidFill>
              <a:schemeClr val="bg1"/>
            </a:solidFill>
            <a:latin typeface="Rockwell" panose="02060603020205020403" pitchFamily="18" charset="0"/>
          </a:endParaRPr>
        </a:p>
      </dgm:t>
    </dgm:pt>
    <dgm:pt modelId="{3209FAE4-1FD9-4A88-8EA2-79C511A73725}" type="sibTrans" cxnId="{A54AEA55-BAB5-43C5-A013-9221CF2339C3}">
      <dgm:prSet/>
      <dgm:spPr/>
      <dgm:t>
        <a:bodyPr/>
        <a:lstStyle/>
        <a:p>
          <a:endParaRPr lang="en-US" sz="2000">
            <a:solidFill>
              <a:schemeClr val="bg1"/>
            </a:solidFill>
            <a:latin typeface="Rockwell" panose="02060603020205020403" pitchFamily="18" charset="0"/>
          </a:endParaRPr>
        </a:p>
      </dgm:t>
    </dgm:pt>
    <dgm:pt modelId="{CCDA6DD9-B65C-49E2-8F9E-4B9A0EAD1A81}">
      <dgm:prSet custT="1"/>
      <dgm:spPr/>
      <dgm:t>
        <a:bodyPr/>
        <a:lstStyle/>
        <a:p>
          <a:pPr>
            <a:lnSpc>
              <a:spcPct val="100000"/>
            </a:lnSpc>
          </a:pPr>
          <a:r>
            <a:rPr lang="en-HK" sz="2400">
              <a:solidFill>
                <a:schemeClr val="tx1"/>
              </a:solidFill>
              <a:latin typeface="+mn-lt"/>
            </a:rPr>
            <a:t>Desire to reduce uncertainty</a:t>
          </a:r>
          <a:endParaRPr lang="en-US" sz="2400">
            <a:solidFill>
              <a:schemeClr val="tx1"/>
            </a:solidFill>
            <a:latin typeface="+mn-lt"/>
          </a:endParaRPr>
        </a:p>
      </dgm:t>
    </dgm:pt>
    <dgm:pt modelId="{2FA40740-2565-45D2-AD0B-65F8B1710644}" type="parTrans" cxnId="{4747AB2F-C1E9-4DC3-AC65-E7A909C79BB0}">
      <dgm:prSet/>
      <dgm:spPr/>
      <dgm:t>
        <a:bodyPr/>
        <a:lstStyle/>
        <a:p>
          <a:endParaRPr lang="en-US" sz="2000">
            <a:solidFill>
              <a:schemeClr val="bg1"/>
            </a:solidFill>
            <a:latin typeface="Rockwell" panose="02060603020205020403" pitchFamily="18" charset="0"/>
          </a:endParaRPr>
        </a:p>
      </dgm:t>
    </dgm:pt>
    <dgm:pt modelId="{F451094E-F413-4ED0-9A6B-BD7A7D577444}" type="sibTrans" cxnId="{4747AB2F-C1E9-4DC3-AC65-E7A909C79BB0}">
      <dgm:prSet/>
      <dgm:spPr/>
      <dgm:t>
        <a:bodyPr/>
        <a:lstStyle/>
        <a:p>
          <a:endParaRPr lang="en-US" sz="2000">
            <a:solidFill>
              <a:schemeClr val="bg1"/>
            </a:solidFill>
            <a:latin typeface="Rockwell" panose="02060603020205020403" pitchFamily="18" charset="0"/>
          </a:endParaRPr>
        </a:p>
      </dgm:t>
    </dgm:pt>
    <dgm:pt modelId="{53D1447C-2889-4DEB-A4EC-50C8B6D3AC78}">
      <dgm:prSet custT="1"/>
      <dgm:spPr/>
      <dgm:t>
        <a:bodyPr/>
        <a:lstStyle/>
        <a:p>
          <a:pPr>
            <a:lnSpc>
              <a:spcPct val="100000"/>
            </a:lnSpc>
          </a:pPr>
          <a:r>
            <a:rPr lang="en-HK" sz="2400" dirty="0">
              <a:solidFill>
                <a:schemeClr val="tx1"/>
              </a:solidFill>
              <a:latin typeface="+mn-lt"/>
            </a:rPr>
            <a:t>Seek more information </a:t>
          </a:r>
          <a:endParaRPr lang="en-US" sz="2400" dirty="0">
            <a:solidFill>
              <a:schemeClr val="tx1"/>
            </a:solidFill>
            <a:latin typeface="+mn-lt"/>
          </a:endParaRPr>
        </a:p>
      </dgm:t>
    </dgm:pt>
    <dgm:pt modelId="{8C13B375-FCBF-4AD1-B8C6-EC3754A2B58D}" type="parTrans" cxnId="{426DB0F1-EAF7-4D25-A030-29D86E75CB75}">
      <dgm:prSet/>
      <dgm:spPr/>
      <dgm:t>
        <a:bodyPr/>
        <a:lstStyle/>
        <a:p>
          <a:endParaRPr lang="en-US" sz="2000">
            <a:solidFill>
              <a:schemeClr val="bg1"/>
            </a:solidFill>
            <a:latin typeface="Rockwell" panose="02060603020205020403" pitchFamily="18" charset="0"/>
          </a:endParaRPr>
        </a:p>
      </dgm:t>
    </dgm:pt>
    <dgm:pt modelId="{F03D3907-02B7-4DA3-BC1A-A277165145AF}" type="sibTrans" cxnId="{426DB0F1-EAF7-4D25-A030-29D86E75CB75}">
      <dgm:prSet/>
      <dgm:spPr/>
      <dgm:t>
        <a:bodyPr/>
        <a:lstStyle/>
        <a:p>
          <a:endParaRPr lang="en-US" sz="2000">
            <a:solidFill>
              <a:schemeClr val="bg1"/>
            </a:solidFill>
            <a:latin typeface="Rockwell" panose="02060603020205020403" pitchFamily="18" charset="0"/>
          </a:endParaRPr>
        </a:p>
      </dgm:t>
    </dgm:pt>
    <dgm:pt modelId="{B286659C-90E0-4A22-94F2-A5A111C56529}">
      <dgm:prSet custT="1"/>
      <dgm:spPr/>
      <dgm:t>
        <a:bodyPr/>
        <a:lstStyle/>
        <a:p>
          <a:pPr>
            <a:lnSpc>
              <a:spcPct val="100000"/>
            </a:lnSpc>
          </a:pPr>
          <a:r>
            <a:rPr lang="en-HK" sz="2400">
              <a:solidFill>
                <a:schemeClr val="tx1"/>
              </a:solidFill>
              <a:latin typeface="+mn-lt"/>
            </a:rPr>
            <a:t>Uncertainty reduced</a:t>
          </a:r>
          <a:endParaRPr lang="en-US" sz="2400">
            <a:solidFill>
              <a:schemeClr val="tx1"/>
            </a:solidFill>
            <a:latin typeface="+mn-lt"/>
          </a:endParaRPr>
        </a:p>
      </dgm:t>
    </dgm:pt>
    <dgm:pt modelId="{37F4108F-FFE3-40FA-8A85-25DE37C6BDC5}" type="parTrans" cxnId="{02CCC9F2-2F05-46BB-AA50-3379F50E26B2}">
      <dgm:prSet/>
      <dgm:spPr/>
      <dgm:t>
        <a:bodyPr/>
        <a:lstStyle/>
        <a:p>
          <a:endParaRPr lang="en-US" sz="2000">
            <a:solidFill>
              <a:schemeClr val="bg1"/>
            </a:solidFill>
            <a:latin typeface="Rockwell" panose="02060603020205020403" pitchFamily="18" charset="0"/>
          </a:endParaRPr>
        </a:p>
      </dgm:t>
    </dgm:pt>
    <dgm:pt modelId="{DD3E4F67-C70E-41E7-99B9-8E1015A4600D}" type="sibTrans" cxnId="{02CCC9F2-2F05-46BB-AA50-3379F50E26B2}">
      <dgm:prSet/>
      <dgm:spPr/>
      <dgm:t>
        <a:bodyPr/>
        <a:lstStyle/>
        <a:p>
          <a:endParaRPr lang="en-US" sz="2000">
            <a:solidFill>
              <a:schemeClr val="bg1"/>
            </a:solidFill>
            <a:latin typeface="Rockwell" panose="02060603020205020403" pitchFamily="18" charset="0"/>
          </a:endParaRPr>
        </a:p>
      </dgm:t>
    </dgm:pt>
    <dgm:pt modelId="{85AA7048-39A6-45FB-8DB3-AF9744EABB5A}" type="pres">
      <dgm:prSet presAssocID="{D605E816-532D-4B98-9A73-0B5B37AB9D53}" presName="root" presStyleCnt="0">
        <dgm:presLayoutVars>
          <dgm:dir/>
          <dgm:resizeHandles val="exact"/>
        </dgm:presLayoutVars>
      </dgm:prSet>
      <dgm:spPr/>
    </dgm:pt>
    <dgm:pt modelId="{82B3CB1E-6159-488F-AD6C-20FEB65E8A4E}" type="pres">
      <dgm:prSet presAssocID="{17EFCA26-7556-447B-AF64-A672C3A0DC8F}" presName="compNode" presStyleCnt="0"/>
      <dgm:spPr/>
    </dgm:pt>
    <dgm:pt modelId="{0F1BDC1F-C4DF-44A9-AB85-79529DE6D5E5}" type="pres">
      <dgm:prSet presAssocID="{17EFCA26-7556-447B-AF64-A672C3A0DC8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Questions"/>
        </a:ext>
      </dgm:extLst>
    </dgm:pt>
    <dgm:pt modelId="{B0EA161F-0563-4D67-8231-84B25BD8E9C3}" type="pres">
      <dgm:prSet presAssocID="{17EFCA26-7556-447B-AF64-A672C3A0DC8F}" presName="spaceRect" presStyleCnt="0"/>
      <dgm:spPr/>
    </dgm:pt>
    <dgm:pt modelId="{0A4AE67C-E453-4C14-89CE-BC03FADE0C1D}" type="pres">
      <dgm:prSet presAssocID="{17EFCA26-7556-447B-AF64-A672C3A0DC8F}" presName="textRect" presStyleLbl="revTx" presStyleIdx="0" presStyleCnt="4">
        <dgm:presLayoutVars>
          <dgm:chMax val="1"/>
          <dgm:chPref val="1"/>
        </dgm:presLayoutVars>
      </dgm:prSet>
      <dgm:spPr/>
    </dgm:pt>
    <dgm:pt modelId="{1A29B262-3360-4C09-942C-05BA244A83C1}" type="pres">
      <dgm:prSet presAssocID="{3209FAE4-1FD9-4A88-8EA2-79C511A73725}" presName="sibTrans" presStyleCnt="0"/>
      <dgm:spPr/>
    </dgm:pt>
    <dgm:pt modelId="{FF11A3BA-7611-44BE-8A59-48B75BD14189}" type="pres">
      <dgm:prSet presAssocID="{CCDA6DD9-B65C-49E2-8F9E-4B9A0EAD1A81}" presName="compNode" presStyleCnt="0"/>
      <dgm:spPr/>
    </dgm:pt>
    <dgm:pt modelId="{71204F4D-1F84-4CD0-A074-C2F97967D8AC}" type="pres">
      <dgm:prSet presAssocID="{CCDA6DD9-B65C-49E2-8F9E-4B9A0EAD1A8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C5998783-D6F1-4589-8DCF-9625A717FBDE}" type="pres">
      <dgm:prSet presAssocID="{CCDA6DD9-B65C-49E2-8F9E-4B9A0EAD1A81}" presName="spaceRect" presStyleCnt="0"/>
      <dgm:spPr/>
    </dgm:pt>
    <dgm:pt modelId="{E41C7D0A-00A2-44CE-B781-3E9DF100FF07}" type="pres">
      <dgm:prSet presAssocID="{CCDA6DD9-B65C-49E2-8F9E-4B9A0EAD1A81}" presName="textRect" presStyleLbl="revTx" presStyleIdx="1" presStyleCnt="4">
        <dgm:presLayoutVars>
          <dgm:chMax val="1"/>
          <dgm:chPref val="1"/>
        </dgm:presLayoutVars>
      </dgm:prSet>
      <dgm:spPr/>
    </dgm:pt>
    <dgm:pt modelId="{B2C048AC-3E1E-4ED6-B4B6-DAAA3C537186}" type="pres">
      <dgm:prSet presAssocID="{F451094E-F413-4ED0-9A6B-BD7A7D577444}" presName="sibTrans" presStyleCnt="0"/>
      <dgm:spPr/>
    </dgm:pt>
    <dgm:pt modelId="{0C3E4F49-0F7B-4649-8712-BA31F10C27E9}" type="pres">
      <dgm:prSet presAssocID="{53D1447C-2889-4DEB-A4EC-50C8B6D3AC78}" presName="compNode" presStyleCnt="0"/>
      <dgm:spPr/>
    </dgm:pt>
    <dgm:pt modelId="{40AD4CD4-C68B-4824-B90F-D39D1939AE1D}" type="pres">
      <dgm:prSet presAssocID="{53D1447C-2889-4DEB-A4EC-50C8B6D3AC7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agnifying glass"/>
        </a:ext>
      </dgm:extLst>
    </dgm:pt>
    <dgm:pt modelId="{BFC7798E-6524-428A-8602-62F0DBB6DE33}" type="pres">
      <dgm:prSet presAssocID="{53D1447C-2889-4DEB-A4EC-50C8B6D3AC78}" presName="spaceRect" presStyleCnt="0"/>
      <dgm:spPr/>
    </dgm:pt>
    <dgm:pt modelId="{2F62B43D-08AB-4E2F-994B-0A1F40F8BCFE}" type="pres">
      <dgm:prSet presAssocID="{53D1447C-2889-4DEB-A4EC-50C8B6D3AC78}" presName="textRect" presStyleLbl="revTx" presStyleIdx="2" presStyleCnt="4">
        <dgm:presLayoutVars>
          <dgm:chMax val="1"/>
          <dgm:chPref val="1"/>
        </dgm:presLayoutVars>
      </dgm:prSet>
      <dgm:spPr/>
    </dgm:pt>
    <dgm:pt modelId="{CD8D8AFF-00B9-4562-A9E1-1775A8E7C82D}" type="pres">
      <dgm:prSet presAssocID="{F03D3907-02B7-4DA3-BC1A-A277165145AF}" presName="sibTrans" presStyleCnt="0"/>
      <dgm:spPr/>
    </dgm:pt>
    <dgm:pt modelId="{8EC180FD-5A39-40F2-9A0C-D69BF1991CFD}" type="pres">
      <dgm:prSet presAssocID="{B286659C-90E0-4A22-94F2-A5A111C56529}" presName="compNode" presStyleCnt="0"/>
      <dgm:spPr/>
    </dgm:pt>
    <dgm:pt modelId="{CD301CAE-4AB4-4995-BB90-123A90BFB3E9}" type="pres">
      <dgm:prSet presAssocID="{B286659C-90E0-4A22-94F2-A5A111C5652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p"/>
        </a:ext>
      </dgm:extLst>
    </dgm:pt>
    <dgm:pt modelId="{F2A2A048-CFC5-457C-8BFD-136A0BC228C1}" type="pres">
      <dgm:prSet presAssocID="{B286659C-90E0-4A22-94F2-A5A111C56529}" presName="spaceRect" presStyleCnt="0"/>
      <dgm:spPr/>
    </dgm:pt>
    <dgm:pt modelId="{D945EC13-C01E-4397-9C84-704687009B07}" type="pres">
      <dgm:prSet presAssocID="{B286659C-90E0-4A22-94F2-A5A111C56529}" presName="textRect" presStyleLbl="revTx" presStyleIdx="3" presStyleCnt="4">
        <dgm:presLayoutVars>
          <dgm:chMax val="1"/>
          <dgm:chPref val="1"/>
        </dgm:presLayoutVars>
      </dgm:prSet>
      <dgm:spPr/>
    </dgm:pt>
  </dgm:ptLst>
  <dgm:cxnLst>
    <dgm:cxn modelId="{3A60ED0E-9594-4D1E-95D4-99DEEB255FDA}" type="presOf" srcId="{17EFCA26-7556-447B-AF64-A672C3A0DC8F}" destId="{0A4AE67C-E453-4C14-89CE-BC03FADE0C1D}" srcOrd="0" destOrd="0" presId="urn:microsoft.com/office/officeart/2018/2/layout/IconLabelList"/>
    <dgm:cxn modelId="{4747AB2F-C1E9-4DC3-AC65-E7A909C79BB0}" srcId="{D605E816-532D-4B98-9A73-0B5B37AB9D53}" destId="{CCDA6DD9-B65C-49E2-8F9E-4B9A0EAD1A81}" srcOrd="1" destOrd="0" parTransId="{2FA40740-2565-45D2-AD0B-65F8B1710644}" sibTransId="{F451094E-F413-4ED0-9A6B-BD7A7D577444}"/>
    <dgm:cxn modelId="{5993E66F-89AA-4E1D-943D-1CA2F13BF2E2}" type="presOf" srcId="{CCDA6DD9-B65C-49E2-8F9E-4B9A0EAD1A81}" destId="{E41C7D0A-00A2-44CE-B781-3E9DF100FF07}" srcOrd="0" destOrd="0" presId="urn:microsoft.com/office/officeart/2018/2/layout/IconLabelList"/>
    <dgm:cxn modelId="{A54AEA55-BAB5-43C5-A013-9221CF2339C3}" srcId="{D605E816-532D-4B98-9A73-0B5B37AB9D53}" destId="{17EFCA26-7556-447B-AF64-A672C3A0DC8F}" srcOrd="0" destOrd="0" parTransId="{DD12902B-D1DE-48C0-AF4E-4FADA0675B7F}" sibTransId="{3209FAE4-1FD9-4A88-8EA2-79C511A73725}"/>
    <dgm:cxn modelId="{C863B3BA-1A50-4E00-8A9E-86BF985CC0DD}" type="presOf" srcId="{B286659C-90E0-4A22-94F2-A5A111C56529}" destId="{D945EC13-C01E-4397-9C84-704687009B07}" srcOrd="0" destOrd="0" presId="urn:microsoft.com/office/officeart/2018/2/layout/IconLabelList"/>
    <dgm:cxn modelId="{F04B01E3-ECB9-4548-B9BD-40493B80709A}" type="presOf" srcId="{D605E816-532D-4B98-9A73-0B5B37AB9D53}" destId="{85AA7048-39A6-45FB-8DB3-AF9744EABB5A}" srcOrd="0" destOrd="0" presId="urn:microsoft.com/office/officeart/2018/2/layout/IconLabelList"/>
    <dgm:cxn modelId="{426DB0F1-EAF7-4D25-A030-29D86E75CB75}" srcId="{D605E816-532D-4B98-9A73-0B5B37AB9D53}" destId="{53D1447C-2889-4DEB-A4EC-50C8B6D3AC78}" srcOrd="2" destOrd="0" parTransId="{8C13B375-FCBF-4AD1-B8C6-EC3754A2B58D}" sibTransId="{F03D3907-02B7-4DA3-BC1A-A277165145AF}"/>
    <dgm:cxn modelId="{02CCC9F2-2F05-46BB-AA50-3379F50E26B2}" srcId="{D605E816-532D-4B98-9A73-0B5B37AB9D53}" destId="{B286659C-90E0-4A22-94F2-A5A111C56529}" srcOrd="3" destOrd="0" parTransId="{37F4108F-FFE3-40FA-8A85-25DE37C6BDC5}" sibTransId="{DD3E4F67-C70E-41E7-99B9-8E1015A4600D}"/>
    <dgm:cxn modelId="{566797FA-0F6B-47BE-A3B9-E6400A907A65}" type="presOf" srcId="{53D1447C-2889-4DEB-A4EC-50C8B6D3AC78}" destId="{2F62B43D-08AB-4E2F-994B-0A1F40F8BCFE}" srcOrd="0" destOrd="0" presId="urn:microsoft.com/office/officeart/2018/2/layout/IconLabelList"/>
    <dgm:cxn modelId="{6E5D1BBA-FC89-4B25-9EB1-B55F3B6D3C77}" type="presParOf" srcId="{85AA7048-39A6-45FB-8DB3-AF9744EABB5A}" destId="{82B3CB1E-6159-488F-AD6C-20FEB65E8A4E}" srcOrd="0" destOrd="0" presId="urn:microsoft.com/office/officeart/2018/2/layout/IconLabelList"/>
    <dgm:cxn modelId="{E549A654-3EAF-46A5-9FAA-65B8795D11BE}" type="presParOf" srcId="{82B3CB1E-6159-488F-AD6C-20FEB65E8A4E}" destId="{0F1BDC1F-C4DF-44A9-AB85-79529DE6D5E5}" srcOrd="0" destOrd="0" presId="urn:microsoft.com/office/officeart/2018/2/layout/IconLabelList"/>
    <dgm:cxn modelId="{7557DFA1-7331-417A-9E3E-199F41F684AD}" type="presParOf" srcId="{82B3CB1E-6159-488F-AD6C-20FEB65E8A4E}" destId="{B0EA161F-0563-4D67-8231-84B25BD8E9C3}" srcOrd="1" destOrd="0" presId="urn:microsoft.com/office/officeart/2018/2/layout/IconLabelList"/>
    <dgm:cxn modelId="{D7F1D58B-E8EA-4A79-A666-64614CB2B9D3}" type="presParOf" srcId="{82B3CB1E-6159-488F-AD6C-20FEB65E8A4E}" destId="{0A4AE67C-E453-4C14-89CE-BC03FADE0C1D}" srcOrd="2" destOrd="0" presId="urn:microsoft.com/office/officeart/2018/2/layout/IconLabelList"/>
    <dgm:cxn modelId="{30829ED1-DA92-475E-B12C-427D90C58997}" type="presParOf" srcId="{85AA7048-39A6-45FB-8DB3-AF9744EABB5A}" destId="{1A29B262-3360-4C09-942C-05BA244A83C1}" srcOrd="1" destOrd="0" presId="urn:microsoft.com/office/officeart/2018/2/layout/IconLabelList"/>
    <dgm:cxn modelId="{85C30B41-6797-4ABE-AB77-8B23D3A99C60}" type="presParOf" srcId="{85AA7048-39A6-45FB-8DB3-AF9744EABB5A}" destId="{FF11A3BA-7611-44BE-8A59-48B75BD14189}" srcOrd="2" destOrd="0" presId="urn:microsoft.com/office/officeart/2018/2/layout/IconLabelList"/>
    <dgm:cxn modelId="{5DD115A8-33A6-4B87-AD78-E4736D67F0AC}" type="presParOf" srcId="{FF11A3BA-7611-44BE-8A59-48B75BD14189}" destId="{71204F4D-1F84-4CD0-A074-C2F97967D8AC}" srcOrd="0" destOrd="0" presId="urn:microsoft.com/office/officeart/2018/2/layout/IconLabelList"/>
    <dgm:cxn modelId="{CFDFAB00-9A93-494D-B502-BC1BC3EB8CFE}" type="presParOf" srcId="{FF11A3BA-7611-44BE-8A59-48B75BD14189}" destId="{C5998783-D6F1-4589-8DCF-9625A717FBDE}" srcOrd="1" destOrd="0" presId="urn:microsoft.com/office/officeart/2018/2/layout/IconLabelList"/>
    <dgm:cxn modelId="{C1764E5B-04A7-441F-AD62-0BA1B162A107}" type="presParOf" srcId="{FF11A3BA-7611-44BE-8A59-48B75BD14189}" destId="{E41C7D0A-00A2-44CE-B781-3E9DF100FF07}" srcOrd="2" destOrd="0" presId="urn:microsoft.com/office/officeart/2018/2/layout/IconLabelList"/>
    <dgm:cxn modelId="{B3F8187B-C48A-4947-91BD-949CD5CD53E8}" type="presParOf" srcId="{85AA7048-39A6-45FB-8DB3-AF9744EABB5A}" destId="{B2C048AC-3E1E-4ED6-B4B6-DAAA3C537186}" srcOrd="3" destOrd="0" presId="urn:microsoft.com/office/officeart/2018/2/layout/IconLabelList"/>
    <dgm:cxn modelId="{57276B8D-E42E-47C4-A89D-12B11A3997FD}" type="presParOf" srcId="{85AA7048-39A6-45FB-8DB3-AF9744EABB5A}" destId="{0C3E4F49-0F7B-4649-8712-BA31F10C27E9}" srcOrd="4" destOrd="0" presId="urn:microsoft.com/office/officeart/2018/2/layout/IconLabelList"/>
    <dgm:cxn modelId="{5FAD45F9-49E0-4FF5-8C7B-99D5D19E4A3A}" type="presParOf" srcId="{0C3E4F49-0F7B-4649-8712-BA31F10C27E9}" destId="{40AD4CD4-C68B-4824-B90F-D39D1939AE1D}" srcOrd="0" destOrd="0" presId="urn:microsoft.com/office/officeart/2018/2/layout/IconLabelList"/>
    <dgm:cxn modelId="{1C2CE32F-BF39-4B23-8D84-0B97E6248328}" type="presParOf" srcId="{0C3E4F49-0F7B-4649-8712-BA31F10C27E9}" destId="{BFC7798E-6524-428A-8602-62F0DBB6DE33}" srcOrd="1" destOrd="0" presId="urn:microsoft.com/office/officeart/2018/2/layout/IconLabelList"/>
    <dgm:cxn modelId="{90F431B3-A12C-4AD6-A9B9-129165D9B159}" type="presParOf" srcId="{0C3E4F49-0F7B-4649-8712-BA31F10C27E9}" destId="{2F62B43D-08AB-4E2F-994B-0A1F40F8BCFE}" srcOrd="2" destOrd="0" presId="urn:microsoft.com/office/officeart/2018/2/layout/IconLabelList"/>
    <dgm:cxn modelId="{D721C3A4-D01C-4229-966B-CE17974967B5}" type="presParOf" srcId="{85AA7048-39A6-45FB-8DB3-AF9744EABB5A}" destId="{CD8D8AFF-00B9-4562-A9E1-1775A8E7C82D}" srcOrd="5" destOrd="0" presId="urn:microsoft.com/office/officeart/2018/2/layout/IconLabelList"/>
    <dgm:cxn modelId="{252C20F6-6F3F-48AA-B2AB-2DF997D5589B}" type="presParOf" srcId="{85AA7048-39A6-45FB-8DB3-AF9744EABB5A}" destId="{8EC180FD-5A39-40F2-9A0C-D69BF1991CFD}" srcOrd="6" destOrd="0" presId="urn:microsoft.com/office/officeart/2018/2/layout/IconLabelList"/>
    <dgm:cxn modelId="{14E13F4C-59A3-416F-8A6C-C3F6CEBAFC27}" type="presParOf" srcId="{8EC180FD-5A39-40F2-9A0C-D69BF1991CFD}" destId="{CD301CAE-4AB4-4995-BB90-123A90BFB3E9}" srcOrd="0" destOrd="0" presId="urn:microsoft.com/office/officeart/2018/2/layout/IconLabelList"/>
    <dgm:cxn modelId="{34F03F6B-38F9-46EA-9E47-4966EF728049}" type="presParOf" srcId="{8EC180FD-5A39-40F2-9A0C-D69BF1991CFD}" destId="{F2A2A048-CFC5-457C-8BFD-136A0BC228C1}" srcOrd="1" destOrd="0" presId="urn:microsoft.com/office/officeart/2018/2/layout/IconLabelList"/>
    <dgm:cxn modelId="{622369B1-0D99-4436-B5CE-682F503E0EDB}" type="presParOf" srcId="{8EC180FD-5A39-40F2-9A0C-D69BF1991CFD}" destId="{D945EC13-C01E-4397-9C84-704687009B0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9739BB-D5D6-40F8-948D-D4103550250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1EB66D6-5DB5-4C5C-AF18-05623EA46555}">
      <dgm:prSet/>
      <dgm:spPr/>
      <dgm:t>
        <a:bodyPr/>
        <a:lstStyle/>
        <a:p>
          <a:r>
            <a:rPr lang="en-US"/>
            <a:t>Passive: unobtrusive observation of the target</a:t>
          </a:r>
        </a:p>
      </dgm:t>
    </dgm:pt>
    <dgm:pt modelId="{CE6D973A-3003-49D0-A601-F0D79BF396B2}" type="parTrans" cxnId="{008612F8-5BA5-4050-A1BE-2ED08D2044B4}">
      <dgm:prSet/>
      <dgm:spPr/>
      <dgm:t>
        <a:bodyPr/>
        <a:lstStyle/>
        <a:p>
          <a:endParaRPr lang="en-US"/>
        </a:p>
      </dgm:t>
    </dgm:pt>
    <dgm:pt modelId="{C3817C1C-8062-4696-8420-DC4020126E8E}" type="sibTrans" cxnId="{008612F8-5BA5-4050-A1BE-2ED08D2044B4}">
      <dgm:prSet/>
      <dgm:spPr/>
      <dgm:t>
        <a:bodyPr/>
        <a:lstStyle/>
        <a:p>
          <a:endParaRPr lang="en-US"/>
        </a:p>
      </dgm:t>
    </dgm:pt>
    <dgm:pt modelId="{8270FBB1-812B-48E9-ADC6-49ADA00FD8FF}">
      <dgm:prSet/>
      <dgm:spPr/>
      <dgm:t>
        <a:bodyPr/>
        <a:lstStyle/>
        <a:p>
          <a:r>
            <a:rPr lang="en-US"/>
            <a:t>Active: (i) manipulation of the social environment, </a:t>
          </a:r>
          <a:br>
            <a:rPr lang="en-US"/>
          </a:br>
          <a:r>
            <a:rPr lang="en-US"/>
            <a:t>(ii) asking third parties, or (iii) keep track of conversation record (for CMC)</a:t>
          </a:r>
        </a:p>
      </dgm:t>
    </dgm:pt>
    <dgm:pt modelId="{2239C034-C065-4BED-8127-BC05B9B5A3E1}" type="parTrans" cxnId="{07258ABD-D4F9-488C-8393-BFEBFDA14698}">
      <dgm:prSet/>
      <dgm:spPr/>
      <dgm:t>
        <a:bodyPr/>
        <a:lstStyle/>
        <a:p>
          <a:endParaRPr lang="en-US"/>
        </a:p>
      </dgm:t>
    </dgm:pt>
    <dgm:pt modelId="{D50E0F4E-F91F-42BC-B371-AF06D152BFC4}" type="sibTrans" cxnId="{07258ABD-D4F9-488C-8393-BFEBFDA14698}">
      <dgm:prSet/>
      <dgm:spPr/>
      <dgm:t>
        <a:bodyPr/>
        <a:lstStyle/>
        <a:p>
          <a:endParaRPr lang="en-US"/>
        </a:p>
      </dgm:t>
    </dgm:pt>
    <dgm:pt modelId="{31F2C5F0-5055-440D-A39D-1CE524E54349}">
      <dgm:prSet/>
      <dgm:spPr/>
      <dgm:t>
        <a:bodyPr/>
        <a:lstStyle/>
        <a:p>
          <a:r>
            <a:rPr lang="en-US"/>
            <a:t>Interactive: direct contact with the target</a:t>
          </a:r>
        </a:p>
      </dgm:t>
    </dgm:pt>
    <dgm:pt modelId="{A2BBE1F3-4CE7-4926-8012-239C6A0BDD1F}" type="parTrans" cxnId="{2DAE98EE-74C4-4F47-8110-10400B7DC220}">
      <dgm:prSet/>
      <dgm:spPr/>
      <dgm:t>
        <a:bodyPr/>
        <a:lstStyle/>
        <a:p>
          <a:endParaRPr lang="en-US"/>
        </a:p>
      </dgm:t>
    </dgm:pt>
    <dgm:pt modelId="{735A1158-7C61-404C-81B2-A50A6814D2F0}" type="sibTrans" cxnId="{2DAE98EE-74C4-4F47-8110-10400B7DC220}">
      <dgm:prSet/>
      <dgm:spPr/>
      <dgm:t>
        <a:bodyPr/>
        <a:lstStyle/>
        <a:p>
          <a:endParaRPr lang="en-US"/>
        </a:p>
      </dgm:t>
    </dgm:pt>
    <dgm:pt modelId="{C1F55258-8D50-49BF-AF8E-58969C3C74BA}">
      <dgm:prSet/>
      <dgm:spPr/>
      <dgm:t>
        <a:bodyPr/>
        <a:lstStyle/>
        <a:p>
          <a:r>
            <a:rPr lang="en-US"/>
            <a:t>Extractive: search of information online (for online)</a:t>
          </a:r>
        </a:p>
      </dgm:t>
    </dgm:pt>
    <dgm:pt modelId="{72A571B0-00DD-4B5E-A8A0-6F63F8CA399B}" type="parTrans" cxnId="{D115A272-4BB8-46B4-9DC2-D5B155B726CC}">
      <dgm:prSet/>
      <dgm:spPr/>
      <dgm:t>
        <a:bodyPr/>
        <a:lstStyle/>
        <a:p>
          <a:endParaRPr lang="en-US"/>
        </a:p>
      </dgm:t>
    </dgm:pt>
    <dgm:pt modelId="{B5119E82-23E0-4414-997C-930734A30C59}" type="sibTrans" cxnId="{D115A272-4BB8-46B4-9DC2-D5B155B726CC}">
      <dgm:prSet/>
      <dgm:spPr/>
      <dgm:t>
        <a:bodyPr/>
        <a:lstStyle/>
        <a:p>
          <a:endParaRPr lang="en-US"/>
        </a:p>
      </dgm:t>
    </dgm:pt>
    <dgm:pt modelId="{2E7A579B-B0B4-4545-BDF4-3547DEFD3332}" type="pres">
      <dgm:prSet presAssocID="{779739BB-D5D6-40F8-948D-D41035502505}" presName="linear" presStyleCnt="0">
        <dgm:presLayoutVars>
          <dgm:animLvl val="lvl"/>
          <dgm:resizeHandles val="exact"/>
        </dgm:presLayoutVars>
      </dgm:prSet>
      <dgm:spPr/>
    </dgm:pt>
    <dgm:pt modelId="{CC35BDD1-86CB-45D7-8463-8B3CC54FD18F}" type="pres">
      <dgm:prSet presAssocID="{01EB66D6-5DB5-4C5C-AF18-05623EA46555}" presName="parentText" presStyleLbl="node1" presStyleIdx="0" presStyleCnt="4">
        <dgm:presLayoutVars>
          <dgm:chMax val="0"/>
          <dgm:bulletEnabled val="1"/>
        </dgm:presLayoutVars>
      </dgm:prSet>
      <dgm:spPr/>
    </dgm:pt>
    <dgm:pt modelId="{F15D3A41-B35A-404A-BC33-E0E76C8D7450}" type="pres">
      <dgm:prSet presAssocID="{C3817C1C-8062-4696-8420-DC4020126E8E}" presName="spacer" presStyleCnt="0"/>
      <dgm:spPr/>
    </dgm:pt>
    <dgm:pt modelId="{E2383482-6F16-4803-B3B1-648F4FEC8D72}" type="pres">
      <dgm:prSet presAssocID="{8270FBB1-812B-48E9-ADC6-49ADA00FD8FF}" presName="parentText" presStyleLbl="node1" presStyleIdx="1" presStyleCnt="4">
        <dgm:presLayoutVars>
          <dgm:chMax val="0"/>
          <dgm:bulletEnabled val="1"/>
        </dgm:presLayoutVars>
      </dgm:prSet>
      <dgm:spPr/>
    </dgm:pt>
    <dgm:pt modelId="{B6E55D3D-CAC0-4EC7-8408-327C7A7FEAA5}" type="pres">
      <dgm:prSet presAssocID="{D50E0F4E-F91F-42BC-B371-AF06D152BFC4}" presName="spacer" presStyleCnt="0"/>
      <dgm:spPr/>
    </dgm:pt>
    <dgm:pt modelId="{3C0B81C4-55FA-4811-816B-36C84A71125A}" type="pres">
      <dgm:prSet presAssocID="{31F2C5F0-5055-440D-A39D-1CE524E54349}" presName="parentText" presStyleLbl="node1" presStyleIdx="2" presStyleCnt="4">
        <dgm:presLayoutVars>
          <dgm:chMax val="0"/>
          <dgm:bulletEnabled val="1"/>
        </dgm:presLayoutVars>
      </dgm:prSet>
      <dgm:spPr/>
    </dgm:pt>
    <dgm:pt modelId="{4E3F9B75-9478-4D2F-9247-743E056BB661}" type="pres">
      <dgm:prSet presAssocID="{735A1158-7C61-404C-81B2-A50A6814D2F0}" presName="spacer" presStyleCnt="0"/>
      <dgm:spPr/>
    </dgm:pt>
    <dgm:pt modelId="{7E454213-D833-4B43-BC24-7DF3CF25B3B5}" type="pres">
      <dgm:prSet presAssocID="{C1F55258-8D50-49BF-AF8E-58969C3C74BA}" presName="parentText" presStyleLbl="node1" presStyleIdx="3" presStyleCnt="4">
        <dgm:presLayoutVars>
          <dgm:chMax val="0"/>
          <dgm:bulletEnabled val="1"/>
        </dgm:presLayoutVars>
      </dgm:prSet>
      <dgm:spPr/>
    </dgm:pt>
  </dgm:ptLst>
  <dgm:cxnLst>
    <dgm:cxn modelId="{2EBF9A5E-A4C6-463C-AE9A-497F533000B0}" type="presOf" srcId="{8270FBB1-812B-48E9-ADC6-49ADA00FD8FF}" destId="{E2383482-6F16-4803-B3B1-648F4FEC8D72}" srcOrd="0" destOrd="0" presId="urn:microsoft.com/office/officeart/2005/8/layout/vList2"/>
    <dgm:cxn modelId="{D115A272-4BB8-46B4-9DC2-D5B155B726CC}" srcId="{779739BB-D5D6-40F8-948D-D41035502505}" destId="{C1F55258-8D50-49BF-AF8E-58969C3C74BA}" srcOrd="3" destOrd="0" parTransId="{72A571B0-00DD-4B5E-A8A0-6F63F8CA399B}" sibTransId="{B5119E82-23E0-4414-997C-930734A30C59}"/>
    <dgm:cxn modelId="{F89EFA52-A759-4C0E-A731-8F087A5792AC}" type="presOf" srcId="{779739BB-D5D6-40F8-948D-D41035502505}" destId="{2E7A579B-B0B4-4545-BDF4-3547DEFD3332}" srcOrd="0" destOrd="0" presId="urn:microsoft.com/office/officeart/2005/8/layout/vList2"/>
    <dgm:cxn modelId="{07258ABD-D4F9-488C-8393-BFEBFDA14698}" srcId="{779739BB-D5D6-40F8-948D-D41035502505}" destId="{8270FBB1-812B-48E9-ADC6-49ADA00FD8FF}" srcOrd="1" destOrd="0" parTransId="{2239C034-C065-4BED-8127-BC05B9B5A3E1}" sibTransId="{D50E0F4E-F91F-42BC-B371-AF06D152BFC4}"/>
    <dgm:cxn modelId="{17A592D8-FB85-4177-AE01-6953DFD474BF}" type="presOf" srcId="{31F2C5F0-5055-440D-A39D-1CE524E54349}" destId="{3C0B81C4-55FA-4811-816B-36C84A71125A}" srcOrd="0" destOrd="0" presId="urn:microsoft.com/office/officeart/2005/8/layout/vList2"/>
    <dgm:cxn modelId="{951CE1E1-D056-4EB7-92DC-CDABA1747639}" type="presOf" srcId="{C1F55258-8D50-49BF-AF8E-58969C3C74BA}" destId="{7E454213-D833-4B43-BC24-7DF3CF25B3B5}" srcOrd="0" destOrd="0" presId="urn:microsoft.com/office/officeart/2005/8/layout/vList2"/>
    <dgm:cxn modelId="{2DAE98EE-74C4-4F47-8110-10400B7DC220}" srcId="{779739BB-D5D6-40F8-948D-D41035502505}" destId="{31F2C5F0-5055-440D-A39D-1CE524E54349}" srcOrd="2" destOrd="0" parTransId="{A2BBE1F3-4CE7-4926-8012-239C6A0BDD1F}" sibTransId="{735A1158-7C61-404C-81B2-A50A6814D2F0}"/>
    <dgm:cxn modelId="{DECF4FF3-348C-47D1-86BE-0EE4D144922C}" type="presOf" srcId="{01EB66D6-5DB5-4C5C-AF18-05623EA46555}" destId="{CC35BDD1-86CB-45D7-8463-8B3CC54FD18F}" srcOrd="0" destOrd="0" presId="urn:microsoft.com/office/officeart/2005/8/layout/vList2"/>
    <dgm:cxn modelId="{008612F8-5BA5-4050-A1BE-2ED08D2044B4}" srcId="{779739BB-D5D6-40F8-948D-D41035502505}" destId="{01EB66D6-5DB5-4C5C-AF18-05623EA46555}" srcOrd="0" destOrd="0" parTransId="{CE6D973A-3003-49D0-A601-F0D79BF396B2}" sibTransId="{C3817C1C-8062-4696-8420-DC4020126E8E}"/>
    <dgm:cxn modelId="{6E8C4251-C530-4209-8143-6FFF4238A8FF}" type="presParOf" srcId="{2E7A579B-B0B4-4545-BDF4-3547DEFD3332}" destId="{CC35BDD1-86CB-45D7-8463-8B3CC54FD18F}" srcOrd="0" destOrd="0" presId="urn:microsoft.com/office/officeart/2005/8/layout/vList2"/>
    <dgm:cxn modelId="{3A210186-BCC2-4284-A6E1-0767EA3DDDC3}" type="presParOf" srcId="{2E7A579B-B0B4-4545-BDF4-3547DEFD3332}" destId="{F15D3A41-B35A-404A-BC33-E0E76C8D7450}" srcOrd="1" destOrd="0" presId="urn:microsoft.com/office/officeart/2005/8/layout/vList2"/>
    <dgm:cxn modelId="{9657517C-B22E-42AB-AB2A-2ADA204DF96A}" type="presParOf" srcId="{2E7A579B-B0B4-4545-BDF4-3547DEFD3332}" destId="{E2383482-6F16-4803-B3B1-648F4FEC8D72}" srcOrd="2" destOrd="0" presId="urn:microsoft.com/office/officeart/2005/8/layout/vList2"/>
    <dgm:cxn modelId="{D61F4493-5B5F-451F-B9A1-00A7B0DD522F}" type="presParOf" srcId="{2E7A579B-B0B4-4545-BDF4-3547DEFD3332}" destId="{B6E55D3D-CAC0-4EC7-8408-327C7A7FEAA5}" srcOrd="3" destOrd="0" presId="urn:microsoft.com/office/officeart/2005/8/layout/vList2"/>
    <dgm:cxn modelId="{FCD3F5D3-5E5C-486A-B820-B40FDFF169E9}" type="presParOf" srcId="{2E7A579B-B0B4-4545-BDF4-3547DEFD3332}" destId="{3C0B81C4-55FA-4811-816B-36C84A71125A}" srcOrd="4" destOrd="0" presId="urn:microsoft.com/office/officeart/2005/8/layout/vList2"/>
    <dgm:cxn modelId="{F07B55A6-D91E-4348-8B3D-16BBCCC12308}" type="presParOf" srcId="{2E7A579B-B0B4-4545-BDF4-3547DEFD3332}" destId="{4E3F9B75-9478-4D2F-9247-743E056BB661}" srcOrd="5" destOrd="0" presId="urn:microsoft.com/office/officeart/2005/8/layout/vList2"/>
    <dgm:cxn modelId="{CBC8A45F-33FC-427D-8632-AAC2A1319EF5}" type="presParOf" srcId="{2E7A579B-B0B4-4545-BDF4-3547DEFD3332}" destId="{7E454213-D833-4B43-BC24-7DF3CF25B3B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18FA0-E080-4A8B-AF93-CDEDFDE11103}">
      <dsp:nvSpPr>
        <dsp:cNvPr id="0" name=""/>
        <dsp:cNvSpPr/>
      </dsp:nvSpPr>
      <dsp:spPr>
        <a:xfrm>
          <a:off x="0" y="194892"/>
          <a:ext cx="10515600" cy="1931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The study of “modality switching”</a:t>
          </a:r>
        </a:p>
      </dsp:txBody>
      <dsp:txXfrm>
        <a:off x="94303" y="289195"/>
        <a:ext cx="10326994" cy="1743210"/>
      </dsp:txXfrm>
    </dsp:sp>
    <dsp:sp modelId="{866FC4F0-14B8-41E3-9B93-99F9B8F37F0A}">
      <dsp:nvSpPr>
        <dsp:cNvPr id="0" name=""/>
        <dsp:cNvSpPr/>
      </dsp:nvSpPr>
      <dsp:spPr>
        <a:xfrm>
          <a:off x="0" y="2224629"/>
          <a:ext cx="10515600" cy="1931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Measuring amount of time spent online (AMT), sense of intimacy, and perception of the future development of the relationship (POV) (Ramirez et al., 2015)</a:t>
          </a:r>
        </a:p>
      </dsp:txBody>
      <dsp:txXfrm>
        <a:off x="94303" y="2318932"/>
        <a:ext cx="10326994" cy="17432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BDC1F-C4DF-44A9-AB85-79529DE6D5E5}">
      <dsp:nvSpPr>
        <dsp:cNvPr id="0" name=""/>
        <dsp:cNvSpPr/>
      </dsp:nvSpPr>
      <dsp:spPr>
        <a:xfrm>
          <a:off x="1138979" y="1163808"/>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4AE67C-E453-4C14-89CE-BC03FADE0C1D}">
      <dsp:nvSpPr>
        <dsp:cNvPr id="0" name=""/>
        <dsp:cNvSpPr/>
      </dsp:nvSpPr>
      <dsp:spPr>
        <a:xfrm>
          <a:off x="569079" y="2400029"/>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HK" sz="2400" kern="1200" dirty="0">
              <a:solidFill>
                <a:schemeClr val="tx1"/>
              </a:solidFill>
              <a:latin typeface="+mn-lt"/>
            </a:rPr>
            <a:t>Presence of uncertainty</a:t>
          </a:r>
          <a:endParaRPr lang="en-US" sz="2400" kern="1200" dirty="0">
            <a:solidFill>
              <a:schemeClr val="tx1"/>
            </a:solidFill>
            <a:latin typeface="+mn-lt"/>
          </a:endParaRPr>
        </a:p>
      </dsp:txBody>
      <dsp:txXfrm>
        <a:off x="569079" y="2400029"/>
        <a:ext cx="2072362" cy="787500"/>
      </dsp:txXfrm>
    </dsp:sp>
    <dsp:sp modelId="{71204F4D-1F84-4CD0-A074-C2F97967D8AC}">
      <dsp:nvSpPr>
        <dsp:cNvPr id="0" name=""/>
        <dsp:cNvSpPr/>
      </dsp:nvSpPr>
      <dsp:spPr>
        <a:xfrm>
          <a:off x="3574005" y="1163808"/>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1C7D0A-00A2-44CE-B781-3E9DF100FF07}">
      <dsp:nvSpPr>
        <dsp:cNvPr id="0" name=""/>
        <dsp:cNvSpPr/>
      </dsp:nvSpPr>
      <dsp:spPr>
        <a:xfrm>
          <a:off x="3004105" y="2400029"/>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HK" sz="2400" kern="1200">
              <a:solidFill>
                <a:schemeClr val="tx1"/>
              </a:solidFill>
              <a:latin typeface="+mn-lt"/>
            </a:rPr>
            <a:t>Desire to reduce uncertainty</a:t>
          </a:r>
          <a:endParaRPr lang="en-US" sz="2400" kern="1200">
            <a:solidFill>
              <a:schemeClr val="tx1"/>
            </a:solidFill>
            <a:latin typeface="+mn-lt"/>
          </a:endParaRPr>
        </a:p>
      </dsp:txBody>
      <dsp:txXfrm>
        <a:off x="3004105" y="2400029"/>
        <a:ext cx="2072362" cy="787500"/>
      </dsp:txXfrm>
    </dsp:sp>
    <dsp:sp modelId="{40AD4CD4-C68B-4824-B90F-D39D1939AE1D}">
      <dsp:nvSpPr>
        <dsp:cNvPr id="0" name=""/>
        <dsp:cNvSpPr/>
      </dsp:nvSpPr>
      <dsp:spPr>
        <a:xfrm>
          <a:off x="6009031" y="1163808"/>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62B43D-08AB-4E2F-994B-0A1F40F8BCFE}">
      <dsp:nvSpPr>
        <dsp:cNvPr id="0" name=""/>
        <dsp:cNvSpPr/>
      </dsp:nvSpPr>
      <dsp:spPr>
        <a:xfrm>
          <a:off x="5439131" y="2400029"/>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HK" sz="2400" kern="1200" dirty="0">
              <a:solidFill>
                <a:schemeClr val="tx1"/>
              </a:solidFill>
              <a:latin typeface="+mn-lt"/>
            </a:rPr>
            <a:t>Seek more information </a:t>
          </a:r>
          <a:endParaRPr lang="en-US" sz="2400" kern="1200" dirty="0">
            <a:solidFill>
              <a:schemeClr val="tx1"/>
            </a:solidFill>
            <a:latin typeface="+mn-lt"/>
          </a:endParaRPr>
        </a:p>
      </dsp:txBody>
      <dsp:txXfrm>
        <a:off x="5439131" y="2400029"/>
        <a:ext cx="2072362" cy="787500"/>
      </dsp:txXfrm>
    </dsp:sp>
    <dsp:sp modelId="{CD301CAE-4AB4-4995-BB90-123A90BFB3E9}">
      <dsp:nvSpPr>
        <dsp:cNvPr id="0" name=""/>
        <dsp:cNvSpPr/>
      </dsp:nvSpPr>
      <dsp:spPr>
        <a:xfrm>
          <a:off x="8444057" y="1163808"/>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45EC13-C01E-4397-9C84-704687009B07}">
      <dsp:nvSpPr>
        <dsp:cNvPr id="0" name=""/>
        <dsp:cNvSpPr/>
      </dsp:nvSpPr>
      <dsp:spPr>
        <a:xfrm>
          <a:off x="7874157" y="2400029"/>
          <a:ext cx="2072362"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HK" sz="2400" kern="1200">
              <a:solidFill>
                <a:schemeClr val="tx1"/>
              </a:solidFill>
              <a:latin typeface="+mn-lt"/>
            </a:rPr>
            <a:t>Uncertainty reduced</a:t>
          </a:r>
          <a:endParaRPr lang="en-US" sz="2400" kern="1200">
            <a:solidFill>
              <a:schemeClr val="tx1"/>
            </a:solidFill>
            <a:latin typeface="+mn-lt"/>
          </a:endParaRPr>
        </a:p>
      </dsp:txBody>
      <dsp:txXfrm>
        <a:off x="7874157" y="2400029"/>
        <a:ext cx="2072362" cy="7875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5BDD1-86CB-45D7-8463-8B3CC54FD18F}">
      <dsp:nvSpPr>
        <dsp:cNvPr id="0" name=""/>
        <dsp:cNvSpPr/>
      </dsp:nvSpPr>
      <dsp:spPr>
        <a:xfrm>
          <a:off x="0" y="32965"/>
          <a:ext cx="10515600" cy="10173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Passive: unobtrusive observation of the target</a:t>
          </a:r>
        </a:p>
      </dsp:txBody>
      <dsp:txXfrm>
        <a:off x="49663" y="82628"/>
        <a:ext cx="10416274" cy="918025"/>
      </dsp:txXfrm>
    </dsp:sp>
    <dsp:sp modelId="{E2383482-6F16-4803-B3B1-648F4FEC8D72}">
      <dsp:nvSpPr>
        <dsp:cNvPr id="0" name=""/>
        <dsp:cNvSpPr/>
      </dsp:nvSpPr>
      <dsp:spPr>
        <a:xfrm>
          <a:off x="0" y="1122317"/>
          <a:ext cx="10515600" cy="10173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Active: (i) manipulation of the social environment, </a:t>
          </a:r>
          <a:br>
            <a:rPr lang="en-US" sz="2500" kern="1200"/>
          </a:br>
          <a:r>
            <a:rPr lang="en-US" sz="2500" kern="1200"/>
            <a:t>(ii) asking third parties, or (iii) keep track of conversation record (for CMC)</a:t>
          </a:r>
        </a:p>
      </dsp:txBody>
      <dsp:txXfrm>
        <a:off x="49663" y="1171980"/>
        <a:ext cx="10416274" cy="918025"/>
      </dsp:txXfrm>
    </dsp:sp>
    <dsp:sp modelId="{3C0B81C4-55FA-4811-816B-36C84A71125A}">
      <dsp:nvSpPr>
        <dsp:cNvPr id="0" name=""/>
        <dsp:cNvSpPr/>
      </dsp:nvSpPr>
      <dsp:spPr>
        <a:xfrm>
          <a:off x="0" y="2211669"/>
          <a:ext cx="10515600" cy="10173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Interactive: direct contact with the target</a:t>
          </a:r>
        </a:p>
      </dsp:txBody>
      <dsp:txXfrm>
        <a:off x="49663" y="2261332"/>
        <a:ext cx="10416274" cy="918025"/>
      </dsp:txXfrm>
    </dsp:sp>
    <dsp:sp modelId="{7E454213-D833-4B43-BC24-7DF3CF25B3B5}">
      <dsp:nvSpPr>
        <dsp:cNvPr id="0" name=""/>
        <dsp:cNvSpPr/>
      </dsp:nvSpPr>
      <dsp:spPr>
        <a:xfrm>
          <a:off x="0" y="3301020"/>
          <a:ext cx="10515600" cy="101735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Extractive: search of information online (for online)</a:t>
          </a:r>
        </a:p>
      </dsp:txBody>
      <dsp:txXfrm>
        <a:off x="49663" y="3350683"/>
        <a:ext cx="10416274" cy="91802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3596" cy="49797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7745" y="0"/>
            <a:ext cx="2943596" cy="497976"/>
          </a:xfrm>
          <a:prstGeom prst="rect">
            <a:avLst/>
          </a:prstGeom>
        </p:spPr>
        <p:txBody>
          <a:bodyPr vert="horz" lIns="91440" tIns="45720" rIns="91440" bIns="45720" rtlCol="0"/>
          <a:lstStyle>
            <a:lvl1pPr algn="r">
              <a:defRPr sz="1200"/>
            </a:lvl1pPr>
          </a:lstStyle>
          <a:p>
            <a:fld id="{AB424F09-3227-471D-84B7-29623C4D4071}" type="datetimeFigureOut">
              <a:rPr lang="en-US" smtClean="0"/>
              <a:t>6/26/2026</a:t>
            </a:fld>
            <a:endParaRPr lang="en-US"/>
          </a:p>
        </p:txBody>
      </p:sp>
      <p:sp>
        <p:nvSpPr>
          <p:cNvPr id="4" name="Slide Image Placeholder 3"/>
          <p:cNvSpPr>
            <a:spLocks noGrp="1" noRot="1" noChangeAspect="1"/>
          </p:cNvSpPr>
          <p:nvPr>
            <p:ph type="sldImg" idx="2"/>
          </p:nvPr>
        </p:nvSpPr>
        <p:spPr>
          <a:xfrm>
            <a:off x="419100" y="1239838"/>
            <a:ext cx="5954713" cy="33512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292" y="4776431"/>
            <a:ext cx="5434330" cy="39079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7076"/>
            <a:ext cx="2943596" cy="4979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7745" y="9427076"/>
            <a:ext cx="2943596" cy="497975"/>
          </a:xfrm>
          <a:prstGeom prst="rect">
            <a:avLst/>
          </a:prstGeom>
        </p:spPr>
        <p:txBody>
          <a:bodyPr vert="horz" lIns="91440" tIns="45720" rIns="91440" bIns="45720" rtlCol="0" anchor="b"/>
          <a:lstStyle>
            <a:lvl1pPr algn="r">
              <a:defRPr sz="1200"/>
            </a:lvl1pPr>
          </a:lstStyle>
          <a:p>
            <a:fld id="{C77C266B-F689-49FC-AC7B-9CA5A7007299}" type="slidenum">
              <a:rPr lang="en-US" smtClean="0"/>
              <a:t>‹#›</a:t>
            </a:fld>
            <a:endParaRPr lang="en-US"/>
          </a:p>
        </p:txBody>
      </p:sp>
    </p:spTree>
    <p:extLst>
      <p:ext uri="{BB962C8B-B14F-4D97-AF65-F5344CB8AC3E}">
        <p14:creationId xmlns:p14="http://schemas.microsoft.com/office/powerpoint/2010/main" val="715358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awsonpines.deviantart.com/art/Dark-street-284417713"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creativecommons.org/licenses/by/3.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theconversation.com/we-must-scrap-new-baseline-tests-for-primary-school-children-36558"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creativecommons.org/licenses/by-nd/3.0/"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ojdo.de/wp/2013/10/red-blurry-desktop-wallpapers/"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s://creativecommons.org/licenses/by-sa/3.0/"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tooltip="http://lawsonpines.deviantart.com/art/Dark-street-284417713"/>
              </a:rPr>
              <a:t>This Photo</a:t>
            </a:r>
            <a:r>
              <a:rPr lang="en-US" sz="1200" dirty="0"/>
              <a:t> by Unknown Author is licensed under </a:t>
            </a:r>
            <a:r>
              <a:rPr lang="en-US" sz="1200" dirty="0">
                <a:hlinkClick r:id="rId4" tooltip="https://creativecommons.org/licenses/by/3.0/"/>
              </a:rPr>
              <a:t>CC BY</a:t>
            </a:r>
            <a:endParaRPr lang="en-US" sz="1200" dirty="0"/>
          </a:p>
        </p:txBody>
      </p:sp>
      <p:sp>
        <p:nvSpPr>
          <p:cNvPr id="4" name="Slide Number Placeholder 3"/>
          <p:cNvSpPr>
            <a:spLocks noGrp="1"/>
          </p:cNvSpPr>
          <p:nvPr>
            <p:ph type="sldNum" sz="quarter" idx="5"/>
          </p:nvPr>
        </p:nvSpPr>
        <p:spPr/>
        <p:txBody>
          <a:bodyPr/>
          <a:lstStyle/>
          <a:p>
            <a:fld id="{C77C266B-F689-49FC-AC7B-9CA5A7007299}" type="slidenum">
              <a:rPr lang="en-US" smtClean="0"/>
              <a:t>1</a:t>
            </a:fld>
            <a:endParaRPr lang="en-US"/>
          </a:p>
        </p:txBody>
      </p:sp>
    </p:spTree>
    <p:extLst>
      <p:ext uri="{BB962C8B-B14F-4D97-AF65-F5344CB8AC3E}">
        <p14:creationId xmlns:p14="http://schemas.microsoft.com/office/powerpoint/2010/main" val="142465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7C266B-F689-49FC-AC7B-9CA5A7007299}" type="slidenum">
              <a:rPr lang="en-US" smtClean="0"/>
              <a:t>2</a:t>
            </a:fld>
            <a:endParaRPr lang="en-US"/>
          </a:p>
        </p:txBody>
      </p:sp>
    </p:spTree>
    <p:extLst>
      <p:ext uri="{BB962C8B-B14F-4D97-AF65-F5344CB8AC3E}">
        <p14:creationId xmlns:p14="http://schemas.microsoft.com/office/powerpoint/2010/main" val="542596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Guerrero, L. K., Andersen, P. A., &amp; Afifi, W. A. (2018).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Close encounters: Communication in relationships </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(5th ed.). Sage.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sz="1200" dirty="0"/>
          </a:p>
          <a:p>
            <a:pPr marL="0" marR="0">
              <a:lnSpc>
                <a:spcPct val="107000"/>
              </a:lnSpc>
              <a:spcBef>
                <a:spcPts val="0"/>
              </a:spcBef>
              <a:spcAft>
                <a:spcPts val="0"/>
              </a:spcAft>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Benefits of self-disclosure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Self-disclosure conveys trust </a:t>
            </a:r>
            <a:r>
              <a:rPr lang="en-US" sz="1200" dirty="0">
                <a:effectLst/>
                <a:latin typeface="Garamond" panose="02020404030301010803"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  develop liking</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Self-disclosure leads to reciprocal self-disclosure </a:t>
            </a:r>
            <a:r>
              <a:rPr lang="en-US" sz="1200" dirty="0">
                <a:effectLst/>
                <a:latin typeface="Garamond" panose="02020404030301010803"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 develop liking </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P.S. Reciprocity: We usually match our self-disclosure level (breath and depth) with other’s self-disclosure level </a:t>
            </a:r>
            <a:r>
              <a:rPr lang="en-US" sz="1200" dirty="0">
                <a:effectLst/>
                <a:latin typeface="Garamond" panose="02020404030301010803"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 conversation is based on cooperation </a:t>
            </a:r>
            <a:r>
              <a:rPr lang="en-US" sz="1200" dirty="0">
                <a:effectLst/>
                <a:latin typeface="Garamond" panose="02020404030301010803"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 violators are seen rude, cold, unfriendly.  </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4</a:t>
            </a:fld>
            <a:endParaRPr lang="en-US"/>
          </a:p>
        </p:txBody>
      </p:sp>
    </p:spTree>
    <p:extLst>
      <p:ext uri="{BB962C8B-B14F-4D97-AF65-F5344CB8AC3E}">
        <p14:creationId xmlns:p14="http://schemas.microsoft.com/office/powerpoint/2010/main" val="1139090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1638" y="1222375"/>
            <a:ext cx="5867400" cy="33004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D0EB7-1B62-4BEA-973E-DC9B63FE3125}" type="slidenum">
              <a:rPr lang="en-US" smtClean="0"/>
              <a:t>5</a:t>
            </a:fld>
            <a:endParaRPr lang="en-US"/>
          </a:p>
        </p:txBody>
      </p:sp>
    </p:spTree>
    <p:extLst>
      <p:ext uri="{BB962C8B-B14F-4D97-AF65-F5344CB8AC3E}">
        <p14:creationId xmlns:p14="http://schemas.microsoft.com/office/powerpoint/2010/main" val="145116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Receivers: </a:t>
            </a:r>
            <a:r>
              <a:rPr lang="en-US" sz="1200" b="0" i="0" u="none" strike="noStrike" baseline="0" dirty="0">
                <a:solidFill>
                  <a:srgbClr val="211D1E"/>
                </a:solidFill>
                <a:latin typeface="Minion"/>
              </a:rPr>
              <a:t>When receiving messages from others in CMC, an individual may tend to exaggerate perceptions of the message sender. In the absence of the physical and other cues that face-to-face encounters provide, rather than fail to form an impression, receivers fill in the blanks with regard to missing information. This often takes the form of idealization if the initial clues about another person are favorable. </a:t>
            </a:r>
          </a:p>
          <a:p>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6</a:t>
            </a:fld>
            <a:endParaRPr lang="en-US"/>
          </a:p>
        </p:txBody>
      </p:sp>
    </p:spTree>
    <p:extLst>
      <p:ext uri="{BB962C8B-B14F-4D97-AF65-F5344CB8AC3E}">
        <p14:creationId xmlns:p14="http://schemas.microsoft.com/office/powerpoint/2010/main" val="3817421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1638" y="1222375"/>
            <a:ext cx="5867400" cy="33004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D0EB7-1B62-4BEA-973E-DC9B63FE3125}" type="slidenum">
              <a:rPr lang="en-US" smtClean="0"/>
              <a:t>7</a:t>
            </a:fld>
            <a:endParaRPr lang="en-US"/>
          </a:p>
        </p:txBody>
      </p:sp>
    </p:spTree>
    <p:extLst>
      <p:ext uri="{BB962C8B-B14F-4D97-AF65-F5344CB8AC3E}">
        <p14:creationId xmlns:p14="http://schemas.microsoft.com/office/powerpoint/2010/main" val="1043004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Arial" panose="020B0604020202020204" pitchFamily="34" charset="0"/>
              </a:rPr>
              <a:t>Ramirez, A., Sumner, E. M., </a:t>
            </a:r>
            <a:r>
              <a:rPr lang="en-US" b="0" i="0" dirty="0" err="1">
                <a:solidFill>
                  <a:srgbClr val="222222"/>
                </a:solidFill>
                <a:effectLst/>
                <a:latin typeface="Arial" panose="020B0604020202020204" pitchFamily="34" charset="0"/>
              </a:rPr>
              <a:t>Fleuriet</a:t>
            </a:r>
            <a:r>
              <a:rPr lang="en-US" b="0" i="0" dirty="0">
                <a:solidFill>
                  <a:srgbClr val="222222"/>
                </a:solidFill>
                <a:effectLst/>
                <a:latin typeface="Arial" panose="020B0604020202020204" pitchFamily="34" charset="0"/>
              </a:rPr>
              <a:t>, C., &amp; Cole, M. (2015). When online dating partners meet offline: The effect of modality switching on relational communication between online daters. </a:t>
            </a:r>
            <a:r>
              <a:rPr lang="en-US" b="0" i="1" dirty="0">
                <a:solidFill>
                  <a:srgbClr val="222222"/>
                </a:solidFill>
                <a:effectLst/>
                <a:latin typeface="Arial" panose="020B0604020202020204" pitchFamily="34" charset="0"/>
              </a:rPr>
              <a:t>Journal of Computer-Mediated Communication</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20</a:t>
            </a:r>
            <a:r>
              <a:rPr lang="en-US" b="0" i="0" dirty="0">
                <a:solidFill>
                  <a:srgbClr val="222222"/>
                </a:solidFill>
                <a:effectLst/>
                <a:latin typeface="Arial" panose="020B0604020202020204" pitchFamily="34" charset="0"/>
              </a:rPr>
              <a:t>(1), 99-114. https://doi.org/10.1111/jcc4.12101</a:t>
            </a:r>
          </a:p>
          <a:p>
            <a:endParaRPr lang="en-US" b="0" i="0" dirty="0">
              <a:solidFill>
                <a:srgbClr val="222222"/>
              </a:solidFill>
              <a:effectLst/>
              <a:latin typeface="Arial" panose="020B0604020202020204" pitchFamily="34" charset="0"/>
            </a:endParaRPr>
          </a:p>
          <a:p>
            <a:r>
              <a:rPr lang="en-US" b="0" i="0" dirty="0">
                <a:solidFill>
                  <a:srgbClr val="2A2A2A"/>
                </a:solidFill>
                <a:effectLst/>
                <a:latin typeface="Merriweather" panose="00000500000000000000" pitchFamily="2" charset="0"/>
              </a:rPr>
              <a:t>Respondents recruited for the present study had participated in an online dating site during the previous 3 months and met at least one partner from the site FtF during that period. The final sample of 433 respondents.</a:t>
            </a:r>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8</a:t>
            </a:fld>
            <a:endParaRPr lang="en-US"/>
          </a:p>
        </p:txBody>
      </p:sp>
    </p:spTree>
    <p:extLst>
      <p:ext uri="{BB962C8B-B14F-4D97-AF65-F5344CB8AC3E}">
        <p14:creationId xmlns:p14="http://schemas.microsoft.com/office/powerpoint/2010/main" val="2606325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1638" y="1222375"/>
            <a:ext cx="5867400" cy="3300413"/>
          </a:xfrm>
        </p:spPr>
      </p:sp>
      <p:sp>
        <p:nvSpPr>
          <p:cNvPr id="3" name="Notes Placeholder 2"/>
          <p:cNvSpPr>
            <a:spLocks noGrp="1"/>
          </p:cNvSpPr>
          <p:nvPr>
            <p:ph type="body" idx="1"/>
          </p:nvPr>
        </p:nvSpPr>
        <p:spPr/>
        <p:txBody>
          <a:bodyPr/>
          <a:lstStyle/>
          <a:p>
            <a:r>
              <a:rPr lang="en-US" dirty="0"/>
              <a:t>AMT spent on online before meeting offline</a:t>
            </a:r>
          </a:p>
        </p:txBody>
      </p:sp>
      <p:sp>
        <p:nvSpPr>
          <p:cNvPr id="4" name="Slide Number Placeholder 3"/>
          <p:cNvSpPr>
            <a:spLocks noGrp="1"/>
          </p:cNvSpPr>
          <p:nvPr>
            <p:ph type="sldNum" sz="quarter" idx="10"/>
          </p:nvPr>
        </p:nvSpPr>
        <p:spPr/>
        <p:txBody>
          <a:bodyPr/>
          <a:lstStyle/>
          <a:p>
            <a:fld id="{C82D0EB7-1B62-4BEA-973E-DC9B63FE3125}" type="slidenum">
              <a:rPr lang="en-US" smtClean="0"/>
              <a:t>9</a:t>
            </a:fld>
            <a:endParaRPr lang="en-US"/>
          </a:p>
        </p:txBody>
      </p:sp>
    </p:spTree>
    <p:extLst>
      <p:ext uri="{BB962C8B-B14F-4D97-AF65-F5344CB8AC3E}">
        <p14:creationId xmlns:p14="http://schemas.microsoft.com/office/powerpoint/2010/main" val="766385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1638" y="1222375"/>
            <a:ext cx="5867400" cy="3300413"/>
          </a:xfrm>
        </p:spPr>
      </p:sp>
      <p:sp>
        <p:nvSpPr>
          <p:cNvPr id="3" name="Notes Placeholder 2"/>
          <p:cNvSpPr>
            <a:spLocks noGrp="1"/>
          </p:cNvSpPr>
          <p:nvPr>
            <p:ph type="body" idx="1"/>
          </p:nvPr>
        </p:nvSpPr>
        <p:spPr/>
        <p:txBody>
          <a:bodyPr/>
          <a:lstStyle/>
          <a:p>
            <a:r>
              <a:rPr lang="en-HK" dirty="0"/>
              <a:t>17 days - 23 days (3 weeks)</a:t>
            </a:r>
            <a:endParaRPr lang="en-US" dirty="0"/>
          </a:p>
        </p:txBody>
      </p:sp>
      <p:sp>
        <p:nvSpPr>
          <p:cNvPr id="4" name="Slide Number Placeholder 3"/>
          <p:cNvSpPr>
            <a:spLocks noGrp="1"/>
          </p:cNvSpPr>
          <p:nvPr>
            <p:ph type="sldNum" sz="quarter" idx="10"/>
          </p:nvPr>
        </p:nvSpPr>
        <p:spPr/>
        <p:txBody>
          <a:bodyPr/>
          <a:lstStyle/>
          <a:p>
            <a:fld id="{C82D0EB7-1B62-4BEA-973E-DC9B63FE3125}" type="slidenum">
              <a:rPr lang="en-US" smtClean="0"/>
              <a:t>10</a:t>
            </a:fld>
            <a:endParaRPr lang="en-US"/>
          </a:p>
        </p:txBody>
      </p:sp>
    </p:spTree>
    <p:extLst>
      <p:ext uri="{BB962C8B-B14F-4D97-AF65-F5344CB8AC3E}">
        <p14:creationId xmlns:p14="http://schemas.microsoft.com/office/powerpoint/2010/main" val="3145675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Guerrero, L. K., Andersen, P. A., &amp; Afifi, W. A. (2018).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Close encounters: Communication in relationships </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(5th ed.). Sage.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Inability to predict someone’s attitudes and behaviors</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Self-uncertainty (your own feeling … Do you like it not? Do you want it?)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Partner uncertainty (do your date like you?)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Relationship uncertainty (state of the relationship – is this relationship going well?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err="1">
                <a:effectLst/>
                <a:latin typeface="Times New Roman" panose="02020603050405020304" pitchFamily="18" charset="0"/>
                <a:ea typeface="PMingLiU" panose="02020500000000000000" pitchFamily="18" charset="-120"/>
                <a:cs typeface="Times New Roman" panose="02020603050405020304" pitchFamily="18" charset="0"/>
              </a:rPr>
              <a:t>Aimei</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relationship (ambiguous relationship)</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Friends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hookup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what we are?</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11</a:t>
            </a:fld>
            <a:endParaRPr lang="en-US"/>
          </a:p>
        </p:txBody>
      </p:sp>
    </p:spTree>
    <p:extLst>
      <p:ext uri="{BB962C8B-B14F-4D97-AF65-F5344CB8AC3E}">
        <p14:creationId xmlns:p14="http://schemas.microsoft.com/office/powerpoint/2010/main" val="1827215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Guerrero, L. K., Andersen, P. A., &amp; Afifi, W. A. (2018).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Close encounters: Communication in relationships </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(5th ed.). Sage.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Uncertainty Reduction Theory (Berger &amp; Calabrese, 1975)</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Assumption: the driving force in initial encounters is obtaining information about the other person to get to know them better and, ultimately, to reduce uncertainty.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Presence of uncertainty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desire to reduce uncertainty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seek more information (information seeking strategies = uncertainty reduction strategies)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uncertainty reduced</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12</a:t>
            </a:fld>
            <a:endParaRPr lang="en-US"/>
          </a:p>
        </p:txBody>
      </p:sp>
    </p:spTree>
    <p:extLst>
      <p:ext uri="{BB962C8B-B14F-4D97-AF65-F5344CB8AC3E}">
        <p14:creationId xmlns:p14="http://schemas.microsoft.com/office/powerpoint/2010/main" val="3677460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hlinkClick r:id="rId3" tooltip="http://theconversation.com/we-must-scrap-new-baseline-tests-for-primary-school-children-36558"/>
              </a:rPr>
              <a:t>This Photo</a:t>
            </a:r>
            <a:r>
              <a:rPr lang="en-US" sz="1200" dirty="0"/>
              <a:t> by Unknown Author is licensed under </a:t>
            </a:r>
            <a:r>
              <a:rPr lang="en-US" sz="1200" dirty="0">
                <a:hlinkClick r:id="rId4" tooltip="https://creativecommons.org/licenses/by-nd/3.0/"/>
              </a:rPr>
              <a:t>CC BY-ND</a:t>
            </a:r>
            <a:endParaRPr lang="en-US" sz="1200" dirty="0"/>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13</a:t>
            </a:fld>
            <a:endParaRPr lang="en-US"/>
          </a:p>
        </p:txBody>
      </p:sp>
    </p:spTree>
    <p:extLst>
      <p:ext uri="{BB962C8B-B14F-4D97-AF65-F5344CB8AC3E}">
        <p14:creationId xmlns:p14="http://schemas.microsoft.com/office/powerpoint/2010/main" val="1353793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Guerrero, L. K., Andersen, P. A., &amp; Afifi, W. A. (2018).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Close encounters: Communication in relationships </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(5th ed.). Sage.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FOUR General Strategies to Reduce Uncertainty</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b="1" dirty="0">
                <a:effectLst/>
                <a:latin typeface="Times New Roman" panose="02020603050405020304" pitchFamily="18" charset="0"/>
                <a:ea typeface="PMingLiU" panose="02020500000000000000" pitchFamily="18" charset="-120"/>
                <a:cs typeface="Times New Roman" panose="02020603050405020304" pitchFamily="18" charset="0"/>
              </a:rPr>
              <a:t>Passive: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People who rely on unobtrusive observation of individuals are using passive strategies (Berger, 1979, 1987).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On social networking sites, this behavior could manifest as looking at the target’s Instagram or </a:t>
            </a:r>
            <a:r>
              <a:rPr lang="en-US" sz="1200" dirty="0" err="1">
                <a:effectLst/>
                <a:latin typeface="Times New Roman" panose="02020603050405020304" pitchFamily="18" charset="0"/>
                <a:ea typeface="PMingLiU" panose="02020500000000000000" pitchFamily="18" charset="-120"/>
                <a:cs typeface="Times New Roman" panose="02020603050405020304" pitchFamily="18" charset="0"/>
              </a:rPr>
              <a:t>Wechat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posts (Fox &amp; Anderegg, 2014).</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Reading one’s profile</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b="1" dirty="0">
                <a:effectLst/>
                <a:latin typeface="Times New Roman" panose="02020603050405020304" pitchFamily="18" charset="0"/>
                <a:ea typeface="PMingLiU" panose="02020500000000000000" pitchFamily="18" charset="-120"/>
                <a:cs typeface="Times New Roman" panose="02020603050405020304" pitchFamily="18" charset="0"/>
              </a:rPr>
              <a:t>Active: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Berger and Calabrese (1975) identified two forms of active uncertainty reduction strategy.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One type involves manipulating the social environment and then observing how someone reacts – throw a party on a weekend to see if they have a plus-one</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The second type of active uncertainty reduction strategy involves asking third parties (i.e., friends, family members) about the person in question.</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On social networking sites, this strategy takes the form of comparing how targets describe themselves and how their friends talk about them (Ramirez et al., 2002).</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On online dating, keep track of conversation record.</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b="1" dirty="0">
                <a:effectLst/>
                <a:latin typeface="Times New Roman" panose="02020603050405020304" pitchFamily="18" charset="0"/>
                <a:ea typeface="PMingLiU" panose="02020500000000000000" pitchFamily="18" charset="-120"/>
                <a:cs typeface="Times New Roman" panose="02020603050405020304" pitchFamily="18" charset="0"/>
              </a:rPr>
              <a:t>Interactive: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Interactive strategies involve direct contact between the information seeker and the target.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In an online environment, it could involve commenting on the target’s Facebook posts or asking the target questions (Fox &amp; Anderegg, 2014)</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b="1" dirty="0">
                <a:effectLst/>
                <a:latin typeface="Times New Roman" panose="02020603050405020304" pitchFamily="18" charset="0"/>
                <a:ea typeface="PMingLiU" panose="02020500000000000000" pitchFamily="18" charset="-120"/>
                <a:cs typeface="Times New Roman" panose="02020603050405020304" pitchFamily="18" charset="0"/>
              </a:rPr>
              <a:t>Extractive</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unique to the digital environment as it relies on the searchability of the internet. For example, one may perform an online background check on a target or organization (Ramirez et al., 2002).</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err="1">
                <a:effectLst/>
                <a:latin typeface="Times New Roman" panose="02020603050405020304" pitchFamily="18" charset="0"/>
                <a:ea typeface="PMingLiU" panose="02020500000000000000" pitchFamily="18" charset="-120"/>
                <a:cs typeface="Times New Roman" panose="02020603050405020304" pitchFamily="18" charset="0"/>
              </a:rPr>
              <a:t>Doxxing</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search for and publish private or identifying information about (a particular individual) on the internet, typically with malicious intent.</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14</a:t>
            </a:fld>
            <a:endParaRPr lang="en-US"/>
          </a:p>
        </p:txBody>
      </p:sp>
    </p:spTree>
    <p:extLst>
      <p:ext uri="{BB962C8B-B14F-4D97-AF65-F5344CB8AC3E}">
        <p14:creationId xmlns:p14="http://schemas.microsoft.com/office/powerpoint/2010/main" val="1282701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Guerrero, L. K., Andersen, P. A., &amp; Afifi, W. A. (2018).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Close encounters: Communication in relationships </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(5th ed.). Sage.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Is the motivation to reduce uncertainty universal? / Is reduced uncertainty always preferred?</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Uncertainty can reduce negative emotions (don’t want to know if your crush as a partner)</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There is a chance that the answer is negative</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Uncertainty may produce positive emotions (surprise party!)</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16</a:t>
            </a:fld>
            <a:endParaRPr lang="en-US"/>
          </a:p>
        </p:txBody>
      </p:sp>
    </p:spTree>
    <p:extLst>
      <p:ext uri="{BB962C8B-B14F-4D97-AF65-F5344CB8AC3E}">
        <p14:creationId xmlns:p14="http://schemas.microsoft.com/office/powerpoint/2010/main" val="2912654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Guerrero, L. K., Andersen, P. A., &amp; Afifi, W. A. (2018).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Close encounters: Communication in relationships </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(5th ed.). Sage.</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URT is too simplistic.</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UMT: uncertainty can be appraised as harmful, beneficial, or neutral depending on the interaction between individual and contextual factors.</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E.g., HIV/AIDS patients showed that when uncertainty was perceived as an opportunity, individuals engaged in information avoidance, or in information-seeking behaviors designed to increase their uncertainty levels.</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Desired level of uncertainty</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Example later</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17</a:t>
            </a:fld>
            <a:endParaRPr lang="en-US"/>
          </a:p>
        </p:txBody>
      </p:sp>
    </p:spTree>
    <p:extLst>
      <p:ext uri="{BB962C8B-B14F-4D97-AF65-F5344CB8AC3E}">
        <p14:creationId xmlns:p14="http://schemas.microsoft.com/office/powerpoint/2010/main" val="2023790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7C266B-F689-49FC-AC7B-9CA5A7007299}" type="slidenum">
              <a:rPr lang="en-US" smtClean="0"/>
              <a:t>18</a:t>
            </a:fld>
            <a:endParaRPr lang="en-US"/>
          </a:p>
        </p:txBody>
      </p:sp>
    </p:spTree>
    <p:extLst>
      <p:ext uri="{BB962C8B-B14F-4D97-AF65-F5344CB8AC3E}">
        <p14:creationId xmlns:p14="http://schemas.microsoft.com/office/powerpoint/2010/main" val="3413410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Garamond" panose="02020404030301010803" pitchFamily="18" charset="0"/>
                <a:ea typeface="PMingLiU" panose="02020500000000000000" pitchFamily="18" charset="-120"/>
                <a:cs typeface="Times New Roman" panose="02020603050405020304" pitchFamily="18" charset="0"/>
              </a:rPr>
              <a:t>Image: https://intuji.com/_next/image/?url=https%3A%2F%2Fcms.intuji.com%2Fwp-content%2Fuploads%2F2023%2F02%2Fsolen-feyissa-UWVJaDvXW_c-unsplash-scaled-1.jpg&amp;w=3840&amp;q=75</a:t>
            </a:r>
            <a:endParaRPr lang="en-US" sz="12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26D5D2-ADEE-4456-90AA-037E64E375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4652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Garamond" panose="02020404030301010803" pitchFamily="18" charset="0"/>
                <a:ea typeface="PMingLiU" panose="02020500000000000000" pitchFamily="18" charset="-120"/>
                <a:cs typeface="Times New Roman" panose="02020603050405020304" pitchFamily="18" charset="0"/>
              </a:rPr>
              <a:t>Gibbs, J. L., Ellison, N. B., &amp; Lai, C.-H. (2011). First comes love, then comes Google: An investigation of uncertainty reduction strategies and self-disclosure in online dating. </a:t>
            </a:r>
            <a:r>
              <a:rPr lang="en-US" sz="1800" i="1" dirty="0">
                <a:effectLst/>
                <a:latin typeface="Garamond" panose="02020404030301010803" pitchFamily="18" charset="0"/>
                <a:ea typeface="PMingLiU" panose="02020500000000000000" pitchFamily="18" charset="-120"/>
                <a:cs typeface="Times New Roman" panose="02020603050405020304" pitchFamily="18" charset="0"/>
              </a:rPr>
              <a:t>Communication Research, 38</a:t>
            </a:r>
            <a:r>
              <a:rPr lang="en-US" sz="1800" dirty="0">
                <a:effectLst/>
                <a:latin typeface="Garamond" panose="02020404030301010803" pitchFamily="18" charset="0"/>
                <a:ea typeface="PMingLiU" panose="02020500000000000000" pitchFamily="18" charset="-120"/>
                <a:cs typeface="Times New Roman" panose="02020603050405020304" pitchFamily="18" charset="0"/>
              </a:rPr>
              <a:t>(1), 70–100.  doi:10.1177/0093650210377091</a:t>
            </a:r>
            <a:endParaRPr lang="en-US" sz="18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Privacy concerns. Three particular types of concerns</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Personal safety: online target may bring me harm</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Misrepresentation: online target may deceive me</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Recognition: I myself may be recognized by my family members, friends, and work colleagues (hurting social and professional standing)</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20</a:t>
            </a:fld>
            <a:endParaRPr lang="en-US"/>
          </a:p>
        </p:txBody>
      </p:sp>
    </p:spTree>
    <p:extLst>
      <p:ext uri="{BB962C8B-B14F-4D97-AF65-F5344CB8AC3E}">
        <p14:creationId xmlns:p14="http://schemas.microsoft.com/office/powerpoint/2010/main" val="3355498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Garamond" panose="02020404030301010803" pitchFamily="18" charset="0"/>
                <a:ea typeface="PMingLiU" panose="02020500000000000000" pitchFamily="18" charset="-120"/>
                <a:cs typeface="Times New Roman" panose="02020603050405020304" pitchFamily="18" charset="0"/>
              </a:rPr>
              <a:t>Gibbs, J. L., Ellison, N. B., &amp; Lai, C.-H. (2011). First comes love, then comes Google: An investigation of uncertainty reduction strategies and self-disclosure in online dating. </a:t>
            </a:r>
            <a:r>
              <a:rPr lang="en-US" sz="1800" i="1" dirty="0">
                <a:effectLst/>
                <a:latin typeface="Garamond" panose="02020404030301010803" pitchFamily="18" charset="0"/>
                <a:ea typeface="PMingLiU" panose="02020500000000000000" pitchFamily="18" charset="-120"/>
                <a:cs typeface="Times New Roman" panose="02020603050405020304" pitchFamily="18" charset="0"/>
              </a:rPr>
              <a:t>Communication Research, 38</a:t>
            </a:r>
            <a:r>
              <a:rPr lang="en-US" sz="1800" dirty="0">
                <a:effectLst/>
                <a:latin typeface="Garamond" panose="02020404030301010803" pitchFamily="18" charset="0"/>
                <a:ea typeface="PMingLiU" panose="02020500000000000000" pitchFamily="18" charset="-120"/>
                <a:cs typeface="Times New Roman" panose="02020603050405020304" pitchFamily="18" charset="0"/>
              </a:rPr>
              <a:t>(1), 70–100.  doi:10.1177/0093650210377091</a:t>
            </a:r>
            <a:endParaRPr lang="en-US" sz="18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PMingLiU" panose="02020500000000000000" pitchFamily="18" charset="-120"/>
                <a:cs typeface="Times New Roman" panose="02020603050405020304" pitchFamily="18" charset="0"/>
              </a:rPr>
              <a:t>H1 Users with greater privacy concerns are more likely to seek information about potential partners, in order to verify that such individuals do not pose a threat to their personal security, that they are representing themselves honestly and accurately, and that they do not represent a risk to one’s social or professional standing</a:t>
            </a:r>
            <a:endParaRPr lang="en-US" sz="18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r>
              <a:rPr lang="en-US" dirty="0"/>
              <a:t>H2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Uncertainty reduction and self-disclosure</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With more uncertainty reduction strategies, less uncertainty, thus more interaction</a:t>
            </a:r>
          </a:p>
          <a:p>
            <a:pPr marL="742950" marR="0" lvl="1" indent="-285750">
              <a:lnSpc>
                <a:spcPct val="107000"/>
              </a:lnSpc>
              <a:spcBef>
                <a:spcPts val="0"/>
              </a:spcBef>
              <a:spcAft>
                <a:spcPts val="0"/>
              </a:spcAft>
              <a:buFont typeface="Courier New" panose="02070309020205020404" pitchFamily="49" charset="0"/>
              <a:buChar char="o"/>
            </a:pPr>
            <a:endParaRPr lang="en-US" sz="1200" dirty="0">
              <a:effectLst/>
              <a:latin typeface="Times New Roman" panose="02020603050405020304" pitchFamily="18"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21</a:t>
            </a:fld>
            <a:endParaRPr lang="en-US"/>
          </a:p>
        </p:txBody>
      </p:sp>
    </p:spTree>
    <p:extLst>
      <p:ext uri="{BB962C8B-B14F-4D97-AF65-F5344CB8AC3E}">
        <p14:creationId xmlns:p14="http://schemas.microsoft.com/office/powerpoint/2010/main" val="36706699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Garamond" panose="02020404030301010803" pitchFamily="18" charset="0"/>
                <a:ea typeface="PMingLiU" panose="02020500000000000000" pitchFamily="18" charset="-120"/>
                <a:cs typeface="Times New Roman" panose="02020603050405020304" pitchFamily="18" charset="0"/>
              </a:rPr>
              <a:t>Gibbs, J. L., Ellison, N. B., &amp; Lai, C.-H. (2011). First comes love, then comes Google: An investigation of uncertainty reduction strategies and self-disclosure in online dating. </a:t>
            </a:r>
            <a:r>
              <a:rPr lang="en-US" sz="1800" i="1" dirty="0">
                <a:effectLst/>
                <a:latin typeface="Garamond" panose="02020404030301010803" pitchFamily="18" charset="0"/>
                <a:ea typeface="PMingLiU" panose="02020500000000000000" pitchFamily="18" charset="-120"/>
                <a:cs typeface="Times New Roman" panose="02020603050405020304" pitchFamily="18" charset="0"/>
              </a:rPr>
              <a:t>Communication Research, 38</a:t>
            </a:r>
            <a:r>
              <a:rPr lang="en-US" sz="1800" dirty="0">
                <a:effectLst/>
                <a:latin typeface="Garamond" panose="02020404030301010803" pitchFamily="18" charset="0"/>
                <a:ea typeface="PMingLiU" panose="02020500000000000000" pitchFamily="18" charset="-120"/>
                <a:cs typeface="Times New Roman" panose="02020603050405020304" pitchFamily="18" charset="0"/>
              </a:rPr>
              <a:t>(1), 70–100.  doi:10.1177/0093650210377091</a:t>
            </a:r>
            <a:endParaRPr lang="en-US" sz="18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Method: 562 respondents, survey</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Privacy concern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uncertainty reduction strategies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self-disclosure (amount) All supported</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Open-ended: direct questioning: 37%, information-based triangulation: 23% (e.g., cross-referencing and comparing profiles on multiple websites), comparisons: 20%</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Interactive is the most common because in CMC there is a lack of traditional identity cues (Tidwell &amp; Walther, 2002)</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22</a:t>
            </a:fld>
            <a:endParaRPr lang="en-US"/>
          </a:p>
        </p:txBody>
      </p:sp>
    </p:spTree>
    <p:extLst>
      <p:ext uri="{BB962C8B-B14F-4D97-AF65-F5344CB8AC3E}">
        <p14:creationId xmlns:p14="http://schemas.microsoft.com/office/powerpoint/2010/main" val="3988113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Garamond" panose="02020404030301010803" pitchFamily="18" charset="0"/>
                <a:ea typeface="PMingLiU" panose="02020500000000000000" pitchFamily="18" charset="-120"/>
                <a:cs typeface="Times New Roman" panose="02020603050405020304" pitchFamily="18" charset="0"/>
              </a:rPr>
              <a:t>Corriero, E. F., Tong, S. T. (2016). Managing uncertainty in mobile dating applications: Goals, concerns of use, and information seeking in Grindr. </a:t>
            </a:r>
            <a:r>
              <a:rPr lang="en-US" sz="1200" i="1" dirty="0">
                <a:effectLst/>
                <a:latin typeface="Garamond" panose="02020404030301010803" pitchFamily="18" charset="0"/>
                <a:ea typeface="PMingLiU" panose="02020500000000000000" pitchFamily="18" charset="-120"/>
                <a:cs typeface="Times New Roman" panose="02020603050405020304" pitchFamily="18" charset="0"/>
              </a:rPr>
              <a:t>Mobile Media &amp; Communication, 4</a:t>
            </a:r>
            <a:r>
              <a:rPr lang="en-US" sz="1200" dirty="0">
                <a:effectLst/>
                <a:latin typeface="Garamond" panose="02020404030301010803" pitchFamily="18" charset="0"/>
                <a:ea typeface="PMingLiU" panose="02020500000000000000" pitchFamily="18" charset="-120"/>
                <a:cs typeface="Times New Roman" panose="02020603050405020304" pitchFamily="18" charset="0"/>
              </a:rPr>
              <a:t>(10), 121–141. doi:10.1177/2050157915614872</a:t>
            </a:r>
            <a:endParaRPr lang="en-US" sz="12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a:p>
            <a:pPr algn="l"/>
            <a:r>
              <a:rPr lang="en-US" dirty="0"/>
              <a:t>Image: https://blog.lighthouse.lgbt/wp-content/uploads/2018/03/phone-addict.jpg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26D5D2-ADEE-4456-90AA-037E64E375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326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nSpc>
                <a:spcPct val="100000"/>
              </a:lnSpc>
              <a:spcBef>
                <a:spcPts val="0"/>
              </a:spcBef>
              <a:spcAft>
                <a:spcPts val="0"/>
              </a:spcAft>
              <a:buFont typeface="Courier New" panose="02070309020205020404" pitchFamily="49" charset="0"/>
              <a:buNone/>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URT is too simple; TMIM is too complex</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0" marR="0" lvl="2" indent="0">
              <a:lnSpc>
                <a:spcPct val="100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Desired level of uncertainty</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0" marR="0" lvl="2" indent="0">
              <a:lnSpc>
                <a:spcPct val="100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Different from Gibbs</a:t>
            </a:r>
          </a:p>
          <a:p>
            <a:pPr marL="0" marR="0" lvl="2" indent="0">
              <a:lnSpc>
                <a:spcPct val="100000"/>
              </a:lnSpc>
              <a:spcBef>
                <a:spcPts val="0"/>
              </a:spcBef>
              <a:spcAft>
                <a:spcPts val="0"/>
              </a:spcAft>
              <a:buFont typeface="Wingdings" panose="05000000000000000000" pitchFamily="2" charset="2"/>
              <a:buChar char=""/>
            </a:pPr>
            <a:endParaRPr lang="en-US" sz="1200" dirty="0">
              <a:effectLst/>
              <a:latin typeface="Times New Roman" panose="02020603050405020304" pitchFamily="18" charset="0"/>
              <a:ea typeface="PMingLiU" panose="02020500000000000000" pitchFamily="18" charset="-120"/>
              <a:cs typeface="Times New Roman" panose="02020603050405020304" pitchFamily="18" charset="0"/>
            </a:endParaRPr>
          </a:p>
          <a:p>
            <a:pPr marL="0" marR="0" lvl="2" indent="0">
              <a:lnSpc>
                <a:spcPct val="100000"/>
              </a:lnSpc>
              <a:spcBef>
                <a:spcPts val="0"/>
              </a:spcBef>
              <a:spcAft>
                <a:spcPts val="0"/>
              </a:spcAft>
              <a:buFont typeface="Wingdings" panose="05000000000000000000" pitchFamily="2" charset="2"/>
              <a:buNone/>
            </a:pPr>
            <a:endParaRPr lang="en-US" sz="1200" dirty="0">
              <a:effectLst/>
              <a:latin typeface="Times New Roman" panose="02020603050405020304" pitchFamily="18"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The use of Grindr</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742950" marR="0" lvl="1" indent="-285750">
              <a:lnSpc>
                <a:spcPct val="107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Users’ goals are diverse;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casual sex, they may want an “impersonal” meeting, “I actually don’t want to know more about you” </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sym typeface="Wingdings" panose="05000000000000000000" pitchFamily="2" charset="2"/>
              </a:rPr>
              <a:t></a:t>
            </a: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 uncertainty is a plus (H1 or call it prediction 1)</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1143000" marR="0" lvl="2" indent="-228600">
              <a:lnSpc>
                <a:spcPct val="107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Romance, they want to know more (H2 or call it prediction 2)</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342900" marR="0" lvl="0" indent="-342900">
              <a:lnSpc>
                <a:spcPct val="107000"/>
              </a:lnSpc>
              <a:spcBef>
                <a:spcPts val="0"/>
              </a:spcBef>
              <a:spcAft>
                <a:spcPts val="0"/>
              </a:spcAft>
              <a:buFont typeface="Garamond" panose="02020404030301010803" pitchFamily="18" charset="0"/>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Uncertainty level and information-seeking</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r>
              <a:rPr lang="en-US" sz="1200" dirty="0">
                <a:effectLst/>
                <a:latin typeface="Times New Roman" panose="02020603050405020304" pitchFamily="18" charset="0"/>
                <a:ea typeface="PMingLiU" panose="02020500000000000000" pitchFamily="18" charset="-120"/>
              </a:rPr>
              <a:t>Still exist, like in URT</a:t>
            </a:r>
            <a:endParaRPr lang="en-US" sz="1200" dirty="0">
              <a:effectLst/>
              <a:latin typeface="Times New Roman" panose="02020603050405020304" pitchFamily="18" charset="0"/>
              <a:ea typeface="PMingLiU" panose="02020500000000000000" pitchFamily="18" charset="-120"/>
              <a:cs typeface="Times New Roman" panose="02020603050405020304" pitchFamily="18" charset="0"/>
            </a:endParaRPr>
          </a:p>
          <a:p>
            <a:pPr marL="0" marR="0" lvl="2" indent="0">
              <a:lnSpc>
                <a:spcPct val="100000"/>
              </a:lnSpc>
              <a:spcBef>
                <a:spcPts val="0"/>
              </a:spcBef>
              <a:spcAft>
                <a:spcPts val="0"/>
              </a:spcAft>
              <a:buFont typeface="Wingdings" panose="05000000000000000000" pitchFamily="2" charset="2"/>
              <a:buChar char=""/>
            </a:pP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24</a:t>
            </a:fld>
            <a:endParaRPr lang="en-US"/>
          </a:p>
        </p:txBody>
      </p:sp>
    </p:spTree>
    <p:extLst>
      <p:ext uri="{BB962C8B-B14F-4D97-AF65-F5344CB8AC3E}">
        <p14:creationId xmlns:p14="http://schemas.microsoft.com/office/powerpoint/2010/main" val="1107047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TimesNewRomanPSMT"/>
              </a:rPr>
              <a:t>“I’m not very concerned with being 100% certain about other Grindr users,” “I rarely try to find out things about other users,” and “I don’t have to be completely certain about another Grindr user before meeting him offline” .</a:t>
            </a:r>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25</a:t>
            </a:fld>
            <a:endParaRPr lang="en-US"/>
          </a:p>
        </p:txBody>
      </p:sp>
    </p:spTree>
    <p:extLst>
      <p:ext uri="{BB962C8B-B14F-4D97-AF65-F5344CB8AC3E}">
        <p14:creationId xmlns:p14="http://schemas.microsoft.com/office/powerpoint/2010/main" val="2807014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1440" marR="0" lvl="0" indent="0">
              <a:lnSpc>
                <a:spcPct val="100000"/>
              </a:lnSpc>
              <a:spcBef>
                <a:spcPts val="0"/>
              </a:spcBef>
              <a:spcAft>
                <a:spcPts val="0"/>
              </a:spcAft>
              <a:buFont typeface="Garamond" panose="02020404030301010803" pitchFamily="18" charset="0"/>
              <a:buChar char="-"/>
            </a:pPr>
            <a:r>
              <a:rPr lang="en-US" sz="1800" dirty="0">
                <a:effectLst/>
                <a:latin typeface="Times New Roman" panose="02020603050405020304" pitchFamily="18" charset="0"/>
                <a:ea typeface="PMingLiU" panose="02020500000000000000" pitchFamily="18" charset="-120"/>
                <a:cs typeface="Times New Roman" panose="02020603050405020304" pitchFamily="18" charset="0"/>
              </a:rPr>
              <a:t>Method: 326 participants, survey</a:t>
            </a:r>
          </a:p>
          <a:p>
            <a:pPr marL="91440" marR="0" lvl="1" indent="0">
              <a:lnSpc>
                <a:spcPct val="100000"/>
              </a:lnSpc>
              <a:spcBef>
                <a:spcPts val="0"/>
              </a:spcBef>
              <a:spcAft>
                <a:spcPts val="0"/>
              </a:spcAft>
              <a:buFont typeface="Courier New" panose="02070309020205020404" pitchFamily="49" charset="0"/>
              <a:buChar char="o"/>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One is that daters value uncertainty because it allows them to maintain the perception of control over the casual nature of their encounters. </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91440" marR="0" lvl="2" indent="0">
              <a:lnSpc>
                <a:spcPct val="100000"/>
              </a:lnSpc>
              <a:spcBef>
                <a:spcPts val="0"/>
              </a:spcBef>
              <a:spcAft>
                <a:spcPts val="0"/>
              </a:spcAft>
              <a:buFont typeface="Wingdings" panose="05000000000000000000" pitchFamily="2" charset="2"/>
              <a:buChar char=""/>
            </a:pPr>
            <a:r>
              <a:rPr lang="en-US" sz="1200" dirty="0">
                <a:effectLst/>
                <a:latin typeface="Times New Roman" panose="02020603050405020304" pitchFamily="18" charset="0"/>
                <a:ea typeface="PMingLiU" panose="02020500000000000000" pitchFamily="18" charset="-120"/>
                <a:cs typeface="Times New Roman" panose="02020603050405020304" pitchFamily="18" charset="0"/>
              </a:rPr>
              <a:t>Uncertainty may provide daters with a way to preserve positive illusions about their sexual partners by avoiding additional (and potentially unpleasant) information about them.</a:t>
            </a:r>
            <a:endParaRPr lang="en-US" sz="1100" dirty="0">
              <a:effectLst/>
              <a:latin typeface="Calibri" panose="020F0502020204030204" pitchFamily="34" charset="0"/>
              <a:ea typeface="PMingLiU" panose="02020500000000000000" pitchFamily="18" charset="-120"/>
              <a:cs typeface="Times New Roman" panose="02020603050405020304" pitchFamily="18" charset="0"/>
            </a:endParaRPr>
          </a:p>
          <a:p>
            <a:pPr marL="91440" marR="0" lvl="0" indent="0">
              <a:lnSpc>
                <a:spcPct val="100000"/>
              </a:lnSpc>
              <a:spcBef>
                <a:spcPts val="0"/>
              </a:spcBef>
              <a:spcAft>
                <a:spcPts val="0"/>
              </a:spcAft>
              <a:buFont typeface="Garamond" panose="02020404030301010803" pitchFamily="18" charset="0"/>
              <a:buChar char="-"/>
            </a:pPr>
            <a:endParaRPr lang="en-US" sz="1800" dirty="0">
              <a:effectLst/>
              <a:latin typeface="Calibri" panose="020F0502020204030204" pitchFamily="34" charset="0"/>
              <a:ea typeface="PMingLiU" panose="02020500000000000000" pitchFamily="18" charset="-12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E26D5D2-ADEE-4456-90AA-037E64E3750C}" type="slidenum">
              <a:rPr lang="en-US" smtClean="0"/>
              <a:t>26</a:t>
            </a:fld>
            <a:endParaRPr lang="en-US"/>
          </a:p>
        </p:txBody>
      </p:sp>
    </p:spTree>
    <p:extLst>
      <p:ext uri="{BB962C8B-B14F-4D97-AF65-F5344CB8AC3E}">
        <p14:creationId xmlns:p14="http://schemas.microsoft.com/office/powerpoint/2010/main" val="35564845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linkClick r:id="rId3" tooltip="http://www.ojdo.de/wp/2013/10/red-blurry-desktop-wallpapers/"/>
              </a:rPr>
              <a:t>This Photo</a:t>
            </a:r>
            <a:r>
              <a:rPr lang="en-US" sz="1200" dirty="0"/>
              <a:t> by Unknown Author is licensed under </a:t>
            </a:r>
            <a:r>
              <a:rPr lang="en-US" sz="1200" dirty="0">
                <a:hlinkClick r:id="rId4" tooltip="https://creativecommons.org/licenses/by-sa/3.0/"/>
              </a:rPr>
              <a:t>CC BY-SA</a:t>
            </a:r>
            <a:endParaRPr lang="en-US" sz="1200" dirty="0"/>
          </a:p>
          <a:p>
            <a:endParaRPr lang="en-US" dirty="0"/>
          </a:p>
        </p:txBody>
      </p:sp>
      <p:sp>
        <p:nvSpPr>
          <p:cNvPr id="4" name="Slide Number Placeholder 3"/>
          <p:cNvSpPr>
            <a:spLocks noGrp="1"/>
          </p:cNvSpPr>
          <p:nvPr>
            <p:ph type="sldNum" sz="quarter" idx="5"/>
          </p:nvPr>
        </p:nvSpPr>
        <p:spPr/>
        <p:txBody>
          <a:bodyPr/>
          <a:lstStyle/>
          <a:p>
            <a:fld id="{3E26D5D2-ADEE-4456-90AA-037E64E3750C}" type="slidenum">
              <a:rPr lang="en-US" smtClean="0"/>
              <a:t>27</a:t>
            </a:fld>
            <a:endParaRPr lang="en-US"/>
          </a:p>
        </p:txBody>
      </p:sp>
    </p:spTree>
    <p:extLst>
      <p:ext uri="{BB962C8B-B14F-4D97-AF65-F5344CB8AC3E}">
        <p14:creationId xmlns:p14="http://schemas.microsoft.com/office/powerpoint/2010/main" val="16996978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https://www.ted.com/talks/christina_wallace_how_to_stop_swiping_and_find_your_person_on_dating_apps?language=zh</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PMingLiU" panose="02020500000000000000" pitchFamily="18" charset="-120"/>
                <a:cs typeface="Times New Roman" panose="02020603050405020304" pitchFamily="18" charset="0"/>
              </a:rPr>
              <a:t>TED talk: Christina Wallace: How to Stop Swiping and Find Your Person on Dating Apps (5 mins) – startup entrepreneur in fashion and tech, “44 Female Founders to Know"</a:t>
            </a:r>
            <a:endParaRPr lang="en-US" sz="1800" dirty="0">
              <a:effectLst/>
              <a:latin typeface="Calibri" panose="020F0502020204030204" pitchFamily="34" charset="0"/>
              <a:ea typeface="PMingLiU" panose="02020500000000000000" pitchFamily="18" charset="-120"/>
              <a:cs typeface="Times New Roman" panose="02020603050405020304" pitchFamily="18" charset="0"/>
            </a:endParaRPr>
          </a:p>
          <a:p>
            <a:r>
              <a:rPr lang="en-US" dirty="0"/>
              <a:t>What did Christina do to reduce uncertainty?</a:t>
            </a:r>
          </a:p>
        </p:txBody>
      </p:sp>
      <p:sp>
        <p:nvSpPr>
          <p:cNvPr id="4" name="Slide Number Placeholder 3"/>
          <p:cNvSpPr>
            <a:spLocks noGrp="1"/>
          </p:cNvSpPr>
          <p:nvPr>
            <p:ph type="sldNum" sz="quarter" idx="5"/>
          </p:nvPr>
        </p:nvSpPr>
        <p:spPr/>
        <p:txBody>
          <a:bodyPr/>
          <a:lstStyle/>
          <a:p>
            <a:fld id="{3E26D5D2-ADEE-4456-90AA-037E64E3750C}" type="slidenum">
              <a:rPr lang="en-US" smtClean="0"/>
              <a:t>28</a:t>
            </a:fld>
            <a:endParaRPr lang="en-US"/>
          </a:p>
        </p:txBody>
      </p:sp>
    </p:spTree>
    <p:extLst>
      <p:ext uri="{BB962C8B-B14F-4D97-AF65-F5344CB8AC3E}">
        <p14:creationId xmlns:p14="http://schemas.microsoft.com/office/powerpoint/2010/main" val="22535336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7C266B-F689-49FC-AC7B-9CA5A7007299}" type="slidenum">
              <a:rPr lang="en-US" smtClean="0"/>
              <a:t>31</a:t>
            </a:fld>
            <a:endParaRPr lang="en-US"/>
          </a:p>
        </p:txBody>
      </p:sp>
    </p:spTree>
    <p:extLst>
      <p:ext uri="{BB962C8B-B14F-4D97-AF65-F5344CB8AC3E}">
        <p14:creationId xmlns:p14="http://schemas.microsoft.com/office/powerpoint/2010/main" val="4140664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7C266B-F689-49FC-AC7B-9CA5A7007299}" type="slidenum">
              <a:rPr lang="en-US" smtClean="0"/>
              <a:t>32</a:t>
            </a:fld>
            <a:endParaRPr lang="en-US"/>
          </a:p>
        </p:txBody>
      </p:sp>
    </p:spTree>
    <p:extLst>
      <p:ext uri="{BB962C8B-B14F-4D97-AF65-F5344CB8AC3E}">
        <p14:creationId xmlns:p14="http://schemas.microsoft.com/office/powerpoint/2010/main" val="1775998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7C266B-F689-49FC-AC7B-9CA5A7007299}" type="slidenum">
              <a:rPr lang="en-US" smtClean="0"/>
              <a:t>33</a:t>
            </a:fld>
            <a:endParaRPr lang="en-US"/>
          </a:p>
        </p:txBody>
      </p:sp>
    </p:spTree>
    <p:extLst>
      <p:ext uri="{BB962C8B-B14F-4D97-AF65-F5344CB8AC3E}">
        <p14:creationId xmlns:p14="http://schemas.microsoft.com/office/powerpoint/2010/main" val="3197835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6/26/2026</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14135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6/26/2026</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356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6/26/2026</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2573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6/26/2026</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5098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6/26/2026</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530544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dirty="0"/>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6/26/2026</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96558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6/26/2026</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11714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6/26/2026</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60997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6/26/2026</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987603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6/26/2026</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706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6/26/2026</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294439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6/26/2026</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8044038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piqsels.com/en/public-domain-photo-fous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theconversation.com/we-must-scrap-new-baseline-tests-for-primary-school-children-36558" TargetMode="Externa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www.ojdo.de/wp/2013/10/red-blurry-desktop-wallpaper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4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 name="Title 3">
            <a:extLst>
              <a:ext uri="{FF2B5EF4-FFF2-40B4-BE49-F238E27FC236}">
                <a16:creationId xmlns:a16="http://schemas.microsoft.com/office/drawing/2014/main" id="{4DB5E5F6-AA38-8D9B-5A89-CDD1DC967F0F}"/>
              </a:ext>
            </a:extLst>
          </p:cNvPr>
          <p:cNvSpPr>
            <a:spLocks noGrp="1"/>
          </p:cNvSpPr>
          <p:nvPr>
            <p:ph type="ctrTitle"/>
          </p:nvPr>
        </p:nvSpPr>
        <p:spPr>
          <a:xfrm>
            <a:off x="722790" y="4037473"/>
            <a:ext cx="4499178" cy="740888"/>
          </a:xfrm>
        </p:spPr>
        <p:txBody>
          <a:bodyPr anchor="t">
            <a:normAutofit/>
          </a:bodyPr>
          <a:lstStyle/>
          <a:p>
            <a:pPr algn="l"/>
            <a:r>
              <a:rPr lang="en-US" sz="1800" dirty="0"/>
              <a:t>Prof </a:t>
            </a:r>
            <a:r>
              <a:rPr lang="en-US" sz="1600" dirty="0"/>
              <a:t>Sam Chan</a:t>
            </a:r>
            <a:endParaRPr lang="en-US" sz="2000" dirty="0"/>
          </a:p>
        </p:txBody>
      </p:sp>
      <p:sp>
        <p:nvSpPr>
          <p:cNvPr id="5" name="Subtitle 4">
            <a:extLst>
              <a:ext uri="{FF2B5EF4-FFF2-40B4-BE49-F238E27FC236}">
                <a16:creationId xmlns:a16="http://schemas.microsoft.com/office/drawing/2014/main" id="{0590A9D2-09F2-0EC8-69DB-B21693B3B6DE}"/>
              </a:ext>
            </a:extLst>
          </p:cNvPr>
          <p:cNvSpPr>
            <a:spLocks noGrp="1"/>
          </p:cNvSpPr>
          <p:nvPr>
            <p:ph type="subTitle" idx="1"/>
          </p:nvPr>
        </p:nvSpPr>
        <p:spPr>
          <a:xfrm>
            <a:off x="722790" y="4445204"/>
            <a:ext cx="4099646" cy="2083836"/>
          </a:xfrm>
        </p:spPr>
        <p:txBody>
          <a:bodyPr>
            <a:normAutofit/>
          </a:bodyPr>
          <a:lstStyle/>
          <a:p>
            <a:pPr algn="l"/>
            <a:r>
              <a:rPr lang="en-US" sz="2000" dirty="0"/>
              <a:t>Meeting 4 | “What are you looking for, really?” managing uncertainty online</a:t>
            </a:r>
          </a:p>
        </p:txBody>
      </p:sp>
      <p:sp>
        <p:nvSpPr>
          <p:cNvPr id="1033"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35" name="Graphic 212">
            <a:extLst>
              <a:ext uri="{FF2B5EF4-FFF2-40B4-BE49-F238E27FC236}">
                <a16:creationId xmlns:a16="http://schemas.microsoft.com/office/drawing/2014/main" id="{A499C65A-9B02-4D7F-BD68-CD38D8805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037"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70622" y="1755501"/>
            <a:ext cx="1598829" cy="531293"/>
            <a:chOff x="2504802" y="1755501"/>
            <a:chExt cx="1598829" cy="531293"/>
          </a:xfrm>
          <a:solidFill>
            <a:schemeClr val="tx1"/>
          </a:solidFill>
        </p:grpSpPr>
        <p:sp>
          <p:nvSpPr>
            <p:cNvPr id="1038" name="Freeform: Shape 1037">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039" name="Freeform: Shape 1038">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1041" name="Graphic 4">
            <a:extLst>
              <a:ext uri="{FF2B5EF4-FFF2-40B4-BE49-F238E27FC236}">
                <a16:creationId xmlns:a16="http://schemas.microsoft.com/office/drawing/2014/main" id="{1F4896D7-5AD0-4505-BCCD-82262CFEE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035286" y="3429061"/>
            <a:ext cx="1861484" cy="1861513"/>
            <a:chOff x="5734037" y="3067039"/>
            <a:chExt cx="724483" cy="724489"/>
          </a:xfrm>
          <a:solidFill>
            <a:schemeClr val="tx1"/>
          </a:solidFill>
        </p:grpSpPr>
        <p:sp>
          <p:nvSpPr>
            <p:cNvPr id="1042" name="Freeform: Shape 1041">
              <a:extLst>
                <a:ext uri="{FF2B5EF4-FFF2-40B4-BE49-F238E27FC236}">
                  <a16:creationId xmlns:a16="http://schemas.microsoft.com/office/drawing/2014/main" id="{83C04C31-4BBB-4AC5-A222-4E79BDDF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090890F0-A440-4A5F-89E2-860A60425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4" name="Freeform: Shape 1043">
              <a:extLst>
                <a:ext uri="{FF2B5EF4-FFF2-40B4-BE49-F238E27FC236}">
                  <a16:creationId xmlns:a16="http://schemas.microsoft.com/office/drawing/2014/main" id="{F9BA7632-2294-4740-BB61-DFA5017B7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5" name="Freeform: Shape 1044">
              <a:extLst>
                <a:ext uri="{FF2B5EF4-FFF2-40B4-BE49-F238E27FC236}">
                  <a16:creationId xmlns:a16="http://schemas.microsoft.com/office/drawing/2014/main" id="{D025C556-497E-4B62-9131-98448B5A7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6" name="Freeform: Shape 1045">
              <a:extLst>
                <a:ext uri="{FF2B5EF4-FFF2-40B4-BE49-F238E27FC236}">
                  <a16:creationId xmlns:a16="http://schemas.microsoft.com/office/drawing/2014/main" id="{C467884A-CD29-4BCE-A1A4-1E629953FC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7" name="Freeform: Shape 1046">
              <a:extLst>
                <a:ext uri="{FF2B5EF4-FFF2-40B4-BE49-F238E27FC236}">
                  <a16:creationId xmlns:a16="http://schemas.microsoft.com/office/drawing/2014/main" id="{73A1BC11-A782-4A26-87D0-76C92BAB7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8" name="Freeform: Shape 1047">
              <a:extLst>
                <a:ext uri="{FF2B5EF4-FFF2-40B4-BE49-F238E27FC236}">
                  <a16:creationId xmlns:a16="http://schemas.microsoft.com/office/drawing/2014/main" id="{8787142E-1022-4109-9141-85FF9C22E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9" name="Freeform: Shape 1048">
              <a:extLst>
                <a:ext uri="{FF2B5EF4-FFF2-40B4-BE49-F238E27FC236}">
                  <a16:creationId xmlns:a16="http://schemas.microsoft.com/office/drawing/2014/main" id="{763BCB7E-36CC-4105-9CDA-BFB80F3FF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50" name="Freeform: Shape 1049">
              <a:extLst>
                <a:ext uri="{FF2B5EF4-FFF2-40B4-BE49-F238E27FC236}">
                  <a16:creationId xmlns:a16="http://schemas.microsoft.com/office/drawing/2014/main" id="{A6EF2588-350F-4CCE-9BF8-799EC7196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1" name="Freeform: Shape 1050">
              <a:extLst>
                <a:ext uri="{FF2B5EF4-FFF2-40B4-BE49-F238E27FC236}">
                  <a16:creationId xmlns:a16="http://schemas.microsoft.com/office/drawing/2014/main" id="{0A696712-7E60-48CD-A6F8-91754B090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2" name="Freeform: Shape 1051">
              <a:extLst>
                <a:ext uri="{FF2B5EF4-FFF2-40B4-BE49-F238E27FC236}">
                  <a16:creationId xmlns:a16="http://schemas.microsoft.com/office/drawing/2014/main" id="{0244E95B-2BBF-4335-BEFC-BA135EF94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3" name="Freeform: Shape 1052">
              <a:extLst>
                <a:ext uri="{FF2B5EF4-FFF2-40B4-BE49-F238E27FC236}">
                  <a16:creationId xmlns:a16="http://schemas.microsoft.com/office/drawing/2014/main" id="{0D692242-534C-4A58-90D7-43A781D23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4" name="Freeform: Shape 1053">
              <a:extLst>
                <a:ext uri="{FF2B5EF4-FFF2-40B4-BE49-F238E27FC236}">
                  <a16:creationId xmlns:a16="http://schemas.microsoft.com/office/drawing/2014/main" id="{BC72B2EF-E5D1-46BF-B7FE-A9D174508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5" name="Freeform: Shape 1054">
              <a:extLst>
                <a:ext uri="{FF2B5EF4-FFF2-40B4-BE49-F238E27FC236}">
                  <a16:creationId xmlns:a16="http://schemas.microsoft.com/office/drawing/2014/main" id="{48805B31-6BA4-45FA-8180-436B2EC41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6" name="Freeform: Shape 1055">
              <a:extLst>
                <a:ext uri="{FF2B5EF4-FFF2-40B4-BE49-F238E27FC236}">
                  <a16:creationId xmlns:a16="http://schemas.microsoft.com/office/drawing/2014/main" id="{51B376A0-4543-4AE3-8071-5C746BADE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57" name="Freeform: Shape 1056">
              <a:extLst>
                <a:ext uri="{FF2B5EF4-FFF2-40B4-BE49-F238E27FC236}">
                  <a16:creationId xmlns:a16="http://schemas.microsoft.com/office/drawing/2014/main" id="{0824AEB4-F797-4131-AD1A-BCB807B08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58" name="Freeform: Shape 1057">
              <a:extLst>
                <a:ext uri="{FF2B5EF4-FFF2-40B4-BE49-F238E27FC236}">
                  <a16:creationId xmlns:a16="http://schemas.microsoft.com/office/drawing/2014/main" id="{7399A867-568D-43D3-8F17-6644C8D09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9" name="Freeform: Shape 1058">
              <a:extLst>
                <a:ext uri="{FF2B5EF4-FFF2-40B4-BE49-F238E27FC236}">
                  <a16:creationId xmlns:a16="http://schemas.microsoft.com/office/drawing/2014/main" id="{9953DBA6-7A8F-4369-8F18-DC19A21B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0" name="Freeform: Shape 1059">
              <a:extLst>
                <a:ext uri="{FF2B5EF4-FFF2-40B4-BE49-F238E27FC236}">
                  <a16:creationId xmlns:a16="http://schemas.microsoft.com/office/drawing/2014/main" id="{D9167760-8210-45B7-96C9-462EB82D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1" name="Freeform: Shape 1060">
              <a:extLst>
                <a:ext uri="{FF2B5EF4-FFF2-40B4-BE49-F238E27FC236}">
                  <a16:creationId xmlns:a16="http://schemas.microsoft.com/office/drawing/2014/main" id="{3B578C99-7B91-480A-B8CA-B9FB3AF17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62" name="Freeform: Shape 1061">
              <a:extLst>
                <a:ext uri="{FF2B5EF4-FFF2-40B4-BE49-F238E27FC236}">
                  <a16:creationId xmlns:a16="http://schemas.microsoft.com/office/drawing/2014/main" id="{CDF91670-E084-4B4B-9F86-75DD43CBE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3" name="Freeform: Shape 1062">
              <a:extLst>
                <a:ext uri="{FF2B5EF4-FFF2-40B4-BE49-F238E27FC236}">
                  <a16:creationId xmlns:a16="http://schemas.microsoft.com/office/drawing/2014/main" id="{8FC99F2F-C73F-444D-B4BB-C02E463AB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64" name="Freeform: Shape 1063">
              <a:extLst>
                <a:ext uri="{FF2B5EF4-FFF2-40B4-BE49-F238E27FC236}">
                  <a16:creationId xmlns:a16="http://schemas.microsoft.com/office/drawing/2014/main" id="{7F3FF604-A6A9-4EDC-868C-696B9212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5" name="Freeform: Shape 1064">
              <a:extLst>
                <a:ext uri="{FF2B5EF4-FFF2-40B4-BE49-F238E27FC236}">
                  <a16:creationId xmlns:a16="http://schemas.microsoft.com/office/drawing/2014/main" id="{38D6C5BB-BF17-4FE8-B611-578E8EBE9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6" name="Freeform: Shape 1065">
              <a:extLst>
                <a:ext uri="{FF2B5EF4-FFF2-40B4-BE49-F238E27FC236}">
                  <a16:creationId xmlns:a16="http://schemas.microsoft.com/office/drawing/2014/main" id="{A80A8D66-3FA7-4C04-AEDC-D8F94AA43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7" name="Freeform: Shape 1066">
              <a:extLst>
                <a:ext uri="{FF2B5EF4-FFF2-40B4-BE49-F238E27FC236}">
                  <a16:creationId xmlns:a16="http://schemas.microsoft.com/office/drawing/2014/main" id="{3DE9B826-6E87-4EF5-AA9D-F55BB3A21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8" name="Freeform: Shape 1067">
              <a:extLst>
                <a:ext uri="{FF2B5EF4-FFF2-40B4-BE49-F238E27FC236}">
                  <a16:creationId xmlns:a16="http://schemas.microsoft.com/office/drawing/2014/main" id="{BBAEEC53-BED0-4ACB-94B4-818158D7E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9" name="Freeform: Shape 1068">
              <a:extLst>
                <a:ext uri="{FF2B5EF4-FFF2-40B4-BE49-F238E27FC236}">
                  <a16:creationId xmlns:a16="http://schemas.microsoft.com/office/drawing/2014/main" id="{30709FE3-3633-4C01-AAD6-75ADD9395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70" name="Freeform: Shape 1069">
              <a:extLst>
                <a:ext uri="{FF2B5EF4-FFF2-40B4-BE49-F238E27FC236}">
                  <a16:creationId xmlns:a16="http://schemas.microsoft.com/office/drawing/2014/main" id="{C0D68B00-260E-4EFC-A1FE-8B04EB5A7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71" name="Freeform: Shape 1070">
              <a:extLst>
                <a:ext uri="{FF2B5EF4-FFF2-40B4-BE49-F238E27FC236}">
                  <a16:creationId xmlns:a16="http://schemas.microsoft.com/office/drawing/2014/main" id="{360AF8DD-D1D2-43F3-83E5-ECF20A091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2" name="Freeform: Shape 1071">
              <a:extLst>
                <a:ext uri="{FF2B5EF4-FFF2-40B4-BE49-F238E27FC236}">
                  <a16:creationId xmlns:a16="http://schemas.microsoft.com/office/drawing/2014/main" id="{87B3F103-7F53-4D5E-B9A2-DE4F0B78D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3" name="Freeform: Shape 1072">
              <a:extLst>
                <a:ext uri="{FF2B5EF4-FFF2-40B4-BE49-F238E27FC236}">
                  <a16:creationId xmlns:a16="http://schemas.microsoft.com/office/drawing/2014/main" id="{2BBECD20-3735-4F14-8816-26D648091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4" name="Freeform: Shape 1073">
              <a:extLst>
                <a:ext uri="{FF2B5EF4-FFF2-40B4-BE49-F238E27FC236}">
                  <a16:creationId xmlns:a16="http://schemas.microsoft.com/office/drawing/2014/main" id="{500687DC-38D4-44B7-BA7D-D8A0BA155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5" name="Freeform: Shape 1074">
              <a:extLst>
                <a:ext uri="{FF2B5EF4-FFF2-40B4-BE49-F238E27FC236}">
                  <a16:creationId xmlns:a16="http://schemas.microsoft.com/office/drawing/2014/main" id="{23AFC6B0-2B60-47B1-B854-A02279C70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6" name="Freeform: Shape 1075">
              <a:extLst>
                <a:ext uri="{FF2B5EF4-FFF2-40B4-BE49-F238E27FC236}">
                  <a16:creationId xmlns:a16="http://schemas.microsoft.com/office/drawing/2014/main" id="{39963332-7F58-48B9-9BAB-87C986F39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7" name="Freeform: Shape 1076">
              <a:extLst>
                <a:ext uri="{FF2B5EF4-FFF2-40B4-BE49-F238E27FC236}">
                  <a16:creationId xmlns:a16="http://schemas.microsoft.com/office/drawing/2014/main" id="{342BD313-0F6E-4DC3-B8A8-861289801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78" name="Freeform: Shape 1077">
              <a:extLst>
                <a:ext uri="{FF2B5EF4-FFF2-40B4-BE49-F238E27FC236}">
                  <a16:creationId xmlns:a16="http://schemas.microsoft.com/office/drawing/2014/main" id="{2253CE00-9D58-4821-B362-2552C433B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79" name="Freeform: Shape 1078">
              <a:extLst>
                <a:ext uri="{FF2B5EF4-FFF2-40B4-BE49-F238E27FC236}">
                  <a16:creationId xmlns:a16="http://schemas.microsoft.com/office/drawing/2014/main" id="{7E89086E-98CE-4697-8CE7-B2E7DB2E8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0" name="Freeform: Shape 1079">
              <a:extLst>
                <a:ext uri="{FF2B5EF4-FFF2-40B4-BE49-F238E27FC236}">
                  <a16:creationId xmlns:a16="http://schemas.microsoft.com/office/drawing/2014/main" id="{2CE9357F-710D-4D3B-90C1-CF19E73F2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1" name="Freeform: Shape 1080">
              <a:extLst>
                <a:ext uri="{FF2B5EF4-FFF2-40B4-BE49-F238E27FC236}">
                  <a16:creationId xmlns:a16="http://schemas.microsoft.com/office/drawing/2014/main" id="{170ED7F2-AD38-47BC-B6A1-FF7E20AFD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2" name="Freeform: Shape 1081">
              <a:extLst>
                <a:ext uri="{FF2B5EF4-FFF2-40B4-BE49-F238E27FC236}">
                  <a16:creationId xmlns:a16="http://schemas.microsoft.com/office/drawing/2014/main" id="{02600E9C-0B0F-45ED-A2CF-DE0240B2B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3" name="Freeform: Shape 1082">
              <a:extLst>
                <a:ext uri="{FF2B5EF4-FFF2-40B4-BE49-F238E27FC236}">
                  <a16:creationId xmlns:a16="http://schemas.microsoft.com/office/drawing/2014/main" id="{B07D2066-6599-4BD0-9CD5-7289EB1B8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4" name="Freeform: Shape 1083">
              <a:extLst>
                <a:ext uri="{FF2B5EF4-FFF2-40B4-BE49-F238E27FC236}">
                  <a16:creationId xmlns:a16="http://schemas.microsoft.com/office/drawing/2014/main" id="{7BF96C0D-1DEE-47F2-A950-16BC0896F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85" name="Freeform: Shape 1084">
              <a:extLst>
                <a:ext uri="{FF2B5EF4-FFF2-40B4-BE49-F238E27FC236}">
                  <a16:creationId xmlns:a16="http://schemas.microsoft.com/office/drawing/2014/main" id="{FD254ABE-505D-4C6A-9267-BFB78FBB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6" name="Freeform: Shape 1085">
              <a:extLst>
                <a:ext uri="{FF2B5EF4-FFF2-40B4-BE49-F238E27FC236}">
                  <a16:creationId xmlns:a16="http://schemas.microsoft.com/office/drawing/2014/main" id="{822BBE38-BC6F-4DDE-BD6D-2B496CE4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7" name="Freeform: Shape 1086">
              <a:extLst>
                <a:ext uri="{FF2B5EF4-FFF2-40B4-BE49-F238E27FC236}">
                  <a16:creationId xmlns:a16="http://schemas.microsoft.com/office/drawing/2014/main" id="{1046D1FA-C431-4F16-8BDD-71C614D79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8" name="Freeform: Shape 1087">
              <a:extLst>
                <a:ext uri="{FF2B5EF4-FFF2-40B4-BE49-F238E27FC236}">
                  <a16:creationId xmlns:a16="http://schemas.microsoft.com/office/drawing/2014/main" id="{CF387987-DEF1-447C-BC86-281AC0B3D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9" name="Freeform: Shape 1088">
              <a:extLst>
                <a:ext uri="{FF2B5EF4-FFF2-40B4-BE49-F238E27FC236}">
                  <a16:creationId xmlns:a16="http://schemas.microsoft.com/office/drawing/2014/main" id="{9808DF01-2715-4215-81F1-B8C178304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0" name="Freeform: Shape 1089">
              <a:extLst>
                <a:ext uri="{FF2B5EF4-FFF2-40B4-BE49-F238E27FC236}">
                  <a16:creationId xmlns:a16="http://schemas.microsoft.com/office/drawing/2014/main" id="{AED7F897-8A4F-4F3D-BFB1-738BCDCA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1" name="Freeform: Shape 1090">
              <a:extLst>
                <a:ext uri="{FF2B5EF4-FFF2-40B4-BE49-F238E27FC236}">
                  <a16:creationId xmlns:a16="http://schemas.microsoft.com/office/drawing/2014/main" id="{9B51B8B7-D508-44C3-AFC5-820557A94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2" name="Freeform: Shape 1091">
              <a:extLst>
                <a:ext uri="{FF2B5EF4-FFF2-40B4-BE49-F238E27FC236}">
                  <a16:creationId xmlns:a16="http://schemas.microsoft.com/office/drawing/2014/main" id="{7FBC6B94-2A13-4303-AE51-334E386DA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3" name="Freeform: Shape 1092">
              <a:extLst>
                <a:ext uri="{FF2B5EF4-FFF2-40B4-BE49-F238E27FC236}">
                  <a16:creationId xmlns:a16="http://schemas.microsoft.com/office/drawing/2014/main" id="{27897959-2F8E-4A05-9EA8-5B0329B57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094" name="Freeform: Shape 1093">
              <a:extLst>
                <a:ext uri="{FF2B5EF4-FFF2-40B4-BE49-F238E27FC236}">
                  <a16:creationId xmlns:a16="http://schemas.microsoft.com/office/drawing/2014/main" id="{0522AB50-D351-40F4-8A88-E856C1F27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5" name="Freeform: Shape 1094">
              <a:extLst>
                <a:ext uri="{FF2B5EF4-FFF2-40B4-BE49-F238E27FC236}">
                  <a16:creationId xmlns:a16="http://schemas.microsoft.com/office/drawing/2014/main" id="{221AFD52-C13F-4A20-B1DB-13C1A9A3D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096" name="Freeform: Shape 1095">
              <a:extLst>
                <a:ext uri="{FF2B5EF4-FFF2-40B4-BE49-F238E27FC236}">
                  <a16:creationId xmlns:a16="http://schemas.microsoft.com/office/drawing/2014/main" id="{8E789B3B-F514-4E02-8C1A-2F85817AA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97" name="Freeform: Shape 1096">
              <a:extLst>
                <a:ext uri="{FF2B5EF4-FFF2-40B4-BE49-F238E27FC236}">
                  <a16:creationId xmlns:a16="http://schemas.microsoft.com/office/drawing/2014/main" id="{9E473BAC-3DA1-4D63-9D6C-2B993665F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8" name="Freeform: Shape 1097">
              <a:extLst>
                <a:ext uri="{FF2B5EF4-FFF2-40B4-BE49-F238E27FC236}">
                  <a16:creationId xmlns:a16="http://schemas.microsoft.com/office/drawing/2014/main" id="{F385DCF4-8F59-4838-B86C-2B3EF0BCE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9" name="Freeform: Shape 1098">
              <a:extLst>
                <a:ext uri="{FF2B5EF4-FFF2-40B4-BE49-F238E27FC236}">
                  <a16:creationId xmlns:a16="http://schemas.microsoft.com/office/drawing/2014/main" id="{3EC5A02E-609A-4C39-A35D-E8D038F7C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00" name="Freeform: Shape 1099">
              <a:extLst>
                <a:ext uri="{FF2B5EF4-FFF2-40B4-BE49-F238E27FC236}">
                  <a16:creationId xmlns:a16="http://schemas.microsoft.com/office/drawing/2014/main" id="{7AB67B18-1821-4367-A7B6-CC2FFF66D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1" name="Freeform: Shape 1100">
              <a:extLst>
                <a:ext uri="{FF2B5EF4-FFF2-40B4-BE49-F238E27FC236}">
                  <a16:creationId xmlns:a16="http://schemas.microsoft.com/office/drawing/2014/main" id="{DFCAC56E-4767-4984-9FE7-2C3CA57D0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02" name="Freeform: Shape 1101">
              <a:extLst>
                <a:ext uri="{FF2B5EF4-FFF2-40B4-BE49-F238E27FC236}">
                  <a16:creationId xmlns:a16="http://schemas.microsoft.com/office/drawing/2014/main" id="{0A1929ED-CEB2-4C49-B2ED-A206D3793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3" name="Freeform: Shape 1102">
              <a:extLst>
                <a:ext uri="{FF2B5EF4-FFF2-40B4-BE49-F238E27FC236}">
                  <a16:creationId xmlns:a16="http://schemas.microsoft.com/office/drawing/2014/main" id="{01D632F9-2F59-4C8D-B1BC-1CB0D15C3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4" name="Freeform: Shape 1103">
              <a:extLst>
                <a:ext uri="{FF2B5EF4-FFF2-40B4-BE49-F238E27FC236}">
                  <a16:creationId xmlns:a16="http://schemas.microsoft.com/office/drawing/2014/main" id="{03B9F80B-CAEF-442C-A218-E2B069545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5" name="Freeform: Shape 1104">
              <a:extLst>
                <a:ext uri="{FF2B5EF4-FFF2-40B4-BE49-F238E27FC236}">
                  <a16:creationId xmlns:a16="http://schemas.microsoft.com/office/drawing/2014/main" id="{526A626E-CC14-4106-8AD4-DB3D81CD6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06" name="Freeform: Shape 1105">
              <a:extLst>
                <a:ext uri="{FF2B5EF4-FFF2-40B4-BE49-F238E27FC236}">
                  <a16:creationId xmlns:a16="http://schemas.microsoft.com/office/drawing/2014/main" id="{7CD710B8-B5DF-495F-ACEA-CFB9308CB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7" name="Freeform: Shape 1106">
              <a:extLst>
                <a:ext uri="{FF2B5EF4-FFF2-40B4-BE49-F238E27FC236}">
                  <a16:creationId xmlns:a16="http://schemas.microsoft.com/office/drawing/2014/main" id="{E550C81D-B0B8-4DB8-A12C-B62944D07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08" name="Freeform: Shape 1107">
              <a:extLst>
                <a:ext uri="{FF2B5EF4-FFF2-40B4-BE49-F238E27FC236}">
                  <a16:creationId xmlns:a16="http://schemas.microsoft.com/office/drawing/2014/main" id="{4EB82E53-B337-43EB-BFF8-1466F10E8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09" name="Freeform: Shape 1108">
              <a:extLst>
                <a:ext uri="{FF2B5EF4-FFF2-40B4-BE49-F238E27FC236}">
                  <a16:creationId xmlns:a16="http://schemas.microsoft.com/office/drawing/2014/main" id="{D1DCEF3A-2B54-4AA2-9BFD-57EA4A246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0" name="Freeform: Shape 1109">
              <a:extLst>
                <a:ext uri="{FF2B5EF4-FFF2-40B4-BE49-F238E27FC236}">
                  <a16:creationId xmlns:a16="http://schemas.microsoft.com/office/drawing/2014/main" id="{9F122967-34EF-4575-8E59-75D77FCD0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1" name="Freeform: Shape 1110">
              <a:extLst>
                <a:ext uri="{FF2B5EF4-FFF2-40B4-BE49-F238E27FC236}">
                  <a16:creationId xmlns:a16="http://schemas.microsoft.com/office/drawing/2014/main" id="{D87EBF9D-3949-4CCE-BB87-978466834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2" name="Freeform: Shape 1111">
              <a:extLst>
                <a:ext uri="{FF2B5EF4-FFF2-40B4-BE49-F238E27FC236}">
                  <a16:creationId xmlns:a16="http://schemas.microsoft.com/office/drawing/2014/main" id="{58A1183F-B28F-4BAD-A14B-3940A6E92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3" name="Freeform: Shape 1112">
              <a:extLst>
                <a:ext uri="{FF2B5EF4-FFF2-40B4-BE49-F238E27FC236}">
                  <a16:creationId xmlns:a16="http://schemas.microsoft.com/office/drawing/2014/main" id="{A81851B7-6D8F-454C-BBAA-498426069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14" name="Freeform: Shape 1113">
              <a:extLst>
                <a:ext uri="{FF2B5EF4-FFF2-40B4-BE49-F238E27FC236}">
                  <a16:creationId xmlns:a16="http://schemas.microsoft.com/office/drawing/2014/main" id="{99759A7A-483F-4DB0-8677-C6AB61E19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5" name="Freeform: Shape 1114">
              <a:extLst>
                <a:ext uri="{FF2B5EF4-FFF2-40B4-BE49-F238E27FC236}">
                  <a16:creationId xmlns:a16="http://schemas.microsoft.com/office/drawing/2014/main" id="{BDD1E55B-DE82-4811-BB33-1468396D2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6" name="Freeform: Shape 1115">
              <a:extLst>
                <a:ext uri="{FF2B5EF4-FFF2-40B4-BE49-F238E27FC236}">
                  <a16:creationId xmlns:a16="http://schemas.microsoft.com/office/drawing/2014/main" id="{F4B0251C-DACC-4A24-83BA-3D95F8D19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7" name="Freeform: Shape 1116">
              <a:extLst>
                <a:ext uri="{FF2B5EF4-FFF2-40B4-BE49-F238E27FC236}">
                  <a16:creationId xmlns:a16="http://schemas.microsoft.com/office/drawing/2014/main" id="{3647EF9B-D99D-48C1-B61E-19B85F471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18" name="Freeform: Shape 1117">
              <a:extLst>
                <a:ext uri="{FF2B5EF4-FFF2-40B4-BE49-F238E27FC236}">
                  <a16:creationId xmlns:a16="http://schemas.microsoft.com/office/drawing/2014/main" id="{EB55DF3C-DDF0-4B01-849E-46A663465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9" name="Freeform: Shape 1118">
              <a:extLst>
                <a:ext uri="{FF2B5EF4-FFF2-40B4-BE49-F238E27FC236}">
                  <a16:creationId xmlns:a16="http://schemas.microsoft.com/office/drawing/2014/main" id="{09149238-5A44-4264-84E6-DD25E7C0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20" name="Freeform: Shape 1119">
              <a:extLst>
                <a:ext uri="{FF2B5EF4-FFF2-40B4-BE49-F238E27FC236}">
                  <a16:creationId xmlns:a16="http://schemas.microsoft.com/office/drawing/2014/main" id="{4E6925C1-B440-4C1C-8829-2E6D9EE142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1" name="Freeform: Shape 1120">
              <a:extLst>
                <a:ext uri="{FF2B5EF4-FFF2-40B4-BE49-F238E27FC236}">
                  <a16:creationId xmlns:a16="http://schemas.microsoft.com/office/drawing/2014/main" id="{937B5BDB-32A7-4C47-A984-AF2316600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2" name="Freeform: Shape 1121">
              <a:extLst>
                <a:ext uri="{FF2B5EF4-FFF2-40B4-BE49-F238E27FC236}">
                  <a16:creationId xmlns:a16="http://schemas.microsoft.com/office/drawing/2014/main" id="{9B5A7D9C-91C9-49A3-8AD5-DB49632FD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3" name="Freeform: Shape 1122">
              <a:extLst>
                <a:ext uri="{FF2B5EF4-FFF2-40B4-BE49-F238E27FC236}">
                  <a16:creationId xmlns:a16="http://schemas.microsoft.com/office/drawing/2014/main" id="{C64B015D-AFCF-4AB2-AE58-A069B06D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24" name="Freeform: Shape 1123">
              <a:extLst>
                <a:ext uri="{FF2B5EF4-FFF2-40B4-BE49-F238E27FC236}">
                  <a16:creationId xmlns:a16="http://schemas.microsoft.com/office/drawing/2014/main" id="{A4407931-9375-400F-88AC-C63D4E9E9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5" name="Freeform: Shape 1124">
              <a:extLst>
                <a:ext uri="{FF2B5EF4-FFF2-40B4-BE49-F238E27FC236}">
                  <a16:creationId xmlns:a16="http://schemas.microsoft.com/office/drawing/2014/main" id="{554278B7-45C8-46E4-885A-69208D598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26" name="Freeform: Shape 1125">
              <a:extLst>
                <a:ext uri="{FF2B5EF4-FFF2-40B4-BE49-F238E27FC236}">
                  <a16:creationId xmlns:a16="http://schemas.microsoft.com/office/drawing/2014/main" id="{3A806AB0-FBD6-41CD-997C-A76266D37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7" name="Freeform: Shape 1126">
              <a:extLst>
                <a:ext uri="{FF2B5EF4-FFF2-40B4-BE49-F238E27FC236}">
                  <a16:creationId xmlns:a16="http://schemas.microsoft.com/office/drawing/2014/main" id="{719E2D6D-6D96-4348-954B-3657A0B0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8" name="Freeform: Shape 1127">
              <a:extLst>
                <a:ext uri="{FF2B5EF4-FFF2-40B4-BE49-F238E27FC236}">
                  <a16:creationId xmlns:a16="http://schemas.microsoft.com/office/drawing/2014/main" id="{9794AABE-9C3E-4A8C-820F-0FDF65213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9" name="Freeform: Shape 1128">
              <a:extLst>
                <a:ext uri="{FF2B5EF4-FFF2-40B4-BE49-F238E27FC236}">
                  <a16:creationId xmlns:a16="http://schemas.microsoft.com/office/drawing/2014/main" id="{1DBEC39D-5464-46CA-B62B-24826F1F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30" name="Freeform: Shape 1129">
              <a:extLst>
                <a:ext uri="{FF2B5EF4-FFF2-40B4-BE49-F238E27FC236}">
                  <a16:creationId xmlns:a16="http://schemas.microsoft.com/office/drawing/2014/main" id="{41807973-667B-4780-B3AA-4ADC32DB3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31" name="Freeform: Shape 1130">
              <a:extLst>
                <a:ext uri="{FF2B5EF4-FFF2-40B4-BE49-F238E27FC236}">
                  <a16:creationId xmlns:a16="http://schemas.microsoft.com/office/drawing/2014/main" id="{970D793C-C9EE-467B-8385-42B6905A0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32" name="Freeform: Shape 1131">
              <a:extLst>
                <a:ext uri="{FF2B5EF4-FFF2-40B4-BE49-F238E27FC236}">
                  <a16:creationId xmlns:a16="http://schemas.microsoft.com/office/drawing/2014/main" id="{94695A53-78EB-4811-8BBC-4707F3016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33" name="Freeform: Shape 1132">
              <a:extLst>
                <a:ext uri="{FF2B5EF4-FFF2-40B4-BE49-F238E27FC236}">
                  <a16:creationId xmlns:a16="http://schemas.microsoft.com/office/drawing/2014/main" id="{0576416F-0C2E-4D01-9357-5C73ADF85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4" name="Freeform: Shape 1133">
              <a:extLst>
                <a:ext uri="{FF2B5EF4-FFF2-40B4-BE49-F238E27FC236}">
                  <a16:creationId xmlns:a16="http://schemas.microsoft.com/office/drawing/2014/main" id="{A091FE22-8667-4F89-A333-BA9A0917E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5" name="Freeform: Shape 1134">
              <a:extLst>
                <a:ext uri="{FF2B5EF4-FFF2-40B4-BE49-F238E27FC236}">
                  <a16:creationId xmlns:a16="http://schemas.microsoft.com/office/drawing/2014/main" id="{CB779008-969D-4FA8-BB6C-3BBBCF919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6" name="Freeform: Shape 1135">
              <a:extLst>
                <a:ext uri="{FF2B5EF4-FFF2-40B4-BE49-F238E27FC236}">
                  <a16:creationId xmlns:a16="http://schemas.microsoft.com/office/drawing/2014/main" id="{CDAF3B96-0DFB-44BA-959D-BF9643FFE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7" name="Freeform: Shape 1136">
              <a:extLst>
                <a:ext uri="{FF2B5EF4-FFF2-40B4-BE49-F238E27FC236}">
                  <a16:creationId xmlns:a16="http://schemas.microsoft.com/office/drawing/2014/main" id="{5F66F5FF-98B2-4453-8175-EB602A6A0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8" name="Freeform: Shape 1137">
              <a:extLst>
                <a:ext uri="{FF2B5EF4-FFF2-40B4-BE49-F238E27FC236}">
                  <a16:creationId xmlns:a16="http://schemas.microsoft.com/office/drawing/2014/main" id="{751D9683-9D41-4058-B90B-99146FC2F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9" name="Freeform: Shape 1138">
              <a:extLst>
                <a:ext uri="{FF2B5EF4-FFF2-40B4-BE49-F238E27FC236}">
                  <a16:creationId xmlns:a16="http://schemas.microsoft.com/office/drawing/2014/main" id="{0907098D-1005-4522-BA21-F1534CBAC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40" name="Freeform: Shape 1139">
              <a:extLst>
                <a:ext uri="{FF2B5EF4-FFF2-40B4-BE49-F238E27FC236}">
                  <a16:creationId xmlns:a16="http://schemas.microsoft.com/office/drawing/2014/main" id="{5BFEF082-7E02-4ED8-B9D1-F0FC47FEC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41" name="Freeform: Shape 1140">
              <a:extLst>
                <a:ext uri="{FF2B5EF4-FFF2-40B4-BE49-F238E27FC236}">
                  <a16:creationId xmlns:a16="http://schemas.microsoft.com/office/drawing/2014/main" id="{4429C269-222E-4EFB-97B9-08FA243CE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42" name="Freeform: Shape 1141">
              <a:extLst>
                <a:ext uri="{FF2B5EF4-FFF2-40B4-BE49-F238E27FC236}">
                  <a16:creationId xmlns:a16="http://schemas.microsoft.com/office/drawing/2014/main" id="{FC460F7F-5702-4281-850B-59E4182A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3" name="Freeform: Shape 1142">
              <a:extLst>
                <a:ext uri="{FF2B5EF4-FFF2-40B4-BE49-F238E27FC236}">
                  <a16:creationId xmlns:a16="http://schemas.microsoft.com/office/drawing/2014/main" id="{A329057C-293F-4933-9DEA-2463E66D4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4" name="Freeform: Shape 1143">
              <a:extLst>
                <a:ext uri="{FF2B5EF4-FFF2-40B4-BE49-F238E27FC236}">
                  <a16:creationId xmlns:a16="http://schemas.microsoft.com/office/drawing/2014/main" id="{7274CBA8-6253-4229-AC37-1D7126639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5" name="Freeform: Shape 1144">
              <a:extLst>
                <a:ext uri="{FF2B5EF4-FFF2-40B4-BE49-F238E27FC236}">
                  <a16:creationId xmlns:a16="http://schemas.microsoft.com/office/drawing/2014/main" id="{B7ABAAD2-23FD-4AF4-8506-3CDDC5607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46" name="Freeform: Shape 1145">
              <a:extLst>
                <a:ext uri="{FF2B5EF4-FFF2-40B4-BE49-F238E27FC236}">
                  <a16:creationId xmlns:a16="http://schemas.microsoft.com/office/drawing/2014/main" id="{27A85620-3B33-477A-949C-3F221DCC2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7" name="Freeform: Shape 1146">
              <a:extLst>
                <a:ext uri="{FF2B5EF4-FFF2-40B4-BE49-F238E27FC236}">
                  <a16:creationId xmlns:a16="http://schemas.microsoft.com/office/drawing/2014/main" id="{6247316E-E815-4CE3-9EC0-8DC8391EB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48" name="Freeform: Shape 1147">
              <a:extLst>
                <a:ext uri="{FF2B5EF4-FFF2-40B4-BE49-F238E27FC236}">
                  <a16:creationId xmlns:a16="http://schemas.microsoft.com/office/drawing/2014/main" id="{3D047E26-5A98-4B49-A453-C71D89450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9" name="Freeform: Shape 1148">
              <a:extLst>
                <a:ext uri="{FF2B5EF4-FFF2-40B4-BE49-F238E27FC236}">
                  <a16:creationId xmlns:a16="http://schemas.microsoft.com/office/drawing/2014/main" id="{940C95BF-A85B-4251-A817-35A7B4F71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0" name="Freeform: Shape 1149">
              <a:extLst>
                <a:ext uri="{FF2B5EF4-FFF2-40B4-BE49-F238E27FC236}">
                  <a16:creationId xmlns:a16="http://schemas.microsoft.com/office/drawing/2014/main" id="{EA4FDA2F-E340-40E6-8678-8F4F9EB3D4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1" name="Freeform: Shape 1150">
              <a:extLst>
                <a:ext uri="{FF2B5EF4-FFF2-40B4-BE49-F238E27FC236}">
                  <a16:creationId xmlns:a16="http://schemas.microsoft.com/office/drawing/2014/main" id="{D94A3796-87FD-436D-8309-857F9B489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2" name="Freeform: Shape 1151">
              <a:extLst>
                <a:ext uri="{FF2B5EF4-FFF2-40B4-BE49-F238E27FC236}">
                  <a16:creationId xmlns:a16="http://schemas.microsoft.com/office/drawing/2014/main" id="{2B20BE68-41F5-4E59-87CD-A8654B123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3" name="Freeform: Shape 1152">
              <a:extLst>
                <a:ext uri="{FF2B5EF4-FFF2-40B4-BE49-F238E27FC236}">
                  <a16:creationId xmlns:a16="http://schemas.microsoft.com/office/drawing/2014/main" id="{7FD87938-B42E-45E5-ABB8-936E00A24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4" name="Freeform: Shape 1153">
              <a:extLst>
                <a:ext uri="{FF2B5EF4-FFF2-40B4-BE49-F238E27FC236}">
                  <a16:creationId xmlns:a16="http://schemas.microsoft.com/office/drawing/2014/main" id="{EA46A837-6AA3-4099-8055-251ED6D7D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55" name="Freeform: Shape 1154">
              <a:extLst>
                <a:ext uri="{FF2B5EF4-FFF2-40B4-BE49-F238E27FC236}">
                  <a16:creationId xmlns:a16="http://schemas.microsoft.com/office/drawing/2014/main" id="{B9D871B1-B4D0-4667-B5FA-21AE12E50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6" name="Freeform: Shape 1155">
              <a:extLst>
                <a:ext uri="{FF2B5EF4-FFF2-40B4-BE49-F238E27FC236}">
                  <a16:creationId xmlns:a16="http://schemas.microsoft.com/office/drawing/2014/main" id="{477E102A-1E9D-44C8-9DA0-1B4B61444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7" name="Freeform: Shape 1156">
              <a:extLst>
                <a:ext uri="{FF2B5EF4-FFF2-40B4-BE49-F238E27FC236}">
                  <a16:creationId xmlns:a16="http://schemas.microsoft.com/office/drawing/2014/main" id="{42DB4921-ECFC-42CD-B91B-56AB1FE26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8" name="Freeform: Shape 1157">
              <a:extLst>
                <a:ext uri="{FF2B5EF4-FFF2-40B4-BE49-F238E27FC236}">
                  <a16:creationId xmlns:a16="http://schemas.microsoft.com/office/drawing/2014/main" id="{3156177C-2880-4AAF-BFC7-C3EA4AD09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9" name="Freeform: Shape 1158">
              <a:extLst>
                <a:ext uri="{FF2B5EF4-FFF2-40B4-BE49-F238E27FC236}">
                  <a16:creationId xmlns:a16="http://schemas.microsoft.com/office/drawing/2014/main" id="{B7C807E0-34AB-4AC3-A674-D7E438C60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0" name="Freeform: Shape 1159">
              <a:extLst>
                <a:ext uri="{FF2B5EF4-FFF2-40B4-BE49-F238E27FC236}">
                  <a16:creationId xmlns:a16="http://schemas.microsoft.com/office/drawing/2014/main" id="{93AD80AB-575A-4D50-A561-CE310E06BF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1" name="Freeform: Shape 1160">
              <a:extLst>
                <a:ext uri="{FF2B5EF4-FFF2-40B4-BE49-F238E27FC236}">
                  <a16:creationId xmlns:a16="http://schemas.microsoft.com/office/drawing/2014/main" id="{E4C11A99-7E93-4B54-B1CE-D90D45325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2" name="Freeform: Shape 1161">
              <a:extLst>
                <a:ext uri="{FF2B5EF4-FFF2-40B4-BE49-F238E27FC236}">
                  <a16:creationId xmlns:a16="http://schemas.microsoft.com/office/drawing/2014/main" id="{25A3E814-2D04-4881-B9E9-81ADDC0C9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3" name="Freeform: Shape 1162">
              <a:extLst>
                <a:ext uri="{FF2B5EF4-FFF2-40B4-BE49-F238E27FC236}">
                  <a16:creationId xmlns:a16="http://schemas.microsoft.com/office/drawing/2014/main" id="{073D9FB4-F4AF-4974-A734-C9300D210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4" name="Freeform: Shape 1163">
              <a:extLst>
                <a:ext uri="{FF2B5EF4-FFF2-40B4-BE49-F238E27FC236}">
                  <a16:creationId xmlns:a16="http://schemas.microsoft.com/office/drawing/2014/main" id="{081A1414-A8F5-43F1-BA51-B058EF2C0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5" name="Freeform: Shape 1164">
              <a:extLst>
                <a:ext uri="{FF2B5EF4-FFF2-40B4-BE49-F238E27FC236}">
                  <a16:creationId xmlns:a16="http://schemas.microsoft.com/office/drawing/2014/main" id="{E41588DC-3C7F-4695-A42A-B5ABEA8B5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6" name="Freeform: Shape 1165">
              <a:extLst>
                <a:ext uri="{FF2B5EF4-FFF2-40B4-BE49-F238E27FC236}">
                  <a16:creationId xmlns:a16="http://schemas.microsoft.com/office/drawing/2014/main" id="{3884DF6D-4C87-4B4A-A918-B3F3C8BE3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7" name="Freeform: Shape 1166">
              <a:extLst>
                <a:ext uri="{FF2B5EF4-FFF2-40B4-BE49-F238E27FC236}">
                  <a16:creationId xmlns:a16="http://schemas.microsoft.com/office/drawing/2014/main" id="{CF26F2A0-B8D0-48D4-A9A9-BEB75CFF1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8" name="Freeform: Shape 1167">
              <a:extLst>
                <a:ext uri="{FF2B5EF4-FFF2-40B4-BE49-F238E27FC236}">
                  <a16:creationId xmlns:a16="http://schemas.microsoft.com/office/drawing/2014/main" id="{7A9177E1-A6DC-4200-9D85-31A348E02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9" name="Freeform: Shape 1168">
              <a:extLst>
                <a:ext uri="{FF2B5EF4-FFF2-40B4-BE49-F238E27FC236}">
                  <a16:creationId xmlns:a16="http://schemas.microsoft.com/office/drawing/2014/main" id="{7DA218E3-83A8-45E8-B2E3-4B693606C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0" name="Freeform: Shape 1169">
              <a:extLst>
                <a:ext uri="{FF2B5EF4-FFF2-40B4-BE49-F238E27FC236}">
                  <a16:creationId xmlns:a16="http://schemas.microsoft.com/office/drawing/2014/main" id="{31E51433-E260-493C-8A94-FCE7FD9BA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1" name="Freeform: Shape 1170">
              <a:extLst>
                <a:ext uri="{FF2B5EF4-FFF2-40B4-BE49-F238E27FC236}">
                  <a16:creationId xmlns:a16="http://schemas.microsoft.com/office/drawing/2014/main" id="{3A74FFD3-BE5F-435D-AC22-825B6E049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2" name="Freeform: Shape 1171">
              <a:extLst>
                <a:ext uri="{FF2B5EF4-FFF2-40B4-BE49-F238E27FC236}">
                  <a16:creationId xmlns:a16="http://schemas.microsoft.com/office/drawing/2014/main" id="{B3420F88-93EB-4790-A2BD-EFF61E77B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3" name="Freeform: Shape 1172">
              <a:extLst>
                <a:ext uri="{FF2B5EF4-FFF2-40B4-BE49-F238E27FC236}">
                  <a16:creationId xmlns:a16="http://schemas.microsoft.com/office/drawing/2014/main" id="{3875302B-159F-4E81-AD49-154BAA8F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4" name="Freeform: Shape 1173">
              <a:extLst>
                <a:ext uri="{FF2B5EF4-FFF2-40B4-BE49-F238E27FC236}">
                  <a16:creationId xmlns:a16="http://schemas.microsoft.com/office/drawing/2014/main" id="{BE9966CE-BC06-4CEB-877D-34D9D1C2E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5" name="Freeform: Shape 1174">
              <a:extLst>
                <a:ext uri="{FF2B5EF4-FFF2-40B4-BE49-F238E27FC236}">
                  <a16:creationId xmlns:a16="http://schemas.microsoft.com/office/drawing/2014/main" id="{889924EA-8A9B-4ED5-8CF2-E184EE89D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6" name="Freeform: Shape 1175">
              <a:extLst>
                <a:ext uri="{FF2B5EF4-FFF2-40B4-BE49-F238E27FC236}">
                  <a16:creationId xmlns:a16="http://schemas.microsoft.com/office/drawing/2014/main" id="{300C1FB1-E227-40EE-A773-071D080B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7" name="Freeform: Shape 1176">
              <a:extLst>
                <a:ext uri="{FF2B5EF4-FFF2-40B4-BE49-F238E27FC236}">
                  <a16:creationId xmlns:a16="http://schemas.microsoft.com/office/drawing/2014/main" id="{14F26B5D-6E35-40E8-90DF-FD65CB33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78" name="Freeform: Shape 1177">
              <a:extLst>
                <a:ext uri="{FF2B5EF4-FFF2-40B4-BE49-F238E27FC236}">
                  <a16:creationId xmlns:a16="http://schemas.microsoft.com/office/drawing/2014/main" id="{059D8F05-F701-45A6-9377-454642C21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9" name="Freeform: Shape 1178">
              <a:extLst>
                <a:ext uri="{FF2B5EF4-FFF2-40B4-BE49-F238E27FC236}">
                  <a16:creationId xmlns:a16="http://schemas.microsoft.com/office/drawing/2014/main" id="{5F57ACF8-D510-4715-B964-20D980558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80" name="Freeform: Shape 1179">
              <a:extLst>
                <a:ext uri="{FF2B5EF4-FFF2-40B4-BE49-F238E27FC236}">
                  <a16:creationId xmlns:a16="http://schemas.microsoft.com/office/drawing/2014/main" id="{51053CDD-687F-481B-86FB-56DA74C55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1" name="Freeform: Shape 1180">
              <a:extLst>
                <a:ext uri="{FF2B5EF4-FFF2-40B4-BE49-F238E27FC236}">
                  <a16:creationId xmlns:a16="http://schemas.microsoft.com/office/drawing/2014/main" id="{76B24CA5-1578-43AE-8ED8-CB9F7EA62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2" name="Freeform: Shape 1181">
              <a:extLst>
                <a:ext uri="{FF2B5EF4-FFF2-40B4-BE49-F238E27FC236}">
                  <a16:creationId xmlns:a16="http://schemas.microsoft.com/office/drawing/2014/main" id="{A3208550-AB5B-4E2B-914A-270D30163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3" name="Freeform: Shape 1182">
              <a:extLst>
                <a:ext uri="{FF2B5EF4-FFF2-40B4-BE49-F238E27FC236}">
                  <a16:creationId xmlns:a16="http://schemas.microsoft.com/office/drawing/2014/main" id="{D4120D7E-20EE-4413-A541-781EA4350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84" name="Freeform: Shape 1183">
              <a:extLst>
                <a:ext uri="{FF2B5EF4-FFF2-40B4-BE49-F238E27FC236}">
                  <a16:creationId xmlns:a16="http://schemas.microsoft.com/office/drawing/2014/main" id="{9C0CC66E-BFF1-47FD-8C37-092016FBE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5" name="Freeform: Shape 1184">
              <a:extLst>
                <a:ext uri="{FF2B5EF4-FFF2-40B4-BE49-F238E27FC236}">
                  <a16:creationId xmlns:a16="http://schemas.microsoft.com/office/drawing/2014/main" id="{09D9AD44-3983-44A2-9DBA-6C5FF3C4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86" name="Freeform: Shape 1185">
              <a:extLst>
                <a:ext uri="{FF2B5EF4-FFF2-40B4-BE49-F238E27FC236}">
                  <a16:creationId xmlns:a16="http://schemas.microsoft.com/office/drawing/2014/main" id="{71915592-B946-43D1-AE24-B72B17FC5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87" name="Freeform: Shape 1186">
              <a:extLst>
                <a:ext uri="{FF2B5EF4-FFF2-40B4-BE49-F238E27FC236}">
                  <a16:creationId xmlns:a16="http://schemas.microsoft.com/office/drawing/2014/main" id="{3AC48622-C7DC-416F-B14F-AB0C6A3EF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8" name="Freeform: Shape 1187">
              <a:extLst>
                <a:ext uri="{FF2B5EF4-FFF2-40B4-BE49-F238E27FC236}">
                  <a16:creationId xmlns:a16="http://schemas.microsoft.com/office/drawing/2014/main" id="{C122E9A7-0590-453C-AC3A-88265131C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9" name="Freeform: Shape 1188">
              <a:extLst>
                <a:ext uri="{FF2B5EF4-FFF2-40B4-BE49-F238E27FC236}">
                  <a16:creationId xmlns:a16="http://schemas.microsoft.com/office/drawing/2014/main" id="{78246847-0B72-46B3-9243-7A7B92E21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0" name="Freeform: Shape 1189">
              <a:extLst>
                <a:ext uri="{FF2B5EF4-FFF2-40B4-BE49-F238E27FC236}">
                  <a16:creationId xmlns:a16="http://schemas.microsoft.com/office/drawing/2014/main" id="{207FF669-6E9C-47DF-A1A0-667669279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1" name="Freeform: Shape 1190">
              <a:extLst>
                <a:ext uri="{FF2B5EF4-FFF2-40B4-BE49-F238E27FC236}">
                  <a16:creationId xmlns:a16="http://schemas.microsoft.com/office/drawing/2014/main" id="{06905CAD-DCDC-4965-969E-3BA793FCA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2" name="Freeform: Shape 1191">
              <a:extLst>
                <a:ext uri="{FF2B5EF4-FFF2-40B4-BE49-F238E27FC236}">
                  <a16:creationId xmlns:a16="http://schemas.microsoft.com/office/drawing/2014/main" id="{7E82B7F4-81C1-4A48-A3C9-B9DE741C9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3" name="Freeform: Shape 1192">
              <a:extLst>
                <a:ext uri="{FF2B5EF4-FFF2-40B4-BE49-F238E27FC236}">
                  <a16:creationId xmlns:a16="http://schemas.microsoft.com/office/drawing/2014/main" id="{53D306B7-0050-4206-8020-D3F81BC4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4" name="Freeform: Shape 1193">
              <a:extLst>
                <a:ext uri="{FF2B5EF4-FFF2-40B4-BE49-F238E27FC236}">
                  <a16:creationId xmlns:a16="http://schemas.microsoft.com/office/drawing/2014/main" id="{BE50823B-85BA-4734-A0E5-99F2D027C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5" name="Freeform: Shape 1194">
              <a:extLst>
                <a:ext uri="{FF2B5EF4-FFF2-40B4-BE49-F238E27FC236}">
                  <a16:creationId xmlns:a16="http://schemas.microsoft.com/office/drawing/2014/main" id="{1F26CEA8-889B-4F33-AE59-91F66E160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6" name="Freeform: Shape 1195">
              <a:extLst>
                <a:ext uri="{FF2B5EF4-FFF2-40B4-BE49-F238E27FC236}">
                  <a16:creationId xmlns:a16="http://schemas.microsoft.com/office/drawing/2014/main" id="{E64E5726-D6A2-4541-9EB4-0D455BFB1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7" name="Freeform: Shape 1196">
              <a:extLst>
                <a:ext uri="{FF2B5EF4-FFF2-40B4-BE49-F238E27FC236}">
                  <a16:creationId xmlns:a16="http://schemas.microsoft.com/office/drawing/2014/main" id="{B5A9478C-31E8-4C23-856A-5B4D6936B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8" name="Freeform: Shape 1197">
              <a:extLst>
                <a:ext uri="{FF2B5EF4-FFF2-40B4-BE49-F238E27FC236}">
                  <a16:creationId xmlns:a16="http://schemas.microsoft.com/office/drawing/2014/main" id="{D4D55AFD-7163-47DF-8918-6BCF397B5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9" name="Freeform: Shape 1198">
              <a:extLst>
                <a:ext uri="{FF2B5EF4-FFF2-40B4-BE49-F238E27FC236}">
                  <a16:creationId xmlns:a16="http://schemas.microsoft.com/office/drawing/2014/main" id="{20C5BF88-D776-4C9B-89BD-85EE0DCE8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0" name="Freeform: Shape 1199">
              <a:extLst>
                <a:ext uri="{FF2B5EF4-FFF2-40B4-BE49-F238E27FC236}">
                  <a16:creationId xmlns:a16="http://schemas.microsoft.com/office/drawing/2014/main" id="{0A0347C6-25EE-4289-B805-750B30ABB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1" name="Freeform: Shape 1200">
              <a:extLst>
                <a:ext uri="{FF2B5EF4-FFF2-40B4-BE49-F238E27FC236}">
                  <a16:creationId xmlns:a16="http://schemas.microsoft.com/office/drawing/2014/main" id="{4C83C9E0-7820-4EA4-B9AA-AD6E0719F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02" name="Freeform: Shape 1201">
              <a:extLst>
                <a:ext uri="{FF2B5EF4-FFF2-40B4-BE49-F238E27FC236}">
                  <a16:creationId xmlns:a16="http://schemas.microsoft.com/office/drawing/2014/main" id="{7E1B6DEA-553D-4733-9A45-3A28D118B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3" name="Freeform: Shape 1202">
              <a:extLst>
                <a:ext uri="{FF2B5EF4-FFF2-40B4-BE49-F238E27FC236}">
                  <a16:creationId xmlns:a16="http://schemas.microsoft.com/office/drawing/2014/main" id="{BE647149-B885-4A7D-B57E-A9762FF95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04" name="Freeform: Shape 1203">
              <a:extLst>
                <a:ext uri="{FF2B5EF4-FFF2-40B4-BE49-F238E27FC236}">
                  <a16:creationId xmlns:a16="http://schemas.microsoft.com/office/drawing/2014/main" id="{3FFCDDD6-EA47-4BA4-914F-B4AD52A7D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5" name="Freeform: Shape 1204">
              <a:extLst>
                <a:ext uri="{FF2B5EF4-FFF2-40B4-BE49-F238E27FC236}">
                  <a16:creationId xmlns:a16="http://schemas.microsoft.com/office/drawing/2014/main" id="{18C5FC42-4A56-48D7-9C6F-EE6973256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6" name="Freeform: Shape 1205">
              <a:extLst>
                <a:ext uri="{FF2B5EF4-FFF2-40B4-BE49-F238E27FC236}">
                  <a16:creationId xmlns:a16="http://schemas.microsoft.com/office/drawing/2014/main" id="{E58746BA-672F-48B8-BA1D-E317498C1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7" name="Freeform: Shape 1206">
              <a:extLst>
                <a:ext uri="{FF2B5EF4-FFF2-40B4-BE49-F238E27FC236}">
                  <a16:creationId xmlns:a16="http://schemas.microsoft.com/office/drawing/2014/main" id="{75C60814-753C-4243-BD88-443E240D6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208" name="Freeform: Shape 1207">
              <a:extLst>
                <a:ext uri="{FF2B5EF4-FFF2-40B4-BE49-F238E27FC236}">
                  <a16:creationId xmlns:a16="http://schemas.microsoft.com/office/drawing/2014/main" id="{174EB8C9-709B-42D9-9948-434CAA5E0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9" name="Freeform: Shape 1208">
              <a:extLst>
                <a:ext uri="{FF2B5EF4-FFF2-40B4-BE49-F238E27FC236}">
                  <a16:creationId xmlns:a16="http://schemas.microsoft.com/office/drawing/2014/main" id="{786AB5B1-D0D7-4FE2-9A7D-BF9C01F7D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210" name="Freeform: Shape 1209">
              <a:extLst>
                <a:ext uri="{FF2B5EF4-FFF2-40B4-BE49-F238E27FC236}">
                  <a16:creationId xmlns:a16="http://schemas.microsoft.com/office/drawing/2014/main" id="{718E7606-3FC9-4354-BCF8-A980AE6DFA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6" name="Title 3">
            <a:extLst>
              <a:ext uri="{FF2B5EF4-FFF2-40B4-BE49-F238E27FC236}">
                <a16:creationId xmlns:a16="http://schemas.microsoft.com/office/drawing/2014/main" id="{DA3AC36A-2FA1-A2B7-E3A2-F70E968D7983}"/>
              </a:ext>
            </a:extLst>
          </p:cNvPr>
          <p:cNvSpPr txBox="1">
            <a:spLocks/>
          </p:cNvSpPr>
          <p:nvPr/>
        </p:nvSpPr>
        <p:spPr>
          <a:xfrm>
            <a:off x="722790" y="489850"/>
            <a:ext cx="3589917" cy="354762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cap="all" spc="1500" baseline="0">
                <a:solidFill>
                  <a:schemeClr val="tx1"/>
                </a:solidFill>
                <a:latin typeface="+mj-lt"/>
                <a:ea typeface="Source Sans Pro SemiBold" panose="020B0603030403020204" pitchFamily="34" charset="0"/>
                <a:cs typeface="+mj-cs"/>
              </a:defRPr>
            </a:lvl1pPr>
          </a:lstStyle>
          <a:p>
            <a:pPr algn="l"/>
            <a:r>
              <a:rPr lang="en-US" sz="2400" dirty="0"/>
              <a:t>COMM3131 Online Dating and Hookup Culture</a:t>
            </a:r>
            <a:br>
              <a:rPr lang="en-US" sz="1600" dirty="0"/>
            </a:br>
            <a:br>
              <a:rPr lang="en-US" sz="2000" dirty="0"/>
            </a:br>
            <a:endParaRPr lang="en-US" sz="2000" dirty="0"/>
          </a:p>
        </p:txBody>
      </p:sp>
      <p:pic>
        <p:nvPicPr>
          <p:cNvPr id="8" name="Picture 7" descr="A person covering their face with a sad face&#10;&#10;Description automatically generated">
            <a:extLst>
              <a:ext uri="{FF2B5EF4-FFF2-40B4-BE49-F238E27FC236}">
                <a16:creationId xmlns:a16="http://schemas.microsoft.com/office/drawing/2014/main" id="{1B153CBF-B849-F59D-536E-CCD7DDA5F7F7}"/>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4054" r="7374"/>
          <a:stretch/>
        </p:blipFill>
        <p:spPr>
          <a:xfrm>
            <a:off x="6202109" y="1154417"/>
            <a:ext cx="4687757" cy="4687757"/>
          </a:xfrm>
          <a:prstGeom prst="ellipse">
            <a:avLst/>
          </a:prstGeom>
        </p:spPr>
      </p:pic>
    </p:spTree>
    <p:extLst>
      <p:ext uri="{BB962C8B-B14F-4D97-AF65-F5344CB8AC3E}">
        <p14:creationId xmlns:p14="http://schemas.microsoft.com/office/powerpoint/2010/main" val="39479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5B17-9E38-836A-94B9-88C98B54EEB1}"/>
              </a:ext>
            </a:extLst>
          </p:cNvPr>
          <p:cNvSpPr>
            <a:spLocks noGrp="1"/>
          </p:cNvSpPr>
          <p:nvPr>
            <p:ph type="title"/>
          </p:nvPr>
        </p:nvSpPr>
        <p:spPr/>
        <p:txBody>
          <a:bodyPr/>
          <a:lstStyle/>
          <a:p>
            <a:r>
              <a:rPr lang="en-US" dirty="0"/>
              <a:t>Today</a:t>
            </a:r>
          </a:p>
        </p:txBody>
      </p:sp>
      <p:sp>
        <p:nvSpPr>
          <p:cNvPr id="3" name="Content Placeholder 2">
            <a:extLst>
              <a:ext uri="{FF2B5EF4-FFF2-40B4-BE49-F238E27FC236}">
                <a16:creationId xmlns:a16="http://schemas.microsoft.com/office/drawing/2014/main" id="{4348C2DB-8580-C3E3-BCC7-F68D704A360D}"/>
              </a:ext>
            </a:extLst>
          </p:cNvPr>
          <p:cNvSpPr>
            <a:spLocks noGrp="1"/>
          </p:cNvSpPr>
          <p:nvPr>
            <p:ph idx="1"/>
          </p:nvPr>
        </p:nvSpPr>
        <p:spPr>
          <a:xfrm>
            <a:off x="838199" y="1825625"/>
            <a:ext cx="9481457" cy="4667250"/>
          </a:xfrm>
        </p:spPr>
        <p:txBody>
          <a:bodyPr>
            <a:normAutofit/>
          </a:bodyPr>
          <a:lstStyle/>
          <a:p>
            <a:r>
              <a:rPr lang="en-US" dirty="0"/>
              <a:t>Recap </a:t>
            </a:r>
          </a:p>
          <a:p>
            <a:r>
              <a:rPr lang="en-US" dirty="0"/>
              <a:t>Uncertainty: What is it and how to reduce it?</a:t>
            </a:r>
          </a:p>
          <a:p>
            <a:r>
              <a:rPr lang="en-US" dirty="0"/>
              <a:t>Is uncertainty always bad? </a:t>
            </a:r>
          </a:p>
          <a:p>
            <a:r>
              <a:rPr lang="en-US" dirty="0"/>
              <a:t>Case studies of uncertainty reduction and management in online dating</a:t>
            </a:r>
          </a:p>
          <a:p>
            <a:endParaRPr lang="en-US" dirty="0"/>
          </a:p>
        </p:txBody>
      </p:sp>
    </p:spTree>
    <p:extLst>
      <p:ext uri="{BB962C8B-B14F-4D97-AF65-F5344CB8AC3E}">
        <p14:creationId xmlns:p14="http://schemas.microsoft.com/office/powerpoint/2010/main" val="3583965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EF280-A851-B95F-665C-20AF36FDB4C4}"/>
              </a:ext>
            </a:extLst>
          </p:cNvPr>
          <p:cNvSpPr>
            <a:spLocks noGrp="1"/>
          </p:cNvSpPr>
          <p:nvPr>
            <p:ph type="title"/>
          </p:nvPr>
        </p:nvSpPr>
        <p:spPr/>
        <p:txBody>
          <a:bodyPr/>
          <a:lstStyle/>
          <a:p>
            <a:r>
              <a:rPr lang="en-US" dirty="0"/>
              <a:t>Recap</a:t>
            </a:r>
          </a:p>
        </p:txBody>
      </p:sp>
      <p:sp>
        <p:nvSpPr>
          <p:cNvPr id="4" name="Text Placeholder 3">
            <a:extLst>
              <a:ext uri="{FF2B5EF4-FFF2-40B4-BE49-F238E27FC236}">
                <a16:creationId xmlns:a16="http://schemas.microsoft.com/office/drawing/2014/main" id="{3F0DB11C-98DE-4934-1AA6-A763BFE10FF2}"/>
              </a:ext>
            </a:extLst>
          </p:cNvPr>
          <p:cNvSpPr>
            <a:spLocks noGrp="1"/>
          </p:cNvSpPr>
          <p:nvPr>
            <p:ph type="body" idx="1"/>
          </p:nvPr>
        </p:nvSpPr>
        <p:spPr/>
        <p:txBody>
          <a:bodyPr/>
          <a:lstStyle/>
          <a:p>
            <a:r>
              <a:rPr lang="en-US" dirty="0"/>
              <a:t>Self-disclosure	</a:t>
            </a:r>
          </a:p>
        </p:txBody>
      </p:sp>
      <p:sp>
        <p:nvSpPr>
          <p:cNvPr id="3" name="Content Placeholder 2">
            <a:extLst>
              <a:ext uri="{FF2B5EF4-FFF2-40B4-BE49-F238E27FC236}">
                <a16:creationId xmlns:a16="http://schemas.microsoft.com/office/drawing/2014/main" id="{D1406D0A-C33B-31D7-8ECE-B13D9B09F61B}"/>
              </a:ext>
            </a:extLst>
          </p:cNvPr>
          <p:cNvSpPr>
            <a:spLocks noGrp="1"/>
          </p:cNvSpPr>
          <p:nvPr>
            <p:ph sz="half" idx="2"/>
          </p:nvPr>
        </p:nvSpPr>
        <p:spPr/>
        <p:txBody>
          <a:bodyPr/>
          <a:lstStyle/>
          <a:p>
            <a:r>
              <a:rPr lang="en-US" dirty="0"/>
              <a:t>From social penetration theory</a:t>
            </a:r>
          </a:p>
          <a:p>
            <a:r>
              <a:rPr lang="en-US" dirty="0"/>
              <a:t>More a psychological concept</a:t>
            </a:r>
          </a:p>
          <a:p>
            <a:r>
              <a:rPr lang="en-US" dirty="0"/>
              <a:t>When applied to online dating research: Continuous process</a:t>
            </a:r>
          </a:p>
          <a:p>
            <a:r>
              <a:rPr lang="en-US" dirty="0"/>
              <a:t>E.g., self-disclosure </a:t>
            </a:r>
            <a:r>
              <a:rPr lang="en-US" dirty="0">
                <a:sym typeface="Wingdings" panose="05000000000000000000" pitchFamily="2" charset="2"/>
              </a:rPr>
              <a:t>on Grindr  less loneliness among gay men</a:t>
            </a:r>
            <a:endParaRPr lang="en-US" dirty="0"/>
          </a:p>
        </p:txBody>
      </p:sp>
      <p:sp>
        <p:nvSpPr>
          <p:cNvPr id="5" name="Text Placeholder 4">
            <a:extLst>
              <a:ext uri="{FF2B5EF4-FFF2-40B4-BE49-F238E27FC236}">
                <a16:creationId xmlns:a16="http://schemas.microsoft.com/office/drawing/2014/main" id="{5A7258D7-6ED3-D617-82A2-61C1576AEDF2}"/>
              </a:ext>
            </a:extLst>
          </p:cNvPr>
          <p:cNvSpPr>
            <a:spLocks noGrp="1"/>
          </p:cNvSpPr>
          <p:nvPr>
            <p:ph type="body" sz="quarter" idx="3"/>
          </p:nvPr>
        </p:nvSpPr>
        <p:spPr/>
        <p:txBody>
          <a:bodyPr/>
          <a:lstStyle/>
          <a:p>
            <a:r>
              <a:rPr lang="en-US" dirty="0"/>
              <a:t>Self-presentation</a:t>
            </a:r>
          </a:p>
        </p:txBody>
      </p:sp>
      <p:sp>
        <p:nvSpPr>
          <p:cNvPr id="6" name="Content Placeholder 5">
            <a:extLst>
              <a:ext uri="{FF2B5EF4-FFF2-40B4-BE49-F238E27FC236}">
                <a16:creationId xmlns:a16="http://schemas.microsoft.com/office/drawing/2014/main" id="{C18659DC-C103-9336-A70E-9022A8A3F6B7}"/>
              </a:ext>
            </a:extLst>
          </p:cNvPr>
          <p:cNvSpPr>
            <a:spLocks noGrp="1"/>
          </p:cNvSpPr>
          <p:nvPr>
            <p:ph sz="quarter" idx="4"/>
          </p:nvPr>
        </p:nvSpPr>
        <p:spPr/>
        <p:txBody>
          <a:bodyPr/>
          <a:lstStyle/>
          <a:p>
            <a:r>
              <a:rPr lang="en-US" dirty="0"/>
              <a:t>From Goffman’s work</a:t>
            </a:r>
          </a:p>
          <a:p>
            <a:r>
              <a:rPr lang="en-US" dirty="0"/>
              <a:t>More a sociological concept</a:t>
            </a:r>
          </a:p>
          <a:p>
            <a:r>
              <a:rPr lang="en-US" dirty="0"/>
              <a:t>When applied to online dating research: profiles</a:t>
            </a:r>
          </a:p>
          <a:p>
            <a:r>
              <a:rPr lang="en-US" dirty="0"/>
              <a:t>E.g., self-presentation (face-pic) depends on cultural and social contexts</a:t>
            </a:r>
          </a:p>
        </p:txBody>
      </p:sp>
    </p:spTree>
    <p:extLst>
      <p:ext uri="{BB962C8B-B14F-4D97-AF65-F5344CB8AC3E}">
        <p14:creationId xmlns:p14="http://schemas.microsoft.com/office/powerpoint/2010/main" val="1530779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CA303C6-282E-0F71-6FBA-72673D010A75}"/>
              </a:ext>
            </a:extLst>
          </p:cNvPr>
          <p:cNvSpPr>
            <a:spLocks noGrp="1"/>
          </p:cNvSpPr>
          <p:nvPr>
            <p:ph type="title"/>
          </p:nvPr>
        </p:nvSpPr>
        <p:spPr>
          <a:xfrm>
            <a:off x="831850" y="2779079"/>
            <a:ext cx="10515600" cy="2125662"/>
          </a:xfrm>
        </p:spPr>
        <p:txBody>
          <a:bodyPr anchor="t">
            <a:noAutofit/>
          </a:bodyPr>
          <a:lstStyle/>
          <a:p>
            <a:r>
              <a:rPr lang="en-US" sz="4000" dirty="0"/>
              <a:t>Based on social penetration theory, what shall a dating app user do in order to develop intimate relationships with a target?</a:t>
            </a:r>
          </a:p>
        </p:txBody>
      </p:sp>
    </p:spTree>
    <p:extLst>
      <p:ext uri="{BB962C8B-B14F-4D97-AF65-F5344CB8AC3E}">
        <p14:creationId xmlns:p14="http://schemas.microsoft.com/office/powerpoint/2010/main" val="3111116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1D72A4A-771D-4FE0-A07E-D0DAF4D6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448" y="447277"/>
            <a:ext cx="3294813" cy="5911481"/>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5BB7246-8AFD-47FC-A1F4-491E0167E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9940" y="438890"/>
            <a:ext cx="3294813" cy="59114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A6DF2E7-0906-4F1E-9B28-48B1A4D8E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787" y="308343"/>
            <a:ext cx="3294813" cy="5911481"/>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raphic 212">
            <a:extLst>
              <a:ext uri="{FF2B5EF4-FFF2-40B4-BE49-F238E27FC236}">
                <a16:creationId xmlns:a16="http://schemas.microsoft.com/office/drawing/2014/main" id="{684FEC42-F70A-4505-A5DF-EC67268FE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841" y="49924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4" name="Graphic 212">
            <a:extLst>
              <a:ext uri="{FF2B5EF4-FFF2-40B4-BE49-F238E27FC236}">
                <a16:creationId xmlns:a16="http://schemas.microsoft.com/office/drawing/2014/main" id="{7D10AF26-17A2-4FA8-824A-F78507AF6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841" y="49924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D7281F38-A7CF-457D-8A87-33E3FDFF53D6}"/>
              </a:ext>
            </a:extLst>
          </p:cNvPr>
          <p:cNvSpPr>
            <a:spLocks noGrp="1"/>
          </p:cNvSpPr>
          <p:nvPr>
            <p:ph type="title"/>
          </p:nvPr>
        </p:nvSpPr>
        <p:spPr>
          <a:xfrm>
            <a:off x="838200" y="1544354"/>
            <a:ext cx="3105985" cy="4238118"/>
          </a:xfrm>
        </p:spPr>
        <p:txBody>
          <a:bodyPr>
            <a:normAutofit/>
          </a:bodyPr>
          <a:lstStyle/>
          <a:p>
            <a:r>
              <a:rPr lang="en-US" sz="3700" dirty="0"/>
              <a:t>The longer time we chat online, by the time we meet offline, the more we know about each other.</a:t>
            </a:r>
          </a:p>
        </p:txBody>
      </p:sp>
      <p:sp>
        <p:nvSpPr>
          <p:cNvPr id="6" name="Rectangle 5">
            <a:extLst>
              <a:ext uri="{FF2B5EF4-FFF2-40B4-BE49-F238E27FC236}">
                <a16:creationId xmlns:a16="http://schemas.microsoft.com/office/drawing/2014/main" id="{FE7E3D6A-EEDC-4A75-8ACE-D0BEB727FAFB}"/>
              </a:ext>
            </a:extLst>
          </p:cNvPr>
          <p:cNvSpPr/>
          <p:nvPr/>
        </p:nvSpPr>
        <p:spPr>
          <a:xfrm>
            <a:off x="4782386" y="1590410"/>
            <a:ext cx="6452653" cy="330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Shape 6">
            <a:extLst>
              <a:ext uri="{FF2B5EF4-FFF2-40B4-BE49-F238E27FC236}">
                <a16:creationId xmlns:a16="http://schemas.microsoft.com/office/drawing/2014/main" id="{4ACE6B25-502A-42CF-A06E-7ADDE06CDE0D}"/>
              </a:ext>
            </a:extLst>
          </p:cNvPr>
          <p:cNvSpPr/>
          <p:nvPr/>
        </p:nvSpPr>
        <p:spPr>
          <a:xfrm>
            <a:off x="5824839" y="1725663"/>
            <a:ext cx="4486507" cy="2903034"/>
          </a:xfrm>
          <a:prstGeom prst="corner">
            <a:avLst>
              <a:gd name="adj1" fmla="val 2993"/>
              <a:gd name="adj2" fmla="val 2874"/>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71A3425-752C-4B46-B3F8-7755DB12E3E9}"/>
              </a:ext>
            </a:extLst>
          </p:cNvPr>
          <p:cNvSpPr txBox="1"/>
          <p:nvPr/>
        </p:nvSpPr>
        <p:spPr>
          <a:xfrm rot="16200000">
            <a:off x="4737529" y="2908464"/>
            <a:ext cx="1601066" cy="686983"/>
          </a:xfrm>
          <a:prstGeom prst="rect">
            <a:avLst/>
          </a:prstGeom>
          <a:noFill/>
        </p:spPr>
        <p:txBody>
          <a:bodyPr wrap="square" rtlCol="0">
            <a:spAutoFit/>
          </a:bodyPr>
          <a:lstStyle/>
          <a:p>
            <a:pPr algn="ctr" defTabSz="630936">
              <a:spcAft>
                <a:spcPts val="600"/>
              </a:spcAft>
            </a:pPr>
            <a:r>
              <a:rPr lang="en-US" sz="1932" kern="1200">
                <a:solidFill>
                  <a:schemeClr val="accent2"/>
                </a:solidFill>
                <a:latin typeface="Impact" panose="020B0806030902050204" pitchFamily="34" charset="0"/>
                <a:ea typeface="+mn-ea"/>
                <a:cs typeface="Times New Roman" panose="02020603050405020304" pitchFamily="18" charset="0"/>
              </a:rPr>
              <a:t>SATISFACTION OFFLINE</a:t>
            </a:r>
            <a:endParaRPr lang="en-US">
              <a:solidFill>
                <a:schemeClr val="accent2"/>
              </a:solidFill>
              <a:latin typeface="Impact" panose="020B080603090205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80FC7C2-46B2-4B15-BAC4-23988BAADEB4}"/>
              </a:ext>
            </a:extLst>
          </p:cNvPr>
          <p:cNvSpPr txBox="1"/>
          <p:nvPr/>
        </p:nvSpPr>
        <p:spPr>
          <a:xfrm>
            <a:off x="10416911" y="4372935"/>
            <a:ext cx="936888" cy="686983"/>
          </a:xfrm>
          <a:prstGeom prst="rect">
            <a:avLst/>
          </a:prstGeom>
          <a:noFill/>
        </p:spPr>
        <p:txBody>
          <a:bodyPr wrap="square" rtlCol="0">
            <a:spAutoFit/>
          </a:bodyPr>
          <a:lstStyle/>
          <a:p>
            <a:pPr defTabSz="630936">
              <a:spcAft>
                <a:spcPts val="600"/>
              </a:spcAft>
            </a:pPr>
            <a:r>
              <a:rPr lang="en-US" sz="1932" kern="1200">
                <a:solidFill>
                  <a:schemeClr val="accent2"/>
                </a:solidFill>
                <a:latin typeface="Impact" panose="020B0806030902050204" pitchFamily="34" charset="0"/>
                <a:ea typeface="+mn-ea"/>
                <a:cs typeface="Times New Roman" panose="02020603050405020304" pitchFamily="18" charset="0"/>
              </a:rPr>
              <a:t>TIME ONLINE</a:t>
            </a:r>
            <a:endParaRPr lang="en-US">
              <a:solidFill>
                <a:schemeClr val="accent2"/>
              </a:solidFill>
              <a:latin typeface="Impact" panose="020B0806030902050204" pitchFamily="34"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D0236166-F492-BF7F-2523-D91073CB9D23}"/>
              </a:ext>
            </a:extLst>
          </p:cNvPr>
          <p:cNvCxnSpPr/>
          <p:nvPr/>
        </p:nvCxnSpPr>
        <p:spPr>
          <a:xfrm flipV="1">
            <a:off x="6326272" y="2042358"/>
            <a:ext cx="3457249" cy="233057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711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33794-14DF-40D0-8F6D-08B2949E3C68}"/>
              </a:ext>
            </a:extLst>
          </p:cNvPr>
          <p:cNvSpPr>
            <a:spLocks noGrp="1"/>
          </p:cNvSpPr>
          <p:nvPr>
            <p:ph type="title"/>
          </p:nvPr>
        </p:nvSpPr>
        <p:spPr>
          <a:xfrm>
            <a:off x="831850" y="2840039"/>
            <a:ext cx="10515600" cy="1427162"/>
          </a:xfrm>
        </p:spPr>
        <p:txBody>
          <a:bodyPr anchor="t">
            <a:normAutofit/>
          </a:bodyPr>
          <a:lstStyle/>
          <a:p>
            <a:r>
              <a:rPr lang="en-US" sz="4400" dirty="0"/>
              <a:t>Recall the hyperpersonal model? Receivers of CMC will ________ the message sender. </a:t>
            </a:r>
          </a:p>
        </p:txBody>
      </p:sp>
    </p:spTree>
    <p:extLst>
      <p:ext uri="{BB962C8B-B14F-4D97-AF65-F5344CB8AC3E}">
        <p14:creationId xmlns:p14="http://schemas.microsoft.com/office/powerpoint/2010/main" val="178299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C1D72A4A-771D-4FE0-A07E-D0DAF4D6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448" y="447277"/>
            <a:ext cx="3294813" cy="5911481"/>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5BB7246-8AFD-47FC-A1F4-491E0167E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9940" y="438890"/>
            <a:ext cx="3294813" cy="59114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0A6DF2E7-0906-4F1E-9B28-48B1A4D8E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787" y="308343"/>
            <a:ext cx="3294813" cy="5911481"/>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Graphic 212">
            <a:extLst>
              <a:ext uri="{FF2B5EF4-FFF2-40B4-BE49-F238E27FC236}">
                <a16:creationId xmlns:a16="http://schemas.microsoft.com/office/drawing/2014/main" id="{684FEC42-F70A-4505-A5DF-EC67268FE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841" y="49924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4" name="Graphic 212">
            <a:extLst>
              <a:ext uri="{FF2B5EF4-FFF2-40B4-BE49-F238E27FC236}">
                <a16:creationId xmlns:a16="http://schemas.microsoft.com/office/drawing/2014/main" id="{7D10AF26-17A2-4FA8-824A-F78507AF6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841" y="49924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D7281F38-A7CF-457D-8A87-33E3FDFF53D6}"/>
              </a:ext>
            </a:extLst>
          </p:cNvPr>
          <p:cNvSpPr>
            <a:spLocks noGrp="1"/>
          </p:cNvSpPr>
          <p:nvPr>
            <p:ph type="title"/>
          </p:nvPr>
        </p:nvSpPr>
        <p:spPr>
          <a:xfrm>
            <a:off x="838200" y="1697756"/>
            <a:ext cx="3105985" cy="4238118"/>
          </a:xfrm>
        </p:spPr>
        <p:txBody>
          <a:bodyPr>
            <a:normAutofit/>
          </a:bodyPr>
          <a:lstStyle/>
          <a:p>
            <a:r>
              <a:rPr lang="en-US" sz="3100" dirty="0"/>
              <a:t>The longer time we chat online, by the time we meet offline, the higher chance we are disappointed (because we overidealize the target)</a:t>
            </a:r>
          </a:p>
        </p:txBody>
      </p:sp>
      <p:sp>
        <p:nvSpPr>
          <p:cNvPr id="14" name="Rectangle 13">
            <a:extLst>
              <a:ext uri="{FF2B5EF4-FFF2-40B4-BE49-F238E27FC236}">
                <a16:creationId xmlns:a16="http://schemas.microsoft.com/office/drawing/2014/main" id="{B1399CAA-E907-D0CB-9DEE-29B34C8D9F01}"/>
              </a:ext>
            </a:extLst>
          </p:cNvPr>
          <p:cNvSpPr/>
          <p:nvPr/>
        </p:nvSpPr>
        <p:spPr>
          <a:xfrm>
            <a:off x="4782386" y="1590410"/>
            <a:ext cx="6452653" cy="330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a:extLst>
              <a:ext uri="{FF2B5EF4-FFF2-40B4-BE49-F238E27FC236}">
                <a16:creationId xmlns:a16="http://schemas.microsoft.com/office/drawing/2014/main" id="{C1D39504-F0FD-78E9-E52F-2A6E6CC5D223}"/>
              </a:ext>
            </a:extLst>
          </p:cNvPr>
          <p:cNvSpPr/>
          <p:nvPr/>
        </p:nvSpPr>
        <p:spPr>
          <a:xfrm>
            <a:off x="5824839" y="1725663"/>
            <a:ext cx="4486507" cy="2903034"/>
          </a:xfrm>
          <a:prstGeom prst="corner">
            <a:avLst>
              <a:gd name="adj1" fmla="val 2993"/>
              <a:gd name="adj2" fmla="val 2874"/>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3B8B000-C40E-B3AA-6FD5-B7C7BCD1FDCA}"/>
              </a:ext>
            </a:extLst>
          </p:cNvPr>
          <p:cNvSpPr txBox="1"/>
          <p:nvPr/>
        </p:nvSpPr>
        <p:spPr>
          <a:xfrm rot="16200000">
            <a:off x="4711138" y="2882072"/>
            <a:ext cx="1653848" cy="686983"/>
          </a:xfrm>
          <a:prstGeom prst="rect">
            <a:avLst/>
          </a:prstGeom>
          <a:noFill/>
        </p:spPr>
        <p:txBody>
          <a:bodyPr wrap="square" rtlCol="0">
            <a:spAutoFit/>
          </a:bodyPr>
          <a:lstStyle/>
          <a:p>
            <a:pPr algn="ctr" defTabSz="630936">
              <a:spcAft>
                <a:spcPts val="600"/>
              </a:spcAft>
            </a:pPr>
            <a:r>
              <a:rPr lang="en-US" sz="1932" kern="1200">
                <a:solidFill>
                  <a:schemeClr val="accent2"/>
                </a:solidFill>
                <a:latin typeface="Impact" panose="020B0806030902050204" pitchFamily="34" charset="0"/>
                <a:ea typeface="+mn-ea"/>
                <a:cs typeface="Times New Roman" panose="02020603050405020304" pitchFamily="18" charset="0"/>
              </a:rPr>
              <a:t>SATISFACTION OFFLINE</a:t>
            </a:r>
            <a:endParaRPr lang="en-US">
              <a:solidFill>
                <a:schemeClr val="accent2"/>
              </a:solidFill>
              <a:latin typeface="Impact" panose="020B080603090205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E782BEC-8530-C856-7D85-FA487925489D}"/>
              </a:ext>
            </a:extLst>
          </p:cNvPr>
          <p:cNvSpPr txBox="1"/>
          <p:nvPr/>
        </p:nvSpPr>
        <p:spPr>
          <a:xfrm>
            <a:off x="10416911" y="4372935"/>
            <a:ext cx="936888" cy="686983"/>
          </a:xfrm>
          <a:prstGeom prst="rect">
            <a:avLst/>
          </a:prstGeom>
          <a:noFill/>
        </p:spPr>
        <p:txBody>
          <a:bodyPr wrap="square" rtlCol="0">
            <a:spAutoFit/>
          </a:bodyPr>
          <a:lstStyle/>
          <a:p>
            <a:pPr defTabSz="630936">
              <a:spcAft>
                <a:spcPts val="600"/>
              </a:spcAft>
            </a:pPr>
            <a:r>
              <a:rPr lang="en-US" sz="1932" kern="1200">
                <a:solidFill>
                  <a:schemeClr val="accent2"/>
                </a:solidFill>
                <a:latin typeface="Impact" panose="020B0806030902050204" pitchFamily="34" charset="0"/>
                <a:ea typeface="+mn-ea"/>
                <a:cs typeface="Times New Roman" panose="02020603050405020304" pitchFamily="18" charset="0"/>
              </a:rPr>
              <a:t>TIME ONLINE</a:t>
            </a:r>
            <a:endParaRPr lang="en-US">
              <a:solidFill>
                <a:schemeClr val="accent2"/>
              </a:solidFill>
              <a:latin typeface="Impact" panose="020B0806030902050204" pitchFamily="34"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92FC3B2C-841E-4EDB-2AC5-76988793E1B8}"/>
              </a:ext>
            </a:extLst>
          </p:cNvPr>
          <p:cNvCxnSpPr>
            <a:cxnSpLocks/>
          </p:cNvCxnSpPr>
          <p:nvPr/>
        </p:nvCxnSpPr>
        <p:spPr>
          <a:xfrm>
            <a:off x="6326272" y="2177061"/>
            <a:ext cx="3668379" cy="2195874"/>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91525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930E8-20B2-65F5-6C70-C1C9393B4D91}"/>
              </a:ext>
            </a:extLst>
          </p:cNvPr>
          <p:cNvSpPr>
            <a:spLocks noGrp="1"/>
          </p:cNvSpPr>
          <p:nvPr>
            <p:ph type="title"/>
          </p:nvPr>
        </p:nvSpPr>
        <p:spPr/>
        <p:txBody>
          <a:bodyPr/>
          <a:lstStyle/>
          <a:p>
            <a:r>
              <a:rPr lang="en-US"/>
              <a:t>When should we meet offline?</a:t>
            </a:r>
            <a:endParaRPr lang="en-US" dirty="0"/>
          </a:p>
        </p:txBody>
      </p:sp>
      <p:graphicFrame>
        <p:nvGraphicFramePr>
          <p:cNvPr id="40" name="Content Placeholder 2">
            <a:extLst>
              <a:ext uri="{FF2B5EF4-FFF2-40B4-BE49-F238E27FC236}">
                <a16:creationId xmlns:a16="http://schemas.microsoft.com/office/drawing/2014/main" id="{E240BDFA-4229-F559-556A-C014039C2C6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5210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1">
            <a:extLst>
              <a:ext uri="{FF2B5EF4-FFF2-40B4-BE49-F238E27FC236}">
                <a16:creationId xmlns:a16="http://schemas.microsoft.com/office/drawing/2014/main" id="{47F9CDAE-25ED-B0AC-3C32-46EF371C0C8B}"/>
              </a:ext>
            </a:extLst>
          </p:cNvPr>
          <p:cNvPicPr/>
          <p:nvPr/>
        </p:nvPicPr>
        <p:blipFill rotWithShape="1">
          <a:blip r:embed="rId3"/>
          <a:srcRect l="12747" t="23075" r="68838" b="49309"/>
          <a:stretch/>
        </p:blipFill>
        <p:spPr bwMode="auto">
          <a:xfrm>
            <a:off x="3914658" y="1590179"/>
            <a:ext cx="4362684" cy="3677642"/>
          </a:xfrm>
          <a:prstGeom prst="rect">
            <a:avLst/>
          </a:prstGeom>
          <a:ln>
            <a:noFill/>
          </a:ln>
          <a:extLst>
            <a:ext uri="{53640926-AAD7-44D8-BBD7-CCE9431645EC}">
              <a14:shadowObscured xmlns:a14="http://schemas.microsoft.com/office/drawing/2010/main"/>
            </a:ext>
          </a:extLst>
        </p:spPr>
      </p:pic>
      <p:sp>
        <p:nvSpPr>
          <p:cNvPr id="15" name="Rectangle 14">
            <a:extLst>
              <a:ext uri="{FF2B5EF4-FFF2-40B4-BE49-F238E27FC236}">
                <a16:creationId xmlns:a16="http://schemas.microsoft.com/office/drawing/2014/main" id="{498EE46A-7EF9-7FB0-D232-09266AB0C82A}"/>
              </a:ext>
            </a:extLst>
          </p:cNvPr>
          <p:cNvSpPr/>
          <p:nvPr/>
        </p:nvSpPr>
        <p:spPr>
          <a:xfrm>
            <a:off x="3902467" y="4718304"/>
            <a:ext cx="4362683" cy="510083"/>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1056300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C1D72A4A-771D-4FE0-A07E-D0DAF4D6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448" y="447277"/>
            <a:ext cx="3294813" cy="5911481"/>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BB7246-8AFD-47FC-A1F4-491E0167E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9940" y="438890"/>
            <a:ext cx="3294813" cy="5911481"/>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A6DF2E7-0906-4F1E-9B28-48B1A4D8E0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787" y="308343"/>
            <a:ext cx="3294813" cy="5911481"/>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Graphic 212">
            <a:extLst>
              <a:ext uri="{FF2B5EF4-FFF2-40B4-BE49-F238E27FC236}">
                <a16:creationId xmlns:a16="http://schemas.microsoft.com/office/drawing/2014/main" id="{684FEC42-F70A-4505-A5DF-EC67268FE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841" y="49924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Graphic 212">
            <a:extLst>
              <a:ext uri="{FF2B5EF4-FFF2-40B4-BE49-F238E27FC236}">
                <a16:creationId xmlns:a16="http://schemas.microsoft.com/office/drawing/2014/main" id="{7D10AF26-17A2-4FA8-824A-F78507AF6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841" y="49924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9" name="Title 8">
            <a:extLst>
              <a:ext uri="{FF2B5EF4-FFF2-40B4-BE49-F238E27FC236}">
                <a16:creationId xmlns:a16="http://schemas.microsoft.com/office/drawing/2014/main" id="{E2C14B46-7857-A5DD-2079-68570AA98CF0}"/>
              </a:ext>
            </a:extLst>
          </p:cNvPr>
          <p:cNvSpPr>
            <a:spLocks noGrp="1"/>
          </p:cNvSpPr>
          <p:nvPr>
            <p:ph type="title"/>
          </p:nvPr>
        </p:nvSpPr>
        <p:spPr>
          <a:xfrm>
            <a:off x="838200" y="1195697"/>
            <a:ext cx="3105985" cy="4238118"/>
          </a:xfrm>
        </p:spPr>
        <p:txBody>
          <a:bodyPr>
            <a:normAutofit/>
          </a:bodyPr>
          <a:lstStyle/>
          <a:p>
            <a:r>
              <a:rPr lang="en-US" dirty="0"/>
              <a:t>The perfect moment to switch modality</a:t>
            </a:r>
          </a:p>
        </p:txBody>
      </p:sp>
      <p:sp>
        <p:nvSpPr>
          <p:cNvPr id="7" name="Rectangle 6">
            <a:extLst>
              <a:ext uri="{FF2B5EF4-FFF2-40B4-BE49-F238E27FC236}">
                <a16:creationId xmlns:a16="http://schemas.microsoft.com/office/drawing/2014/main" id="{65417960-A357-4CAB-BEDC-E5D0B470F320}"/>
              </a:ext>
            </a:extLst>
          </p:cNvPr>
          <p:cNvSpPr/>
          <p:nvPr/>
        </p:nvSpPr>
        <p:spPr>
          <a:xfrm>
            <a:off x="4782386" y="1412391"/>
            <a:ext cx="6452653" cy="3302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Shape 4">
            <a:extLst>
              <a:ext uri="{FF2B5EF4-FFF2-40B4-BE49-F238E27FC236}">
                <a16:creationId xmlns:a16="http://schemas.microsoft.com/office/drawing/2014/main" id="{5BCD94BB-CA26-45C7-8999-AC87C74C4D06}"/>
              </a:ext>
            </a:extLst>
          </p:cNvPr>
          <p:cNvSpPr/>
          <p:nvPr/>
        </p:nvSpPr>
        <p:spPr>
          <a:xfrm>
            <a:off x="5824839" y="1547644"/>
            <a:ext cx="4486507" cy="2903034"/>
          </a:xfrm>
          <a:prstGeom prst="corner">
            <a:avLst>
              <a:gd name="adj1" fmla="val 2993"/>
              <a:gd name="adj2" fmla="val 2874"/>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EEA78EB-35FC-40E4-92F1-049DC4C55E00}"/>
              </a:ext>
            </a:extLst>
          </p:cNvPr>
          <p:cNvSpPr txBox="1"/>
          <p:nvPr/>
        </p:nvSpPr>
        <p:spPr>
          <a:xfrm>
            <a:off x="10416911" y="4194916"/>
            <a:ext cx="936888" cy="686983"/>
          </a:xfrm>
          <a:prstGeom prst="rect">
            <a:avLst/>
          </a:prstGeom>
          <a:noFill/>
        </p:spPr>
        <p:txBody>
          <a:bodyPr wrap="square" rtlCol="0">
            <a:spAutoFit/>
          </a:bodyPr>
          <a:lstStyle/>
          <a:p>
            <a:pPr defTabSz="630936">
              <a:spcAft>
                <a:spcPts val="600"/>
              </a:spcAft>
            </a:pPr>
            <a:r>
              <a:rPr lang="en-US" sz="1932" kern="1200">
                <a:solidFill>
                  <a:schemeClr val="accent2"/>
                </a:solidFill>
                <a:latin typeface="Impact" panose="020B0806030902050204" pitchFamily="34" charset="0"/>
                <a:ea typeface="+mn-ea"/>
                <a:cs typeface="Times New Roman" panose="02020603050405020304" pitchFamily="18" charset="0"/>
              </a:rPr>
              <a:t>TIME ONLINE</a:t>
            </a:r>
            <a:endParaRPr lang="en-US">
              <a:solidFill>
                <a:schemeClr val="accent2"/>
              </a:solidFill>
              <a:latin typeface="Impact" panose="020B0806030902050204" pitchFamily="34"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058210DD-0747-49A7-80CB-727BADB155D2}"/>
              </a:ext>
            </a:extLst>
          </p:cNvPr>
          <p:cNvCxnSpPr>
            <a:cxnSpLocks/>
          </p:cNvCxnSpPr>
          <p:nvPr/>
        </p:nvCxnSpPr>
        <p:spPr>
          <a:xfrm>
            <a:off x="8156155" y="2458141"/>
            <a:ext cx="0" cy="1992537"/>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06E8641-A4E2-491F-A69A-D54A840D9A39}"/>
              </a:ext>
            </a:extLst>
          </p:cNvPr>
          <p:cNvSpPr txBox="1"/>
          <p:nvPr/>
        </p:nvSpPr>
        <p:spPr>
          <a:xfrm rot="16200000">
            <a:off x="4363654" y="2906388"/>
            <a:ext cx="2164081" cy="686983"/>
          </a:xfrm>
          <a:prstGeom prst="rect">
            <a:avLst/>
          </a:prstGeom>
          <a:noFill/>
        </p:spPr>
        <p:txBody>
          <a:bodyPr wrap="square" rtlCol="0">
            <a:spAutoFit/>
          </a:bodyPr>
          <a:lstStyle/>
          <a:p>
            <a:pPr algn="ctr" defTabSz="630936">
              <a:spcAft>
                <a:spcPts val="600"/>
              </a:spcAft>
            </a:pPr>
            <a:r>
              <a:rPr lang="en-US" sz="1932" kern="1200">
                <a:solidFill>
                  <a:schemeClr val="accent2"/>
                </a:solidFill>
                <a:latin typeface="Impact" panose="020B0806030902050204" pitchFamily="34" charset="0"/>
                <a:ea typeface="+mn-ea"/>
                <a:cs typeface="Times New Roman" panose="02020603050405020304" pitchFamily="18" charset="0"/>
              </a:rPr>
              <a:t>INTIMACY/ POV OFFLINE</a:t>
            </a:r>
            <a:endParaRPr lang="en-US">
              <a:solidFill>
                <a:schemeClr val="accent2"/>
              </a:solidFill>
              <a:latin typeface="Impact" panose="020B0806030902050204" pitchFamily="34" charset="0"/>
              <a:cs typeface="Times New Roman" panose="02020603050405020304" pitchFamily="18" charset="0"/>
            </a:endParaRPr>
          </a:p>
        </p:txBody>
      </p:sp>
      <p:sp>
        <p:nvSpPr>
          <p:cNvPr id="3" name="Arc 2">
            <a:extLst>
              <a:ext uri="{FF2B5EF4-FFF2-40B4-BE49-F238E27FC236}">
                <a16:creationId xmlns:a16="http://schemas.microsoft.com/office/drawing/2014/main" id="{69CEF99C-C165-49F7-84EB-FFAC5B7A610D}"/>
              </a:ext>
            </a:extLst>
          </p:cNvPr>
          <p:cNvSpPr/>
          <p:nvPr/>
        </p:nvSpPr>
        <p:spPr>
          <a:xfrm rot="21312527">
            <a:off x="6218475" y="2429322"/>
            <a:ext cx="3853609" cy="2782527"/>
          </a:xfrm>
          <a:prstGeom prst="arc">
            <a:avLst>
              <a:gd name="adj1" fmla="val 11879487"/>
              <a:gd name="adj2" fmla="val 2126089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3638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E429F5BC-76A0-4BEB-BFBE-705B008F6B64}"/>
              </a:ext>
            </a:extLst>
          </p:cNvPr>
          <p:cNvSpPr>
            <a:spLocks noGrp="1"/>
          </p:cNvSpPr>
          <p:nvPr>
            <p:ph type="title"/>
          </p:nvPr>
        </p:nvSpPr>
        <p:spPr>
          <a:xfrm>
            <a:off x="2232252" y="633046"/>
            <a:ext cx="4463623" cy="1314996"/>
          </a:xfrm>
        </p:spPr>
        <p:txBody>
          <a:bodyPr anchor="b">
            <a:normAutofit/>
          </a:bodyPr>
          <a:lstStyle/>
          <a:p>
            <a:r>
              <a:rPr lang="en-HK" dirty="0"/>
              <a:t>Uncertainty</a:t>
            </a:r>
            <a:endParaRPr lang="en-US" dirty="0"/>
          </a:p>
        </p:txBody>
      </p:sp>
      <p:sp>
        <p:nvSpPr>
          <p:cNvPr id="13" name="Freeform: Shape 12">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565AF71D-BBA2-46D9-9028-1EAB2E74C069}"/>
              </a:ext>
            </a:extLst>
          </p:cNvPr>
          <p:cNvSpPr>
            <a:spLocks noGrp="1"/>
          </p:cNvSpPr>
          <p:nvPr>
            <p:ph idx="1"/>
          </p:nvPr>
        </p:nvSpPr>
        <p:spPr>
          <a:xfrm>
            <a:off x="2232252" y="2125737"/>
            <a:ext cx="4463623" cy="4044463"/>
          </a:xfrm>
        </p:spPr>
        <p:txBody>
          <a:bodyPr>
            <a:normAutofit/>
          </a:bodyPr>
          <a:lstStyle/>
          <a:p>
            <a:r>
              <a:rPr lang="en-HK" dirty="0"/>
              <a:t>Inability to predict</a:t>
            </a:r>
          </a:p>
          <a:p>
            <a:pPr lvl="1"/>
            <a:r>
              <a:rPr lang="en-HK" sz="2800" dirty="0"/>
              <a:t>Self-uncertainty</a:t>
            </a:r>
          </a:p>
          <a:p>
            <a:pPr lvl="1"/>
            <a:r>
              <a:rPr lang="en-HK" sz="2800" dirty="0"/>
              <a:t>Partner uncertainty*</a:t>
            </a:r>
          </a:p>
          <a:p>
            <a:pPr lvl="1"/>
            <a:r>
              <a:rPr lang="en-HK" sz="2800" dirty="0"/>
              <a:t>Relationship uncertainty</a:t>
            </a:r>
            <a:endParaRPr lang="en-US" sz="2800" dirty="0"/>
          </a:p>
        </p:txBody>
      </p:sp>
      <p:sp>
        <p:nvSpPr>
          <p:cNvPr id="17" name="Freeform: Shape 16">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9" name="Freeform: Shape 18">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descr="Question marks in a line and one question mark is lit">
            <a:extLst>
              <a:ext uri="{FF2B5EF4-FFF2-40B4-BE49-F238E27FC236}">
                <a16:creationId xmlns:a16="http://schemas.microsoft.com/office/drawing/2014/main" id="{5A8825D9-6DB7-050D-BA0C-205F01A07B5B}"/>
              </a:ext>
            </a:extLst>
          </p:cNvPr>
          <p:cNvPicPr>
            <a:picLocks noChangeAspect="1"/>
          </p:cNvPicPr>
          <p:nvPr/>
        </p:nvPicPr>
        <p:blipFill rotWithShape="1">
          <a:blip r:embed="rId3"/>
          <a:srcRect r="33249" b="-2"/>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23"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4" name="Freeform: Shape 23">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160393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F462B-3089-4119-871C-EBA34CF66F89}"/>
              </a:ext>
            </a:extLst>
          </p:cNvPr>
          <p:cNvSpPr>
            <a:spLocks noGrp="1"/>
          </p:cNvSpPr>
          <p:nvPr>
            <p:ph type="title"/>
          </p:nvPr>
        </p:nvSpPr>
        <p:spPr>
          <a:xfrm>
            <a:off x="838200" y="365125"/>
            <a:ext cx="8067173" cy="1325563"/>
          </a:xfrm>
        </p:spPr>
        <p:txBody>
          <a:bodyPr/>
          <a:lstStyle/>
          <a:p>
            <a:r>
              <a:rPr lang="en-HK" dirty="0"/>
              <a:t>Uncertainty reduction theory (Berger &amp; Calabrese, 1975)</a:t>
            </a:r>
            <a:endParaRPr lang="en-US" dirty="0"/>
          </a:p>
        </p:txBody>
      </p:sp>
      <p:graphicFrame>
        <p:nvGraphicFramePr>
          <p:cNvPr id="5" name="Content Placeholder 2">
            <a:extLst>
              <a:ext uri="{FF2B5EF4-FFF2-40B4-BE49-F238E27FC236}">
                <a16:creationId xmlns:a16="http://schemas.microsoft.com/office/drawing/2014/main" id="{269FD9A8-77A3-4C80-99EC-39FD56851824}"/>
              </a:ext>
            </a:extLst>
          </p:cNvPr>
          <p:cNvGraphicFramePr>
            <a:graphicFrameLocks noGrp="1"/>
          </p:cNvGraphicFramePr>
          <p:nvPr>
            <p:ph idx="1"/>
            <p:extLst>
              <p:ext uri="{D42A27DB-BD31-4B8C-83A1-F6EECF244321}">
                <p14:modId xmlns:p14="http://schemas.microsoft.com/office/powerpoint/2010/main" val="111709875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Arrow: Right 3">
            <a:extLst>
              <a:ext uri="{FF2B5EF4-FFF2-40B4-BE49-F238E27FC236}">
                <a16:creationId xmlns:a16="http://schemas.microsoft.com/office/drawing/2014/main" id="{0070C46D-C26B-4359-8720-7E94416FF57A}"/>
              </a:ext>
            </a:extLst>
          </p:cNvPr>
          <p:cNvSpPr/>
          <p:nvPr/>
        </p:nvSpPr>
        <p:spPr>
          <a:xfrm>
            <a:off x="3368841" y="3182745"/>
            <a:ext cx="721895" cy="35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02FACC98-7497-4716-9E8D-80A2B43EDA2D}"/>
              </a:ext>
            </a:extLst>
          </p:cNvPr>
          <p:cNvSpPr/>
          <p:nvPr/>
        </p:nvSpPr>
        <p:spPr>
          <a:xfrm>
            <a:off x="5735052" y="3182745"/>
            <a:ext cx="721895" cy="35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1726AB44-031D-4997-8737-1A27CEB32C2F}"/>
              </a:ext>
            </a:extLst>
          </p:cNvPr>
          <p:cNvSpPr/>
          <p:nvPr/>
        </p:nvSpPr>
        <p:spPr>
          <a:xfrm>
            <a:off x="8183478" y="3182745"/>
            <a:ext cx="721895" cy="357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6044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children walking on a street&#10;&#10;Description automatically generated with low confidence">
            <a:extLst>
              <a:ext uri="{FF2B5EF4-FFF2-40B4-BE49-F238E27FC236}">
                <a16:creationId xmlns:a16="http://schemas.microsoft.com/office/drawing/2014/main" id="{755EF880-7D0E-4426-8203-4C4E26DC8C9C}"/>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b="-1"/>
          <a:stretch/>
        </p:blipFill>
        <p:spPr>
          <a:xfrm>
            <a:off x="788048" y="1208931"/>
            <a:ext cx="6796667" cy="4820393"/>
          </a:xfrm>
          <a:prstGeom prst="rect">
            <a:avLst/>
          </a:prstGeom>
        </p:spPr>
      </p:pic>
      <p:sp>
        <p:nvSpPr>
          <p:cNvPr id="3" name="Content Placeholder 2">
            <a:extLst>
              <a:ext uri="{FF2B5EF4-FFF2-40B4-BE49-F238E27FC236}">
                <a16:creationId xmlns:a16="http://schemas.microsoft.com/office/drawing/2014/main" id="{F60DF18D-7D86-433A-BFD1-5CDF568DA706}"/>
              </a:ext>
            </a:extLst>
          </p:cNvPr>
          <p:cNvSpPr>
            <a:spLocks noGrp="1"/>
          </p:cNvSpPr>
          <p:nvPr>
            <p:ph idx="1"/>
          </p:nvPr>
        </p:nvSpPr>
        <p:spPr>
          <a:xfrm>
            <a:off x="8158163" y="2728914"/>
            <a:ext cx="3498195" cy="1885949"/>
          </a:xfrm>
        </p:spPr>
        <p:txBody>
          <a:bodyPr>
            <a:normAutofit/>
          </a:bodyPr>
          <a:lstStyle/>
          <a:p>
            <a:pPr marL="0" indent="0">
              <a:buNone/>
            </a:pPr>
            <a:r>
              <a:rPr lang="en-US" sz="3200">
                <a:solidFill>
                  <a:schemeClr val="tx1">
                    <a:lumMod val="85000"/>
                    <a:lumOff val="15000"/>
                  </a:schemeClr>
                </a:solidFill>
                <a:ea typeface="Segoe UI Symbol" panose="020B0502040204020203" pitchFamily="34" charset="0"/>
              </a:rPr>
              <a:t>How can you determine if your crush is already in a relationship?</a:t>
            </a:r>
            <a:endParaRPr lang="en-US" sz="3200" dirty="0">
              <a:solidFill>
                <a:schemeClr val="tx1">
                  <a:lumMod val="85000"/>
                  <a:lumOff val="15000"/>
                </a:schemeClr>
              </a:solidFill>
            </a:endParaRPr>
          </a:p>
        </p:txBody>
      </p:sp>
    </p:spTree>
    <p:extLst>
      <p:ext uri="{BB962C8B-B14F-4D97-AF65-F5344CB8AC3E}">
        <p14:creationId xmlns:p14="http://schemas.microsoft.com/office/powerpoint/2010/main" val="3396691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5A5E1-D5C8-4545-B323-A3938CFAD55F}"/>
              </a:ext>
            </a:extLst>
          </p:cNvPr>
          <p:cNvSpPr>
            <a:spLocks noGrp="1"/>
          </p:cNvSpPr>
          <p:nvPr>
            <p:ph type="title"/>
          </p:nvPr>
        </p:nvSpPr>
        <p:spPr/>
        <p:txBody>
          <a:bodyPr>
            <a:normAutofit/>
          </a:bodyPr>
          <a:lstStyle/>
          <a:p>
            <a:r>
              <a:rPr lang="en-HK" dirty="0"/>
              <a:t>Uncertainty reduction strategies </a:t>
            </a:r>
            <a:br>
              <a:rPr lang="en-HK" dirty="0"/>
            </a:br>
            <a:r>
              <a:rPr lang="en-HK" dirty="0"/>
              <a:t>(aka. information seeking strategies)</a:t>
            </a:r>
            <a:endParaRPr lang="en-US" dirty="0"/>
          </a:p>
        </p:txBody>
      </p:sp>
      <p:graphicFrame>
        <p:nvGraphicFramePr>
          <p:cNvPr id="6" name="Content Placeholder 3">
            <a:extLst>
              <a:ext uri="{FF2B5EF4-FFF2-40B4-BE49-F238E27FC236}">
                <a16:creationId xmlns:a16="http://schemas.microsoft.com/office/drawing/2014/main" id="{7B67E56B-7AF7-F2EB-015A-3FFEBCD1233B}"/>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275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C46E02-AC54-842A-B7EE-3963F96F7A3D}"/>
              </a:ext>
            </a:extLst>
          </p:cNvPr>
          <p:cNvSpPr>
            <a:spLocks noGrp="1"/>
          </p:cNvSpPr>
          <p:nvPr>
            <p:ph idx="1"/>
          </p:nvPr>
        </p:nvSpPr>
        <p:spPr>
          <a:xfrm>
            <a:off x="838200" y="2659063"/>
            <a:ext cx="10515600" cy="2243137"/>
          </a:xfrm>
        </p:spPr>
        <p:txBody>
          <a:bodyPr>
            <a:normAutofit/>
          </a:bodyPr>
          <a:lstStyle/>
          <a:p>
            <a:pPr marL="0" indent="0">
              <a:buNone/>
            </a:pPr>
            <a:r>
              <a:rPr lang="en-US" sz="3600" dirty="0"/>
              <a:t>Which strategies are less reliable? </a:t>
            </a:r>
            <a:br>
              <a:rPr lang="en-US" sz="3600" dirty="0"/>
            </a:br>
            <a:br>
              <a:rPr lang="en-US" sz="3600" dirty="0"/>
            </a:br>
            <a:r>
              <a:rPr lang="en-US" sz="3600" dirty="0"/>
              <a:t>Recall warranting, i.e., users will privilege information that is not subject to manipulation</a:t>
            </a:r>
          </a:p>
        </p:txBody>
      </p:sp>
    </p:spTree>
    <p:extLst>
      <p:ext uri="{BB962C8B-B14F-4D97-AF65-F5344CB8AC3E}">
        <p14:creationId xmlns:p14="http://schemas.microsoft.com/office/powerpoint/2010/main" val="4082985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602D3-6D42-46BB-846F-ED95B3A17198}"/>
              </a:ext>
            </a:extLst>
          </p:cNvPr>
          <p:cNvSpPr>
            <a:spLocks noGrp="1"/>
          </p:cNvSpPr>
          <p:nvPr>
            <p:ph type="title"/>
          </p:nvPr>
        </p:nvSpPr>
        <p:spPr>
          <a:xfrm>
            <a:off x="838200" y="548005"/>
            <a:ext cx="10515600" cy="1325563"/>
          </a:xfrm>
        </p:spPr>
        <p:txBody>
          <a:bodyPr/>
          <a:lstStyle/>
          <a:p>
            <a:r>
              <a:rPr lang="en-US" dirty="0"/>
              <a:t>Is uncertainty always bad?</a:t>
            </a:r>
          </a:p>
        </p:txBody>
      </p:sp>
      <p:sp>
        <p:nvSpPr>
          <p:cNvPr id="3" name="Content Placeholder 2">
            <a:extLst>
              <a:ext uri="{FF2B5EF4-FFF2-40B4-BE49-F238E27FC236}">
                <a16:creationId xmlns:a16="http://schemas.microsoft.com/office/drawing/2014/main" id="{0581EDD8-A8AC-4F48-A988-7122AE948AF4}"/>
              </a:ext>
            </a:extLst>
          </p:cNvPr>
          <p:cNvSpPr>
            <a:spLocks noGrp="1"/>
          </p:cNvSpPr>
          <p:nvPr>
            <p:ph idx="1"/>
          </p:nvPr>
        </p:nvSpPr>
        <p:spPr>
          <a:xfrm>
            <a:off x="838200" y="2008505"/>
            <a:ext cx="10515600" cy="4351338"/>
          </a:xfrm>
        </p:spPr>
        <p:txBody>
          <a:bodyPr/>
          <a:lstStyle/>
          <a:p>
            <a:r>
              <a:rPr lang="en-US" dirty="0"/>
              <a:t>Uncertainty may reduce negative emotions</a:t>
            </a:r>
          </a:p>
          <a:p>
            <a:r>
              <a:rPr lang="en-US" dirty="0"/>
              <a:t>Uncertainty may produce positive emotions</a:t>
            </a:r>
          </a:p>
        </p:txBody>
      </p:sp>
    </p:spTree>
    <p:extLst>
      <p:ext uri="{BB962C8B-B14F-4D97-AF65-F5344CB8AC3E}">
        <p14:creationId xmlns:p14="http://schemas.microsoft.com/office/powerpoint/2010/main" val="2135117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C1B552F2-3D98-4E21-A25E-549DA56CD496}"/>
              </a:ext>
            </a:extLst>
          </p:cNvPr>
          <p:cNvSpPr>
            <a:spLocks noGrp="1"/>
          </p:cNvSpPr>
          <p:nvPr>
            <p:ph type="title"/>
          </p:nvPr>
        </p:nvSpPr>
        <p:spPr>
          <a:xfrm>
            <a:off x="2232252" y="633046"/>
            <a:ext cx="4463623" cy="1314996"/>
          </a:xfrm>
        </p:spPr>
        <p:txBody>
          <a:bodyPr anchor="b">
            <a:normAutofit/>
          </a:bodyPr>
          <a:lstStyle/>
          <a:p>
            <a:r>
              <a:rPr lang="en-US" sz="3100"/>
              <a:t>Uncertainty management theory (Brashers, 2001)</a:t>
            </a:r>
          </a:p>
        </p:txBody>
      </p:sp>
      <p:sp>
        <p:nvSpPr>
          <p:cNvPr id="13" name="Freeform: Shape 12">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E57F34F8-C72F-40AF-9A6C-F1E10537C3F1}"/>
              </a:ext>
            </a:extLst>
          </p:cNvPr>
          <p:cNvSpPr>
            <a:spLocks noGrp="1"/>
          </p:cNvSpPr>
          <p:nvPr>
            <p:ph idx="1"/>
          </p:nvPr>
        </p:nvSpPr>
        <p:spPr>
          <a:xfrm>
            <a:off x="2232252" y="2125737"/>
            <a:ext cx="4463623" cy="4044463"/>
          </a:xfrm>
        </p:spPr>
        <p:txBody>
          <a:bodyPr>
            <a:normAutofit/>
          </a:bodyPr>
          <a:lstStyle/>
          <a:p>
            <a:r>
              <a:rPr lang="en-HK" dirty="0"/>
              <a:t>Uncertainty can be appraised as harmful, beneficial, or neutral</a:t>
            </a:r>
          </a:p>
          <a:p>
            <a:r>
              <a:rPr lang="en-HK" dirty="0"/>
              <a:t>Example: HIV/AIDS patients engaged in information </a:t>
            </a:r>
            <a:r>
              <a:rPr lang="en-HK" u="sng" dirty="0"/>
              <a:t>avoidance</a:t>
            </a:r>
          </a:p>
          <a:p>
            <a:r>
              <a:rPr lang="en-HK" dirty="0"/>
              <a:t>Desired level of uncertainty</a:t>
            </a:r>
          </a:p>
          <a:p>
            <a:endParaRPr lang="en-US" dirty="0"/>
          </a:p>
        </p:txBody>
      </p:sp>
      <p:sp>
        <p:nvSpPr>
          <p:cNvPr id="17" name="Freeform: Shape 16">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9" name="Freeform: Shape 18">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descr="Question mark on green pastel background">
            <a:extLst>
              <a:ext uri="{FF2B5EF4-FFF2-40B4-BE49-F238E27FC236}">
                <a16:creationId xmlns:a16="http://schemas.microsoft.com/office/drawing/2014/main" id="{4671845E-6C72-400C-5C2E-88A06D4E3947}"/>
              </a:ext>
            </a:extLst>
          </p:cNvPr>
          <p:cNvPicPr>
            <a:picLocks noChangeAspect="1"/>
          </p:cNvPicPr>
          <p:nvPr/>
        </p:nvPicPr>
        <p:blipFill rotWithShape="1">
          <a:blip r:embed="rId3"/>
          <a:srcRect l="25000" r="-1" b="-1"/>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23"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4" name="Freeform: Shape 23">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690726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BE08-51A2-4CCE-A95C-2B5776B53B94}"/>
              </a:ext>
            </a:extLst>
          </p:cNvPr>
          <p:cNvSpPr>
            <a:spLocks noGrp="1"/>
          </p:cNvSpPr>
          <p:nvPr>
            <p:ph type="title"/>
          </p:nvPr>
        </p:nvSpPr>
        <p:spPr>
          <a:xfrm>
            <a:off x="838200" y="2936875"/>
            <a:ext cx="10515600" cy="1325563"/>
          </a:xfrm>
        </p:spPr>
        <p:txBody>
          <a:bodyPr>
            <a:normAutofit/>
          </a:bodyPr>
          <a:lstStyle/>
          <a:p>
            <a:r>
              <a:rPr lang="en-US" dirty="0"/>
              <a:t>Case studies</a:t>
            </a:r>
          </a:p>
        </p:txBody>
      </p:sp>
    </p:spTree>
    <p:extLst>
      <p:ext uri="{BB962C8B-B14F-4D97-AF65-F5344CB8AC3E}">
        <p14:creationId xmlns:p14="http://schemas.microsoft.com/office/powerpoint/2010/main" val="2327581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aphic 185">
            <a:extLst>
              <a:ext uri="{FF2B5EF4-FFF2-40B4-BE49-F238E27FC236}">
                <a16:creationId xmlns:a16="http://schemas.microsoft.com/office/drawing/2014/main" id="{8A351602-3772-4279-B0D3-A523F6F6EA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0" name="Freeform: Shape 9">
              <a:extLst>
                <a:ext uri="{FF2B5EF4-FFF2-40B4-BE49-F238E27FC236}">
                  <a16:creationId xmlns:a16="http://schemas.microsoft.com/office/drawing/2014/main" id="{A5AAAA75-5FFB-4C07-AD4A-3146773E6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1" name="Freeform: Shape 10">
              <a:extLst>
                <a:ext uri="{FF2B5EF4-FFF2-40B4-BE49-F238E27FC236}">
                  <a16:creationId xmlns:a16="http://schemas.microsoft.com/office/drawing/2014/main" id="{1479895E-3847-44BB-8404-28F14219F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50E02F68-8149-4236-8D9F-6B550F78B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956FCAAB-F073-4561-A484-42C7DD10D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6CF8DB94-87A3-43E9-9BBB-301CFF0FB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sp>
        <p:nvSpPr>
          <p:cNvPr id="16" name="Oval 15">
            <a:extLst>
              <a:ext uri="{FF2B5EF4-FFF2-40B4-BE49-F238E27FC236}">
                <a16:creationId xmlns:a16="http://schemas.microsoft.com/office/drawing/2014/main" id="{7D6BF779-0B8C-4CC2-9268-9506AD0C5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useBgFill="1">
        <p:nvSpPr>
          <p:cNvPr id="18" name="Rectangle 17">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pic>
        <p:nvPicPr>
          <p:cNvPr id="1026" name="Picture 2" descr="How Does Google Search Work? The Google Algorithm Explained">
            <a:extLst>
              <a:ext uri="{FF2B5EF4-FFF2-40B4-BE49-F238E27FC236}">
                <a16:creationId xmlns:a16="http://schemas.microsoft.com/office/drawing/2014/main" id="{D64E5EB0-5C10-EBCB-CA2A-CFB71C7797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9297"/>
          <a:stretch/>
        </p:blipFill>
        <p:spPr bwMode="auto">
          <a:xfrm>
            <a:off x="4915450" y="0"/>
            <a:ext cx="727655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0F0C2E5D-B08F-4A99-9D15-59D33148F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47167"/>
            <a:ext cx="1861854" cy="717514"/>
            <a:chOff x="0" y="238499"/>
            <a:chExt cx="1861854" cy="717514"/>
          </a:xfrm>
        </p:grpSpPr>
        <p:grpSp>
          <p:nvGrpSpPr>
            <p:cNvPr id="21" name="Group 20">
              <a:extLst>
                <a:ext uri="{FF2B5EF4-FFF2-40B4-BE49-F238E27FC236}">
                  <a16:creationId xmlns:a16="http://schemas.microsoft.com/office/drawing/2014/main" id="{07B8F35D-FB89-4C40-8A99-E46DDA02132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solidFill>
              <a:srgbClr val="FFFFFF"/>
            </a:solidFill>
          </p:grpSpPr>
          <p:sp>
            <p:nvSpPr>
              <p:cNvPr id="25" name="Freeform: Shape 24">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grpSp>
          <p:nvGrpSpPr>
            <p:cNvPr id="22" name="Group 21">
              <a:extLst>
                <a:ext uri="{FF2B5EF4-FFF2-40B4-BE49-F238E27FC236}">
                  <a16:creationId xmlns:a16="http://schemas.microsoft.com/office/drawing/2014/main" id="{55FC669C-CD13-4F4A-AFFF-4029D34F2DB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238499"/>
              <a:ext cx="1861854" cy="717514"/>
              <a:chOff x="0" y="604259"/>
              <a:chExt cx="1861854" cy="717514"/>
            </a:xfrm>
            <a:solidFill>
              <a:schemeClr val="tx1"/>
            </a:solidFill>
          </p:grpSpPr>
          <p:sp>
            <p:nvSpPr>
              <p:cNvPr id="23" name="Freeform: Shape 22">
                <a:extLst>
                  <a:ext uri="{FF2B5EF4-FFF2-40B4-BE49-F238E27FC236}">
                    <a16:creationId xmlns:a16="http://schemas.microsoft.com/office/drawing/2014/main" id="{6617B5AA-8A0D-41D3-B2EF-8BC53E3B7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604259"/>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572EB308-9A4E-4332-A908-22F2978D7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043994"/>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grpSp>
      <p:grpSp>
        <p:nvGrpSpPr>
          <p:cNvPr id="28" name="Group 27">
            <a:extLst>
              <a:ext uri="{FF2B5EF4-FFF2-40B4-BE49-F238E27FC236}">
                <a16:creationId xmlns:a16="http://schemas.microsoft.com/office/drawing/2014/main" id="{BB7A900B-006E-46F4-831E-5AABAEE45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4492" y="1103896"/>
            <a:ext cx="4965868" cy="4598497"/>
            <a:chOff x="1674895" y="1345036"/>
            <a:chExt cx="5428610" cy="4210939"/>
          </a:xfrm>
        </p:grpSpPr>
        <p:sp>
          <p:nvSpPr>
            <p:cNvPr id="29" name="Rectangle 28">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30" name="Rectangle 29">
              <a:extLst>
                <a:ext uri="{FF2B5EF4-FFF2-40B4-BE49-F238E27FC236}">
                  <a16:creationId xmlns:a16="http://schemas.microsoft.com/office/drawing/2014/main" id="{DAD33695-C117-4AEE-9AF5-65F13C6CC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grpSp>
      <p:sp useBgFill="1">
        <p:nvSpPr>
          <p:cNvPr id="32" name="Rectangle 31">
            <a:extLst>
              <a:ext uri="{FF2B5EF4-FFF2-40B4-BE49-F238E27FC236}">
                <a16:creationId xmlns:a16="http://schemas.microsoft.com/office/drawing/2014/main" id="{90A7F83A-9728-4030-8E45-9ECF1AB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39" y="1073782"/>
            <a:ext cx="4860256" cy="452926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2" name="Title 1">
            <a:extLst>
              <a:ext uri="{FF2B5EF4-FFF2-40B4-BE49-F238E27FC236}">
                <a16:creationId xmlns:a16="http://schemas.microsoft.com/office/drawing/2014/main" id="{73560C5F-4D96-4D98-AD70-BF227A6DAF49}"/>
              </a:ext>
            </a:extLst>
          </p:cNvPr>
          <p:cNvSpPr>
            <a:spLocks noGrp="1"/>
          </p:cNvSpPr>
          <p:nvPr>
            <p:ph type="title"/>
          </p:nvPr>
        </p:nvSpPr>
        <p:spPr>
          <a:xfrm>
            <a:off x="821846" y="1442270"/>
            <a:ext cx="4324642" cy="3792289"/>
          </a:xfrm>
        </p:spPr>
        <p:txBody>
          <a:bodyPr vert="horz" lIns="91440" tIns="45720" rIns="91440" bIns="45720" rtlCol="0" anchor="ctr">
            <a:normAutofit/>
          </a:bodyPr>
          <a:lstStyle/>
          <a:p>
            <a:pPr algn="ctr"/>
            <a:r>
              <a:rPr lang="en-US" sz="3600" b="1" kern="0" dirty="0">
                <a:ea typeface="Source Sans Pro SemiBold" panose="020B0603030403020204" pitchFamily="34" charset="0"/>
              </a:rPr>
              <a:t>(1) How are privacy concerns related to uncertainty reduction?</a:t>
            </a:r>
          </a:p>
        </p:txBody>
      </p:sp>
      <p:sp>
        <p:nvSpPr>
          <p:cNvPr id="34" name="Freeform: Shape 33">
            <a:extLst>
              <a:ext uri="{FF2B5EF4-FFF2-40B4-BE49-F238E27FC236}">
                <a16:creationId xmlns:a16="http://schemas.microsoft.com/office/drawing/2014/main" id="{A2B5CBEA-F125-49B6-8335-227C325B1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sp>
        <p:nvSpPr>
          <p:cNvPr id="36" name="Freeform: Shape 35">
            <a:extLst>
              <a:ext uri="{FF2B5EF4-FFF2-40B4-BE49-F238E27FC236}">
                <a16:creationId xmlns:a16="http://schemas.microsoft.com/office/drawing/2014/main" id="{FEA9761C-7BB2-45E5-A5DB-A0B353624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0790119" y="0"/>
            <a:ext cx="1401881" cy="1345036"/>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sp>
        <p:nvSpPr>
          <p:cNvPr id="38" name="Oval 37">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40" name="Oval 39">
            <a:extLst>
              <a:ext uri="{FF2B5EF4-FFF2-40B4-BE49-F238E27FC236}">
                <a16:creationId xmlns:a16="http://schemas.microsoft.com/office/drawing/2014/main" id="{8E44D629-6B8E-4D88-A77E-149C0ED03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grpSp>
        <p:nvGrpSpPr>
          <p:cNvPr id="42"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rgbClr val="FFFFFF"/>
          </a:solidFill>
        </p:grpSpPr>
        <p:sp>
          <p:nvSpPr>
            <p:cNvPr id="43" name="Freeform: Shape 42">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4" name="Freeform: Shape 43">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5" name="Freeform: Shape 44">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6" name="Freeform: Shape 45">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Freeform: Shape 46">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grpSp>
        <p:nvGrpSpPr>
          <p:cNvPr id="49" name="Graphic 185">
            <a:extLst>
              <a:ext uri="{FF2B5EF4-FFF2-40B4-BE49-F238E27FC236}">
                <a16:creationId xmlns:a16="http://schemas.microsoft.com/office/drawing/2014/main" id="{8B6BCBAB-41A5-4D6D-8C9B-55E3AA6FCC2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03907" y="5801515"/>
            <a:ext cx="1054466" cy="469689"/>
            <a:chOff x="9841624" y="4115729"/>
            <a:chExt cx="602169" cy="268223"/>
          </a:xfrm>
          <a:solidFill>
            <a:schemeClr val="tx1"/>
          </a:solidFill>
        </p:grpSpPr>
        <p:sp>
          <p:nvSpPr>
            <p:cNvPr id="50" name="Freeform: Shape 49">
              <a:extLst>
                <a:ext uri="{FF2B5EF4-FFF2-40B4-BE49-F238E27FC236}">
                  <a16:creationId xmlns:a16="http://schemas.microsoft.com/office/drawing/2014/main" id="{755217F1-B506-4443-A399-CFFA441CD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1" name="Freeform: Shape 50">
              <a:extLst>
                <a:ext uri="{FF2B5EF4-FFF2-40B4-BE49-F238E27FC236}">
                  <a16:creationId xmlns:a16="http://schemas.microsoft.com/office/drawing/2014/main" id="{CB8C0F31-7A0C-4630-A379-0B4719A1F7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2" name="Freeform: Shape 51">
              <a:extLst>
                <a:ext uri="{FF2B5EF4-FFF2-40B4-BE49-F238E27FC236}">
                  <a16:creationId xmlns:a16="http://schemas.microsoft.com/office/drawing/2014/main" id="{12D43873-56D9-4AC1-AB59-A1E78D679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3" name="Freeform: Shape 52">
              <a:extLst>
                <a:ext uri="{FF2B5EF4-FFF2-40B4-BE49-F238E27FC236}">
                  <a16:creationId xmlns:a16="http://schemas.microsoft.com/office/drawing/2014/main" id="{1B2197D5-22E1-47CC-83CF-9E64CCD57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4" name="Freeform: Shape 53">
              <a:extLst>
                <a:ext uri="{FF2B5EF4-FFF2-40B4-BE49-F238E27FC236}">
                  <a16:creationId xmlns:a16="http://schemas.microsoft.com/office/drawing/2014/main" id="{05DC5D97-506B-47F6-B9A7-D8FA26C88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spTree>
    <p:extLst>
      <p:ext uri="{BB962C8B-B14F-4D97-AF65-F5344CB8AC3E}">
        <p14:creationId xmlns:p14="http://schemas.microsoft.com/office/powerpoint/2010/main" val="2631152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49295-629B-44C2-9F34-DE59DFCB7F71}"/>
              </a:ext>
            </a:extLst>
          </p:cNvPr>
          <p:cNvSpPr>
            <a:spLocks noGrp="1"/>
          </p:cNvSpPr>
          <p:nvPr>
            <p:ph idx="1"/>
          </p:nvPr>
        </p:nvSpPr>
        <p:spPr>
          <a:xfrm>
            <a:off x="8175812" y="2681753"/>
            <a:ext cx="3668526" cy="1975410"/>
          </a:xfrm>
        </p:spPr>
        <p:txBody>
          <a:bodyPr>
            <a:normAutofit/>
          </a:bodyPr>
          <a:lstStyle/>
          <a:p>
            <a:r>
              <a:rPr lang="en-HK" dirty="0"/>
              <a:t>Privacy concerns</a:t>
            </a:r>
          </a:p>
          <a:p>
            <a:pPr marL="514350" lvl="1" indent="-514350">
              <a:buFont typeface="+mj-lt"/>
              <a:buAutoNum type="arabicPeriod"/>
            </a:pPr>
            <a:r>
              <a:rPr lang="en-HK" sz="2800" dirty="0"/>
              <a:t>Personal safety</a:t>
            </a:r>
          </a:p>
          <a:p>
            <a:pPr marL="514350" lvl="1" indent="-514350">
              <a:buFont typeface="+mj-lt"/>
              <a:buAutoNum type="arabicPeriod"/>
            </a:pPr>
            <a:r>
              <a:rPr lang="en-HK" sz="2800" dirty="0"/>
              <a:t>Misrepresentation</a:t>
            </a:r>
          </a:p>
          <a:p>
            <a:pPr marL="514350" lvl="1" indent="-514350">
              <a:buFont typeface="+mj-lt"/>
              <a:buAutoNum type="arabicPeriod"/>
            </a:pPr>
            <a:r>
              <a:rPr lang="en-HK" sz="2800" dirty="0"/>
              <a:t>Recognition</a:t>
            </a:r>
          </a:p>
        </p:txBody>
      </p:sp>
      <p:pic>
        <p:nvPicPr>
          <p:cNvPr id="5" name="Picture 4">
            <a:extLst>
              <a:ext uri="{FF2B5EF4-FFF2-40B4-BE49-F238E27FC236}">
                <a16:creationId xmlns:a16="http://schemas.microsoft.com/office/drawing/2014/main" id="{27BB1363-E779-4926-8C4A-BE0C0624DC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66164" y="1824977"/>
            <a:ext cx="7584141" cy="3688963"/>
          </a:xfrm>
          <a:prstGeom prst="rect">
            <a:avLst/>
          </a:prstGeom>
        </p:spPr>
      </p:pic>
    </p:spTree>
    <p:extLst>
      <p:ext uri="{BB962C8B-B14F-4D97-AF65-F5344CB8AC3E}">
        <p14:creationId xmlns:p14="http://schemas.microsoft.com/office/powerpoint/2010/main" val="462516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49295-629B-44C2-9F34-DE59DFCB7F71}"/>
              </a:ext>
            </a:extLst>
          </p:cNvPr>
          <p:cNvSpPr>
            <a:spLocks noGrp="1"/>
          </p:cNvSpPr>
          <p:nvPr>
            <p:ph sz="half" idx="1"/>
          </p:nvPr>
        </p:nvSpPr>
        <p:spPr>
          <a:xfrm>
            <a:off x="838200" y="1525587"/>
            <a:ext cx="5181600" cy="4351338"/>
          </a:xfrm>
        </p:spPr>
        <p:txBody>
          <a:bodyPr>
            <a:noAutofit/>
          </a:bodyPr>
          <a:lstStyle/>
          <a:p>
            <a:pPr marL="4763" lvl="1" indent="0">
              <a:buNone/>
            </a:pPr>
            <a:r>
              <a:rPr lang="en-US" sz="2800" dirty="0">
                <a:ea typeface="Segoe UI Symbol" panose="020B0502040204020203" pitchFamily="34" charset="0"/>
              </a:rPr>
              <a:t>Hypothesis 1:</a:t>
            </a:r>
            <a:br>
              <a:rPr lang="en-US" sz="2800" dirty="0">
                <a:ea typeface="Segoe UI Symbol" panose="020B0502040204020203" pitchFamily="34" charset="0"/>
              </a:rPr>
            </a:br>
            <a:r>
              <a:rPr lang="en-HK" sz="2800" dirty="0"/>
              <a:t>Greater privacy concerns </a:t>
            </a:r>
            <a:r>
              <a:rPr lang="en-HK" sz="2800" dirty="0">
                <a:sym typeface="Wingdings" panose="05000000000000000000" pitchFamily="2" charset="2"/>
              </a:rPr>
              <a:t> </a:t>
            </a:r>
            <a:br>
              <a:rPr lang="en-HK" sz="2800" dirty="0">
                <a:sym typeface="Wingdings" panose="05000000000000000000" pitchFamily="2" charset="2"/>
              </a:rPr>
            </a:br>
            <a:r>
              <a:rPr lang="en-HK" sz="2800" dirty="0">
                <a:sym typeface="Wingdings" panose="05000000000000000000" pitchFamily="2" charset="2"/>
              </a:rPr>
              <a:t>( more / less ) use of uncertainty reduction strategies</a:t>
            </a:r>
          </a:p>
          <a:p>
            <a:pPr marL="4763" lvl="1" indent="0">
              <a:buNone/>
            </a:pPr>
            <a:endParaRPr lang="en-HK" sz="2800" dirty="0">
              <a:sym typeface="Wingdings" panose="05000000000000000000" pitchFamily="2" charset="2"/>
            </a:endParaRPr>
          </a:p>
          <a:p>
            <a:pPr marL="4763" lvl="1" indent="0">
              <a:buNone/>
            </a:pPr>
            <a:r>
              <a:rPr lang="en-US" sz="2800" dirty="0">
                <a:ea typeface="Segoe UI Symbol" panose="020B0502040204020203" pitchFamily="34" charset="0"/>
              </a:rPr>
              <a:t>Hypothesis 2: </a:t>
            </a:r>
          </a:p>
          <a:p>
            <a:pPr marL="4763" lvl="1" indent="0">
              <a:buNone/>
            </a:pPr>
            <a:r>
              <a:rPr lang="en-HK" sz="2800" dirty="0"/>
              <a:t>Greater </a:t>
            </a:r>
            <a:r>
              <a:rPr lang="en-HK" sz="2800" dirty="0">
                <a:sym typeface="Wingdings" panose="05000000000000000000" pitchFamily="2" charset="2"/>
              </a:rPr>
              <a:t>use of uncertainty reduction strategies  </a:t>
            </a:r>
            <a:br>
              <a:rPr lang="en-HK" sz="2800" dirty="0">
                <a:sym typeface="Wingdings" panose="05000000000000000000" pitchFamily="2" charset="2"/>
              </a:rPr>
            </a:br>
            <a:r>
              <a:rPr lang="en-HK" sz="2800" dirty="0">
                <a:sym typeface="Wingdings" panose="05000000000000000000" pitchFamily="2" charset="2"/>
              </a:rPr>
              <a:t>( more / less ) self-disclosure</a:t>
            </a:r>
            <a:endParaRPr lang="en-HK" sz="2800" dirty="0"/>
          </a:p>
        </p:txBody>
      </p:sp>
      <p:sp>
        <p:nvSpPr>
          <p:cNvPr id="4" name="Content Placeholder 3">
            <a:extLst>
              <a:ext uri="{FF2B5EF4-FFF2-40B4-BE49-F238E27FC236}">
                <a16:creationId xmlns:a16="http://schemas.microsoft.com/office/drawing/2014/main" id="{486BCA8F-A313-D699-8CC0-91C5A10AB612}"/>
              </a:ext>
            </a:extLst>
          </p:cNvPr>
          <p:cNvSpPr>
            <a:spLocks noGrp="1"/>
          </p:cNvSpPr>
          <p:nvPr>
            <p:ph sz="half" idx="2"/>
          </p:nvPr>
        </p:nvSpPr>
        <p:spPr>
          <a:xfrm>
            <a:off x="6172200" y="568323"/>
            <a:ext cx="5181600" cy="5961063"/>
          </a:xfrm>
          <a:solidFill>
            <a:schemeClr val="accent2">
              <a:lumMod val="20000"/>
              <a:lumOff val="80000"/>
            </a:schemeClr>
          </a:solidFill>
        </p:spPr>
        <p:txBody>
          <a:bodyPr>
            <a:noAutofit/>
          </a:bodyPr>
          <a:lstStyle/>
          <a:p>
            <a:pPr algn="l"/>
            <a:r>
              <a:rPr lang="en-US" sz="2400" b="0" i="0" u="none" strike="noStrike" baseline="0" dirty="0">
                <a:solidFill>
                  <a:schemeClr val="bg1"/>
                </a:solidFill>
              </a:rPr>
              <a:t>(a) “‘Googling’ prospective dates (e.g., searching for their name online to verify personal information or find out more about someone’s background)”—</a:t>
            </a:r>
            <a:r>
              <a:rPr lang="en-US" sz="2400" b="0" i="1" u="none" strike="noStrike" baseline="0" dirty="0">
                <a:solidFill>
                  <a:schemeClr val="bg1"/>
                </a:solidFill>
              </a:rPr>
              <a:t>extractive</a:t>
            </a:r>
            <a:r>
              <a:rPr lang="en-US" sz="2400" b="0" i="0" u="none" strike="noStrike" baseline="0" dirty="0">
                <a:solidFill>
                  <a:schemeClr val="bg1"/>
                </a:solidFill>
              </a:rPr>
              <a:t>; </a:t>
            </a:r>
          </a:p>
          <a:p>
            <a:pPr algn="l"/>
            <a:r>
              <a:rPr lang="en-US" sz="2400" b="0" i="0" u="none" strike="noStrike" baseline="0" dirty="0">
                <a:solidFill>
                  <a:schemeClr val="bg1"/>
                </a:solidFill>
              </a:rPr>
              <a:t>(b) “saving emails/IM chats to check for consistency”—</a:t>
            </a:r>
            <a:r>
              <a:rPr lang="en-US" sz="2400" b="0" i="1" u="none" strike="noStrike" baseline="0" dirty="0">
                <a:solidFill>
                  <a:schemeClr val="bg1"/>
                </a:solidFill>
              </a:rPr>
              <a:t>active</a:t>
            </a:r>
            <a:r>
              <a:rPr lang="en-US" sz="2400" b="0" i="0" u="none" strike="noStrike" baseline="0" dirty="0">
                <a:solidFill>
                  <a:schemeClr val="bg1"/>
                </a:solidFill>
              </a:rPr>
              <a:t>; </a:t>
            </a:r>
            <a:endParaRPr lang="en-US" sz="2400" dirty="0">
              <a:solidFill>
                <a:schemeClr val="bg1"/>
              </a:solidFill>
            </a:endParaRPr>
          </a:p>
          <a:p>
            <a:pPr algn="l"/>
            <a:r>
              <a:rPr lang="en-US" sz="2400" b="0" i="0" u="none" strike="noStrike" baseline="0" dirty="0">
                <a:solidFill>
                  <a:schemeClr val="bg1"/>
                </a:solidFill>
              </a:rPr>
              <a:t>(c) “comparing photos to written/demographic description in profile”—</a:t>
            </a:r>
            <a:r>
              <a:rPr lang="en-US" sz="2400" b="0" i="1" u="none" strike="noStrike" baseline="0" dirty="0">
                <a:solidFill>
                  <a:schemeClr val="bg1"/>
                </a:solidFill>
              </a:rPr>
              <a:t>passive</a:t>
            </a:r>
            <a:r>
              <a:rPr lang="en-US" sz="2400" b="0" i="0" u="none" strike="noStrike" baseline="0" dirty="0">
                <a:solidFill>
                  <a:schemeClr val="bg1"/>
                </a:solidFill>
              </a:rPr>
              <a:t>; </a:t>
            </a:r>
          </a:p>
          <a:p>
            <a:pPr algn="l"/>
            <a:r>
              <a:rPr lang="en-US" sz="2400" b="0" i="0" u="none" strike="noStrike" baseline="0" dirty="0">
                <a:solidFill>
                  <a:schemeClr val="bg1"/>
                </a:solidFill>
              </a:rPr>
              <a:t>(d) “asking follow-up questions in email or IM to see if they are who they say they are”—</a:t>
            </a:r>
            <a:r>
              <a:rPr lang="en-US" sz="2400" b="0" i="1" u="none" strike="noStrike" baseline="0" dirty="0">
                <a:solidFill>
                  <a:schemeClr val="bg1"/>
                </a:solidFill>
              </a:rPr>
              <a:t>interactive</a:t>
            </a:r>
            <a:r>
              <a:rPr lang="en-US" sz="2400" b="0" i="0" u="none" strike="noStrike" baseline="0" dirty="0">
                <a:solidFill>
                  <a:schemeClr val="bg1"/>
                </a:solidFill>
              </a:rPr>
              <a:t>;</a:t>
            </a:r>
          </a:p>
          <a:p>
            <a:pPr algn="l"/>
            <a:r>
              <a:rPr lang="en-US" sz="2400" b="0" i="0" u="none" strike="noStrike" baseline="0" dirty="0">
                <a:solidFill>
                  <a:schemeClr val="bg1"/>
                </a:solidFill>
              </a:rPr>
              <a:t>(e) “asking questions on the phone about what they said in a profile, email or IM”—</a:t>
            </a:r>
            <a:r>
              <a:rPr lang="en-US" sz="2400" dirty="0">
                <a:solidFill>
                  <a:schemeClr val="bg1"/>
                </a:solidFill>
              </a:rPr>
              <a:t> </a:t>
            </a:r>
            <a:r>
              <a:rPr lang="en-US" sz="2400" b="0" i="1" u="none" strike="noStrike" baseline="0" dirty="0">
                <a:solidFill>
                  <a:schemeClr val="bg1"/>
                </a:solidFill>
              </a:rPr>
              <a:t>interactive</a:t>
            </a:r>
            <a:r>
              <a:rPr lang="en-US" sz="2400" b="0" i="0" u="none" strike="noStrike" baseline="0" dirty="0">
                <a:solidFill>
                  <a:schemeClr val="bg1"/>
                </a:solidFill>
              </a:rPr>
              <a:t>.</a:t>
            </a:r>
            <a:endParaRPr lang="en-US" sz="2400" dirty="0">
              <a:solidFill>
                <a:schemeClr val="bg1"/>
              </a:solidFill>
            </a:endParaRPr>
          </a:p>
        </p:txBody>
      </p:sp>
    </p:spTree>
    <p:extLst>
      <p:ext uri="{BB962C8B-B14F-4D97-AF65-F5344CB8AC3E}">
        <p14:creationId xmlns:p14="http://schemas.microsoft.com/office/powerpoint/2010/main" val="4217929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49295-629B-44C2-9F34-DE59DFCB7F71}"/>
              </a:ext>
            </a:extLst>
          </p:cNvPr>
          <p:cNvSpPr>
            <a:spLocks noGrp="1"/>
          </p:cNvSpPr>
          <p:nvPr>
            <p:ph idx="1"/>
          </p:nvPr>
        </p:nvSpPr>
        <p:spPr>
          <a:xfrm>
            <a:off x="838200" y="2008505"/>
            <a:ext cx="10515600" cy="4351338"/>
          </a:xfrm>
        </p:spPr>
        <p:txBody>
          <a:bodyPr>
            <a:normAutofit/>
          </a:bodyPr>
          <a:lstStyle/>
          <a:p>
            <a:r>
              <a:rPr lang="en-HK" sz="3200" dirty="0"/>
              <a:t>Both hypotheses supported: Privacy concerns </a:t>
            </a:r>
            <a:r>
              <a:rPr lang="en-HK" sz="3200" dirty="0">
                <a:sym typeface="Wingdings" panose="05000000000000000000" pitchFamily="2" charset="2"/>
              </a:rPr>
              <a:t> </a:t>
            </a:r>
            <a:r>
              <a:rPr lang="en-HK" sz="3200" dirty="0"/>
              <a:t>uncertainty reduction strategies </a:t>
            </a:r>
            <a:r>
              <a:rPr lang="en-HK" sz="3200" dirty="0">
                <a:sym typeface="Wingdings" panose="05000000000000000000" pitchFamily="2" charset="2"/>
              </a:rPr>
              <a:t></a:t>
            </a:r>
            <a:r>
              <a:rPr lang="en-HK" sz="3200" dirty="0"/>
              <a:t> self-disclosure</a:t>
            </a:r>
          </a:p>
          <a:p>
            <a:r>
              <a:rPr lang="en-HK" sz="3200" dirty="0"/>
              <a:t>Open-ended question: Interactive was the most common</a:t>
            </a:r>
          </a:p>
        </p:txBody>
      </p:sp>
    </p:spTree>
    <p:extLst>
      <p:ext uri="{BB962C8B-B14F-4D97-AF65-F5344CB8AC3E}">
        <p14:creationId xmlns:p14="http://schemas.microsoft.com/office/powerpoint/2010/main" val="823667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aphic 185">
            <a:extLst>
              <a:ext uri="{FF2B5EF4-FFF2-40B4-BE49-F238E27FC236}">
                <a16:creationId xmlns:a16="http://schemas.microsoft.com/office/drawing/2014/main" id="{8A351602-3772-4279-B0D3-A523F6F6EA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99576" y="5987064"/>
            <a:ext cx="1054466" cy="469689"/>
            <a:chOff x="9841624" y="4115729"/>
            <a:chExt cx="602169" cy="268223"/>
          </a:xfrm>
          <a:solidFill>
            <a:schemeClr val="tx1"/>
          </a:solidFill>
        </p:grpSpPr>
        <p:sp>
          <p:nvSpPr>
            <p:cNvPr id="12" name="Freeform: Shape 11">
              <a:extLst>
                <a:ext uri="{FF2B5EF4-FFF2-40B4-BE49-F238E27FC236}">
                  <a16:creationId xmlns:a16="http://schemas.microsoft.com/office/drawing/2014/main" id="{A5AAAA75-5FFB-4C07-AD4A-3146773E6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3" name="Freeform: Shape 12">
              <a:extLst>
                <a:ext uri="{FF2B5EF4-FFF2-40B4-BE49-F238E27FC236}">
                  <a16:creationId xmlns:a16="http://schemas.microsoft.com/office/drawing/2014/main" id="{1479895E-3847-44BB-8404-28F14219F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4" name="Freeform: Shape 13">
              <a:extLst>
                <a:ext uri="{FF2B5EF4-FFF2-40B4-BE49-F238E27FC236}">
                  <a16:creationId xmlns:a16="http://schemas.microsoft.com/office/drawing/2014/main" id="{50E02F68-8149-4236-8D9F-6B550F78B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956FCAAB-F073-4561-A484-42C7DD10D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6" name="Freeform: Shape 15">
              <a:extLst>
                <a:ext uri="{FF2B5EF4-FFF2-40B4-BE49-F238E27FC236}">
                  <a16:creationId xmlns:a16="http://schemas.microsoft.com/office/drawing/2014/main" id="{6CF8DB94-87A3-43E9-9BBB-301CFF0FB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sp>
        <p:nvSpPr>
          <p:cNvPr id="18" name="Oval 17">
            <a:extLst>
              <a:ext uri="{FF2B5EF4-FFF2-40B4-BE49-F238E27FC236}">
                <a16:creationId xmlns:a16="http://schemas.microsoft.com/office/drawing/2014/main" id="{7D6BF779-0B8C-4CC2-9268-9506AD0C5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useBgFill="1">
        <p:nvSpPr>
          <p:cNvPr id="20" name="Rectangle 19">
            <a:extLst>
              <a:ext uri="{FF2B5EF4-FFF2-40B4-BE49-F238E27FC236}">
                <a16:creationId xmlns:a16="http://schemas.microsoft.com/office/drawing/2014/main" id="{3A397E3E-B90C-4D82-BAAA-36F7AC6A45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pic>
        <p:nvPicPr>
          <p:cNvPr id="3" name="Picture 4" descr="8 Helpful Tips for Staying Healthy on Hookup Apps">
            <a:extLst>
              <a:ext uri="{FF2B5EF4-FFF2-40B4-BE49-F238E27FC236}">
                <a16:creationId xmlns:a16="http://schemas.microsoft.com/office/drawing/2014/main" id="{64442C5C-8593-C4C0-6116-B9E7B927DC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159DD56B-DD2F-4663-813C-9D2D1E56F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603955" cy="6858000"/>
          </a:xfrm>
          <a:prstGeom prst="rect">
            <a:avLst/>
          </a:prstGeom>
          <a:gradFill>
            <a:gsLst>
              <a:gs pos="0">
                <a:schemeClr val="bg1">
                  <a:alpha val="0"/>
                </a:schemeClr>
              </a:gs>
              <a:gs pos="100000">
                <a:schemeClr val="bg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Source Sans Pro"/>
              <a:ea typeface="+mn-ea"/>
              <a:cs typeface="+mn-cs"/>
            </a:endParaRPr>
          </a:p>
        </p:txBody>
      </p:sp>
      <p:sp>
        <p:nvSpPr>
          <p:cNvPr id="24" name="Freeform: Shape 23">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47167"/>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rgbClr val="FFFFFF"/>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6" name="Freeform: Shape 25">
            <a:extLst>
              <a:ext uri="{FF2B5EF4-FFF2-40B4-BE49-F238E27FC236}">
                <a16:creationId xmlns:a16="http://schemas.microsoft.com/office/drawing/2014/main" id="{6617B5AA-8A0D-41D3-B2EF-8BC53E3B7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47167"/>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8" name="Freeform: Shape 27">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6902"/>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rgbClr val="FFFFFF"/>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0" name="Freeform: Shape 29">
            <a:extLst>
              <a:ext uri="{FF2B5EF4-FFF2-40B4-BE49-F238E27FC236}">
                <a16:creationId xmlns:a16="http://schemas.microsoft.com/office/drawing/2014/main" id="{572EB308-9A4E-4332-A908-22F2978D7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6902"/>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nvGrpSpPr>
          <p:cNvPr id="32" name="Group 31">
            <a:extLst>
              <a:ext uri="{FF2B5EF4-FFF2-40B4-BE49-F238E27FC236}">
                <a16:creationId xmlns:a16="http://schemas.microsoft.com/office/drawing/2014/main" id="{BB7A900B-006E-46F4-831E-5AABAEE45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4492" y="1103896"/>
            <a:ext cx="4965868" cy="4598497"/>
            <a:chOff x="1674895" y="1345036"/>
            <a:chExt cx="5428610" cy="4210939"/>
          </a:xfrm>
        </p:grpSpPr>
        <p:sp>
          <p:nvSpPr>
            <p:cNvPr id="33" name="Rectangle 32">
              <a:extLst>
                <a:ext uri="{FF2B5EF4-FFF2-40B4-BE49-F238E27FC236}">
                  <a16:creationId xmlns:a16="http://schemas.microsoft.com/office/drawing/2014/main" id="{2C1D3151-5F97-4860-B56C-C98BD62CC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34" name="Rectangle 33">
              <a:extLst>
                <a:ext uri="{FF2B5EF4-FFF2-40B4-BE49-F238E27FC236}">
                  <a16:creationId xmlns:a16="http://schemas.microsoft.com/office/drawing/2014/main" id="{DAD33695-C117-4AEE-9AF5-65F13C6CC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grpSp>
      <p:sp useBgFill="1">
        <p:nvSpPr>
          <p:cNvPr id="36" name="Rectangle 35">
            <a:extLst>
              <a:ext uri="{FF2B5EF4-FFF2-40B4-BE49-F238E27FC236}">
                <a16:creationId xmlns:a16="http://schemas.microsoft.com/office/drawing/2014/main" id="{90A7F83A-9728-4030-8E45-9ECF1AB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039" y="1073782"/>
            <a:ext cx="4860256" cy="4529266"/>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2" name="Title 1">
            <a:extLst>
              <a:ext uri="{FF2B5EF4-FFF2-40B4-BE49-F238E27FC236}">
                <a16:creationId xmlns:a16="http://schemas.microsoft.com/office/drawing/2014/main" id="{F6B8B00B-0B1E-4FB4-92AA-5362D53084CA}"/>
              </a:ext>
            </a:extLst>
          </p:cNvPr>
          <p:cNvSpPr>
            <a:spLocks noGrp="1"/>
          </p:cNvSpPr>
          <p:nvPr>
            <p:ph type="title"/>
          </p:nvPr>
        </p:nvSpPr>
        <p:spPr>
          <a:xfrm>
            <a:off x="838200" y="1254952"/>
            <a:ext cx="4324642" cy="4098098"/>
          </a:xfrm>
        </p:spPr>
        <p:txBody>
          <a:bodyPr vert="horz" lIns="91440" tIns="45720" rIns="91440" bIns="45720" rtlCol="0" anchor="ctr">
            <a:normAutofit/>
          </a:bodyPr>
          <a:lstStyle/>
          <a:p>
            <a:pPr algn="ctr"/>
            <a:r>
              <a:rPr lang="en-US" sz="3600" b="1" kern="0" dirty="0">
                <a:ea typeface="Source Sans Pro SemiBold" panose="020B0603030403020204" pitchFamily="34" charset="0"/>
              </a:rPr>
              <a:t>(2) When uncertainty is desired … </a:t>
            </a:r>
            <a:br>
              <a:rPr lang="en-US" sz="3600" b="1" kern="0" dirty="0">
                <a:ea typeface="Source Sans Pro SemiBold" panose="020B0603030403020204" pitchFamily="34" charset="0"/>
              </a:rPr>
            </a:br>
            <a:r>
              <a:rPr lang="en-US" sz="3600" b="1" kern="0" dirty="0">
                <a:ea typeface="Source Sans Pro SemiBold" panose="020B0603030403020204" pitchFamily="34" charset="0"/>
              </a:rPr>
              <a:t>Using Grindr for casual sex or for romance</a:t>
            </a:r>
          </a:p>
        </p:txBody>
      </p:sp>
      <p:sp>
        <p:nvSpPr>
          <p:cNvPr id="38" name="Oval 37">
            <a:extLst>
              <a:ext uri="{FF2B5EF4-FFF2-40B4-BE49-F238E27FC236}">
                <a16:creationId xmlns:a16="http://schemas.microsoft.com/office/drawing/2014/main" id="{4D1A5E71-B6B6-486A-8CDC-C7ABD9B90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
        <p:nvSpPr>
          <p:cNvPr id="40" name="Oval 39">
            <a:extLst>
              <a:ext uri="{FF2B5EF4-FFF2-40B4-BE49-F238E27FC236}">
                <a16:creationId xmlns:a16="http://schemas.microsoft.com/office/drawing/2014/main" id="{8E44D629-6B8E-4D88-A77E-149C0ED03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634" y="4727300"/>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ource Sans Pro"/>
              <a:ea typeface="+mn-ea"/>
              <a:cs typeface="+mn-cs"/>
            </a:endParaRPr>
          </a:p>
        </p:txBody>
      </p:sp>
    </p:spTree>
    <p:extLst>
      <p:ext uri="{BB962C8B-B14F-4D97-AF65-F5344CB8AC3E}">
        <p14:creationId xmlns:p14="http://schemas.microsoft.com/office/powerpoint/2010/main" val="3873908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9B870-D7A1-400E-AD10-B8BB9D626818}"/>
              </a:ext>
            </a:extLst>
          </p:cNvPr>
          <p:cNvSpPr>
            <a:spLocks noGrp="1"/>
          </p:cNvSpPr>
          <p:nvPr>
            <p:ph idx="1"/>
          </p:nvPr>
        </p:nvSpPr>
        <p:spPr>
          <a:xfrm>
            <a:off x="838200" y="4329845"/>
            <a:ext cx="10951464" cy="2261455"/>
          </a:xfrm>
        </p:spPr>
        <p:txBody>
          <a:bodyPr>
            <a:normAutofit/>
          </a:bodyPr>
          <a:lstStyle/>
          <a:p>
            <a:r>
              <a:rPr lang="en-US" dirty="0"/>
              <a:t>Stronger sexual goals </a:t>
            </a:r>
            <a:r>
              <a:rPr lang="en-US" dirty="0">
                <a:sym typeface="Wingdings" panose="05000000000000000000" pitchFamily="2" charset="2"/>
              </a:rPr>
              <a:t> greater desire for uncertainty</a:t>
            </a:r>
          </a:p>
          <a:p>
            <a:r>
              <a:rPr lang="en-US" dirty="0">
                <a:sym typeface="Wingdings" panose="05000000000000000000" pitchFamily="2" charset="2"/>
              </a:rPr>
              <a:t>Stronger romantic goals  smaller desire for uncertainty</a:t>
            </a:r>
          </a:p>
          <a:p>
            <a:r>
              <a:rPr lang="en-US" dirty="0">
                <a:sym typeface="Wingdings" panose="05000000000000000000" pitchFamily="2" charset="2"/>
              </a:rPr>
              <a:t>Greater desire for uncertainty  less information-seeking strategies</a:t>
            </a:r>
            <a:br>
              <a:rPr lang="en-US" dirty="0">
                <a:sym typeface="Wingdings" panose="05000000000000000000" pitchFamily="2" charset="2"/>
              </a:rPr>
            </a:br>
            <a:r>
              <a:rPr lang="en-US" dirty="0">
                <a:sym typeface="Wingdings" panose="05000000000000000000" pitchFamily="2" charset="2"/>
              </a:rPr>
              <a:t>(Greater desire for certainty  more information-seeking strategies) </a:t>
            </a:r>
            <a:endParaRPr lang="en-US" dirty="0"/>
          </a:p>
        </p:txBody>
      </p:sp>
      <p:pic>
        <p:nvPicPr>
          <p:cNvPr id="5" name="Picture 4">
            <a:extLst>
              <a:ext uri="{FF2B5EF4-FFF2-40B4-BE49-F238E27FC236}">
                <a16:creationId xmlns:a16="http://schemas.microsoft.com/office/drawing/2014/main" id="{D6E2A76E-9FD4-410A-9925-A51F14F801C4}"/>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68186" y="741548"/>
            <a:ext cx="6396919" cy="3384177"/>
          </a:xfrm>
          <a:prstGeom prst="rect">
            <a:avLst/>
          </a:prstGeom>
        </p:spPr>
      </p:pic>
    </p:spTree>
    <p:extLst>
      <p:ext uri="{BB962C8B-B14F-4D97-AF65-F5344CB8AC3E}">
        <p14:creationId xmlns:p14="http://schemas.microsoft.com/office/powerpoint/2010/main" val="410115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9B870-D7A1-400E-AD10-B8BB9D626818}"/>
              </a:ext>
            </a:extLst>
          </p:cNvPr>
          <p:cNvSpPr>
            <a:spLocks noGrp="1"/>
          </p:cNvSpPr>
          <p:nvPr>
            <p:ph idx="1"/>
          </p:nvPr>
        </p:nvSpPr>
        <p:spPr>
          <a:xfrm>
            <a:off x="838200" y="4329845"/>
            <a:ext cx="10515600" cy="2261455"/>
          </a:xfrm>
        </p:spPr>
        <p:txBody>
          <a:bodyPr>
            <a:normAutofit/>
          </a:bodyPr>
          <a:lstStyle/>
          <a:p>
            <a:r>
              <a:rPr lang="en-US" dirty="0"/>
              <a:t>Stronger sexual goals </a:t>
            </a:r>
            <a:r>
              <a:rPr lang="en-US" dirty="0">
                <a:sym typeface="Wingdings" panose="05000000000000000000" pitchFamily="2" charset="2"/>
              </a:rPr>
              <a:t> greater desire for uncertainty (H1)</a:t>
            </a:r>
          </a:p>
          <a:p>
            <a:r>
              <a:rPr lang="en-US" dirty="0">
                <a:sym typeface="Wingdings" panose="05000000000000000000" pitchFamily="2" charset="2"/>
              </a:rPr>
              <a:t>Stronger romantic goals  smaller desire for uncertainty (H2)</a:t>
            </a:r>
          </a:p>
          <a:p>
            <a:r>
              <a:rPr lang="en-US" dirty="0">
                <a:sym typeface="Wingdings" panose="05000000000000000000" pitchFamily="2" charset="2"/>
              </a:rPr>
              <a:t>Greater desire for uncertainty  less information-seeking strategies (H4)  </a:t>
            </a:r>
            <a:endParaRPr lang="en-US" dirty="0"/>
          </a:p>
        </p:txBody>
      </p:sp>
      <p:pic>
        <p:nvPicPr>
          <p:cNvPr id="5" name="Picture 4">
            <a:extLst>
              <a:ext uri="{FF2B5EF4-FFF2-40B4-BE49-F238E27FC236}">
                <a16:creationId xmlns:a16="http://schemas.microsoft.com/office/drawing/2014/main" id="{D6E2A76E-9FD4-410A-9925-A51F14F801C4}"/>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68186" y="741548"/>
            <a:ext cx="6396919" cy="3384177"/>
          </a:xfrm>
          <a:prstGeom prst="rect">
            <a:avLst/>
          </a:prstGeom>
        </p:spPr>
      </p:pic>
    </p:spTree>
    <p:extLst>
      <p:ext uri="{BB962C8B-B14F-4D97-AF65-F5344CB8AC3E}">
        <p14:creationId xmlns:p14="http://schemas.microsoft.com/office/powerpoint/2010/main" val="2364533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D5B1BD9-253B-4E9A-9782-A2D5C36A29DD}"/>
              </a:ext>
            </a:extLst>
          </p:cNvPr>
          <p:cNvPicPr>
            <a:picLocks noChangeAspect="1"/>
          </p:cNvPicPr>
          <p:nvPr/>
        </p:nvPicPr>
        <p:blipFill rotWithShape="1">
          <a:blip r:embed="rId3">
            <a:extLst>
              <a:ext uri="{28A0092B-C50C-407E-A947-70E740481C1C}">
                <a14:useLocalDpi xmlns:a14="http://schemas.microsoft.com/office/drawing/2010/main" val="0"/>
              </a:ext>
            </a:extLst>
          </a:blip>
          <a:srcRect t="5758" b="69312"/>
          <a:stretch/>
        </p:blipFill>
        <p:spPr>
          <a:xfrm>
            <a:off x="687246" y="1014413"/>
            <a:ext cx="11102139" cy="1614487"/>
          </a:xfrm>
          <a:prstGeom prst="rect">
            <a:avLst/>
          </a:prstGeom>
        </p:spPr>
      </p:pic>
      <p:pic>
        <p:nvPicPr>
          <p:cNvPr id="2" name="Picture 1">
            <a:extLst>
              <a:ext uri="{FF2B5EF4-FFF2-40B4-BE49-F238E27FC236}">
                <a16:creationId xmlns:a16="http://schemas.microsoft.com/office/drawing/2014/main" id="{EDFC3C4B-7CCF-590C-57CD-4CF306EAEE5B}"/>
              </a:ext>
            </a:extLst>
          </p:cNvPr>
          <p:cNvPicPr>
            <a:picLocks noChangeAspect="1"/>
          </p:cNvPicPr>
          <p:nvPr/>
        </p:nvPicPr>
        <p:blipFill rotWithShape="1">
          <a:blip r:embed="rId3">
            <a:extLst>
              <a:ext uri="{28A0092B-C50C-407E-A947-70E740481C1C}">
                <a14:useLocalDpi xmlns:a14="http://schemas.microsoft.com/office/drawing/2010/main" val="0"/>
              </a:ext>
            </a:extLst>
          </a:blip>
          <a:srcRect t="86842"/>
          <a:stretch/>
        </p:blipFill>
        <p:spPr>
          <a:xfrm>
            <a:off x="687246" y="3028951"/>
            <a:ext cx="11102139" cy="852113"/>
          </a:xfrm>
          <a:prstGeom prst="rect">
            <a:avLst/>
          </a:prstGeom>
        </p:spPr>
      </p:pic>
      <p:sp>
        <p:nvSpPr>
          <p:cNvPr id="3" name="Content Placeholder 2">
            <a:extLst>
              <a:ext uri="{FF2B5EF4-FFF2-40B4-BE49-F238E27FC236}">
                <a16:creationId xmlns:a16="http://schemas.microsoft.com/office/drawing/2014/main" id="{52213A7A-B223-121F-88F0-3B0872FFEFD1}"/>
              </a:ext>
            </a:extLst>
          </p:cNvPr>
          <p:cNvSpPr>
            <a:spLocks noGrp="1"/>
          </p:cNvSpPr>
          <p:nvPr>
            <p:ph idx="1"/>
          </p:nvPr>
        </p:nvSpPr>
        <p:spPr>
          <a:xfrm>
            <a:off x="838200" y="4329845"/>
            <a:ext cx="10515600" cy="2261455"/>
          </a:xfrm>
        </p:spPr>
        <p:txBody>
          <a:bodyPr>
            <a:normAutofit/>
          </a:bodyPr>
          <a:lstStyle/>
          <a:p>
            <a:r>
              <a:rPr lang="en-US" dirty="0"/>
              <a:t>Stronger sexual goals </a:t>
            </a:r>
            <a:r>
              <a:rPr lang="en-US" dirty="0">
                <a:sym typeface="Wingdings" panose="05000000000000000000" pitchFamily="2" charset="2"/>
              </a:rPr>
              <a:t> greater desire for uncertainty (H1)</a:t>
            </a:r>
          </a:p>
          <a:p>
            <a:r>
              <a:rPr lang="en-US" strike="sngStrike" dirty="0">
                <a:sym typeface="Wingdings" panose="05000000000000000000" pitchFamily="2" charset="2"/>
              </a:rPr>
              <a:t>Stronger romantic goals  smaller desire for uncertainty (H2)</a:t>
            </a:r>
          </a:p>
          <a:p>
            <a:r>
              <a:rPr lang="en-US" dirty="0">
                <a:sym typeface="Wingdings" panose="05000000000000000000" pitchFamily="2" charset="2"/>
              </a:rPr>
              <a:t>Greater desire for uncertainty  less information-seeking strategies (H4)  </a:t>
            </a:r>
            <a:endParaRPr lang="en-US" dirty="0"/>
          </a:p>
        </p:txBody>
      </p:sp>
    </p:spTree>
    <p:extLst>
      <p:ext uri="{BB962C8B-B14F-4D97-AF65-F5344CB8AC3E}">
        <p14:creationId xmlns:p14="http://schemas.microsoft.com/office/powerpoint/2010/main" val="1776696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red and orange sky&#10;&#10;Description automatically generated with low confidence">
            <a:extLst>
              <a:ext uri="{FF2B5EF4-FFF2-40B4-BE49-F238E27FC236}">
                <a16:creationId xmlns:a16="http://schemas.microsoft.com/office/drawing/2014/main" id="{09A66EBB-34B8-433A-900B-468D6F9DA10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1"/>
            <a:ext cx="12512842" cy="6926752"/>
          </a:xfrm>
          <a:prstGeom prst="rect">
            <a:avLst/>
          </a:prstGeom>
        </p:spPr>
      </p:pic>
      <p:sp>
        <p:nvSpPr>
          <p:cNvPr id="3" name="Content Placeholder 2">
            <a:extLst>
              <a:ext uri="{FF2B5EF4-FFF2-40B4-BE49-F238E27FC236}">
                <a16:creationId xmlns:a16="http://schemas.microsoft.com/office/drawing/2014/main" id="{2B6895ED-E18D-48F8-9A67-43535C593E82}"/>
              </a:ext>
            </a:extLst>
          </p:cNvPr>
          <p:cNvSpPr>
            <a:spLocks noGrp="1"/>
          </p:cNvSpPr>
          <p:nvPr>
            <p:ph idx="1"/>
          </p:nvPr>
        </p:nvSpPr>
        <p:spPr>
          <a:xfrm>
            <a:off x="838199" y="2957513"/>
            <a:ext cx="10351169" cy="2448485"/>
          </a:xfrm>
        </p:spPr>
        <p:txBody>
          <a:bodyPr>
            <a:normAutofit/>
          </a:bodyPr>
          <a:lstStyle/>
          <a:p>
            <a:pPr marL="0" indent="0">
              <a:buNone/>
            </a:pPr>
            <a:r>
              <a:rPr lang="en-HK" sz="3600"/>
              <a:t>Why did romantic goals have </a:t>
            </a:r>
            <a:r>
              <a:rPr lang="en-HK" sz="3600" u="sng"/>
              <a:t>no</a:t>
            </a:r>
            <a:r>
              <a:rPr lang="en-HK" sz="3600"/>
              <a:t> relationship with the desire for uncertainty among gay men using Grindr?  </a:t>
            </a:r>
            <a:endParaRPr lang="en-US" sz="3600" dirty="0"/>
          </a:p>
        </p:txBody>
      </p:sp>
    </p:spTree>
    <p:extLst>
      <p:ext uri="{BB962C8B-B14F-4D97-AF65-F5344CB8AC3E}">
        <p14:creationId xmlns:p14="http://schemas.microsoft.com/office/powerpoint/2010/main" val="1656792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BB82D2-7E24-47E5-B287-96E9F415EA3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14400" y="745958"/>
            <a:ext cx="10463464" cy="5366084"/>
          </a:xfrm>
          <a:prstGeom prst="rect">
            <a:avLst/>
          </a:prstGeom>
          <a:ln w="38100">
            <a:solidFill>
              <a:schemeClr val="tx1"/>
            </a:solidFill>
          </a:ln>
        </p:spPr>
      </p:pic>
    </p:spTree>
    <p:extLst>
      <p:ext uri="{BB962C8B-B14F-4D97-AF65-F5344CB8AC3E}">
        <p14:creationId xmlns:p14="http://schemas.microsoft.com/office/powerpoint/2010/main" val="2728057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2FCE-881A-262D-B494-6EAFC14CF223}"/>
              </a:ext>
            </a:extLst>
          </p:cNvPr>
          <p:cNvSpPr>
            <a:spLocks noGrp="1"/>
          </p:cNvSpPr>
          <p:nvPr>
            <p:ph type="title"/>
          </p:nvPr>
        </p:nvSpPr>
        <p:spPr>
          <a:xfrm>
            <a:off x="831850" y="2832686"/>
            <a:ext cx="10876930" cy="1719262"/>
          </a:xfrm>
        </p:spPr>
        <p:txBody>
          <a:bodyPr anchor="t">
            <a:noAutofit/>
          </a:bodyPr>
          <a:lstStyle/>
          <a:p>
            <a:r>
              <a:rPr lang="en-US" sz="4400" dirty="0"/>
              <a:t>Discussion: </a:t>
            </a:r>
            <a:br>
              <a:rPr lang="en-US" sz="4400" dirty="0"/>
            </a:br>
            <a:r>
              <a:rPr lang="en-US" sz="4400" dirty="0"/>
              <a:t>What did Christina do to reduce uncertainty?</a:t>
            </a:r>
          </a:p>
        </p:txBody>
      </p:sp>
    </p:spTree>
    <p:extLst>
      <p:ext uri="{BB962C8B-B14F-4D97-AF65-F5344CB8AC3E}">
        <p14:creationId xmlns:p14="http://schemas.microsoft.com/office/powerpoint/2010/main" val="706999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2FCE-881A-262D-B494-6EAFC14CF223}"/>
              </a:ext>
            </a:extLst>
          </p:cNvPr>
          <p:cNvSpPr>
            <a:spLocks noGrp="1"/>
          </p:cNvSpPr>
          <p:nvPr>
            <p:ph type="title"/>
          </p:nvPr>
        </p:nvSpPr>
        <p:spPr>
          <a:xfrm>
            <a:off x="838199" y="365125"/>
            <a:ext cx="11161295" cy="1325563"/>
          </a:xfrm>
        </p:spPr>
        <p:txBody>
          <a:bodyPr/>
          <a:lstStyle/>
          <a:p>
            <a:r>
              <a:rPr lang="en-US" dirty="0"/>
              <a:t>What did Christina do to reduce uncertainty?</a:t>
            </a:r>
          </a:p>
        </p:txBody>
      </p:sp>
      <p:sp>
        <p:nvSpPr>
          <p:cNvPr id="3" name="Content Placeholder 2">
            <a:extLst>
              <a:ext uri="{FF2B5EF4-FFF2-40B4-BE49-F238E27FC236}">
                <a16:creationId xmlns:a16="http://schemas.microsoft.com/office/drawing/2014/main" id="{9F61ADE9-B089-E2F7-D99F-E2F19E2673BB}"/>
              </a:ext>
            </a:extLst>
          </p:cNvPr>
          <p:cNvSpPr>
            <a:spLocks noGrp="1"/>
          </p:cNvSpPr>
          <p:nvPr>
            <p:ph idx="1"/>
          </p:nvPr>
        </p:nvSpPr>
        <p:spPr/>
        <p:txBody>
          <a:bodyPr/>
          <a:lstStyle/>
          <a:p>
            <a:pPr marL="514350" indent="-514350">
              <a:buFont typeface="+mj-lt"/>
              <a:buAutoNum type="arabicPeriod"/>
            </a:pPr>
            <a:r>
              <a:rPr lang="en-US" dirty="0"/>
              <a:t>Picking OkCupid, instead of Tinder – non-traditional (pre-interactive)</a:t>
            </a:r>
          </a:p>
          <a:p>
            <a:pPr marL="514350" indent="-514350">
              <a:buFont typeface="+mj-lt"/>
              <a:buAutoNum type="arabicPeriod"/>
            </a:pPr>
            <a:r>
              <a:rPr lang="en-US" dirty="0"/>
              <a:t>Evaluating the incoming messages – passive </a:t>
            </a:r>
          </a:p>
          <a:p>
            <a:pPr marL="514350" indent="-514350">
              <a:buFont typeface="+mj-lt"/>
              <a:buAutoNum type="arabicPeriod"/>
            </a:pPr>
            <a:r>
              <a:rPr lang="en-US" dirty="0"/>
              <a:t>Sending a date invitation and seeing who will accept it – interactive/active </a:t>
            </a:r>
          </a:p>
          <a:p>
            <a:pPr marL="514350" indent="-514350">
              <a:buFont typeface="+mj-lt"/>
              <a:buAutoNum type="arabicPeriod"/>
            </a:pPr>
            <a:r>
              <a:rPr lang="en-US" dirty="0"/>
              <a:t>Arrange a short (1 hour) date to explore the target face-to-face – interactive</a:t>
            </a:r>
          </a:p>
          <a:p>
            <a:pPr marL="0" indent="0">
              <a:buNone/>
            </a:pPr>
            <a:endParaRPr lang="en-US" dirty="0"/>
          </a:p>
        </p:txBody>
      </p:sp>
    </p:spTree>
    <p:extLst>
      <p:ext uri="{BB962C8B-B14F-4D97-AF65-F5344CB8AC3E}">
        <p14:creationId xmlns:p14="http://schemas.microsoft.com/office/powerpoint/2010/main" val="52567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x Education, The Best Coming of Age Drama Since The Breakfast Club">
            <a:extLst>
              <a:ext uri="{FF2B5EF4-FFF2-40B4-BE49-F238E27FC236}">
                <a16:creationId xmlns:a16="http://schemas.microsoft.com/office/drawing/2014/main" id="{0D68B4F1-0512-A348-FD57-79C90866AF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80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80854B0-1F16-2772-9AEB-50A46996EA99}"/>
              </a:ext>
            </a:extLst>
          </p:cNvPr>
          <p:cNvSpPr>
            <a:spLocks noGrp="1"/>
          </p:cNvSpPr>
          <p:nvPr>
            <p:ph type="title"/>
          </p:nvPr>
        </p:nvSpPr>
        <p:spPr>
          <a:xfrm>
            <a:off x="838200" y="4759325"/>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t>Workshop I: </a:t>
            </a:r>
            <a:br>
              <a:rPr lang="en-US" dirty="0"/>
            </a:br>
            <a:r>
              <a:rPr lang="en-US" dirty="0"/>
              <a:t>“Hi, I am your relationship therapist.”</a:t>
            </a:r>
          </a:p>
        </p:txBody>
      </p:sp>
    </p:spTree>
    <p:extLst>
      <p:ext uri="{BB962C8B-B14F-4D97-AF65-F5344CB8AC3E}">
        <p14:creationId xmlns:p14="http://schemas.microsoft.com/office/powerpoint/2010/main" val="3923604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0854B0-1F16-2772-9AEB-50A46996EA99}"/>
              </a:ext>
            </a:extLst>
          </p:cNvPr>
          <p:cNvSpPr>
            <a:spLocks noGrp="1"/>
          </p:cNvSpPr>
          <p:nvPr>
            <p:ph type="title"/>
          </p:nvPr>
        </p:nvSpPr>
        <p:spPr/>
        <p:txBody>
          <a:bodyPr/>
          <a:lstStyle/>
          <a:p>
            <a:r>
              <a:rPr lang="en-US" dirty="0"/>
              <a:t>“Hi, I am your relationship therapist.”</a:t>
            </a:r>
          </a:p>
        </p:txBody>
      </p:sp>
      <p:sp>
        <p:nvSpPr>
          <p:cNvPr id="5" name="Content Placeholder 4">
            <a:extLst>
              <a:ext uri="{FF2B5EF4-FFF2-40B4-BE49-F238E27FC236}">
                <a16:creationId xmlns:a16="http://schemas.microsoft.com/office/drawing/2014/main" id="{5BF341BF-87CC-0A46-CA17-873AD1CCB49E}"/>
              </a:ext>
            </a:extLst>
          </p:cNvPr>
          <p:cNvSpPr>
            <a:spLocks noGrp="1"/>
          </p:cNvSpPr>
          <p:nvPr>
            <p:ph idx="1"/>
          </p:nvPr>
        </p:nvSpPr>
        <p:spPr>
          <a:xfrm>
            <a:off x="838200" y="1825625"/>
            <a:ext cx="10515600" cy="4736042"/>
          </a:xfrm>
        </p:spPr>
        <p:txBody>
          <a:bodyPr>
            <a:normAutofit/>
          </a:bodyPr>
          <a:lstStyle/>
          <a:p>
            <a:r>
              <a:rPr lang="en-US" sz="3200" dirty="0"/>
              <a:t>Form a group of four students (i.e., six groups in total)</a:t>
            </a:r>
          </a:p>
          <a:p>
            <a:r>
              <a:rPr lang="en-US" sz="3200" dirty="0">
                <a:highlight>
                  <a:srgbClr val="00FF00"/>
                </a:highlight>
              </a:rPr>
              <a:t>No AI use is allowed</a:t>
            </a:r>
          </a:p>
          <a:p>
            <a:r>
              <a:rPr lang="en-US" sz="3200" dirty="0"/>
              <a:t>In 60 minutes,</a:t>
            </a:r>
          </a:p>
          <a:p>
            <a:pPr lvl="1"/>
            <a:r>
              <a:rPr lang="en-US" sz="2800" dirty="0"/>
              <a:t>Analyze the case with computer-mediated communication interpersonal communication theories/concepts (from Meetings 2 to 4)</a:t>
            </a:r>
          </a:p>
          <a:p>
            <a:pPr lvl="1"/>
            <a:r>
              <a:rPr lang="en-US" sz="2800"/>
              <a:t>Create an </a:t>
            </a:r>
            <a:r>
              <a:rPr lang="en-US" sz="2800" dirty="0"/>
              <a:t>8-minute presentation – give adequate background!</a:t>
            </a:r>
          </a:p>
          <a:p>
            <a:pPr lvl="1"/>
            <a:r>
              <a:rPr lang="en-US" sz="2800" dirty="0"/>
              <a:t>Submit your group presentation to Blackboard for grading purposes (one person, one submission)</a:t>
            </a:r>
          </a:p>
          <a:p>
            <a:endParaRPr lang="en-US" sz="3200" dirty="0"/>
          </a:p>
        </p:txBody>
      </p:sp>
    </p:spTree>
    <p:extLst>
      <p:ext uri="{BB962C8B-B14F-4D97-AF65-F5344CB8AC3E}">
        <p14:creationId xmlns:p14="http://schemas.microsoft.com/office/powerpoint/2010/main" val="8815683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0854B0-1F16-2772-9AEB-50A46996EA99}"/>
              </a:ext>
            </a:extLst>
          </p:cNvPr>
          <p:cNvSpPr>
            <a:spLocks noGrp="1"/>
          </p:cNvSpPr>
          <p:nvPr>
            <p:ph type="title"/>
          </p:nvPr>
        </p:nvSpPr>
        <p:spPr/>
        <p:txBody>
          <a:bodyPr/>
          <a:lstStyle/>
          <a:p>
            <a:r>
              <a:rPr lang="en-US" dirty="0"/>
              <a:t>“Hi, I am your relationship therapist.”</a:t>
            </a:r>
          </a:p>
        </p:txBody>
      </p:sp>
      <p:sp>
        <p:nvSpPr>
          <p:cNvPr id="5" name="Content Placeholder 4">
            <a:extLst>
              <a:ext uri="{FF2B5EF4-FFF2-40B4-BE49-F238E27FC236}">
                <a16:creationId xmlns:a16="http://schemas.microsoft.com/office/drawing/2014/main" id="{5BF341BF-87CC-0A46-CA17-873AD1CCB49E}"/>
              </a:ext>
            </a:extLst>
          </p:cNvPr>
          <p:cNvSpPr>
            <a:spLocks noGrp="1"/>
          </p:cNvSpPr>
          <p:nvPr>
            <p:ph idx="1"/>
          </p:nvPr>
        </p:nvSpPr>
        <p:spPr>
          <a:xfrm>
            <a:off x="838200" y="1825625"/>
            <a:ext cx="10515600" cy="4736042"/>
          </a:xfrm>
        </p:spPr>
        <p:txBody>
          <a:bodyPr>
            <a:normAutofit/>
          </a:bodyPr>
          <a:lstStyle/>
          <a:p>
            <a:r>
              <a:rPr lang="en-US" sz="3200" dirty="0"/>
              <a:t>Each groups will present their analysis</a:t>
            </a:r>
          </a:p>
          <a:p>
            <a:r>
              <a:rPr lang="en-US" sz="3200" dirty="0"/>
              <a:t>Members from other groups will ask questions and offer comments</a:t>
            </a:r>
          </a:p>
        </p:txBody>
      </p:sp>
    </p:spTree>
    <p:extLst>
      <p:ext uri="{BB962C8B-B14F-4D97-AF65-F5344CB8AC3E}">
        <p14:creationId xmlns:p14="http://schemas.microsoft.com/office/powerpoint/2010/main" val="4266071831"/>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770</TotalTime>
  <Words>2704</Words>
  <Application>Microsoft Office PowerPoint</Application>
  <PresentationFormat>Widescreen</PresentationFormat>
  <Paragraphs>230</Paragraphs>
  <Slides>33</Slides>
  <Notes>29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33</vt:i4>
      </vt:variant>
    </vt:vector>
  </HeadingPairs>
  <TitlesOfParts>
    <vt:vector size="47" baseType="lpstr">
      <vt:lpstr>Minion</vt:lpstr>
      <vt:lpstr>TimesNewRomanPSMT</vt:lpstr>
      <vt:lpstr>Arial</vt:lpstr>
      <vt:lpstr>Calibri</vt:lpstr>
      <vt:lpstr>Courier New</vt:lpstr>
      <vt:lpstr>Garamond</vt:lpstr>
      <vt:lpstr>Impact</vt:lpstr>
      <vt:lpstr>Merriweather</vt:lpstr>
      <vt:lpstr>Segoe UI Symbol</vt:lpstr>
      <vt:lpstr>Source Sans Pro</vt:lpstr>
      <vt:lpstr>Source Sans Pro SemiBold</vt:lpstr>
      <vt:lpstr>Times New Roman</vt:lpstr>
      <vt:lpstr>Wingdings</vt:lpstr>
      <vt:lpstr>FunkyShapesDarkVTI</vt:lpstr>
      <vt:lpstr>Prof Sam Chan</vt:lpstr>
      <vt:lpstr>Today</vt:lpstr>
      <vt:lpstr>Recap</vt:lpstr>
      <vt:lpstr>Based on social penetration theory, what shall a dating app user do in order to develop intimate relationships with a target?</vt:lpstr>
      <vt:lpstr>The longer time we chat online, by the time we meet offline, the more we know about each other.</vt:lpstr>
      <vt:lpstr>Recall the hyperpersonal model? Receivers of CMC will ________ the message sender. </vt:lpstr>
      <vt:lpstr>The longer time we chat online, by the time we meet offline, the higher chance we are disappointed (because we overidealize the target)</vt:lpstr>
      <vt:lpstr>When should we meet offline?</vt:lpstr>
      <vt:lpstr>PowerPoint Presentation</vt:lpstr>
      <vt:lpstr>The perfect moment to switch modality</vt:lpstr>
      <vt:lpstr>Uncertainty</vt:lpstr>
      <vt:lpstr>Uncertainty reduction theory (Berger &amp; Calabrese, 1975)</vt:lpstr>
      <vt:lpstr>PowerPoint Presentation</vt:lpstr>
      <vt:lpstr>Uncertainty reduction strategies  (aka. information seeking strategies)</vt:lpstr>
      <vt:lpstr>PowerPoint Presentation</vt:lpstr>
      <vt:lpstr>Is uncertainty always bad?</vt:lpstr>
      <vt:lpstr>Uncertainty management theory (Brashers, 2001)</vt:lpstr>
      <vt:lpstr>Case studies</vt:lpstr>
      <vt:lpstr>(1) How are privacy concerns related to uncertainty reduction?</vt:lpstr>
      <vt:lpstr>PowerPoint Presentation</vt:lpstr>
      <vt:lpstr>PowerPoint Presentation</vt:lpstr>
      <vt:lpstr>PowerPoint Presentation</vt:lpstr>
      <vt:lpstr>(2) When uncertainty is desired …  Using Grindr for casual sex or for romance</vt:lpstr>
      <vt:lpstr>PowerPoint Presentation</vt:lpstr>
      <vt:lpstr>PowerPoint Presentation</vt:lpstr>
      <vt:lpstr>PowerPoint Presentation</vt:lpstr>
      <vt:lpstr>PowerPoint Presentation</vt:lpstr>
      <vt:lpstr>PowerPoint Presentation</vt:lpstr>
      <vt:lpstr>Discussion:  What did Christina do to reduce uncertainty?</vt:lpstr>
      <vt:lpstr>What did Christina do to reduce uncertainty?</vt:lpstr>
      <vt:lpstr>Workshop I:  “Hi, I am your relationship therapist.”</vt:lpstr>
      <vt:lpstr>“Hi, I am your relationship therapist.”</vt:lpstr>
      <vt:lpstr>“Hi, I am your relationship therapist.”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 Sam Chan</dc:title>
  <dc:creator>Xam Chan</dc:creator>
  <cp:lastModifiedBy>Sam Chan</cp:lastModifiedBy>
  <cp:revision>45</cp:revision>
  <dcterms:created xsi:type="dcterms:W3CDTF">2024-01-09T15:09:38Z</dcterms:created>
  <dcterms:modified xsi:type="dcterms:W3CDTF">2026-06-26T10:28:40Z</dcterms:modified>
</cp:coreProperties>
</file>